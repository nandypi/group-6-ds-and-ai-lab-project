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8895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4" roundtripDataSignature="AMtx7mi1GqU57ZUPNQsQgVLRz0cYYw+g3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4617720" y="0"/>
            <a:ext cx="45720" cy="6858000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411480" y="137160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FinQuery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411480" y="2423160"/>
            <a:ext cx="4023300" cy="10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B8CCE8"/>
                </a:solidFill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b="0" i="0" lang="en-US" sz="2100" u="none" cap="none" strike="noStrike">
                <a:solidFill>
                  <a:srgbClr val="B8CCE8"/>
                </a:solidFill>
                <a:latin typeface="Calibri"/>
                <a:ea typeface="Calibri"/>
                <a:cs typeface="Calibri"/>
                <a:sym typeface="Calibri"/>
              </a:rPr>
              <a:t>AI-Powered, </a:t>
            </a:r>
            <a:r>
              <a:rPr lang="en-US" sz="2100">
                <a:solidFill>
                  <a:srgbClr val="B8CCE8"/>
                </a:solidFill>
                <a:latin typeface="Calibri"/>
                <a:ea typeface="Calibri"/>
                <a:cs typeface="Calibri"/>
                <a:sym typeface="Calibri"/>
              </a:rPr>
              <a:t>stock-specific, Public Update Analyzer(PUA) for Indian Capital Markets</a:t>
            </a:r>
            <a:endParaRPr/>
          </a:p>
        </p:txBody>
      </p:sp>
      <p:sp>
        <p:nvSpPr>
          <p:cNvPr id="88" name="Google Shape;88;p1"/>
          <p:cNvSpPr/>
          <p:nvPr/>
        </p:nvSpPr>
        <p:spPr>
          <a:xfrm>
            <a:off x="411480" y="3611880"/>
            <a:ext cx="2743200" cy="18288"/>
          </a:xfrm>
          <a:prstGeom prst="rect">
            <a:avLst/>
          </a:prstGeom>
          <a:solidFill>
            <a:srgbClr val="4477AA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411480" y="3749039"/>
            <a:ext cx="4023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DS &amp; AI Lab  ·  Group 6  ·  </a:t>
            </a:r>
            <a:r>
              <a:rPr lang="en-US" sz="1200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T2</a:t>
            </a: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 202</a:t>
            </a:r>
            <a:r>
              <a:rPr lang="en-US" sz="1200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5029200" y="1554480"/>
            <a:ext cx="70227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From raw financial filings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to accurate, cited answers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b="1" lang="en-US" sz="2600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seconds</a:t>
            </a:r>
            <a:r>
              <a:rPr b="1" i="0" lang="en-US" sz="26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5029200" y="3566160"/>
            <a:ext cx="7022592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 production-ready RAG system for Infosys financial Q&amp;A — combining semantic vector search, BM25 keyword matching, and reciprocal rank fusion with a SQL fact layer to eliminate hallucinations on numerical queries.</a:t>
            </a:r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029200" y="5257800"/>
            <a:ext cx="7022592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707070"/>
                </a:solidFill>
              </a:rPr>
              <a:t>Akbar Ali — 23f1002997</a:t>
            </a:r>
          </a:p>
          <a:p>
            <a:pPr algn="l"/>
            <a:r>
              <a:rPr sz="1100" b="0">
                <a:solidFill>
                  <a:srgbClr val="707070"/>
                </a:solidFill>
              </a:rPr>
              <a:t>Gurram Sai Sri Ram Hruthik — 22f3001648</a:t>
            </a:r>
          </a:p>
          <a:p>
            <a:pPr algn="l"/>
            <a:r>
              <a:rPr sz="1100" b="0">
                <a:solidFill>
                  <a:srgbClr val="707070"/>
                </a:solidFill>
              </a:rPr>
              <a:t>NandanReddy Parnapalli — 22f3002857</a:t>
            </a:r>
          </a:p>
          <a:p>
            <a:pPr algn="l"/>
            <a:r>
              <a:rPr sz="1100" b="0">
                <a:solidFill>
                  <a:srgbClr val="707070"/>
                </a:solidFill>
              </a:rPr>
              <a:t>Shubham Gattani — 21f3002082</a:t>
            </a:r>
          </a:p>
          <a:p>
            <a:pPr algn="l"/>
            <a:r>
              <a:rPr sz="1100" b="0">
                <a:solidFill>
                  <a:srgbClr val="707070"/>
                </a:solidFill>
              </a:rPr>
              <a:t>Shubhashish Biswas — 21f1001460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Problem We Set Out to Solve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Financial Q&amp;A is uniquely hard — three compounding challenges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457200" y="1161288"/>
            <a:ext cx="3520440" cy="2606040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621792" y="1271016"/>
            <a:ext cx="326440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Unstructured &amp; Vast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621792" y="1636776"/>
            <a:ext cx="3264408" cy="203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Infosys publishes hundreds of PDFs, earnings call transcripts, press releases, and NSE filings every year. No single structured database captures it all — a RAG system must search across all source types simultaneously to find the right chunk.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4142232" y="1161288"/>
            <a:ext cx="3520440" cy="2606040"/>
          </a:xfrm>
          <a:prstGeom prst="rect">
            <a:avLst/>
          </a:prstGeom>
          <a:solidFill>
            <a:srgbClr val="FDE8E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4142232" y="1161288"/>
            <a:ext cx="64008" cy="2606040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4306824" y="1271016"/>
            <a:ext cx="326440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Numbers Must Be Exact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4306824" y="1636776"/>
            <a:ext cx="3264408" cy="203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 wrong revenue figure is not just unhelpful — it is dangerous. LLMs hallucinate confidently on numeric facts. Analysts need verifiable, source-cited numbers every single time. One wrong percentage point can flip a buy/sell recommendation.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7827264" y="1161288"/>
            <a:ext cx="3520440" cy="2606040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7827264" y="1161288"/>
            <a:ext cx="64008" cy="260604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7991856" y="1271016"/>
            <a:ext cx="326440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Speed &amp; Usability Matter</a:t>
            </a:r>
            <a:endParaRPr/>
          </a:p>
        </p:txBody>
      </p:sp>
      <p:sp>
        <p:nvSpPr>
          <p:cNvPr id="111" name="Google Shape;111;p2"/>
          <p:cNvSpPr txBox="1"/>
          <p:nvPr/>
        </p:nvSpPr>
        <p:spPr>
          <a:xfrm>
            <a:off x="7991856" y="1636776"/>
            <a:ext cx="3264408" cy="203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Analysts ask dozens of questions per session. A system that takes 4 minutes per question (as naive cross-encoder rerankers do) is not production-ready, regardless of accuracy. Sub-second response time is a hard requirement for real workflows.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457200" y="3968496"/>
            <a:ext cx="3648456" cy="1874519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/>
          <p:nvPr/>
        </p:nvSpPr>
        <p:spPr>
          <a:xfrm>
            <a:off x="457200" y="3968496"/>
            <a:ext cx="3648456" cy="4114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594360" y="4169664"/>
            <a:ext cx="337413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7,300+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594360" y="5065776"/>
            <a:ext cx="33741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document chunks indexed</a:t>
            </a:r>
            <a:endParaRPr/>
          </a:p>
        </p:txBody>
      </p:sp>
      <p:sp>
        <p:nvSpPr>
          <p:cNvPr id="116" name="Google Shape;116;p2"/>
          <p:cNvSpPr/>
          <p:nvPr/>
        </p:nvSpPr>
        <p:spPr>
          <a:xfrm>
            <a:off x="4270248" y="3968496"/>
            <a:ext cx="3648456" cy="1874519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"/>
          <p:cNvSpPr/>
          <p:nvPr/>
        </p:nvSpPr>
        <p:spPr>
          <a:xfrm>
            <a:off x="4270248" y="3968496"/>
            <a:ext cx="3648456" cy="41148"/>
          </a:xfrm>
          <a:prstGeom prst="rect">
            <a:avLst/>
          </a:prstGeom>
          <a:solidFill>
            <a:srgbClr val="40404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"/>
          <p:cNvSpPr txBox="1"/>
          <p:nvPr/>
        </p:nvSpPr>
        <p:spPr>
          <a:xfrm>
            <a:off x="4407408" y="4169664"/>
            <a:ext cx="337413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4407408" y="5065776"/>
            <a:ext cx="33741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hand-crafted test questions</a:t>
            </a:r>
            <a:endParaRPr/>
          </a:p>
        </p:txBody>
      </p:sp>
      <p:sp>
        <p:nvSpPr>
          <p:cNvPr id="120" name="Google Shape;120;p2"/>
          <p:cNvSpPr/>
          <p:nvPr/>
        </p:nvSpPr>
        <p:spPr>
          <a:xfrm>
            <a:off x="8083296" y="3968496"/>
            <a:ext cx="3648456" cy="1874519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8083296" y="3968496"/>
            <a:ext cx="3648456" cy="41148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 txBox="1"/>
          <p:nvPr/>
        </p:nvSpPr>
        <p:spPr>
          <a:xfrm>
            <a:off x="8220456" y="4169664"/>
            <a:ext cx="337413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FY25–FY26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8220456" y="5065776"/>
            <a:ext cx="33741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all Infosys quarters covered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Our Data Universe</a:t>
            </a:r>
            <a:endParaRPr/>
          </a:p>
        </p:txBody>
      </p:sp>
      <p:sp>
        <p:nvSpPr>
          <p:cNvPr id="131" name="Google Shape;131;p3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Five source types · all Infosys FY25 – FY26</a:t>
            </a:r>
            <a:endParaRPr/>
          </a:p>
        </p:txBody>
      </p:sp>
      <p:sp>
        <p:nvSpPr>
          <p:cNvPr id="132" name="Google Shape;132;p3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33" name="Google Shape;133;p3"/>
          <p:cNvSpPr/>
          <p:nvPr/>
        </p:nvSpPr>
        <p:spPr>
          <a:xfrm>
            <a:off x="457200" y="1124712"/>
            <a:ext cx="2084831" cy="4617720"/>
          </a:xfrm>
          <a:prstGeom prst="rect">
            <a:avLst/>
          </a:prstGeom>
          <a:solidFill>
            <a:srgbClr val="E8F0FB"/>
          </a:solidFill>
          <a:ln cap="flat" cmpd="sng" w="12700">
            <a:solidFill>
              <a:srgbClr val="00308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457200" y="1124712"/>
            <a:ext cx="2084831" cy="128016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3"/>
          <p:cNvSpPr txBox="1"/>
          <p:nvPr/>
        </p:nvSpPr>
        <p:spPr>
          <a:xfrm>
            <a:off x="566928" y="1307592"/>
            <a:ext cx="1865375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NSE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Filings</a:t>
            </a:r>
            <a:endParaRPr/>
          </a:p>
        </p:txBody>
      </p:sp>
      <p:sp>
        <p:nvSpPr>
          <p:cNvPr id="136" name="Google Shape;136;p3"/>
          <p:cNvSpPr/>
          <p:nvPr/>
        </p:nvSpPr>
        <p:spPr>
          <a:xfrm>
            <a:off x="594360" y="1984248"/>
            <a:ext cx="1810511" cy="2743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548640" y="2075688"/>
            <a:ext cx="1901951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7,004</a:t>
            </a:r>
            <a:endParaRPr/>
          </a:p>
        </p:txBody>
      </p:sp>
      <p:sp>
        <p:nvSpPr>
          <p:cNvPr id="138" name="Google Shape;138;p3"/>
          <p:cNvSpPr txBox="1"/>
          <p:nvPr/>
        </p:nvSpPr>
        <p:spPr>
          <a:xfrm>
            <a:off x="548640" y="3099816"/>
            <a:ext cx="1901951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chunks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from 4,001 PDFs</a:t>
            </a:r>
            <a:endParaRPr/>
          </a:p>
        </p:txBody>
      </p:sp>
      <p:sp>
        <p:nvSpPr>
          <p:cNvPr id="139" name="Google Shape;139;p3"/>
          <p:cNvSpPr/>
          <p:nvPr/>
        </p:nvSpPr>
        <p:spPr>
          <a:xfrm>
            <a:off x="594360" y="3886200"/>
            <a:ext cx="1810511" cy="2743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 txBox="1"/>
          <p:nvPr/>
        </p:nvSpPr>
        <p:spPr>
          <a:xfrm>
            <a:off x="566928" y="3995928"/>
            <a:ext cx="1865375" cy="15727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Regulatory filings,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results announcements,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quarterly docs</a:t>
            </a:r>
            <a:endParaRPr/>
          </a:p>
        </p:txBody>
      </p:sp>
      <p:sp>
        <p:nvSpPr>
          <p:cNvPr id="141" name="Google Shape;141;p3"/>
          <p:cNvSpPr/>
          <p:nvPr/>
        </p:nvSpPr>
        <p:spPr>
          <a:xfrm>
            <a:off x="2642615" y="1124712"/>
            <a:ext cx="2084831" cy="4617720"/>
          </a:xfrm>
          <a:prstGeom prst="rect">
            <a:avLst/>
          </a:prstGeom>
          <a:solidFill>
            <a:srgbClr val="E6F4EC"/>
          </a:solidFill>
          <a:ln cap="flat" cmpd="sng" w="12700">
            <a:solidFill>
              <a:srgbClr val="00704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2642615" y="1124712"/>
            <a:ext cx="2084831" cy="128016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 txBox="1"/>
          <p:nvPr/>
        </p:nvSpPr>
        <p:spPr>
          <a:xfrm>
            <a:off x="2752343" y="1307592"/>
            <a:ext cx="1865375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Infosys IR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Docs</a:t>
            </a:r>
            <a:endParaRPr/>
          </a:p>
        </p:txBody>
      </p:sp>
      <p:sp>
        <p:nvSpPr>
          <p:cNvPr id="144" name="Google Shape;144;p3"/>
          <p:cNvSpPr/>
          <p:nvPr/>
        </p:nvSpPr>
        <p:spPr>
          <a:xfrm>
            <a:off x="2779775" y="1984248"/>
            <a:ext cx="1810511" cy="27432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 txBox="1"/>
          <p:nvPr/>
        </p:nvSpPr>
        <p:spPr>
          <a:xfrm>
            <a:off x="2734055" y="2075688"/>
            <a:ext cx="1901951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270</a:t>
            </a:r>
            <a:endParaRPr/>
          </a:p>
        </p:txBody>
      </p:sp>
      <p:sp>
        <p:nvSpPr>
          <p:cNvPr id="146" name="Google Shape;146;p3"/>
          <p:cNvSpPr txBox="1"/>
          <p:nvPr/>
        </p:nvSpPr>
        <p:spPr>
          <a:xfrm>
            <a:off x="2734055" y="3099816"/>
            <a:ext cx="1901951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documents</a:t>
            </a:r>
            <a:endParaRPr/>
          </a:p>
        </p:txBody>
      </p:sp>
      <p:sp>
        <p:nvSpPr>
          <p:cNvPr id="147" name="Google Shape;147;p3"/>
          <p:cNvSpPr/>
          <p:nvPr/>
        </p:nvSpPr>
        <p:spPr>
          <a:xfrm>
            <a:off x="2779775" y="3886200"/>
            <a:ext cx="1810511" cy="2743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 txBox="1"/>
          <p:nvPr/>
        </p:nvSpPr>
        <p:spPr>
          <a:xfrm>
            <a:off x="2752343" y="3995928"/>
            <a:ext cx="1865375" cy="15727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Earnings call transcripts,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press releases,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investor docs</a:t>
            </a:r>
            <a:endParaRPr/>
          </a:p>
        </p:txBody>
      </p:sp>
      <p:sp>
        <p:nvSpPr>
          <p:cNvPr id="149" name="Google Shape;149;p3"/>
          <p:cNvSpPr/>
          <p:nvPr/>
        </p:nvSpPr>
        <p:spPr>
          <a:xfrm>
            <a:off x="4828030" y="1124712"/>
            <a:ext cx="2084831" cy="4617720"/>
          </a:xfrm>
          <a:prstGeom prst="rect">
            <a:avLst/>
          </a:prstGeom>
          <a:solidFill>
            <a:srgbClr val="FEF3D8"/>
          </a:solidFill>
          <a:ln cap="flat" cmpd="sng" w="12700">
            <a:solidFill>
              <a:srgbClr val="D08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4828030" y="1124712"/>
            <a:ext cx="2084831" cy="128016"/>
          </a:xfrm>
          <a:prstGeom prst="rect">
            <a:avLst/>
          </a:prstGeom>
          <a:solidFill>
            <a:srgbClr val="D0800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 txBox="1"/>
          <p:nvPr/>
        </p:nvSpPr>
        <p:spPr>
          <a:xfrm>
            <a:off x="4937758" y="1307592"/>
            <a:ext cx="1865375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Trendlyne</a:t>
            </a:r>
            <a:endParaRPr/>
          </a:p>
        </p:txBody>
      </p:sp>
      <p:sp>
        <p:nvSpPr>
          <p:cNvPr id="152" name="Google Shape;152;p3"/>
          <p:cNvSpPr/>
          <p:nvPr/>
        </p:nvSpPr>
        <p:spPr>
          <a:xfrm>
            <a:off x="4965190" y="1984248"/>
            <a:ext cx="1810511" cy="27432"/>
          </a:xfrm>
          <a:prstGeom prst="rect">
            <a:avLst/>
          </a:prstGeom>
          <a:solidFill>
            <a:srgbClr val="D0800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3"/>
          <p:cNvSpPr txBox="1"/>
          <p:nvPr/>
        </p:nvSpPr>
        <p:spPr>
          <a:xfrm>
            <a:off x="4919470" y="2075688"/>
            <a:ext cx="1901951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sp>
        <p:nvSpPr>
          <p:cNvPr id="154" name="Google Shape;154;p3"/>
          <p:cNvSpPr txBox="1"/>
          <p:nvPr/>
        </p:nvSpPr>
        <p:spPr>
          <a:xfrm>
            <a:off x="4919470" y="3099816"/>
            <a:ext cx="1901951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news articles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&amp; analyses</a:t>
            </a:r>
            <a:endParaRPr/>
          </a:p>
        </p:txBody>
      </p:sp>
      <p:sp>
        <p:nvSpPr>
          <p:cNvPr id="155" name="Google Shape;155;p3"/>
          <p:cNvSpPr/>
          <p:nvPr/>
        </p:nvSpPr>
        <p:spPr>
          <a:xfrm>
            <a:off x="4965190" y="3886200"/>
            <a:ext cx="1810511" cy="2743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3"/>
          <p:cNvSpPr txBox="1"/>
          <p:nvPr/>
        </p:nvSpPr>
        <p:spPr>
          <a:xfrm>
            <a:off x="4937758" y="3995928"/>
            <a:ext cx="1865375" cy="15727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Financial news summaries,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brokerage reports</a:t>
            </a:r>
            <a:endParaRPr/>
          </a:p>
        </p:txBody>
      </p:sp>
      <p:sp>
        <p:nvSpPr>
          <p:cNvPr id="157" name="Google Shape;157;p3"/>
          <p:cNvSpPr/>
          <p:nvPr/>
        </p:nvSpPr>
        <p:spPr>
          <a:xfrm>
            <a:off x="7013445" y="1124712"/>
            <a:ext cx="2084831" cy="4617720"/>
          </a:xfrm>
          <a:prstGeom prst="rect">
            <a:avLst/>
          </a:prstGeom>
          <a:solidFill>
            <a:srgbClr val="FDE8E8"/>
          </a:solidFill>
          <a:ln cap="flat" cmpd="sng" w="12700">
            <a:solidFill>
              <a:srgbClr val="C0102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3"/>
          <p:cNvSpPr/>
          <p:nvPr/>
        </p:nvSpPr>
        <p:spPr>
          <a:xfrm>
            <a:off x="7013445" y="1124712"/>
            <a:ext cx="2084831" cy="128016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3"/>
          <p:cNvSpPr txBox="1"/>
          <p:nvPr/>
        </p:nvSpPr>
        <p:spPr>
          <a:xfrm>
            <a:off x="7123173" y="1307592"/>
            <a:ext cx="1865375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Yahoo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Finance</a:t>
            </a:r>
            <a:endParaRPr/>
          </a:p>
        </p:txBody>
      </p:sp>
      <p:sp>
        <p:nvSpPr>
          <p:cNvPr id="160" name="Google Shape;160;p3"/>
          <p:cNvSpPr/>
          <p:nvPr/>
        </p:nvSpPr>
        <p:spPr>
          <a:xfrm>
            <a:off x="7150605" y="1984248"/>
            <a:ext cx="1810511" cy="27432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3"/>
          <p:cNvSpPr txBox="1"/>
          <p:nvPr/>
        </p:nvSpPr>
        <p:spPr>
          <a:xfrm>
            <a:off x="7104885" y="2075688"/>
            <a:ext cx="1901951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162" name="Google Shape;162;p3"/>
          <p:cNvSpPr txBox="1"/>
          <p:nvPr/>
        </p:nvSpPr>
        <p:spPr>
          <a:xfrm>
            <a:off x="7104885" y="3099816"/>
            <a:ext cx="1901951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market articles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&amp; commentary</a:t>
            </a:r>
            <a:endParaRPr/>
          </a:p>
        </p:txBody>
      </p:sp>
      <p:sp>
        <p:nvSpPr>
          <p:cNvPr id="163" name="Google Shape;163;p3"/>
          <p:cNvSpPr/>
          <p:nvPr/>
        </p:nvSpPr>
        <p:spPr>
          <a:xfrm>
            <a:off x="7150605" y="3886200"/>
            <a:ext cx="1810511" cy="2743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3"/>
          <p:cNvSpPr txBox="1"/>
          <p:nvPr/>
        </p:nvSpPr>
        <p:spPr>
          <a:xfrm>
            <a:off x="7123173" y="3995928"/>
            <a:ext cx="1865375" cy="15727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Stock news, analyst views,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market reports</a:t>
            </a:r>
            <a:endParaRPr/>
          </a:p>
        </p:txBody>
      </p:sp>
      <p:sp>
        <p:nvSpPr>
          <p:cNvPr id="165" name="Google Shape;165;p3"/>
          <p:cNvSpPr/>
          <p:nvPr/>
        </p:nvSpPr>
        <p:spPr>
          <a:xfrm>
            <a:off x="9198860" y="1124712"/>
            <a:ext cx="2084831" cy="4617720"/>
          </a:xfrm>
          <a:prstGeom prst="rect">
            <a:avLst/>
          </a:prstGeom>
          <a:solidFill>
            <a:srgbClr val="EEE8F8"/>
          </a:solidFill>
          <a:ln cap="flat" cmpd="sng" w="12700">
            <a:solidFill>
              <a:srgbClr val="55009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3"/>
          <p:cNvSpPr/>
          <p:nvPr/>
        </p:nvSpPr>
        <p:spPr>
          <a:xfrm>
            <a:off x="9198860" y="1124712"/>
            <a:ext cx="2084831" cy="128016"/>
          </a:xfrm>
          <a:prstGeom prst="rect">
            <a:avLst/>
          </a:prstGeom>
          <a:solidFill>
            <a:srgbClr val="550099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3"/>
          <p:cNvSpPr txBox="1"/>
          <p:nvPr/>
        </p:nvSpPr>
        <p:spPr>
          <a:xfrm>
            <a:off x="9308588" y="1307592"/>
            <a:ext cx="1865375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Q&amp;A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Benchmark</a:t>
            </a:r>
            <a:endParaRPr/>
          </a:p>
        </p:txBody>
      </p:sp>
      <p:sp>
        <p:nvSpPr>
          <p:cNvPr id="168" name="Google Shape;168;p3"/>
          <p:cNvSpPr/>
          <p:nvPr/>
        </p:nvSpPr>
        <p:spPr>
          <a:xfrm>
            <a:off x="9336020" y="1984248"/>
            <a:ext cx="1810511" cy="27432"/>
          </a:xfrm>
          <a:prstGeom prst="rect">
            <a:avLst/>
          </a:prstGeom>
          <a:solidFill>
            <a:srgbClr val="550099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3"/>
          <p:cNvSpPr txBox="1"/>
          <p:nvPr/>
        </p:nvSpPr>
        <p:spPr>
          <a:xfrm>
            <a:off x="9290300" y="2075688"/>
            <a:ext cx="1901951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170" name="Google Shape;170;p3"/>
          <p:cNvSpPr txBox="1"/>
          <p:nvPr/>
        </p:nvSpPr>
        <p:spPr>
          <a:xfrm>
            <a:off x="9290300" y="3099816"/>
            <a:ext cx="1901951" cy="7132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hand-crafted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test questions</a:t>
            </a:r>
            <a:endParaRPr/>
          </a:p>
        </p:txBody>
      </p:sp>
      <p:sp>
        <p:nvSpPr>
          <p:cNvPr id="171" name="Google Shape;171;p3"/>
          <p:cNvSpPr/>
          <p:nvPr/>
        </p:nvSpPr>
        <p:spPr>
          <a:xfrm>
            <a:off x="9336020" y="3886200"/>
            <a:ext cx="1810511" cy="2743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3"/>
          <p:cNvSpPr txBox="1"/>
          <p:nvPr/>
        </p:nvSpPr>
        <p:spPr>
          <a:xfrm>
            <a:off x="9308588" y="3995928"/>
            <a:ext cx="1865375" cy="15727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Gold-standard evaluation set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for recall measurement</a:t>
            </a:r>
            <a:endParaRPr/>
          </a:p>
        </p:txBody>
      </p:sp>
      <p:sp>
        <p:nvSpPr>
          <p:cNvPr id="173" name="Google Shape;173;p3"/>
          <p:cNvSpPr/>
          <p:nvPr/>
        </p:nvSpPr>
        <p:spPr>
          <a:xfrm>
            <a:off x="457200" y="6236208"/>
            <a:ext cx="11274552" cy="411480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00308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3"/>
          <p:cNvSpPr txBox="1"/>
          <p:nvPr/>
        </p:nvSpPr>
        <p:spPr>
          <a:xfrm>
            <a:off x="731520" y="6291072"/>
            <a:ext cx="1072591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All sources ingest → ChromaDB vector index  +  BM25 keyword index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4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From PDFs to a Searchable Knowledge Base</a:t>
            </a:r>
            <a:endParaRPr/>
          </a:p>
        </p:txBody>
      </p:sp>
      <p:sp>
        <p:nvSpPr>
          <p:cNvPr id="182" name="Google Shape;182;p4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How raw documents become indexed, retrievable chunks</a:t>
            </a:r>
            <a:endParaRPr/>
          </a:p>
        </p:txBody>
      </p:sp>
      <p:sp>
        <p:nvSpPr>
          <p:cNvPr id="183" name="Google Shape;183;p4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pic>
        <p:nvPicPr>
          <p:cNvPr descr="DSAI Lab Project Pipeline.png" id="184" name="Google Shape;18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097280"/>
            <a:ext cx="4846320" cy="507492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4"/>
          <p:cNvSpPr/>
          <p:nvPr/>
        </p:nvSpPr>
        <p:spPr>
          <a:xfrm>
            <a:off x="5623560" y="1097280"/>
            <a:ext cx="6245352" cy="507492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4"/>
          <p:cNvSpPr txBox="1"/>
          <p:nvPr/>
        </p:nvSpPr>
        <p:spPr>
          <a:xfrm>
            <a:off x="5806440" y="1234440"/>
            <a:ext cx="587959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Key steps</a:t>
            </a:r>
            <a:endParaRPr/>
          </a:p>
        </p:txBody>
      </p:sp>
      <p:sp>
        <p:nvSpPr>
          <p:cNvPr id="187" name="Google Shape;187;p4"/>
          <p:cNvSpPr/>
          <p:nvPr/>
        </p:nvSpPr>
        <p:spPr>
          <a:xfrm>
            <a:off x="5806440" y="1737360"/>
            <a:ext cx="54864" cy="65836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4"/>
          <p:cNvSpPr txBox="1"/>
          <p:nvPr/>
        </p:nvSpPr>
        <p:spPr>
          <a:xfrm>
            <a:off x="5971032" y="1773936"/>
            <a:ext cx="57424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Parse</a:t>
            </a:r>
            <a:endParaRPr/>
          </a:p>
        </p:txBody>
      </p:sp>
      <p:sp>
        <p:nvSpPr>
          <p:cNvPr id="189" name="Google Shape;189;p4"/>
          <p:cNvSpPr txBox="1"/>
          <p:nvPr/>
        </p:nvSpPr>
        <p:spPr>
          <a:xfrm>
            <a:off x="5971032" y="2066544"/>
            <a:ext cx="57424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PDFs → docling → Markdown</a:t>
            </a:r>
            <a:endParaRPr/>
          </a:p>
        </p:txBody>
      </p:sp>
      <p:sp>
        <p:nvSpPr>
          <p:cNvPr id="190" name="Google Shape;190;p4"/>
          <p:cNvSpPr/>
          <p:nvPr/>
        </p:nvSpPr>
        <p:spPr>
          <a:xfrm>
            <a:off x="5806440" y="2596896"/>
            <a:ext cx="54864" cy="65836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4"/>
          <p:cNvSpPr txBox="1"/>
          <p:nvPr/>
        </p:nvSpPr>
        <p:spPr>
          <a:xfrm>
            <a:off x="5971032" y="2633472"/>
            <a:ext cx="57424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Section</a:t>
            </a:r>
            <a:endParaRPr/>
          </a:p>
        </p:txBody>
      </p:sp>
      <p:sp>
        <p:nvSpPr>
          <p:cNvPr id="192" name="Google Shape;192;p4"/>
          <p:cNvSpPr txBox="1"/>
          <p:nvPr/>
        </p:nvSpPr>
        <p:spPr>
          <a:xfrm>
            <a:off x="5971032" y="2926080"/>
            <a:ext cx="57424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Long docs (&gt;10 pp) split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by Python script + LLM</a:t>
            </a:r>
            <a:endParaRPr/>
          </a:p>
        </p:txBody>
      </p:sp>
      <p:sp>
        <p:nvSpPr>
          <p:cNvPr id="193" name="Google Shape;193;p4"/>
          <p:cNvSpPr/>
          <p:nvPr/>
        </p:nvSpPr>
        <p:spPr>
          <a:xfrm>
            <a:off x="5806440" y="3456432"/>
            <a:ext cx="54864" cy="65836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"/>
          <p:cNvSpPr txBox="1"/>
          <p:nvPr/>
        </p:nvSpPr>
        <p:spPr>
          <a:xfrm>
            <a:off x="5971032" y="3493008"/>
            <a:ext cx="57424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Embed</a:t>
            </a:r>
            <a:endParaRPr/>
          </a:p>
        </p:txBody>
      </p:sp>
      <p:sp>
        <p:nvSpPr>
          <p:cNvPr id="195" name="Google Shape;195;p4"/>
          <p:cNvSpPr txBox="1"/>
          <p:nvPr/>
        </p:nvSpPr>
        <p:spPr>
          <a:xfrm>
            <a:off x="5971032" y="3785616"/>
            <a:ext cx="57424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Metadata YAML header only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(not body text)</a:t>
            </a:r>
            <a:endParaRPr/>
          </a:p>
        </p:txBody>
      </p:sp>
      <p:sp>
        <p:nvSpPr>
          <p:cNvPr id="196" name="Google Shape;196;p4"/>
          <p:cNvSpPr/>
          <p:nvPr/>
        </p:nvSpPr>
        <p:spPr>
          <a:xfrm>
            <a:off x="5806440" y="4315968"/>
            <a:ext cx="54864" cy="65836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"/>
          <p:cNvSpPr txBox="1"/>
          <p:nvPr/>
        </p:nvSpPr>
        <p:spPr>
          <a:xfrm>
            <a:off x="5971032" y="4352544"/>
            <a:ext cx="57424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Index</a:t>
            </a:r>
            <a:endParaRPr/>
          </a:p>
        </p:txBody>
      </p:sp>
      <p:sp>
        <p:nvSpPr>
          <p:cNvPr id="198" name="Google Shape;198;p4"/>
          <p:cNvSpPr txBox="1"/>
          <p:nvPr/>
        </p:nvSpPr>
        <p:spPr>
          <a:xfrm>
            <a:off x="5971032" y="4645152"/>
            <a:ext cx="574243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ChromaDB (vector)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+ BM25 (keyword)</a:t>
            </a:r>
            <a:endParaRPr/>
          </a:p>
        </p:txBody>
      </p:sp>
      <p:sp>
        <p:nvSpPr>
          <p:cNvPr id="199" name="Google Shape;199;p4"/>
          <p:cNvSpPr txBox="1"/>
          <p:nvPr/>
        </p:nvSpPr>
        <p:spPr>
          <a:xfrm>
            <a:off x="5842939" y="5175500"/>
            <a:ext cx="5989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Key innovation</a:t>
            </a:r>
            <a:endParaRPr/>
          </a:p>
        </p:txBody>
      </p:sp>
      <p:sp>
        <p:nvSpPr>
          <p:cNvPr id="200" name="Google Shape;200;p4"/>
          <p:cNvSpPr txBox="1"/>
          <p:nvPr/>
        </p:nvSpPr>
        <p:spPr>
          <a:xfrm>
            <a:off x="5842989" y="5504685"/>
            <a:ext cx="59892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Embedding only the YAML metadata header — not body text — lifted Recall@3 from 40% → 74% (+34 pp) while being 13× faster.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5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How We Measured Success</a:t>
            </a:r>
            <a:endParaRPr/>
          </a:p>
        </p:txBody>
      </p:sp>
      <p:sp>
        <p:nvSpPr>
          <p:cNvPr id="208" name="Google Shape;208;p5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Retrieval recall as the ground-truth metric</a:t>
            </a:r>
            <a:endParaRPr/>
          </a:p>
        </p:txBody>
      </p:sp>
      <p:sp>
        <p:nvSpPr>
          <p:cNvPr id="209" name="Google Shape;209;p5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210" name="Google Shape;210;p5"/>
          <p:cNvSpPr/>
          <p:nvPr/>
        </p:nvSpPr>
        <p:spPr>
          <a:xfrm>
            <a:off x="457200" y="1143000"/>
            <a:ext cx="5303520" cy="2194560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 txBox="1"/>
          <p:nvPr/>
        </p:nvSpPr>
        <p:spPr>
          <a:xfrm>
            <a:off x="621792" y="1252728"/>
            <a:ext cx="504748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What is Recall@k?</a:t>
            </a:r>
            <a:endParaRPr/>
          </a:p>
        </p:txBody>
      </p:sp>
      <p:sp>
        <p:nvSpPr>
          <p:cNvPr id="212" name="Google Shape;212;p5"/>
          <p:cNvSpPr txBox="1"/>
          <p:nvPr/>
        </p:nvSpPr>
        <p:spPr>
          <a:xfrm>
            <a:off x="621792" y="1618488"/>
            <a:ext cx="5047488" cy="16276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For each test question, we know which source document contains the correct answer. Recall@k = 1 if that document appears in the top-k retrieved results, else 0.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We measure Recall@3, @5, and @7, averaged across 50 questions.</a:t>
            </a:r>
            <a:endParaRPr/>
          </a:p>
        </p:txBody>
      </p:sp>
      <p:sp>
        <p:nvSpPr>
          <p:cNvPr id="213" name="Google Shape;213;p5"/>
          <p:cNvSpPr/>
          <p:nvPr/>
        </p:nvSpPr>
        <p:spPr>
          <a:xfrm>
            <a:off x="457200" y="3502152"/>
            <a:ext cx="5303520" cy="271576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/>
          <p:nvPr/>
        </p:nvSpPr>
        <p:spPr>
          <a:xfrm>
            <a:off x="457200" y="3502152"/>
            <a:ext cx="64008" cy="271576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5"/>
          <p:cNvSpPr txBox="1"/>
          <p:nvPr/>
        </p:nvSpPr>
        <p:spPr>
          <a:xfrm>
            <a:off x="640080" y="361188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Why retrieval recall?</a:t>
            </a:r>
            <a:endParaRPr/>
          </a:p>
        </p:txBody>
      </p:sp>
      <p:sp>
        <p:nvSpPr>
          <p:cNvPr id="216" name="Google Shape;216;p5"/>
          <p:cNvSpPr txBox="1"/>
          <p:nvPr/>
        </p:nvSpPr>
        <p:spPr>
          <a:xfrm>
            <a:off x="640080" y="4069080"/>
            <a:ext cx="50292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If the right chunk is never retrieved, no LLM — however powerful — can produce a correct answer. Retrieval is the fundamental bottleneck: fix retrieval first, then worry about answer generation.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Our final recall scores (Hybrid RRF system):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Recall@3 = 76%   ·   Recall@5 = 82%   ·   Recall@7 = 88%</a:t>
            </a:r>
            <a:endParaRPr/>
          </a:p>
        </p:txBody>
      </p:sp>
      <p:sp>
        <p:nvSpPr>
          <p:cNvPr id="217" name="Google Shape;217;p5"/>
          <p:cNvSpPr/>
          <p:nvPr/>
        </p:nvSpPr>
        <p:spPr>
          <a:xfrm>
            <a:off x="6080760" y="1143000"/>
            <a:ext cx="5650992" cy="507492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5"/>
          <p:cNvSpPr txBox="1"/>
          <p:nvPr/>
        </p:nvSpPr>
        <p:spPr>
          <a:xfrm>
            <a:off x="6263640" y="1325880"/>
            <a:ext cx="528523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Benchmark</a:t>
            </a:r>
            <a:endParaRPr/>
          </a:p>
        </p:txBody>
      </p:sp>
      <p:sp>
        <p:nvSpPr>
          <p:cNvPr id="219" name="Google Shape;219;p5"/>
          <p:cNvSpPr txBox="1"/>
          <p:nvPr/>
        </p:nvSpPr>
        <p:spPr>
          <a:xfrm>
            <a:off x="6309360" y="1947672"/>
            <a:ext cx="5193792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/>
          </a:p>
        </p:txBody>
      </p:sp>
      <p:sp>
        <p:nvSpPr>
          <p:cNvPr id="220" name="Google Shape;220;p5"/>
          <p:cNvSpPr txBox="1"/>
          <p:nvPr/>
        </p:nvSpPr>
        <p:spPr>
          <a:xfrm>
            <a:off x="6309360" y="2514600"/>
            <a:ext cx="519379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hand-crafted questions</a:t>
            </a:r>
            <a:endParaRPr/>
          </a:p>
        </p:txBody>
      </p:sp>
      <p:sp>
        <p:nvSpPr>
          <p:cNvPr id="221" name="Google Shape;221;p5"/>
          <p:cNvSpPr/>
          <p:nvPr/>
        </p:nvSpPr>
        <p:spPr>
          <a:xfrm>
            <a:off x="6309360" y="2935224"/>
            <a:ext cx="5193792" cy="12801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5"/>
          <p:cNvSpPr txBox="1"/>
          <p:nvPr/>
        </p:nvSpPr>
        <p:spPr>
          <a:xfrm>
            <a:off x="6309360" y="3008376"/>
            <a:ext cx="5193792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223" name="Google Shape;223;p5"/>
          <p:cNvSpPr txBox="1"/>
          <p:nvPr/>
        </p:nvSpPr>
        <p:spPr>
          <a:xfrm>
            <a:off x="6309360" y="3575304"/>
            <a:ext cx="519379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source categories</a:t>
            </a:r>
            <a:endParaRPr/>
          </a:p>
        </p:txBody>
      </p:sp>
      <p:sp>
        <p:nvSpPr>
          <p:cNvPr id="224" name="Google Shape;224;p5"/>
          <p:cNvSpPr/>
          <p:nvPr/>
        </p:nvSpPr>
        <p:spPr>
          <a:xfrm>
            <a:off x="6309360" y="3995928"/>
            <a:ext cx="5193792" cy="12801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5"/>
          <p:cNvSpPr txBox="1"/>
          <p:nvPr/>
        </p:nvSpPr>
        <p:spPr>
          <a:xfrm>
            <a:off x="6309360" y="4069080"/>
            <a:ext cx="5193792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226" name="Google Shape;226;p5"/>
          <p:cNvSpPr txBox="1"/>
          <p:nvPr/>
        </p:nvSpPr>
        <p:spPr>
          <a:xfrm>
            <a:off x="6309360" y="4636008"/>
            <a:ext cx="519379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strategies tested</a:t>
            </a:r>
            <a:endParaRPr/>
          </a:p>
        </p:txBody>
      </p:sp>
      <p:sp>
        <p:nvSpPr>
          <p:cNvPr id="227" name="Google Shape;227;p5"/>
          <p:cNvSpPr/>
          <p:nvPr/>
        </p:nvSpPr>
        <p:spPr>
          <a:xfrm>
            <a:off x="6309360" y="5056632"/>
            <a:ext cx="5193792" cy="12801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5"/>
          <p:cNvSpPr txBox="1"/>
          <p:nvPr/>
        </p:nvSpPr>
        <p:spPr>
          <a:xfrm>
            <a:off x="6309360" y="5129784"/>
            <a:ext cx="5193792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229" name="Google Shape;229;p5"/>
          <p:cNvSpPr txBox="1"/>
          <p:nvPr/>
        </p:nvSpPr>
        <p:spPr>
          <a:xfrm>
            <a:off x="6309360" y="5696712"/>
            <a:ext cx="519379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recall depths: @3 @5 @7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6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6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Research Journey — Three Phases</a:t>
            </a:r>
            <a:endParaRPr/>
          </a:p>
        </p:txBody>
      </p:sp>
      <p:sp>
        <p:nvSpPr>
          <p:cNvPr id="237" name="Google Shape;237;p6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Systematic experimentation from baseline to production</a:t>
            </a:r>
            <a:endParaRPr/>
          </a:p>
        </p:txBody>
      </p:sp>
      <p:sp>
        <p:nvSpPr>
          <p:cNvPr id="238" name="Google Shape;238;p6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457200" y="1143000"/>
            <a:ext cx="3520440" cy="4572000"/>
          </a:xfrm>
          <a:prstGeom prst="rect">
            <a:avLst/>
          </a:prstGeom>
          <a:solidFill>
            <a:srgbClr val="FDE8E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6"/>
          <p:cNvSpPr/>
          <p:nvPr/>
        </p:nvSpPr>
        <p:spPr>
          <a:xfrm>
            <a:off x="457200" y="1143000"/>
            <a:ext cx="3520440" cy="54864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6"/>
          <p:cNvSpPr txBox="1"/>
          <p:nvPr/>
        </p:nvSpPr>
        <p:spPr>
          <a:xfrm>
            <a:off x="621792" y="1289304"/>
            <a:ext cx="319125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Phase 1</a:t>
            </a:r>
            <a:endParaRPr/>
          </a:p>
        </p:txBody>
      </p:sp>
      <p:sp>
        <p:nvSpPr>
          <p:cNvPr id="242" name="Google Shape;242;p6"/>
          <p:cNvSpPr txBox="1"/>
          <p:nvPr/>
        </p:nvSpPr>
        <p:spPr>
          <a:xfrm>
            <a:off x="621792" y="1645920"/>
            <a:ext cx="3191256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Full-Text Embedding</a:t>
            </a:r>
            <a:endParaRPr/>
          </a:p>
        </p:txBody>
      </p:sp>
      <p:sp>
        <p:nvSpPr>
          <p:cNvPr id="243" name="Google Shape;243;p6"/>
          <p:cNvSpPr txBox="1"/>
          <p:nvPr/>
        </p:nvSpPr>
        <p:spPr>
          <a:xfrm>
            <a:off x="621792" y="2167128"/>
            <a:ext cx="3191256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Three strategies tested on 50 questions: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① Vector-only baseline — embed full document body; query as-is.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② HyDE — generate a hypothetical answer, then embed it as the query.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③ BGE cross-encoder reranker — re-score top-k results using a neural model.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21792" y="4069080"/>
            <a:ext cx="3191256" cy="13716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6"/>
          <p:cNvSpPr txBox="1"/>
          <p:nvPr/>
        </p:nvSpPr>
        <p:spPr>
          <a:xfrm>
            <a:off x="621792" y="4197096"/>
            <a:ext cx="3191256" cy="1389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Best R@3: 58%  (BGE reranker)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Best latency: 6.3 s  ·  BGE: ~4 min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Conclusion: body text adds noise;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HyDE hurts entity-heavy queries.</a:t>
            </a:r>
            <a:endParaRPr/>
          </a:p>
        </p:txBody>
      </p:sp>
      <p:sp>
        <p:nvSpPr>
          <p:cNvPr id="246" name="Google Shape;246;p6"/>
          <p:cNvSpPr/>
          <p:nvPr/>
        </p:nvSpPr>
        <p:spPr>
          <a:xfrm>
            <a:off x="4142232" y="1143000"/>
            <a:ext cx="3520440" cy="4572000"/>
          </a:xfrm>
          <a:prstGeom prst="rect">
            <a:avLst/>
          </a:prstGeom>
          <a:solidFill>
            <a:srgbClr val="EEE8F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6"/>
          <p:cNvSpPr/>
          <p:nvPr/>
        </p:nvSpPr>
        <p:spPr>
          <a:xfrm>
            <a:off x="4142232" y="1143000"/>
            <a:ext cx="3520440" cy="54864"/>
          </a:xfrm>
          <a:prstGeom prst="rect">
            <a:avLst/>
          </a:prstGeom>
          <a:solidFill>
            <a:srgbClr val="550099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6"/>
          <p:cNvSpPr txBox="1"/>
          <p:nvPr/>
        </p:nvSpPr>
        <p:spPr>
          <a:xfrm>
            <a:off x="4306824" y="1289304"/>
            <a:ext cx="319125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Phase 2</a:t>
            </a:r>
            <a:endParaRPr/>
          </a:p>
        </p:txBody>
      </p:sp>
      <p:sp>
        <p:nvSpPr>
          <p:cNvPr id="249" name="Google Shape;249;p6"/>
          <p:cNvSpPr txBox="1"/>
          <p:nvPr/>
        </p:nvSpPr>
        <p:spPr>
          <a:xfrm>
            <a:off x="4306824" y="1645920"/>
            <a:ext cx="3191256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Metadata-Only Embedding</a:t>
            </a:r>
            <a:endParaRPr/>
          </a:p>
        </p:txBody>
      </p:sp>
      <p:sp>
        <p:nvSpPr>
          <p:cNvPr id="250" name="Google Shape;250;p6"/>
          <p:cNvSpPr txBox="1"/>
          <p:nvPr/>
        </p:nvSpPr>
        <p:spPr>
          <a:xfrm>
            <a:off x="4306824" y="2167128"/>
            <a:ext cx="3191256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Breakthrough insight: strip the body text and embed only the YAML front-matter (quarter label, source type, document category).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Also tested Metadata + BGE cross-encoder to see if reranking still adds value on top of the cleaner embeddings.</a:t>
            </a:r>
            <a:endParaRPr/>
          </a:p>
        </p:txBody>
      </p:sp>
      <p:sp>
        <p:nvSpPr>
          <p:cNvPr id="251" name="Google Shape;251;p6"/>
          <p:cNvSpPr/>
          <p:nvPr/>
        </p:nvSpPr>
        <p:spPr>
          <a:xfrm>
            <a:off x="4306824" y="4069080"/>
            <a:ext cx="3191256" cy="13716"/>
          </a:xfrm>
          <a:prstGeom prst="rect">
            <a:avLst/>
          </a:prstGeom>
          <a:solidFill>
            <a:srgbClr val="550099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6"/>
          <p:cNvSpPr txBox="1"/>
          <p:nvPr/>
        </p:nvSpPr>
        <p:spPr>
          <a:xfrm>
            <a:off x="4306824" y="4197096"/>
            <a:ext cx="3191256" cy="1389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R@3: 74%   (+34 pp vs baseline)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Latency: 0.48 s   — 13× faster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CE reranker on meta: R@3=74%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550099"/>
                </a:solidFill>
                <a:latin typeface="Calibri"/>
                <a:ea typeface="Calibri"/>
                <a:cs typeface="Calibri"/>
                <a:sym typeface="Calibri"/>
              </a:rPr>
              <a:t>No gain + 1.74 s overhead.</a:t>
            </a:r>
            <a:endParaRPr/>
          </a:p>
        </p:txBody>
      </p:sp>
      <p:sp>
        <p:nvSpPr>
          <p:cNvPr id="253" name="Google Shape;253;p6"/>
          <p:cNvSpPr/>
          <p:nvPr/>
        </p:nvSpPr>
        <p:spPr>
          <a:xfrm>
            <a:off x="7827264" y="1143000"/>
            <a:ext cx="3520440" cy="4572000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6"/>
          <p:cNvSpPr/>
          <p:nvPr/>
        </p:nvSpPr>
        <p:spPr>
          <a:xfrm>
            <a:off x="7827264" y="1143000"/>
            <a:ext cx="3520440" cy="54864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6"/>
          <p:cNvSpPr txBox="1"/>
          <p:nvPr/>
        </p:nvSpPr>
        <p:spPr>
          <a:xfrm>
            <a:off x="7991856" y="1289304"/>
            <a:ext cx="319125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Phase 3</a:t>
            </a:r>
            <a:endParaRPr/>
          </a:p>
        </p:txBody>
      </p:sp>
      <p:sp>
        <p:nvSpPr>
          <p:cNvPr id="256" name="Google Shape;256;p6"/>
          <p:cNvSpPr txBox="1"/>
          <p:nvPr/>
        </p:nvSpPr>
        <p:spPr>
          <a:xfrm>
            <a:off x="7991856" y="1645920"/>
            <a:ext cx="3191256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Hybrid BM25 + Vector (RRF)</a:t>
            </a:r>
            <a:endParaRPr/>
          </a:p>
        </p:txBody>
      </p:sp>
      <p:sp>
        <p:nvSpPr>
          <p:cNvPr id="257" name="Google Shape;257;p6"/>
          <p:cNvSpPr txBox="1"/>
          <p:nvPr/>
        </p:nvSpPr>
        <p:spPr>
          <a:xfrm>
            <a:off x="7991856" y="2167128"/>
            <a:ext cx="3191256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Combine keyword (BM25) and semantic (vector) search via Reciprocal Rank Fusion: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score = Σ 1 / (60 + rank_i)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Tested BM25-only, Hybrid RRF, and Hybrid + CE reranker to find the optimal trade-off between recall and latency.</a:t>
            </a:r>
            <a:endParaRPr/>
          </a:p>
        </p:txBody>
      </p:sp>
      <p:sp>
        <p:nvSpPr>
          <p:cNvPr id="258" name="Google Shape;258;p6"/>
          <p:cNvSpPr/>
          <p:nvPr/>
        </p:nvSpPr>
        <p:spPr>
          <a:xfrm>
            <a:off x="7991856" y="4069080"/>
            <a:ext cx="3191256" cy="13716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6"/>
          <p:cNvSpPr txBox="1"/>
          <p:nvPr/>
        </p:nvSpPr>
        <p:spPr>
          <a:xfrm>
            <a:off x="7991856" y="4197096"/>
            <a:ext cx="3191256" cy="1389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R@7: 88%  ·  R@3: 76%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Hybrid RRF chosen as production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system: 0.56 s latency, no CE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overhead, domain-agnostic.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7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7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1: Full-Text Embedding Results</a:t>
            </a:r>
            <a:endParaRPr/>
          </a:p>
        </p:txBody>
      </p:sp>
      <p:sp>
        <p:nvSpPr>
          <p:cNvPr id="267" name="Google Shape;267;p7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Three strategies on 50 questions</a:t>
            </a:r>
            <a:endParaRPr/>
          </a:p>
        </p:txBody>
      </p:sp>
      <p:sp>
        <p:nvSpPr>
          <p:cNvPr id="268" name="Google Shape;268;p7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pic>
        <p:nvPicPr>
          <p:cNvPr descr="phase1.png" id="269" name="Google Shape;26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097280"/>
            <a:ext cx="7589520" cy="425196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"/>
          <p:cNvSpPr/>
          <p:nvPr/>
        </p:nvSpPr>
        <p:spPr>
          <a:xfrm>
            <a:off x="8183879" y="1097280"/>
            <a:ext cx="3685033" cy="1965960"/>
          </a:xfrm>
          <a:prstGeom prst="rect">
            <a:avLst/>
          </a:prstGeom>
          <a:solidFill>
            <a:srgbClr val="FDE8E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7"/>
          <p:cNvSpPr/>
          <p:nvPr/>
        </p:nvSpPr>
        <p:spPr>
          <a:xfrm>
            <a:off x="8183879" y="1097280"/>
            <a:ext cx="3685033" cy="45720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7"/>
          <p:cNvSpPr txBox="1"/>
          <p:nvPr/>
        </p:nvSpPr>
        <p:spPr>
          <a:xfrm>
            <a:off x="8348471" y="1207008"/>
            <a:ext cx="3429001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Key Findings</a:t>
            </a:r>
            <a:endParaRPr/>
          </a:p>
        </p:txBody>
      </p:sp>
      <p:sp>
        <p:nvSpPr>
          <p:cNvPr id="273" name="Google Shape;273;p7"/>
          <p:cNvSpPr txBox="1"/>
          <p:nvPr/>
        </p:nvSpPr>
        <p:spPr>
          <a:xfrm>
            <a:off x="8348471" y="1600200"/>
            <a:ext cx="3429001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Baseline R@3 = 40%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HyDE: R@3 = 38% — no gain.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Entity-heavy queries already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contain the right vocabulary.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BGE reranker: R@3 = 58%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but ~4 minutes per question.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8183879" y="3227832"/>
            <a:ext cx="3685033" cy="212140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8183879" y="3227832"/>
            <a:ext cx="64008" cy="212140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7"/>
          <p:cNvSpPr txBox="1"/>
          <p:nvPr/>
        </p:nvSpPr>
        <p:spPr>
          <a:xfrm>
            <a:off x="8366759" y="3319272"/>
            <a:ext cx="3410713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Root cause</a:t>
            </a:r>
            <a:endParaRPr/>
          </a:p>
        </p:txBody>
      </p:sp>
      <p:sp>
        <p:nvSpPr>
          <p:cNvPr id="277" name="Google Shape;277;p7"/>
          <p:cNvSpPr txBox="1"/>
          <p:nvPr/>
        </p:nvSpPr>
        <p:spPr>
          <a:xfrm>
            <a:off x="8366759" y="3730752"/>
            <a:ext cx="3410713" cy="1527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Full-text body embedding (thousands of tokens per chunk) produces noisy, unfocused vectors. Regulatory filings mix quarter-specific data with boilerplate, tables, and narrative — none of which helps retrieve the right quarter. The vector drifts away from the query signal.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457200" y="5486400"/>
            <a:ext cx="11274552" cy="804672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457200" y="5486400"/>
            <a:ext cx="64008" cy="804672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7"/>
          <p:cNvSpPr txBox="1"/>
          <p:nvPr/>
        </p:nvSpPr>
        <p:spPr>
          <a:xfrm>
            <a:off x="640080" y="5687568"/>
            <a:ext cx="1100023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Phase 1 verdict: BGE reranker achieves the highest recall (R@3 = 58%) but at ~4 min/question — wholly impractical. Phase 2 addresses the root cause directly.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8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Breakthrough: Embed Metadata, Not Body Text</a:t>
            </a:r>
            <a:endParaRPr/>
          </a:p>
        </p:txBody>
      </p:sp>
      <p:sp>
        <p:nvSpPr>
          <p:cNvPr id="288" name="Google Shape;288;p8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 single architectural change → +34 percentage points in Recall@3</a:t>
            </a:r>
            <a:endParaRPr/>
          </a:p>
        </p:txBody>
      </p:sp>
      <p:sp>
        <p:nvSpPr>
          <p:cNvPr id="289" name="Google Shape;289;p8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290" name="Google Shape;290;p8"/>
          <p:cNvSpPr/>
          <p:nvPr/>
        </p:nvSpPr>
        <p:spPr>
          <a:xfrm>
            <a:off x="457200" y="1161288"/>
            <a:ext cx="5212080" cy="1828800"/>
          </a:xfrm>
          <a:prstGeom prst="rect">
            <a:avLst/>
          </a:prstGeom>
          <a:solidFill>
            <a:srgbClr val="FDE8E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457200" y="1161288"/>
            <a:ext cx="5212080" cy="45720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 txBox="1"/>
          <p:nvPr/>
        </p:nvSpPr>
        <p:spPr>
          <a:xfrm>
            <a:off x="640080" y="1271016"/>
            <a:ext cx="4846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BEFORE — Full-text body embedding</a:t>
            </a:r>
            <a:endParaRPr/>
          </a:p>
        </p:txBody>
      </p:sp>
      <p:sp>
        <p:nvSpPr>
          <p:cNvPr id="293" name="Google Shape;293;p8"/>
          <p:cNvSpPr txBox="1"/>
          <p:nvPr/>
        </p:nvSpPr>
        <p:spPr>
          <a:xfrm>
            <a:off x="640080" y="1673352"/>
            <a:ext cx="484632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Embed entire document body (thousands of tokens). Noisy vectors — body text dilutes the quarter/source signal. The semantic space becomes too broad to match specific quarter and doc-type queries.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Recall@3 = 40%  ·  Latency = 6.3 s/question</a:t>
            </a:r>
            <a:endParaRPr/>
          </a:p>
        </p:txBody>
      </p:sp>
      <p:sp>
        <p:nvSpPr>
          <p:cNvPr id="294" name="Google Shape;294;p8"/>
          <p:cNvSpPr txBox="1"/>
          <p:nvPr/>
        </p:nvSpPr>
        <p:spPr>
          <a:xfrm>
            <a:off x="457200" y="3044952"/>
            <a:ext cx="52120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▼  swap embedding target  ▼</a:t>
            </a:r>
            <a:endParaRPr/>
          </a:p>
        </p:txBody>
      </p:sp>
      <p:sp>
        <p:nvSpPr>
          <p:cNvPr id="295" name="Google Shape;295;p8"/>
          <p:cNvSpPr/>
          <p:nvPr/>
        </p:nvSpPr>
        <p:spPr>
          <a:xfrm>
            <a:off x="457200" y="3392424"/>
            <a:ext cx="5212080" cy="1828800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/>
          <p:nvPr/>
        </p:nvSpPr>
        <p:spPr>
          <a:xfrm>
            <a:off x="457200" y="3392424"/>
            <a:ext cx="5212080" cy="4572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8"/>
          <p:cNvSpPr txBox="1"/>
          <p:nvPr/>
        </p:nvSpPr>
        <p:spPr>
          <a:xfrm>
            <a:off x="640080" y="3502152"/>
            <a:ext cx="4846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AFTER — Metadata-only embedding</a:t>
            </a:r>
            <a:endParaRPr/>
          </a:p>
        </p:txBody>
      </p:sp>
      <p:sp>
        <p:nvSpPr>
          <p:cNvPr id="298" name="Google Shape;298;p8"/>
          <p:cNvSpPr txBox="1"/>
          <p:nvPr/>
        </p:nvSpPr>
        <p:spPr>
          <a:xfrm>
            <a:off x="640080" y="3904488"/>
            <a:ext cx="484632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Embed only YAML front matter (quarter, source, doc type). Compact, precise vectors — vocabulary matches query terms exactly. Fewer tokens means faster embedding and sharper retrieval.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Recall@3 = 74%  ·  Latency = 0.478 s  ·  13× faster</a:t>
            </a:r>
            <a:endParaRPr/>
          </a:p>
        </p:txBody>
      </p:sp>
      <p:sp>
        <p:nvSpPr>
          <p:cNvPr id="299" name="Google Shape;299;p8"/>
          <p:cNvSpPr/>
          <p:nvPr/>
        </p:nvSpPr>
        <p:spPr>
          <a:xfrm>
            <a:off x="5989320" y="1161288"/>
            <a:ext cx="5742432" cy="4059936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8"/>
          <p:cNvSpPr txBox="1"/>
          <p:nvPr/>
        </p:nvSpPr>
        <p:spPr>
          <a:xfrm>
            <a:off x="6126480" y="1362456"/>
            <a:ext cx="5468112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+34 pp</a:t>
            </a:r>
            <a:endParaRPr/>
          </a:p>
        </p:txBody>
      </p:sp>
      <p:sp>
        <p:nvSpPr>
          <p:cNvPr id="301" name="Google Shape;301;p8"/>
          <p:cNvSpPr txBox="1"/>
          <p:nvPr/>
        </p:nvSpPr>
        <p:spPr>
          <a:xfrm>
            <a:off x="6126480" y="2368296"/>
            <a:ext cx="546811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Recall@3 improvement</a:t>
            </a:r>
            <a:endParaRPr/>
          </a:p>
        </p:txBody>
      </p:sp>
      <p:sp>
        <p:nvSpPr>
          <p:cNvPr id="302" name="Google Shape;302;p8"/>
          <p:cNvSpPr/>
          <p:nvPr/>
        </p:nvSpPr>
        <p:spPr>
          <a:xfrm>
            <a:off x="6263640" y="2843784"/>
            <a:ext cx="5193792" cy="1463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8"/>
          <p:cNvSpPr txBox="1"/>
          <p:nvPr/>
        </p:nvSpPr>
        <p:spPr>
          <a:xfrm>
            <a:off x="6153912" y="2990088"/>
            <a:ext cx="5413248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Why it works: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5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NSE documents carry rich YAML headers with exact quarter labels, source categories, and document types. The raw question ('Q3 FY26 margin') maps almost directly to those header terms.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5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Body text adds company history, regulatory boilerplate, and narrative — noise that pushes the vector away from the query.</a:t>
            </a:r>
            <a:endParaRPr/>
          </a:p>
        </p:txBody>
      </p:sp>
      <p:sp>
        <p:nvSpPr>
          <p:cNvPr id="304" name="Google Shape;304;p8"/>
          <p:cNvSpPr/>
          <p:nvPr/>
        </p:nvSpPr>
        <p:spPr>
          <a:xfrm>
            <a:off x="457200" y="5385816"/>
            <a:ext cx="11274552" cy="111556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8"/>
          <p:cNvSpPr txBox="1"/>
          <p:nvPr/>
        </p:nvSpPr>
        <p:spPr>
          <a:xfrm>
            <a:off x="594360" y="5477256"/>
            <a:ext cx="34229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Recall@3</a:t>
            </a:r>
            <a:endParaRPr/>
          </a:p>
        </p:txBody>
      </p:sp>
      <p:sp>
        <p:nvSpPr>
          <p:cNvPr id="306" name="Google Shape;306;p8"/>
          <p:cNvSpPr txBox="1"/>
          <p:nvPr/>
        </p:nvSpPr>
        <p:spPr>
          <a:xfrm>
            <a:off x="594360" y="5861304"/>
            <a:ext cx="3422904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40%  →  74%</a:t>
            </a:r>
            <a:endParaRPr/>
          </a:p>
        </p:txBody>
      </p:sp>
      <p:sp>
        <p:nvSpPr>
          <p:cNvPr id="307" name="Google Shape;307;p8"/>
          <p:cNvSpPr/>
          <p:nvPr/>
        </p:nvSpPr>
        <p:spPr>
          <a:xfrm>
            <a:off x="4154424" y="5495544"/>
            <a:ext cx="16459" cy="89611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8"/>
          <p:cNvSpPr txBox="1"/>
          <p:nvPr/>
        </p:nvSpPr>
        <p:spPr>
          <a:xfrm>
            <a:off x="4383024" y="5477256"/>
            <a:ext cx="34229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Latency</a:t>
            </a:r>
            <a:endParaRPr/>
          </a:p>
        </p:txBody>
      </p:sp>
      <p:sp>
        <p:nvSpPr>
          <p:cNvPr id="309" name="Google Shape;309;p8"/>
          <p:cNvSpPr txBox="1"/>
          <p:nvPr/>
        </p:nvSpPr>
        <p:spPr>
          <a:xfrm>
            <a:off x="4383024" y="5861304"/>
            <a:ext cx="3422904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6.3 s  →  0.48 s  (13× faster)</a:t>
            </a:r>
            <a:endParaRPr/>
          </a:p>
        </p:txBody>
      </p:sp>
      <p:sp>
        <p:nvSpPr>
          <p:cNvPr id="310" name="Google Shape;310;p8"/>
          <p:cNvSpPr/>
          <p:nvPr/>
        </p:nvSpPr>
        <p:spPr>
          <a:xfrm>
            <a:off x="7943088" y="5495544"/>
            <a:ext cx="16459" cy="89611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8"/>
          <p:cNvSpPr txBox="1"/>
          <p:nvPr/>
        </p:nvSpPr>
        <p:spPr>
          <a:xfrm>
            <a:off x="8171688" y="5477256"/>
            <a:ext cx="34229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What changed</a:t>
            </a:r>
            <a:endParaRPr/>
          </a:p>
        </p:txBody>
      </p:sp>
      <p:sp>
        <p:nvSpPr>
          <p:cNvPr id="312" name="Google Shape;312;p8"/>
          <p:cNvSpPr txBox="1"/>
          <p:nvPr/>
        </p:nvSpPr>
        <p:spPr>
          <a:xfrm>
            <a:off x="8171688" y="5861304"/>
            <a:ext cx="3422904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Embedding target only — same model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9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9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3: Hybrid BM25 + Vector Search (RRF)</a:t>
            </a:r>
            <a:endParaRPr/>
          </a:p>
        </p:txBody>
      </p:sp>
      <p:sp>
        <p:nvSpPr>
          <p:cNvPr id="320" name="Google Shape;320;p9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Why we chose Hybrid RRF — and why we skipped the cross-encoder reranker</a:t>
            </a:r>
            <a:endParaRPr/>
          </a:p>
        </p:txBody>
      </p:sp>
      <p:sp>
        <p:nvSpPr>
          <p:cNvPr id="321" name="Google Shape;321;p9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pic>
        <p:nvPicPr>
          <p:cNvPr descr="phase3.png" id="322" name="Google Shape;322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097280"/>
            <a:ext cx="7498079" cy="425196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9"/>
          <p:cNvSpPr/>
          <p:nvPr/>
        </p:nvSpPr>
        <p:spPr>
          <a:xfrm>
            <a:off x="8092440" y="1097280"/>
            <a:ext cx="3776472" cy="2057400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8092440" y="1097280"/>
            <a:ext cx="3776472" cy="4572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 txBox="1"/>
          <p:nvPr/>
        </p:nvSpPr>
        <p:spPr>
          <a:xfrm>
            <a:off x="8257032" y="1207008"/>
            <a:ext cx="35204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CE vs. RRF</a:t>
            </a:r>
            <a:endParaRPr/>
          </a:p>
        </p:txBody>
      </p:sp>
      <p:sp>
        <p:nvSpPr>
          <p:cNvPr id="326" name="Google Shape;326;p9"/>
          <p:cNvSpPr txBox="1"/>
          <p:nvPr/>
        </p:nvSpPr>
        <p:spPr>
          <a:xfrm>
            <a:off x="8257032" y="1600200"/>
            <a:ext cx="35204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CE reranker: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R@3 = 74%  ·  +1.74 s latency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Hybrid RRF (chosen):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R@3 = 76%  ·  0 s overhead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RRF wins on both recall AND speed.</a:t>
            </a:r>
            <a:endParaRPr/>
          </a:p>
        </p:txBody>
      </p:sp>
      <p:sp>
        <p:nvSpPr>
          <p:cNvPr id="327" name="Google Shape;327;p9"/>
          <p:cNvSpPr/>
          <p:nvPr/>
        </p:nvSpPr>
        <p:spPr>
          <a:xfrm>
            <a:off x="8092440" y="3319272"/>
            <a:ext cx="3776472" cy="202996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8092440" y="3319272"/>
            <a:ext cx="64008" cy="202996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 txBox="1"/>
          <p:nvPr/>
        </p:nvSpPr>
        <p:spPr>
          <a:xfrm>
            <a:off x="8275320" y="3410712"/>
            <a:ext cx="350215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Why not CE reranker?</a:t>
            </a:r>
            <a:endParaRPr/>
          </a:p>
        </p:txBody>
      </p:sp>
      <p:sp>
        <p:nvSpPr>
          <p:cNvPr id="330" name="Google Shape;330;p9"/>
          <p:cNvSpPr txBox="1"/>
          <p:nvPr/>
        </p:nvSpPr>
        <p:spPr>
          <a:xfrm>
            <a:off x="8275320" y="3822192"/>
            <a:ext cx="3502152" cy="1435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The BGE cross-encoder was trained on MS-MARCO web queries — it has no understanding of financial domain terms, quarter labels, or Infosys-specific vocabulary. Domain mismatch means it cannot reliably distinguish which NSE filing chunk is most relevant.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RRF formula: score = Σ 1 / (60 + rank_i)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Simple, fast, domain-agnostic.</a:t>
            </a:r>
            <a:endParaRPr/>
          </a:p>
        </p:txBody>
      </p:sp>
      <p:sp>
        <p:nvSpPr>
          <p:cNvPr id="331" name="Google Shape;331;p9"/>
          <p:cNvSpPr/>
          <p:nvPr/>
        </p:nvSpPr>
        <p:spPr>
          <a:xfrm>
            <a:off x="457200" y="5486400"/>
            <a:ext cx="11274552" cy="804672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457200" y="5486400"/>
            <a:ext cx="64008" cy="804672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 txBox="1"/>
          <p:nvPr/>
        </p:nvSpPr>
        <p:spPr>
          <a:xfrm>
            <a:off x="640080" y="5687568"/>
            <a:ext cx="1100023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Production choice: Hybrid RRF  —  R@3 = 76%,  R@7 = 88%,  latency = 0.56 s.  Higher recall than any reranker, zero domain-adaptation needed.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0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0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0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All 8 Strategies — Recall Progression</a:t>
            </a:r>
            <a:endParaRPr/>
          </a:p>
        </p:txBody>
      </p:sp>
      <p:sp>
        <p:nvSpPr>
          <p:cNvPr id="341" name="Google Shape;341;p10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Every experiment in sequence; ★ = production choice</a:t>
            </a:r>
            <a:endParaRPr/>
          </a:p>
        </p:txBody>
      </p:sp>
      <p:sp>
        <p:nvSpPr>
          <p:cNvPr id="342" name="Google Shape;342;p10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pic>
        <p:nvPicPr>
          <p:cNvPr descr="all_experiments.png" id="343" name="Google Shape;34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097280"/>
            <a:ext cx="11274552" cy="5074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1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1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1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Where Does the System Perform Best?</a:t>
            </a:r>
            <a:endParaRPr/>
          </a:p>
        </p:txBody>
      </p:sp>
      <p:sp>
        <p:nvSpPr>
          <p:cNvPr id="351" name="Google Shape;351;p11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Category-wise Recall@3 and Recall@7 breakdown</a:t>
            </a:r>
            <a:endParaRPr/>
          </a:p>
        </p:txBody>
      </p:sp>
      <p:sp>
        <p:nvSpPr>
          <p:cNvPr id="352" name="Google Shape;352;p11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pic>
        <p:nvPicPr>
          <p:cNvPr descr="category.png" id="353" name="Google Shape;35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60" y="1143000"/>
            <a:ext cx="10543032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11"/>
          <p:cNvSpPr/>
          <p:nvPr/>
        </p:nvSpPr>
        <p:spPr>
          <a:xfrm>
            <a:off x="457200" y="5257800"/>
            <a:ext cx="3520440" cy="1417320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1"/>
          <p:cNvSpPr/>
          <p:nvPr/>
        </p:nvSpPr>
        <p:spPr>
          <a:xfrm>
            <a:off x="457200" y="5257800"/>
            <a:ext cx="3520440" cy="41148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1"/>
          <p:cNvSpPr txBox="1"/>
          <p:nvPr/>
        </p:nvSpPr>
        <p:spPr>
          <a:xfrm>
            <a:off x="594360" y="5349240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NSE ≤10 pages</a:t>
            </a:r>
            <a:endParaRPr/>
          </a:p>
        </p:txBody>
      </p:sp>
      <p:sp>
        <p:nvSpPr>
          <p:cNvPr id="357" name="Google Shape;357;p11"/>
          <p:cNvSpPr txBox="1"/>
          <p:nvPr/>
        </p:nvSpPr>
        <p:spPr>
          <a:xfrm>
            <a:off x="594360" y="5769864"/>
            <a:ext cx="3246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100% R@3 — short docs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index and retrieve cleanly</a:t>
            </a:r>
            <a:endParaRPr/>
          </a:p>
        </p:txBody>
      </p:sp>
      <p:sp>
        <p:nvSpPr>
          <p:cNvPr id="358" name="Google Shape;358;p11"/>
          <p:cNvSpPr/>
          <p:nvPr/>
        </p:nvSpPr>
        <p:spPr>
          <a:xfrm>
            <a:off x="4142232" y="5257800"/>
            <a:ext cx="3520440" cy="1417320"/>
          </a:xfrm>
          <a:prstGeom prst="rect">
            <a:avLst/>
          </a:prstGeom>
          <a:solidFill>
            <a:srgbClr val="FEF3D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1"/>
          <p:cNvSpPr/>
          <p:nvPr/>
        </p:nvSpPr>
        <p:spPr>
          <a:xfrm>
            <a:off x="4142232" y="5257800"/>
            <a:ext cx="3520440" cy="41148"/>
          </a:xfrm>
          <a:prstGeom prst="rect">
            <a:avLst/>
          </a:prstGeom>
          <a:solidFill>
            <a:srgbClr val="D0800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1"/>
          <p:cNvSpPr txBox="1"/>
          <p:nvPr/>
        </p:nvSpPr>
        <p:spPr>
          <a:xfrm>
            <a:off x="4279392" y="5349240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NSE &gt;10 pages</a:t>
            </a:r>
            <a:endParaRPr/>
          </a:p>
        </p:txBody>
      </p:sp>
      <p:sp>
        <p:nvSpPr>
          <p:cNvPr id="361" name="Google Shape;361;p11"/>
          <p:cNvSpPr txBox="1"/>
          <p:nvPr/>
        </p:nvSpPr>
        <p:spPr>
          <a:xfrm>
            <a:off x="4279392" y="5769864"/>
            <a:ext cx="3246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70% R@3 — chunking splits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long reports imperfectly</a:t>
            </a:r>
            <a:endParaRPr/>
          </a:p>
        </p:txBody>
      </p:sp>
      <p:sp>
        <p:nvSpPr>
          <p:cNvPr id="362" name="Google Shape;362;p11"/>
          <p:cNvSpPr/>
          <p:nvPr/>
        </p:nvSpPr>
        <p:spPr>
          <a:xfrm>
            <a:off x="7827264" y="5257800"/>
            <a:ext cx="3520440" cy="1417320"/>
          </a:xfrm>
          <a:prstGeom prst="rect">
            <a:avLst/>
          </a:prstGeom>
          <a:solidFill>
            <a:srgbClr val="FDE8E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1"/>
          <p:cNvSpPr/>
          <p:nvPr/>
        </p:nvSpPr>
        <p:spPr>
          <a:xfrm>
            <a:off x="7827264" y="5257800"/>
            <a:ext cx="3520440" cy="41148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1"/>
          <p:cNvSpPr txBox="1"/>
          <p:nvPr/>
        </p:nvSpPr>
        <p:spPr>
          <a:xfrm>
            <a:off x="7964424" y="5349240"/>
            <a:ext cx="3246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Infosys IR Docs</a:t>
            </a:r>
            <a:endParaRPr/>
          </a:p>
        </p:txBody>
      </p:sp>
      <p:sp>
        <p:nvSpPr>
          <p:cNvPr id="365" name="Google Shape;365;p11"/>
          <p:cNvSpPr txBox="1"/>
          <p:nvPr/>
        </p:nvSpPr>
        <p:spPr>
          <a:xfrm>
            <a:off x="7964424" y="5769864"/>
            <a:ext cx="32461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Only 20% R@3 — these queries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are best handled by the Fact DB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2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2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2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Speed vs. Accuracy — Every Strategy at a Glance</a:t>
            </a:r>
            <a:endParaRPr/>
          </a:p>
        </p:txBody>
      </p:sp>
      <p:sp>
        <p:nvSpPr>
          <p:cNvPr id="373" name="Google Shape;373;p12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The ideal system is top-left: high recall, low latency</a:t>
            </a:r>
            <a:endParaRPr/>
          </a:p>
        </p:txBody>
      </p:sp>
      <p:sp>
        <p:nvSpPr>
          <p:cNvPr id="374" name="Google Shape;374;p12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  <p:pic>
        <p:nvPicPr>
          <p:cNvPr descr="scatter.png" id="375" name="Google Shape;37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143000"/>
            <a:ext cx="8046720" cy="4114800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12"/>
          <p:cNvSpPr/>
          <p:nvPr/>
        </p:nvSpPr>
        <p:spPr>
          <a:xfrm>
            <a:off x="8668512" y="1143000"/>
            <a:ext cx="3200400" cy="1920240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2"/>
          <p:cNvSpPr/>
          <p:nvPr/>
        </p:nvSpPr>
        <p:spPr>
          <a:xfrm>
            <a:off x="8668512" y="1143000"/>
            <a:ext cx="3200400" cy="4572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2"/>
          <p:cNvSpPr txBox="1"/>
          <p:nvPr/>
        </p:nvSpPr>
        <p:spPr>
          <a:xfrm>
            <a:off x="8833104" y="1252728"/>
            <a:ext cx="294436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Verdict</a:t>
            </a:r>
            <a:endParaRPr/>
          </a:p>
        </p:txBody>
      </p:sp>
      <p:sp>
        <p:nvSpPr>
          <p:cNvPr id="379" name="Google Shape;379;p12"/>
          <p:cNvSpPr txBox="1"/>
          <p:nvPr/>
        </p:nvSpPr>
        <p:spPr>
          <a:xfrm>
            <a:off x="8833104" y="1645920"/>
            <a:ext cx="2944368" cy="132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★ Hybrid RRF: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R@3 = 76%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0.56 s latency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4040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BGE Reranker: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R@3 = 58%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245 s latency</a:t>
            </a:r>
            <a:endParaRPr/>
          </a:p>
        </p:txBody>
      </p:sp>
      <p:sp>
        <p:nvSpPr>
          <p:cNvPr id="380" name="Google Shape;380;p12"/>
          <p:cNvSpPr/>
          <p:nvPr/>
        </p:nvSpPr>
        <p:spPr>
          <a:xfrm>
            <a:off x="8668512" y="3227832"/>
            <a:ext cx="3200400" cy="202996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2"/>
          <p:cNvSpPr/>
          <p:nvPr/>
        </p:nvSpPr>
        <p:spPr>
          <a:xfrm>
            <a:off x="8668512" y="3227832"/>
            <a:ext cx="64008" cy="2029968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2"/>
          <p:cNvSpPr txBox="1"/>
          <p:nvPr/>
        </p:nvSpPr>
        <p:spPr>
          <a:xfrm>
            <a:off x="8851392" y="3319272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Why Hybrid wins</a:t>
            </a:r>
            <a:endParaRPr/>
          </a:p>
        </p:txBody>
      </p:sp>
      <p:sp>
        <p:nvSpPr>
          <p:cNvPr id="383" name="Google Shape;383;p12"/>
          <p:cNvSpPr txBox="1"/>
          <p:nvPr/>
        </p:nvSpPr>
        <p:spPr>
          <a:xfrm>
            <a:off x="8851392" y="3703320"/>
            <a:ext cx="29260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Hybrid is both faster AND more accurate than the BGE reranker. BM25 adds keyword precision that pure vector search misses on entity-heavy financial queries. RRF merges the two signals without any additional latency.</a:t>
            </a:r>
            <a:endParaRPr/>
          </a:p>
        </p:txBody>
      </p:sp>
      <p:sp>
        <p:nvSpPr>
          <p:cNvPr id="384" name="Google Shape;384;p12"/>
          <p:cNvSpPr/>
          <p:nvPr/>
        </p:nvSpPr>
        <p:spPr>
          <a:xfrm>
            <a:off x="457200" y="5394960"/>
            <a:ext cx="11274552" cy="804672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2"/>
          <p:cNvSpPr/>
          <p:nvPr/>
        </p:nvSpPr>
        <p:spPr>
          <a:xfrm>
            <a:off x="457200" y="5394960"/>
            <a:ext cx="64008" cy="804672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2"/>
          <p:cNvSpPr txBox="1"/>
          <p:nvPr/>
        </p:nvSpPr>
        <p:spPr>
          <a:xfrm>
            <a:off x="640080" y="5596128"/>
            <a:ext cx="1100023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Hybrid RRF is the production system: highest recall at the second-lowest latency. The BGE reranker sits in the worst quadrant — slower AND less accurate.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3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3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3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Hallucination Problem in Finance</a:t>
            </a:r>
            <a:endParaRPr/>
          </a:p>
        </p:txBody>
      </p:sp>
      <p:sp>
        <p:nvSpPr>
          <p:cNvPr id="394" name="Google Shape;394;p13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Why retrieval quality alone is not enough for numeric queries</a:t>
            </a:r>
            <a:endParaRPr/>
          </a:p>
        </p:txBody>
      </p:sp>
      <p:sp>
        <p:nvSpPr>
          <p:cNvPr id="395" name="Google Shape;395;p13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457200" y="1188720"/>
            <a:ext cx="6949440" cy="25146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 txBox="1"/>
          <p:nvPr/>
        </p:nvSpPr>
        <p:spPr>
          <a:xfrm>
            <a:off x="640080" y="1353312"/>
            <a:ext cx="6583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Question:</a:t>
            </a:r>
            <a:endParaRPr/>
          </a:p>
        </p:txBody>
      </p:sp>
      <p:sp>
        <p:nvSpPr>
          <p:cNvPr id="398" name="Google Shape;398;p13"/>
          <p:cNvSpPr txBox="1"/>
          <p:nvPr/>
        </p:nvSpPr>
        <p:spPr>
          <a:xfrm>
            <a:off x="640080" y="1691640"/>
            <a:ext cx="6583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"What was Infosys's operating margin in Q3 FY26?"</a:t>
            </a:r>
            <a:endParaRPr/>
          </a:p>
        </p:txBody>
      </p:sp>
      <p:sp>
        <p:nvSpPr>
          <p:cNvPr id="399" name="Google Shape;399;p13"/>
          <p:cNvSpPr txBox="1"/>
          <p:nvPr/>
        </p:nvSpPr>
        <p:spPr>
          <a:xfrm>
            <a:off x="640080" y="2194560"/>
            <a:ext cx="6583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Vector RAG answer (no fact layer):</a:t>
            </a:r>
            <a:endParaRPr/>
          </a:p>
        </p:txBody>
      </p:sp>
      <p:sp>
        <p:nvSpPr>
          <p:cNvPr id="400" name="Google Shape;400;p13"/>
          <p:cNvSpPr txBox="1"/>
          <p:nvPr/>
        </p:nvSpPr>
        <p:spPr>
          <a:xfrm>
            <a:off x="640080" y="2560320"/>
            <a:ext cx="65836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"…the operating margin was approximately 17.8%."   ✗  WRONG  (actual: 21.1%)</a:t>
            </a:r>
            <a:endParaRPr/>
          </a:p>
        </p:txBody>
      </p:sp>
      <p:sp>
        <p:nvSpPr>
          <p:cNvPr id="401" name="Google Shape;401;p13"/>
          <p:cNvSpPr/>
          <p:nvPr/>
        </p:nvSpPr>
        <p:spPr>
          <a:xfrm>
            <a:off x="457200" y="3904488"/>
            <a:ext cx="6949440" cy="1737360"/>
          </a:xfrm>
          <a:prstGeom prst="rect">
            <a:avLst/>
          </a:prstGeom>
          <a:solidFill>
            <a:srgbClr val="FDE8E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3"/>
          <p:cNvSpPr/>
          <p:nvPr/>
        </p:nvSpPr>
        <p:spPr>
          <a:xfrm>
            <a:off x="457200" y="3904488"/>
            <a:ext cx="64008" cy="1737360"/>
          </a:xfrm>
          <a:prstGeom prst="rect">
            <a:avLst/>
          </a:prstGeom>
          <a:solidFill>
            <a:srgbClr val="C0102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3"/>
          <p:cNvSpPr txBox="1"/>
          <p:nvPr/>
        </p:nvSpPr>
        <p:spPr>
          <a:xfrm>
            <a:off x="621792" y="4014216"/>
            <a:ext cx="6693408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01020"/>
                </a:solidFill>
                <a:latin typeface="Calibri"/>
                <a:ea typeface="Calibri"/>
                <a:cs typeface="Calibri"/>
                <a:sym typeface="Calibri"/>
              </a:rPr>
              <a:t>Why does this happen?</a:t>
            </a:r>
            <a:endParaRPr/>
          </a:p>
        </p:txBody>
      </p:sp>
      <p:sp>
        <p:nvSpPr>
          <p:cNvPr id="404" name="Google Shape;404;p13"/>
          <p:cNvSpPr txBox="1"/>
          <p:nvPr/>
        </p:nvSpPr>
        <p:spPr>
          <a:xfrm>
            <a:off x="621792" y="4379976"/>
            <a:ext cx="6693408" cy="11704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The retrieved chunk may not contain the exact figure — the value may span a table row that was split during chunking, or the same metric appears rounded differently across documents. The LLM interpolates from nearby figures. Even a 1–2 pp margin error can flip an analyst's recommendation.</a:t>
            </a:r>
            <a:endParaRPr/>
          </a:p>
        </p:txBody>
      </p:sp>
      <p:sp>
        <p:nvSpPr>
          <p:cNvPr id="405" name="Google Shape;405;p13"/>
          <p:cNvSpPr/>
          <p:nvPr/>
        </p:nvSpPr>
        <p:spPr>
          <a:xfrm>
            <a:off x="7726680" y="1188720"/>
            <a:ext cx="4005072" cy="621792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00704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3"/>
          <p:cNvSpPr/>
          <p:nvPr/>
        </p:nvSpPr>
        <p:spPr>
          <a:xfrm>
            <a:off x="7726680" y="1188720"/>
            <a:ext cx="64008" cy="621792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3"/>
          <p:cNvSpPr txBox="1"/>
          <p:nvPr/>
        </p:nvSpPr>
        <p:spPr>
          <a:xfrm>
            <a:off x="7909560" y="1335024"/>
            <a:ext cx="373075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Our Solution: Fact Database</a:t>
            </a:r>
            <a:endParaRPr/>
          </a:p>
        </p:txBody>
      </p:sp>
      <p:sp>
        <p:nvSpPr>
          <p:cNvPr id="408" name="Google Shape;408;p13"/>
          <p:cNvSpPr/>
          <p:nvPr/>
        </p:nvSpPr>
        <p:spPr>
          <a:xfrm>
            <a:off x="7726680" y="1938528"/>
            <a:ext cx="4005072" cy="1901952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3"/>
          <p:cNvSpPr txBox="1"/>
          <p:nvPr/>
        </p:nvSpPr>
        <p:spPr>
          <a:xfrm>
            <a:off x="7863840" y="2048256"/>
            <a:ext cx="3730752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Route numeric queries to the Fact DB:</a:t>
            </a:r>
            <a:endParaRPr/>
          </a:p>
        </p:txBody>
      </p:sp>
      <p:sp>
        <p:nvSpPr>
          <p:cNvPr id="410" name="Google Shape;410;p13"/>
          <p:cNvSpPr txBox="1"/>
          <p:nvPr/>
        </p:nvSpPr>
        <p:spPr>
          <a:xfrm>
            <a:off x="7863840" y="2505456"/>
            <a:ext cx="37307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① LLM generates SQL from the question</a:t>
            </a:r>
            <a:endParaRPr/>
          </a:p>
        </p:txBody>
      </p:sp>
      <p:sp>
        <p:nvSpPr>
          <p:cNvPr id="411" name="Google Shape;411;p13"/>
          <p:cNvSpPr txBox="1"/>
          <p:nvPr/>
        </p:nvSpPr>
        <p:spPr>
          <a:xfrm>
            <a:off x="7863840" y="2907792"/>
            <a:ext cx="37307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② SQLite executes on 2,551 stored rows</a:t>
            </a:r>
            <a:endParaRPr/>
          </a:p>
        </p:txBody>
      </p:sp>
      <p:sp>
        <p:nvSpPr>
          <p:cNvPr id="412" name="Google Shape;412;p13"/>
          <p:cNvSpPr txBox="1"/>
          <p:nvPr/>
        </p:nvSpPr>
        <p:spPr>
          <a:xfrm>
            <a:off x="7863840" y="3310128"/>
            <a:ext cx="37307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③ Exact value returned — no generation</a:t>
            </a:r>
            <a:endParaRPr/>
          </a:p>
        </p:txBody>
      </p:sp>
      <p:sp>
        <p:nvSpPr>
          <p:cNvPr id="413" name="Google Shape;413;p13"/>
          <p:cNvSpPr/>
          <p:nvPr/>
        </p:nvSpPr>
        <p:spPr>
          <a:xfrm>
            <a:off x="7726680" y="3968496"/>
            <a:ext cx="4005072" cy="1673352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3"/>
          <p:cNvSpPr/>
          <p:nvPr/>
        </p:nvSpPr>
        <p:spPr>
          <a:xfrm>
            <a:off x="7726680" y="3968496"/>
            <a:ext cx="4005072" cy="36576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3"/>
          <p:cNvSpPr txBox="1"/>
          <p:nvPr/>
        </p:nvSpPr>
        <p:spPr>
          <a:xfrm>
            <a:off x="7818120" y="4041648"/>
            <a:ext cx="3822192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4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/>
          </a:p>
        </p:txBody>
      </p:sp>
      <p:sp>
        <p:nvSpPr>
          <p:cNvPr id="416" name="Google Shape;416;p13"/>
          <p:cNvSpPr txBox="1"/>
          <p:nvPr/>
        </p:nvSpPr>
        <p:spPr>
          <a:xfrm>
            <a:off x="7818120" y="5065776"/>
            <a:ext cx="382219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numeric hallucinations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on Fact DB path queries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4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4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4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How FinQuery Works End-to-End</a:t>
            </a:r>
            <a:endParaRPr/>
          </a:p>
        </p:txBody>
      </p:sp>
      <p:sp>
        <p:nvSpPr>
          <p:cNvPr id="424" name="Google Shape;424;p14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LLM-based router directs each query to the right retrieval path</a:t>
            </a:r>
            <a:endParaRPr/>
          </a:p>
        </p:txBody>
      </p:sp>
      <p:sp>
        <p:nvSpPr>
          <p:cNvPr id="425" name="Google Shape;425;p14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  <p:pic>
        <p:nvPicPr>
          <p:cNvPr descr="pipeline.png" id="426" name="Google Shape;42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097280"/>
            <a:ext cx="11274552" cy="3291840"/>
          </a:xfrm>
          <a:prstGeom prst="rect">
            <a:avLst/>
          </a:prstGeom>
          <a:noFill/>
          <a:ln>
            <a:noFill/>
          </a:ln>
        </p:spPr>
      </p:pic>
      <p:sp>
        <p:nvSpPr>
          <p:cNvPr id="427" name="Google Shape;427;p14"/>
          <p:cNvSpPr/>
          <p:nvPr/>
        </p:nvSpPr>
        <p:spPr>
          <a:xfrm>
            <a:off x="457200" y="4480560"/>
            <a:ext cx="3636264" cy="1664208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4"/>
          <p:cNvSpPr/>
          <p:nvPr/>
        </p:nvSpPr>
        <p:spPr>
          <a:xfrm>
            <a:off x="457200" y="4480560"/>
            <a:ext cx="3636264" cy="4572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4"/>
          <p:cNvSpPr txBox="1"/>
          <p:nvPr/>
        </p:nvSpPr>
        <p:spPr>
          <a:xfrm>
            <a:off x="594360" y="4590288"/>
            <a:ext cx="33619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Query Router</a:t>
            </a:r>
            <a:endParaRPr/>
          </a:p>
        </p:txBody>
      </p:sp>
      <p:sp>
        <p:nvSpPr>
          <p:cNvPr id="430" name="Google Shape;430;p14"/>
          <p:cNvSpPr txBox="1"/>
          <p:nvPr/>
        </p:nvSpPr>
        <p:spPr>
          <a:xfrm>
            <a:off x="594360" y="5047488"/>
            <a:ext cx="336194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gpt-4o-mini · temperature=0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~95% routing accuracy · ~0.75 s</a:t>
            </a:r>
            <a:endParaRPr/>
          </a:p>
        </p:txBody>
      </p:sp>
      <p:sp>
        <p:nvSpPr>
          <p:cNvPr id="431" name="Google Shape;431;p14"/>
          <p:cNvSpPr/>
          <p:nvPr/>
        </p:nvSpPr>
        <p:spPr>
          <a:xfrm>
            <a:off x="4276344" y="4480560"/>
            <a:ext cx="3636264" cy="1664208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4"/>
          <p:cNvSpPr/>
          <p:nvPr/>
        </p:nvSpPr>
        <p:spPr>
          <a:xfrm>
            <a:off x="4276344" y="4480560"/>
            <a:ext cx="3636264" cy="4572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4"/>
          <p:cNvSpPr txBox="1"/>
          <p:nvPr/>
        </p:nvSpPr>
        <p:spPr>
          <a:xfrm>
            <a:off x="4413504" y="4590288"/>
            <a:ext cx="33619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FACT_DB path</a:t>
            </a:r>
            <a:endParaRPr/>
          </a:p>
        </p:txBody>
      </p:sp>
      <p:sp>
        <p:nvSpPr>
          <p:cNvPr id="434" name="Google Shape;434;p14"/>
          <p:cNvSpPr txBox="1"/>
          <p:nvPr/>
        </p:nvSpPr>
        <p:spPr>
          <a:xfrm>
            <a:off x="4413504" y="5047488"/>
            <a:ext cx="336194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2,551 rows · 7 metrics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Q1 FY25–Q4 FY26 · Infosys IR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Zero hallucination on numbers</a:t>
            </a:r>
            <a:endParaRPr/>
          </a:p>
        </p:txBody>
      </p:sp>
      <p:sp>
        <p:nvSpPr>
          <p:cNvPr id="435" name="Google Shape;435;p14"/>
          <p:cNvSpPr/>
          <p:nvPr/>
        </p:nvSpPr>
        <p:spPr>
          <a:xfrm>
            <a:off x="8095488" y="4480560"/>
            <a:ext cx="3636264" cy="1664208"/>
          </a:xfrm>
          <a:prstGeom prst="rect">
            <a:avLst/>
          </a:prstGeom>
          <a:solidFill>
            <a:srgbClr val="FEF3D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4"/>
          <p:cNvSpPr/>
          <p:nvPr/>
        </p:nvSpPr>
        <p:spPr>
          <a:xfrm>
            <a:off x="8095488" y="4480560"/>
            <a:ext cx="3636264" cy="45720"/>
          </a:xfrm>
          <a:prstGeom prst="rect">
            <a:avLst/>
          </a:prstGeom>
          <a:solidFill>
            <a:srgbClr val="D0800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4"/>
          <p:cNvSpPr txBox="1"/>
          <p:nvPr/>
        </p:nvSpPr>
        <p:spPr>
          <a:xfrm>
            <a:off x="8232648" y="4590288"/>
            <a:ext cx="3361944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VECTOR path</a:t>
            </a:r>
            <a:endParaRPr/>
          </a:p>
        </p:txBody>
      </p:sp>
      <p:sp>
        <p:nvSpPr>
          <p:cNvPr id="438" name="Google Shape;438;p14"/>
          <p:cNvSpPr txBox="1"/>
          <p:nvPr/>
        </p:nvSpPr>
        <p:spPr>
          <a:xfrm>
            <a:off x="8232648" y="5047488"/>
            <a:ext cx="336194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Hybrid RRF retrieval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top-3 chunks → gpt-4o-mini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Qualitative &amp; explanatory Q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15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5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5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Final Answer Quality — RAGAS Evaluation</a:t>
            </a:r>
            <a:endParaRPr/>
          </a:p>
        </p:txBody>
      </p:sp>
      <p:sp>
        <p:nvSpPr>
          <p:cNvPr id="446" name="Google Shape;446;p15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Pipeline A (vector RAG path) · 50 questions · gpt-4o-mini</a:t>
            </a:r>
            <a:endParaRPr/>
          </a:p>
        </p:txBody>
      </p:sp>
      <p:sp>
        <p:nvSpPr>
          <p:cNvPr id="447" name="Google Shape;447;p15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pic>
        <p:nvPicPr>
          <p:cNvPr descr="ragas.png" id="448" name="Google Shape;44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143000"/>
            <a:ext cx="7223760" cy="3749039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15"/>
          <p:cNvSpPr/>
          <p:nvPr/>
        </p:nvSpPr>
        <p:spPr>
          <a:xfrm>
            <a:off x="7863840" y="1143000"/>
            <a:ext cx="4005072" cy="11430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5"/>
          <p:cNvSpPr/>
          <p:nvPr/>
        </p:nvSpPr>
        <p:spPr>
          <a:xfrm>
            <a:off x="7863840" y="1143000"/>
            <a:ext cx="45720" cy="114300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5"/>
          <p:cNvSpPr txBox="1"/>
          <p:nvPr/>
        </p:nvSpPr>
        <p:spPr>
          <a:xfrm>
            <a:off x="8019288" y="1234440"/>
            <a:ext cx="375818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Context Precision</a:t>
            </a:r>
            <a:endParaRPr/>
          </a:p>
        </p:txBody>
      </p:sp>
      <p:sp>
        <p:nvSpPr>
          <p:cNvPr id="452" name="Google Shape;452;p15"/>
          <p:cNvSpPr txBox="1"/>
          <p:nvPr/>
        </p:nvSpPr>
        <p:spPr>
          <a:xfrm>
            <a:off x="8019288" y="1581912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0.968</a:t>
            </a:r>
            <a:endParaRPr/>
          </a:p>
        </p:txBody>
      </p:sp>
      <p:sp>
        <p:nvSpPr>
          <p:cNvPr id="453" name="Google Shape;453;p15"/>
          <p:cNvSpPr txBox="1"/>
          <p:nvPr/>
        </p:nvSpPr>
        <p:spPr>
          <a:xfrm>
            <a:off x="9281160" y="1572768"/>
            <a:ext cx="24505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Retrieved chunks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are highly relevant</a:t>
            </a:r>
            <a:endParaRPr/>
          </a:p>
        </p:txBody>
      </p:sp>
      <p:sp>
        <p:nvSpPr>
          <p:cNvPr id="454" name="Google Shape;454;p15"/>
          <p:cNvSpPr/>
          <p:nvPr/>
        </p:nvSpPr>
        <p:spPr>
          <a:xfrm>
            <a:off x="7863840" y="2331720"/>
            <a:ext cx="4005072" cy="11430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5"/>
          <p:cNvSpPr/>
          <p:nvPr/>
        </p:nvSpPr>
        <p:spPr>
          <a:xfrm>
            <a:off x="7863840" y="2331720"/>
            <a:ext cx="45720" cy="1143000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5"/>
          <p:cNvSpPr txBox="1"/>
          <p:nvPr/>
        </p:nvSpPr>
        <p:spPr>
          <a:xfrm>
            <a:off x="8019288" y="2423160"/>
            <a:ext cx="375818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85ABC"/>
                </a:solidFill>
                <a:latin typeface="Calibri"/>
                <a:ea typeface="Calibri"/>
                <a:cs typeface="Calibri"/>
                <a:sym typeface="Calibri"/>
              </a:rPr>
              <a:t>Context Recall</a:t>
            </a:r>
            <a:endParaRPr/>
          </a:p>
        </p:txBody>
      </p:sp>
      <p:sp>
        <p:nvSpPr>
          <p:cNvPr id="457" name="Google Shape;457;p15"/>
          <p:cNvSpPr txBox="1"/>
          <p:nvPr/>
        </p:nvSpPr>
        <p:spPr>
          <a:xfrm>
            <a:off x="8019288" y="2770632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85ABC"/>
                </a:solidFill>
                <a:latin typeface="Calibri"/>
                <a:ea typeface="Calibri"/>
                <a:cs typeface="Calibri"/>
                <a:sym typeface="Calibri"/>
              </a:rPr>
              <a:t>0.873</a:t>
            </a:r>
            <a:endParaRPr/>
          </a:p>
        </p:txBody>
      </p:sp>
      <p:sp>
        <p:nvSpPr>
          <p:cNvPr id="458" name="Google Shape;458;p15"/>
          <p:cNvSpPr txBox="1"/>
          <p:nvPr/>
        </p:nvSpPr>
        <p:spPr>
          <a:xfrm>
            <a:off x="9281160" y="2761488"/>
            <a:ext cx="24505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Needed information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found in context</a:t>
            </a:r>
            <a:endParaRPr/>
          </a:p>
        </p:txBody>
      </p:sp>
      <p:sp>
        <p:nvSpPr>
          <p:cNvPr id="459" name="Google Shape;459;p15"/>
          <p:cNvSpPr/>
          <p:nvPr/>
        </p:nvSpPr>
        <p:spPr>
          <a:xfrm>
            <a:off x="7863840" y="3520440"/>
            <a:ext cx="4005072" cy="11430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5"/>
          <p:cNvSpPr/>
          <p:nvPr/>
        </p:nvSpPr>
        <p:spPr>
          <a:xfrm>
            <a:off x="7863840" y="3520440"/>
            <a:ext cx="45720" cy="114300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5"/>
          <p:cNvSpPr txBox="1"/>
          <p:nvPr/>
        </p:nvSpPr>
        <p:spPr>
          <a:xfrm>
            <a:off x="8019288" y="3611880"/>
            <a:ext cx="375818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Faithfulness</a:t>
            </a:r>
            <a:endParaRPr/>
          </a:p>
        </p:txBody>
      </p:sp>
      <p:sp>
        <p:nvSpPr>
          <p:cNvPr id="462" name="Google Shape;462;p15"/>
          <p:cNvSpPr txBox="1"/>
          <p:nvPr/>
        </p:nvSpPr>
        <p:spPr>
          <a:xfrm>
            <a:off x="8019288" y="3959352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0.893</a:t>
            </a:r>
            <a:endParaRPr/>
          </a:p>
        </p:txBody>
      </p:sp>
      <p:sp>
        <p:nvSpPr>
          <p:cNvPr id="463" name="Google Shape;463;p15"/>
          <p:cNvSpPr txBox="1"/>
          <p:nvPr/>
        </p:nvSpPr>
        <p:spPr>
          <a:xfrm>
            <a:off x="9281160" y="3950208"/>
            <a:ext cx="24505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Answer grounded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in retrieved text</a:t>
            </a:r>
            <a:endParaRPr/>
          </a:p>
        </p:txBody>
      </p:sp>
      <p:sp>
        <p:nvSpPr>
          <p:cNvPr id="464" name="Google Shape;464;p15"/>
          <p:cNvSpPr/>
          <p:nvPr/>
        </p:nvSpPr>
        <p:spPr>
          <a:xfrm>
            <a:off x="7863840" y="4709160"/>
            <a:ext cx="4005072" cy="11430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5"/>
          <p:cNvSpPr/>
          <p:nvPr/>
        </p:nvSpPr>
        <p:spPr>
          <a:xfrm>
            <a:off x="7863840" y="4709160"/>
            <a:ext cx="45720" cy="1143000"/>
          </a:xfrm>
          <a:prstGeom prst="rect">
            <a:avLst/>
          </a:prstGeom>
          <a:solidFill>
            <a:srgbClr val="D0800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5"/>
          <p:cNvSpPr txBox="1"/>
          <p:nvPr/>
        </p:nvSpPr>
        <p:spPr>
          <a:xfrm>
            <a:off x="8019288" y="4800600"/>
            <a:ext cx="375818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Answer Relevancy</a:t>
            </a:r>
            <a:endParaRPr/>
          </a:p>
        </p:txBody>
      </p:sp>
      <p:sp>
        <p:nvSpPr>
          <p:cNvPr id="467" name="Google Shape;467;p15"/>
          <p:cNvSpPr txBox="1"/>
          <p:nvPr/>
        </p:nvSpPr>
        <p:spPr>
          <a:xfrm>
            <a:off x="8019288" y="5148072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0.844</a:t>
            </a:r>
            <a:endParaRPr/>
          </a:p>
        </p:txBody>
      </p:sp>
      <p:sp>
        <p:nvSpPr>
          <p:cNvPr id="468" name="Google Shape;468;p15"/>
          <p:cNvSpPr txBox="1"/>
          <p:nvPr/>
        </p:nvSpPr>
        <p:spPr>
          <a:xfrm>
            <a:off x="9281160" y="5138928"/>
            <a:ext cx="245059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Answer directly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addresses question</a:t>
            </a:r>
            <a:endParaRPr/>
          </a:p>
        </p:txBody>
      </p:sp>
      <p:sp>
        <p:nvSpPr>
          <p:cNvPr id="469" name="Google Shape;469;p15"/>
          <p:cNvSpPr txBox="1"/>
          <p:nvPr/>
        </p:nvSpPr>
        <p:spPr>
          <a:xfrm>
            <a:off x="457200" y="5029199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All 4 metrics exceed 0.84 — strong, verifiable answer quality.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16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6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6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Results at a Glance</a:t>
            </a:r>
            <a:endParaRPr/>
          </a:p>
        </p:txBody>
      </p:sp>
      <p:sp>
        <p:nvSpPr>
          <p:cNvPr id="477" name="Google Shape;477;p16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Final production system — Hybrid RRF + Fact DB</a:t>
            </a:r>
            <a:endParaRPr/>
          </a:p>
        </p:txBody>
      </p:sp>
      <p:sp>
        <p:nvSpPr>
          <p:cNvPr id="478" name="Google Shape;478;p16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  <p:sp>
        <p:nvSpPr>
          <p:cNvPr id="479" name="Google Shape;479;p16"/>
          <p:cNvSpPr/>
          <p:nvPr/>
        </p:nvSpPr>
        <p:spPr>
          <a:xfrm>
            <a:off x="457200" y="1188720"/>
            <a:ext cx="2606040" cy="2743200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6"/>
          <p:cNvSpPr/>
          <p:nvPr/>
        </p:nvSpPr>
        <p:spPr>
          <a:xfrm>
            <a:off x="457200" y="1188720"/>
            <a:ext cx="2606040" cy="4572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6"/>
          <p:cNvSpPr txBox="1"/>
          <p:nvPr/>
        </p:nvSpPr>
        <p:spPr>
          <a:xfrm>
            <a:off x="594360" y="1444752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76%</a:t>
            </a:r>
            <a:endParaRPr/>
          </a:p>
        </p:txBody>
      </p:sp>
      <p:sp>
        <p:nvSpPr>
          <p:cNvPr id="482" name="Google Shape;482;p16"/>
          <p:cNvSpPr txBox="1"/>
          <p:nvPr/>
        </p:nvSpPr>
        <p:spPr>
          <a:xfrm>
            <a:off x="594360" y="2542032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Recall@3</a:t>
            </a:r>
            <a:endParaRPr/>
          </a:p>
        </p:txBody>
      </p:sp>
      <p:sp>
        <p:nvSpPr>
          <p:cNvPr id="483" name="Google Shape;483;p16"/>
          <p:cNvSpPr/>
          <p:nvPr/>
        </p:nvSpPr>
        <p:spPr>
          <a:xfrm>
            <a:off x="960120" y="3017520"/>
            <a:ext cx="1600200" cy="12801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6"/>
          <p:cNvSpPr txBox="1"/>
          <p:nvPr/>
        </p:nvSpPr>
        <p:spPr>
          <a:xfrm>
            <a:off x="594360" y="3127248"/>
            <a:ext cx="23317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Top-3 retrieval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endParaRPr/>
          </a:p>
        </p:txBody>
      </p:sp>
      <p:sp>
        <p:nvSpPr>
          <p:cNvPr id="485" name="Google Shape;485;p16"/>
          <p:cNvSpPr/>
          <p:nvPr/>
        </p:nvSpPr>
        <p:spPr>
          <a:xfrm>
            <a:off x="3246120" y="1188720"/>
            <a:ext cx="2606040" cy="2743200"/>
          </a:xfrm>
          <a:prstGeom prst="rect">
            <a:avLst/>
          </a:prstGeom>
          <a:solidFill>
            <a:srgbClr val="E6F4EC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6"/>
          <p:cNvSpPr/>
          <p:nvPr/>
        </p:nvSpPr>
        <p:spPr>
          <a:xfrm>
            <a:off x="3246120" y="1188720"/>
            <a:ext cx="2606040" cy="45720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6"/>
          <p:cNvSpPr txBox="1"/>
          <p:nvPr/>
        </p:nvSpPr>
        <p:spPr>
          <a:xfrm>
            <a:off x="3383280" y="1444752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88%</a:t>
            </a:r>
            <a:endParaRPr/>
          </a:p>
        </p:txBody>
      </p:sp>
      <p:sp>
        <p:nvSpPr>
          <p:cNvPr id="488" name="Google Shape;488;p16"/>
          <p:cNvSpPr txBox="1"/>
          <p:nvPr/>
        </p:nvSpPr>
        <p:spPr>
          <a:xfrm>
            <a:off x="3383280" y="2542032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7048"/>
                </a:solidFill>
                <a:latin typeface="Calibri"/>
                <a:ea typeface="Calibri"/>
                <a:cs typeface="Calibri"/>
                <a:sym typeface="Calibri"/>
              </a:rPr>
              <a:t>Recall@7</a:t>
            </a:r>
            <a:endParaRPr/>
          </a:p>
        </p:txBody>
      </p:sp>
      <p:sp>
        <p:nvSpPr>
          <p:cNvPr id="489" name="Google Shape;489;p16"/>
          <p:cNvSpPr/>
          <p:nvPr/>
        </p:nvSpPr>
        <p:spPr>
          <a:xfrm>
            <a:off x="3749040" y="3017520"/>
            <a:ext cx="1600200" cy="12801"/>
          </a:xfrm>
          <a:prstGeom prst="rect">
            <a:avLst/>
          </a:prstGeom>
          <a:solidFill>
            <a:srgbClr val="007048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6"/>
          <p:cNvSpPr txBox="1"/>
          <p:nvPr/>
        </p:nvSpPr>
        <p:spPr>
          <a:xfrm>
            <a:off x="3383280" y="3127248"/>
            <a:ext cx="23317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Near-perfect coverage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by rank 7</a:t>
            </a:r>
            <a:endParaRPr/>
          </a:p>
        </p:txBody>
      </p:sp>
      <p:sp>
        <p:nvSpPr>
          <p:cNvPr id="491" name="Google Shape;491;p16"/>
          <p:cNvSpPr/>
          <p:nvPr/>
        </p:nvSpPr>
        <p:spPr>
          <a:xfrm>
            <a:off x="6035040" y="1188720"/>
            <a:ext cx="2606040" cy="2743200"/>
          </a:xfrm>
          <a:prstGeom prst="rect">
            <a:avLst/>
          </a:prstGeom>
          <a:solidFill>
            <a:srgbClr val="FEF3D8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6"/>
          <p:cNvSpPr/>
          <p:nvPr/>
        </p:nvSpPr>
        <p:spPr>
          <a:xfrm>
            <a:off x="6035040" y="1188720"/>
            <a:ext cx="2606040" cy="45720"/>
          </a:xfrm>
          <a:prstGeom prst="rect">
            <a:avLst/>
          </a:prstGeom>
          <a:solidFill>
            <a:srgbClr val="D0800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6"/>
          <p:cNvSpPr txBox="1"/>
          <p:nvPr/>
        </p:nvSpPr>
        <p:spPr>
          <a:xfrm>
            <a:off x="6172200" y="1444752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0.56 s</a:t>
            </a:r>
            <a:endParaRPr/>
          </a:p>
        </p:txBody>
      </p:sp>
      <p:sp>
        <p:nvSpPr>
          <p:cNvPr id="494" name="Google Shape;494;p16"/>
          <p:cNvSpPr txBox="1"/>
          <p:nvPr/>
        </p:nvSpPr>
        <p:spPr>
          <a:xfrm>
            <a:off x="6172200" y="2542032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08000"/>
                </a:solidFill>
                <a:latin typeface="Calibri"/>
                <a:ea typeface="Calibri"/>
                <a:cs typeface="Calibri"/>
                <a:sym typeface="Calibri"/>
              </a:rPr>
              <a:t>Retrieval Latency</a:t>
            </a:r>
            <a:endParaRPr/>
          </a:p>
        </p:txBody>
      </p:sp>
      <p:sp>
        <p:nvSpPr>
          <p:cNvPr id="495" name="Google Shape;495;p16"/>
          <p:cNvSpPr/>
          <p:nvPr/>
        </p:nvSpPr>
        <p:spPr>
          <a:xfrm>
            <a:off x="6537960" y="3017520"/>
            <a:ext cx="1600200" cy="12801"/>
          </a:xfrm>
          <a:prstGeom prst="rect">
            <a:avLst/>
          </a:prstGeom>
          <a:solidFill>
            <a:srgbClr val="D08000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6"/>
          <p:cNvSpPr txBox="1"/>
          <p:nvPr/>
        </p:nvSpPr>
        <p:spPr>
          <a:xfrm>
            <a:off x="6172200" y="3127248"/>
            <a:ext cx="23317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Per question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13× faster vs Phase 1</a:t>
            </a:r>
            <a:endParaRPr/>
          </a:p>
        </p:txBody>
      </p:sp>
      <p:sp>
        <p:nvSpPr>
          <p:cNvPr id="497" name="Google Shape;497;p16"/>
          <p:cNvSpPr/>
          <p:nvPr/>
        </p:nvSpPr>
        <p:spPr>
          <a:xfrm>
            <a:off x="8823960" y="1188720"/>
            <a:ext cx="2606040" cy="2743200"/>
          </a:xfrm>
          <a:prstGeom prst="rect">
            <a:avLst/>
          </a:prstGeom>
          <a:solidFill>
            <a:srgbClr val="E8F0FB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6"/>
          <p:cNvSpPr/>
          <p:nvPr/>
        </p:nvSpPr>
        <p:spPr>
          <a:xfrm>
            <a:off x="8823960" y="1188720"/>
            <a:ext cx="2606040" cy="4572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6"/>
          <p:cNvSpPr txBox="1"/>
          <p:nvPr/>
        </p:nvSpPr>
        <p:spPr>
          <a:xfrm>
            <a:off x="8961120" y="1444752"/>
            <a:ext cx="2331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0.90</a:t>
            </a:r>
            <a:endParaRPr/>
          </a:p>
        </p:txBody>
      </p:sp>
      <p:sp>
        <p:nvSpPr>
          <p:cNvPr id="500" name="Google Shape;500;p16"/>
          <p:cNvSpPr txBox="1"/>
          <p:nvPr/>
        </p:nvSpPr>
        <p:spPr>
          <a:xfrm>
            <a:off x="8961120" y="2542032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Avg RAGAS Score</a:t>
            </a:r>
            <a:endParaRPr/>
          </a:p>
        </p:txBody>
      </p:sp>
      <p:sp>
        <p:nvSpPr>
          <p:cNvPr id="501" name="Google Shape;501;p16"/>
          <p:cNvSpPr/>
          <p:nvPr/>
        </p:nvSpPr>
        <p:spPr>
          <a:xfrm>
            <a:off x="9326880" y="3017520"/>
            <a:ext cx="1600200" cy="12801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6"/>
          <p:cNvSpPr txBox="1"/>
          <p:nvPr/>
        </p:nvSpPr>
        <p:spPr>
          <a:xfrm>
            <a:off x="8961120" y="3127248"/>
            <a:ext cx="23317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Across all 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RAGAS metrics</a:t>
            </a:r>
            <a:endParaRPr/>
          </a:p>
        </p:txBody>
      </p:sp>
      <p:sp>
        <p:nvSpPr>
          <p:cNvPr id="503" name="Google Shape;503;p16"/>
          <p:cNvSpPr/>
          <p:nvPr/>
        </p:nvSpPr>
        <p:spPr>
          <a:xfrm>
            <a:off x="457200" y="4160520"/>
            <a:ext cx="11274552" cy="1901952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6"/>
          <p:cNvSpPr txBox="1"/>
          <p:nvPr/>
        </p:nvSpPr>
        <p:spPr>
          <a:xfrm>
            <a:off x="594360" y="4434840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~95%</a:t>
            </a:r>
            <a:endParaRPr/>
          </a:p>
        </p:txBody>
      </p:sp>
      <p:sp>
        <p:nvSpPr>
          <p:cNvPr id="505" name="Google Shape;505;p16"/>
          <p:cNvSpPr txBox="1"/>
          <p:nvPr/>
        </p:nvSpPr>
        <p:spPr>
          <a:xfrm>
            <a:off x="594360" y="5184648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query routing accuracy</a:t>
            </a:r>
            <a:endParaRPr/>
          </a:p>
        </p:txBody>
      </p:sp>
      <p:sp>
        <p:nvSpPr>
          <p:cNvPr id="506" name="Google Shape;506;p16"/>
          <p:cNvSpPr/>
          <p:nvPr/>
        </p:nvSpPr>
        <p:spPr>
          <a:xfrm>
            <a:off x="3344418" y="4434840"/>
            <a:ext cx="16459" cy="135331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6"/>
          <p:cNvSpPr txBox="1"/>
          <p:nvPr/>
        </p:nvSpPr>
        <p:spPr>
          <a:xfrm>
            <a:off x="3435858" y="4434840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/>
          </a:p>
        </p:txBody>
      </p:sp>
      <p:sp>
        <p:nvSpPr>
          <p:cNvPr id="508" name="Google Shape;508;p16"/>
          <p:cNvSpPr txBox="1"/>
          <p:nvPr/>
        </p:nvSpPr>
        <p:spPr>
          <a:xfrm>
            <a:off x="3435858" y="5184648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numeric hallucinations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(Fact DB path)</a:t>
            </a:r>
            <a:endParaRPr/>
          </a:p>
        </p:txBody>
      </p:sp>
      <p:sp>
        <p:nvSpPr>
          <p:cNvPr id="509" name="Google Shape;509;p16"/>
          <p:cNvSpPr/>
          <p:nvPr/>
        </p:nvSpPr>
        <p:spPr>
          <a:xfrm>
            <a:off x="6185916" y="4434840"/>
            <a:ext cx="16459" cy="135331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6"/>
          <p:cNvSpPr txBox="1"/>
          <p:nvPr/>
        </p:nvSpPr>
        <p:spPr>
          <a:xfrm>
            <a:off x="6277356" y="4434840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511" name="Google Shape;511;p16"/>
          <p:cNvSpPr txBox="1"/>
          <p:nvPr/>
        </p:nvSpPr>
        <p:spPr>
          <a:xfrm>
            <a:off x="6277356" y="5184648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retrieval strategies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compared</a:t>
            </a:r>
            <a:endParaRPr/>
          </a:p>
        </p:txBody>
      </p:sp>
      <p:sp>
        <p:nvSpPr>
          <p:cNvPr id="512" name="Google Shape;512;p16"/>
          <p:cNvSpPr/>
          <p:nvPr/>
        </p:nvSpPr>
        <p:spPr>
          <a:xfrm>
            <a:off x="9027414" y="4434840"/>
            <a:ext cx="16459" cy="1353312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6"/>
          <p:cNvSpPr txBox="1"/>
          <p:nvPr/>
        </p:nvSpPr>
        <p:spPr>
          <a:xfrm>
            <a:off x="9118854" y="4434840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514" name="Google Shape;514;p16"/>
          <p:cNvSpPr txBox="1"/>
          <p:nvPr/>
        </p:nvSpPr>
        <p:spPr>
          <a:xfrm>
            <a:off x="9118854" y="5184648"/>
            <a:ext cx="265861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source types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indexed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7"/>
          <p:cNvSpPr/>
          <p:nvPr/>
        </p:nvSpPr>
        <p:spPr>
          <a:xfrm>
            <a:off x="0" y="0"/>
            <a:ext cx="12188952" cy="987552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7"/>
          <p:cNvSpPr/>
          <p:nvPr/>
        </p:nvSpPr>
        <p:spPr>
          <a:xfrm>
            <a:off x="0" y="950976"/>
            <a:ext cx="12188952" cy="36576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7"/>
          <p:cNvSpPr txBox="1"/>
          <p:nvPr/>
        </p:nvSpPr>
        <p:spPr>
          <a:xfrm>
            <a:off x="457200" y="128016"/>
            <a:ext cx="9628632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This Project Taught Us</a:t>
            </a:r>
            <a:endParaRPr/>
          </a:p>
        </p:txBody>
      </p:sp>
      <p:sp>
        <p:nvSpPr>
          <p:cNvPr id="522" name="Google Shape;522;p17"/>
          <p:cNvSpPr txBox="1"/>
          <p:nvPr/>
        </p:nvSpPr>
        <p:spPr>
          <a:xfrm>
            <a:off x="457200" y="658368"/>
            <a:ext cx="9628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Three transferable lessons for production RAG systems</a:t>
            </a:r>
            <a:endParaRPr/>
          </a:p>
        </p:txBody>
      </p:sp>
      <p:sp>
        <p:nvSpPr>
          <p:cNvPr id="523" name="Google Shape;523;p17"/>
          <p:cNvSpPr txBox="1"/>
          <p:nvPr/>
        </p:nvSpPr>
        <p:spPr>
          <a:xfrm>
            <a:off x="11274552" y="228600"/>
            <a:ext cx="7315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524" name="Google Shape;524;p17"/>
          <p:cNvSpPr/>
          <p:nvPr/>
        </p:nvSpPr>
        <p:spPr>
          <a:xfrm>
            <a:off x="457200" y="1143000"/>
            <a:ext cx="11274552" cy="175564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7"/>
          <p:cNvSpPr/>
          <p:nvPr/>
        </p:nvSpPr>
        <p:spPr>
          <a:xfrm>
            <a:off x="457200" y="1143000"/>
            <a:ext cx="64008" cy="175564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7"/>
          <p:cNvSpPr txBox="1"/>
          <p:nvPr/>
        </p:nvSpPr>
        <p:spPr>
          <a:xfrm>
            <a:off x="640080" y="1252728"/>
            <a:ext cx="11000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Representation beats model size</a:t>
            </a:r>
            <a:endParaRPr/>
          </a:p>
        </p:txBody>
      </p:sp>
      <p:sp>
        <p:nvSpPr>
          <p:cNvPr id="527" name="Google Shape;527;p17"/>
          <p:cNvSpPr txBox="1"/>
          <p:nvPr/>
        </p:nvSpPr>
        <p:spPr>
          <a:xfrm>
            <a:off x="640080" y="1709928"/>
            <a:ext cx="11000232" cy="107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Embedding only the right signal (YAML metadata) outperformed expensive cross-encoder rerankers. A +34 pp recall gain came from a 10-line architectural change, not a larger or newer model. The lesson: what you embed matters more than how you score it.</a:t>
            </a:r>
            <a:endParaRPr/>
          </a:p>
        </p:txBody>
      </p:sp>
      <p:sp>
        <p:nvSpPr>
          <p:cNvPr id="528" name="Google Shape;528;p17"/>
          <p:cNvSpPr/>
          <p:nvPr/>
        </p:nvSpPr>
        <p:spPr>
          <a:xfrm>
            <a:off x="457200" y="3035808"/>
            <a:ext cx="11274552" cy="175564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7"/>
          <p:cNvSpPr/>
          <p:nvPr/>
        </p:nvSpPr>
        <p:spPr>
          <a:xfrm>
            <a:off x="457200" y="3035808"/>
            <a:ext cx="64008" cy="175564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7"/>
          <p:cNvSpPr txBox="1"/>
          <p:nvPr/>
        </p:nvSpPr>
        <p:spPr>
          <a:xfrm>
            <a:off x="640080" y="3145536"/>
            <a:ext cx="11000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Hallucination needs structural, not just prompt-level, solutions</a:t>
            </a:r>
            <a:endParaRPr/>
          </a:p>
        </p:txBody>
      </p:sp>
      <p:sp>
        <p:nvSpPr>
          <p:cNvPr id="531" name="Google Shape;531;p17"/>
          <p:cNvSpPr txBox="1"/>
          <p:nvPr/>
        </p:nvSpPr>
        <p:spPr>
          <a:xfrm>
            <a:off x="640080" y="3602736"/>
            <a:ext cx="11000232" cy="107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Routing numeric questions to an SQL database eliminates an entire class of errors that no amount of prompt engineering can reliably fix. The LLM writes SQL; the database returns the exact value. For financial systems, this boundary is non-negotiable.</a:t>
            </a:r>
            <a:endParaRPr/>
          </a:p>
        </p:txBody>
      </p:sp>
      <p:sp>
        <p:nvSpPr>
          <p:cNvPr id="532" name="Google Shape;532;p17"/>
          <p:cNvSpPr/>
          <p:nvPr/>
        </p:nvSpPr>
        <p:spPr>
          <a:xfrm>
            <a:off x="457200" y="4928616"/>
            <a:ext cx="11274552" cy="1755648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7"/>
          <p:cNvSpPr/>
          <p:nvPr/>
        </p:nvSpPr>
        <p:spPr>
          <a:xfrm>
            <a:off x="457200" y="4928616"/>
            <a:ext cx="64008" cy="1755648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7"/>
          <p:cNvSpPr txBox="1"/>
          <p:nvPr/>
        </p:nvSpPr>
        <p:spPr>
          <a:xfrm>
            <a:off x="640080" y="5038344"/>
            <a:ext cx="11000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3087"/>
                </a:solidFill>
                <a:latin typeface="Calibri"/>
                <a:ea typeface="Calibri"/>
                <a:cs typeface="Calibri"/>
                <a:sym typeface="Calibri"/>
              </a:rPr>
              <a:t>Benchmark distribution matters as much as benchmark size</a:t>
            </a:r>
            <a:endParaRPr/>
          </a:p>
        </p:txBody>
      </p:sp>
      <p:sp>
        <p:nvSpPr>
          <p:cNvPr id="535" name="Google Shape;535;p17"/>
          <p:cNvSpPr txBox="1"/>
          <p:nvPr/>
        </p:nvSpPr>
        <p:spPr>
          <a:xfrm>
            <a:off x="640080" y="5495544"/>
            <a:ext cx="11000232" cy="107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04040"/>
                </a:solidFill>
                <a:latin typeface="Calibri"/>
                <a:ea typeface="Calibri"/>
                <a:cs typeface="Calibri"/>
                <a:sym typeface="Calibri"/>
              </a:rPr>
              <a:t>Entity-heavy questions (proper nouns, quarter labels) behave very differently from general semantic queries. HyDE hurt recall here because the raw question was already the best query vector — the generated passage only added drift. Know your query distribution before choosing a retrieval strategy.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18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85ABC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8"/>
          <p:cNvSpPr txBox="1"/>
          <p:nvPr/>
        </p:nvSpPr>
        <p:spPr>
          <a:xfrm>
            <a:off x="457200" y="1280160"/>
            <a:ext cx="11274552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/>
          </a:p>
        </p:txBody>
      </p:sp>
      <p:sp>
        <p:nvSpPr>
          <p:cNvPr id="543" name="Google Shape;543;p18"/>
          <p:cNvSpPr/>
          <p:nvPr/>
        </p:nvSpPr>
        <p:spPr>
          <a:xfrm>
            <a:off x="3200400" y="2606040"/>
            <a:ext cx="5788152" cy="22860"/>
          </a:xfrm>
          <a:prstGeom prst="rect">
            <a:avLst/>
          </a:prstGeom>
          <a:solidFill>
            <a:srgbClr val="4477AA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457200" y="2834640"/>
            <a:ext cx="1127455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B8CCE8"/>
                </a:solidFill>
                <a:latin typeface="Calibri"/>
                <a:ea typeface="Calibri"/>
                <a:cs typeface="Calibri"/>
                <a:sym typeface="Calibri"/>
              </a:rPr>
              <a:t>FinQuery — AI-Powered Financial Intelligence System</a:t>
            </a:r>
            <a:endParaRPr/>
          </a:p>
        </p:txBody>
      </p:sp>
      <p:sp>
        <p:nvSpPr>
          <p:cNvPr id="545" name="Google Shape;545;p18"/>
          <p:cNvSpPr txBox="1"/>
          <p:nvPr/>
        </p:nvSpPr>
        <p:spPr>
          <a:xfrm>
            <a:off x="457200" y="3456432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809AB0"/>
                </a:solidFill>
                <a:latin typeface="Calibri"/>
                <a:ea typeface="Calibri"/>
                <a:cs typeface="Calibri"/>
                <a:sym typeface="Calibri"/>
              </a:rPr>
              <a:t>From 40% → 88% retrieval recall  ·  Zero hallucinations on numbers  ·  0.56 s latency</a:t>
            </a:r>
            <a:endParaRPr/>
          </a:p>
        </p:txBody>
      </p:sp>
      <p:sp>
        <p:nvSpPr>
          <p:cNvPr id="546" name="Google Shape;546;p18"/>
          <p:cNvSpPr txBox="1"/>
          <p:nvPr/>
        </p:nvSpPr>
        <p:spPr>
          <a:xfrm>
            <a:off x="457200" y="5257800"/>
            <a:ext cx="11274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7088A0"/>
                </a:solidFill>
                <a:latin typeface="Calibri"/>
                <a:ea typeface="Calibri"/>
                <a:cs typeface="Calibri"/>
                <a:sym typeface="Calibri"/>
              </a:rPr>
              <a:t>DS &amp; AI Lab  ·  Group 6  ·  </a:t>
            </a:r>
            <a:r>
              <a:rPr lang="en-US" sz="1200">
                <a:solidFill>
                  <a:srgbClr val="7088A0"/>
                </a:solidFill>
                <a:latin typeface="Calibri"/>
                <a:ea typeface="Calibri"/>
                <a:cs typeface="Calibri"/>
                <a:sym typeface="Calibri"/>
              </a:rPr>
              <a:t>T2 2026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