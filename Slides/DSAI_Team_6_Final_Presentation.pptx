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828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F0A500"/>
                </a:solidFill>
                <a:latin typeface="Calibri"/>
              </a:rPr>
              <a:t>FinQuery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60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Calibri"/>
              </a:rPr>
              <a:t>An AI-powered, Stock-Specific Public Update Analyzer (PUA)
for Indian Capital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3520440"/>
            <a:ext cx="448056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96A8"/>
                </a:solidFill>
                <a:latin typeface="Calibri"/>
              </a:rPr>
              <a:t>Group 6  ·  Data Science &amp; AI Lab  ·  T2 –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B4D0"/>
                </a:solidFill>
                <a:latin typeface="Calibri"/>
              </a:rPr>
              <a:t>Pilot Company: Infosys Limited (NSE: INFY)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09ABE"/>
                </a:solidFill>
                <a:latin typeface="Calibri"/>
              </a:rPr>
              <a:t>Akbar Ali  ·  Gurram Sai Sri Ram Hruthik  ·  NandanReddy Parnapalli  ·  Shubham Gattani  ·  Shubhashish Biswas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14400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6926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Problem &amp; Motivation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36776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3677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What is FinQuery?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35915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1401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Data Collection &amp; Corpus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81528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08152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1363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Preprocessing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803904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80390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858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Evaluation Framework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52628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811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System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248656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24865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M4 — Baseline Experiments (Vector, HyDE, RRF, BGE)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971032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97103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2589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M5 — Full-Text Rechunking &amp; GPU Weight Sweep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914400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91440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96926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M5 — Metadata-Only Breakthrough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764792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76479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18196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M5 — RAGAS Answer Quality Evaluation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615184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615184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26700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M6 — BM25 + Hybrid RRF Experiments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465576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465576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520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M6 — Numeric Fidelity Layer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315968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315968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43708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M6 — Deployment (FastAPI + Streamlit + Docker)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166360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16636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52212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Master Comparison &amp; Final Results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6016752"/>
            <a:ext cx="475488" cy="47548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601675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607161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Challenges,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5577840" cy="5623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2A5A"/>
                </a:solidFill>
                <a:latin typeface="Calibri"/>
              </a:rPr>
              <a:t>The Gap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30352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6304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Infosys files 100s of pages of regulatory disclosures every quarter across NSE, IR portals, analyst platforms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Retail investors and students cannot manually parse dense PDFs with tables, legal text, and financial jargon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Existing tools show charts and ratios — none support natural-language Q&amp;A with source citations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No tool answers: "Why are margins declining?" or "What deals did Infosys close in Q3 FY26?"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Multi-document reasoning across 4 sources simultaneously is impossible manually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868680"/>
            <a:ext cx="5760720" cy="56235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A500"/>
                </a:solidFill>
                <a:latin typeface="Calibri"/>
              </a:rPr>
              <a:t>The Opportunity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8640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LLMs can read and reason across 200+ documents instantly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Vector search finds the right passage in milliseconds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Structured fact databases deliver exact, verified financial figures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RAG architecture grounds answers in source documents — no hallucination risk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A unified Q&amp;A interface makes professional-grade research accessible to everyone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577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→  Democratise access to financial intelligence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is FinQuery?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4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A natural-language Q&amp;A system over Infosys public financial disclosures — powered by RAG + structured fact retrieval.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577840" cy="5166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57784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2A5A"/>
                </a:solidFill>
                <a:latin typeface="Calibri"/>
              </a:rPr>
              <a:t>Pipeline A — Numerical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was Infosys revenue in Q1 FY26?"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is the operating margin range across FY26?"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"How much did attrition change from Q1 to Q3?"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"Which quarter had the highest large-deal TCV?"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39"/>
            <a:ext cx="521208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Routed to: FACT_DB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SQL SELECT on SQLite fact database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2,500+ verified financial facts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Returns exact value + source citation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71600"/>
            <a:ext cx="5715000" cy="51663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571500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371600"/>
            <a:ext cx="5715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2A5A"/>
                </a:solidFill>
                <a:latin typeface="Calibri"/>
              </a:rPr>
              <a:t>Pipeline B — Descriptive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65960"/>
            <a:ext cx="5349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"Why did margins decline in Q3 FY26?"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is Infosys's AI services strategy?"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are analysts saying about guidance?"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"How is Infosys expanding in Europe?"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534924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840480"/>
            <a:ext cx="5349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Routed to: VECTOR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Hybrid BM25 + Vector → RRF → Top-3 docs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1,875 indexed document chunks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✓  Returns grounded answer + 3 citations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Route classification is automatic — powered by gpt-4o-mini, 100% accuracy on 40-question benchmark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Collection &amp; Corpus Construction (Milestone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5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2296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Coverage: July 2025 – July 2026  |  Pilot: Infosys Limited (NSE: INFY)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Raw Files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After Filtering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Corporate Filings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492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137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Primary regulatory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Infosys Investor Relations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16 documents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16 documents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Earnings calls, fact sheets, press releases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Yahoo Finance News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Market &amp; analyst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Trendlyne Broker Reports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 reports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 reports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Valuation &amp; rating context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519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207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Full retrieval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36576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NSE 3-Stage Filtering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114800"/>
            <a:ext cx="2697480" cy="22860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114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26280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Rule-based
Category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521208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492 → 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114800"/>
            <a:ext cx="2697480" cy="22860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4114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Stage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4526280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Keyword
Screening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521208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240 → 137+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4892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4114800"/>
            <a:ext cx="2697480" cy="22860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114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526280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LLM-assisted
Content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21208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+72 accepted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892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4114800"/>
            <a:ext cx="2697480" cy="22860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411480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526280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Curated NSE
Corpus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521208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137 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Document Preprocessing Pipeline (Milestone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6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14400"/>
            <a:ext cx="2788920" cy="54864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914400"/>
            <a:ext cx="278892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91440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0876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PDF → Markdown
(Docling)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77440"/>
            <a:ext cx="2606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Structure-preserving conversion. Retains tables, headings, figures. All 519 source files converted.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8346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0A50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14400"/>
            <a:ext cx="2788920" cy="54864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914400"/>
            <a:ext cx="278892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91440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50876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Page-count
Routing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77440"/>
            <a:ext cx="2606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≤10 pages: cleaned as whole docs (109 NSE)
&gt;10 pages: sectioned into 1,500–2,500 token chunks (28 NSE + all IR docs → 749 section groups)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28346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0A50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914400"/>
            <a:ext cx="2788920" cy="54864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914400"/>
            <a:ext cx="278892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91440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50876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Knowledge
Extraction (KE)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377440"/>
            <a:ext cx="2606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Source-specific LLM prompts (v6). Remove: OCR artifacts, headers, signatures, safe-harbor text. Preserve: tables, financial facts, risk factors, quotations, figures.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8346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0A50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914400"/>
            <a:ext cx="2788920" cy="54864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914400"/>
            <a:ext cx="278892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91440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150876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YAML Metadata
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377440"/>
            <a:ext cx="2606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Each chunk receives: section_title, section_description, topics list, sample_queries. This metadata becomes the embedding input in M5 — the key to the breakthrough.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51052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Final corpus: 207 source documents  →  1,877 indexed Markdown chunks  (M4)  →  1,875 with v2 YAML  (M5/M6)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Evaluation Framework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7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54864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Retrieval Metric: Recall@k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21208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6304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Definition: does the expected source document appear in the top-k retrieved results?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Measured at k = 3, 5, 7 (and 9 for M5 full-text)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50-question benchmark with ground-truth source file paths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Strict: partial path matches do not count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k=3 is the critical metric — only top-3 chunks reach the LLM for answer generation</a:t>
            </a:r>
          </a:p>
          <a:p>
            <a:pPr>
              <a:spcAft>
                <a:spcPts val="11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Why k=3? Each chunk is 1,500–5,000 tokens; GPT-4o-mini context limit applies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868680"/>
            <a:ext cx="5760720" cy="5166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Answer Quality: RAGAS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8640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08760"/>
            <a:ext cx="5486400" cy="8229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Faithfulness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% of answer claims supported by retrieved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468880"/>
            <a:ext cx="5486400" cy="8229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Answer Relevancy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% of answer content that addresses the question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429000"/>
            <a:ext cx="5486400" cy="8229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74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Context Precision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947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% of retrieved passages that are relevant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389120"/>
            <a:ext cx="5486400" cy="8229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4348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Context 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548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% of required info that appears in retrieved 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86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6A8"/>
                </a:solidFill>
                <a:latin typeface="Calibri"/>
              </a:rPr>
              <a:t>Evaluated with gpt-4o-mini answers vs. ground-truth reference answers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172200"/>
            <a:ext cx="1161288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19963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2E"/>
                </a:solidFill>
                <a:latin typeface="Calibri"/>
              </a:rPr>
              <a:t>Benchmark Dataset: infosys_rag_test_dataset_50_queries_v2.csv  |  50 investor-style questions  |  Full relative file paths as ground truth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System Architecture — End-to-End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8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914400"/>
            <a:ext cx="2103120" cy="5486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914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User (Browser)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6A8"/>
                </a:solidFill>
                <a:latin typeface="Calibri"/>
              </a:rPr>
              <a:t>↓  question  /  ↑ 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3566160" cy="5486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Streamlit Frontend  (:8501)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6A8"/>
                </a:solidFill>
                <a:latin typeface="Calibri"/>
              </a:rPr>
              <a:t>↓  HTTP REST  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743200"/>
            <a:ext cx="5760720" cy="56692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760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FastAPI Backend (:8000)  —  JWT Auth · Rate Limiter · Question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355848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↙  FACT_DB                              VECTOR  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749039"/>
            <a:ext cx="53035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749039"/>
            <a:ext cx="5303520" cy="38404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749039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Pipeline A — Numeric Fidelity (FACT_DB)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06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1. gpt-4o-mini generates safe SELECT query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2. Execute on facts.db  (SQLite, read-only URI)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3. gpt-4o-mini formats NL answer with provenance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   2,500+ verified financial facts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749039"/>
            <a:ext cx="53035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749039"/>
            <a:ext cx="5303520" cy="38404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749039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Pipeline B — Hybrid Retrieval (VECTOR)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206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1. Embed query  (text-embedding-3-small)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2. Vector search: top-20 from ChromaDB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3. BM25 keyword search: top-20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4. Reciprocal Rank Fusion (k=60) → top-3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5. gpt-4o-mini generates cited answer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0A500"/>
                </a:solidFill>
                <a:latin typeface="Calibri"/>
              </a:rPr>
              <a:t>Milestone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Retrieval Experiments: Vector · HyDE · RRF · BGE Reranking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9 /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M4 — Experiment 1: Baseline Vector-Only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10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Full-document text embedding (YAML front matter + Markdown body)  |  Collection: finance_documents  |  1,877 chunks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Embedding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text-embedding-3-small  (1536-dim)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Vector DB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ChromaDB  (HNSW search)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Candidate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Final context to LLM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3 chunks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Answer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23444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20/50 = 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25/50 = 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27/50 = 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Avg Latency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6.251 s/question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Success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50/50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3566160"/>
            <a:ext cx="11612880" cy="7315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361188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✓  Fast and stable baseline — 6.3 s/question on CPU, no extra dependencies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✗  40% Recall@3 — 3 in 5 questions do not retrieve the correct source in top-3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✗  Large chunks near 8K tokens have high noise-to-signal ratio, reducing 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389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Source-wise Recall@3 (vector only):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4754880"/>
          <a:ext cx="5029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12419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≤10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&gt;10 pages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~35%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Picture 12" descr="milestone4-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370832"/>
            <a:ext cx="6263640" cy="35846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M4 — Experiment 2: HyDE (Hypothetical Document Embedding)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11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Idea: generate a hypothetical answer passage from the question, then embed that passage instead of the raw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HyDE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6126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1. User submits question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2. gpt-4o-mini generates a hypothetical answer passage (~200 tokens)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3. Embed the hypothetical passage  (not the question)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4. Retrieve top-10 nearest chunks from ChromaDB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5. Pass top-3 to gpt-4o-mini for final answer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49440" y="123444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HyDE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Baseline Δ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  (20/50)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42%  (21/50)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−8 pp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46%  (23/50)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−8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Avg Latency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9.320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+ 3.1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274320" y="3429000"/>
            <a:ext cx="11612880" cy="18288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49300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Why HyDE did NOT help: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3192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Financial benchmark questions already contain exact entity names: company names, deal sizes, product names, partner banks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HyDE sometimes paraphrases those exact terms away — reducing literal match strength in the embedding space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Adding +3.1 s per query for zero recall gain is counterproductive in an interactive chatbot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HyDE works best when questions are vague or under-specified — not the case for financial fact-seeking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3492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Conclusion: HyDE is eliminated from all subsequent experiments.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74320" y="5760720"/>
          <a:ext cx="1161288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6.3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HyDE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9.3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Raw+HyDE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~12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M4 — Experiment 3: Raw Query + HyDE Reciprocal Rank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Combine raw-query retrieval list and HyDE retrieval list using Reciprocal Rank Fusion to get a merged ranking.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9436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RRF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2A5A"/>
                </a:solidFill>
                <a:latin typeface="Calibri"/>
              </a:rPr>
              <a:t>score(d) = Σᵢ  1 / (k + rankᵢ(d))   where k = 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List 1: top-10 from raw question embedding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List 2: top-10 from HyDE hypothetical passage embedding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Merge: documents appearing in both lists are promoted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k=60 controls how much top-rank dominance matters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No reranker needed — purely ranking arithmetic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0" y="1234440"/>
          <a:ext cx="54864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Raw query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HyDE 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Raw + HyDE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2880360"/>
            <a:ext cx="5486400" cy="9601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RRF improved Recall@3 by +8pp and Recall@7 by +4pp over baseline.
This validated the fusion concept — carried forward in M6 as BM25+Vector RRF.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1161288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977639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M4 Summary — All Experiments at a Glance: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274320" y="438912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Candidate Pool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Avg 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Vector only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HyDE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9.3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Raw + HyDE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 ×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~12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BGE Reranking (CPU)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25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245 s ⚠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M4 — Experiment 4: BGE Cross-Encoder Reranking (CPU)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13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Rerank top-25 Chroma candidates using BAAI/bge-reranker-v2-m3 cross-encoder. Score = 0.8×body + 0.2×metadata.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5760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Avg Time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Query embedding (text-embedding-3-small)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1.236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ChromaDB retrieval (top-25)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0.089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BGE cross-encoder reranking  ← BOTTLENECK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243.994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Total per question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245.342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234440"/>
          <a:ext cx="5486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287382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BGE Reranking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29/50 = 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+18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32/50 = 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+14 pp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32/50 = 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+10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Avg Latency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245.342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40× slower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Median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229.987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Latency Range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186 – 455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3383280"/>
            <a:ext cx="11612880" cy="594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Key insight: BGE reranking is the BEST retrieval quality in M4 — but 245 s/question makes it completely impractical for interactive use.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4069080"/>
          <a:ext cx="5029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≤10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9/10 = 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&gt;10 pages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15/30 = 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2/5 = 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2/4 = 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1/1 =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0" y="4069080"/>
            <a:ext cx="6217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Bottlenecks identified: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Large chunks (~8K tokens) have high noise-to-signal ratio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BGE model not calibrated for YAML metadata text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Long NSE sections consistently underperform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Need a faster approach with same or better recall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→ Solution designed in Milestone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M4 — Full Experiment Comparison: Recall@k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14 / 40</a:t>
            </a:r>
          </a:p>
        </p:txBody>
      </p:sp>
      <p:pic>
        <p:nvPicPr>
          <p:cNvPr id="6" name="Picture 5" descr="m4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7772400" cy="38469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0" y="868680"/>
            <a:ext cx="3749039" cy="5623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914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Quick Reference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298448"/>
            <a:ext cx="356616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75320" y="1371600"/>
          <a:ext cx="374903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59"/>
                <a:gridCol w="937259"/>
                <a:gridCol w="937259"/>
                <a:gridCol w="937259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Vector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HyDE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Raw+HyDE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BGE Reranking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321040" y="347472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Best Recall@3: BGE (+18pp)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HyDE hurts @5 and @7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RRF fusion: good middle ground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BGE: 245s — not viable for live chat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Next: M5 rechunking + metadata approach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0A500"/>
                </a:solidFill>
                <a:latin typeface="Calibri"/>
              </a:rPr>
              <a:t>Milestone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Rechunking · Full-text GPU Sweep · Metadata-Only Breakthrough · RAGAS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Corpus Changes: Section-Aware Rechunking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0392B"/>
                </a:solidFill>
                <a:latin typeface="Calibri"/>
              </a:rPr>
              <a:t>Problem: M4 used chunks up to ~8,000 tokens. Large chunks have high noise-to-signal ratio and make reranking expensive.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7A4A"/>
                </a:solidFill>
                <a:latin typeface="Calibri"/>
              </a:rPr>
              <a:t>Solution: Re-chunk all long documents into 1,500–2,500 token sections (hard cap 3,000 tokens).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27632"/>
          <a:ext cx="116128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M4 Chunks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M5 Chunks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≤10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109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109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Unchanged (already short)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&gt;10 pages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28 docs (whole)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749 section groups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Split into 1,500–2,500 tok chunks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16 docs (whole)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~340 section chunks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Split into 1,500–2,500 tok chunks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 docs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 docs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7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164 docs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1,877 chunks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12× more retrieval units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4206240"/>
            <a:ext cx="11612880" cy="5943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4251960"/>
            <a:ext cx="11338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Additionally: YAML metadata enriched with section_title, section_description, topics (5–10 items), and sample_queries (3–5 per chunk)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89204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9377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YAML metadata block example: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321808"/>
            <a:ext cx="53035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section_title: "Q3 FY26 Operating Margin"
section_description: "Infosys Q3 FY26 operating margin at 18.4%..."
topics: [operating margin, Q3 FY26, profitability, EBIT]
sample_queries:
  - "What was Infosys operating margin in Q3 FY26?"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892040"/>
            <a:ext cx="5760720" cy="16916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937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Two ChromaDB collections built: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21808"/>
            <a:ext cx="5486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finance_documents (1,877):  full text (YAML + body)  — used for M5 full-text experiments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metadata_embeddings (1,875):  YAML only  — used for M5 metadata breakthrough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2 files skipped (empty YAML) in metadata collection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Full-Text Pipeline: CPU Results &amp; GPU Weight Sweep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17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Full-text embedding (YAML + body) with smaller 1,500–2,500 token chunks — does rechunking alone fix recall?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7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2"/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Candidates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Recall@9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M4 Chroma-only (ref)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Full-text Chroma-only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Full-text BGE CPU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486 s 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GPU BGE best (0.0/1.0)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35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3.7 s ✓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337560"/>
            <a:ext cx="11612880" cy="56692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383280"/>
            <a:ext cx="11338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Key finding: Rechunking alone REDUCED Recall@3 from 40% to 34% — more chunks = more retrieval noise. BGE on CPU is now even slower (486 s). GPU (T4) makes BGE viable at 3.7 s, but best is still only 42%.</a:t>
            </a:r>
          </a:p>
        </p:txBody>
      </p:sp>
      <p:pic>
        <p:nvPicPr>
          <p:cNvPr id="10" name="Picture 9" descr="m5_full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977639"/>
            <a:ext cx="11612880" cy="522046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T4 GPU BGE Weight Sweep: Body vs Metadata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18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4E96"/>
                </a:solidFill>
                <a:latin typeface="Calibri"/>
              </a:rPr>
              <a:t>Vary body_weight from 0.0 → 1.0 (step 0.1). Score = body_weight × BGE(body) + (1−body_weight) × BGE(metadata). Run on Google Colab T4 GPU.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530352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3920"/>
                <a:gridCol w="883920"/>
                <a:gridCol w="883920"/>
                <a:gridCol w="883920"/>
                <a:gridCol w="883920"/>
                <a:gridCol w="8839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Body wt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Meta wt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Recall@9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0.0 (pure meta)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48% ★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50%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1.0 (pure body)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5_weight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34440"/>
            <a:ext cx="6126480" cy="27541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6510528"/>
            <a:ext cx="11612880" cy="30175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37960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★ Best Recall@3: pure metadata scoring (0.0/1.0) → 42%.  Pure body (1.0/0.0) → 32%.  Metadata signal is far stronger for retrieval.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The Metadata-Only Breakthrough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19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12880" cy="65836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Key Insight:  Embed ONLY the YAML metadata (title, topics, sample_queries) — discard the full Markdown body entirely at indexing time.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572768"/>
          <a:ext cx="1161287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2"/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Retrieval Pool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vs M4 BGE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M4 BGE Reranking (best M4)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Full-text Chroma-only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−6pp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Metadata-only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0.478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+16pp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Metadata + CE Reranker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20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3.173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+16pp ✓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m5_meta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7772400" cy="38469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29600" y="3657600"/>
            <a:ext cx="3749039" cy="2880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37307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Why it works: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16052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YAML topics = distilled semantic essence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Sample questions align to retrieval intent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Body text dilutes the signal for financial queries with exact terms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13× faster than plain vector (0.48s vs 6.3s)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513× faster than BGE CPU (0.48s vs 245s)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No reranker needed for same Recall@3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Metadata + Cross-Encoder Reranker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20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Add cross-encoder/ms-marco-MiniLM-L-6-v2 on top of metadata-only retrieval. Rerank top-20 candidates against YAML text.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276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Metadata Only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Metadata + CE Reranker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  (37/50)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  (37/50)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78%  (39/50)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  (41/50)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+4 pp ✓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  (41/50)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+6 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Avg reranker latency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1.738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Avg total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0.478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3.173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6.6× slower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337560"/>
            <a:ext cx="11612880" cy="56692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383280"/>
            <a:ext cx="11338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Reranker keeps Recall@3 unchanged but improves Recall@5 (+4pp) and Recall@7 (+6pp). This gives the best Recall@7 = 88% of any strategy tested. However, Recall@3 — the critical metric — does not improve.</a:t>
            </a:r>
          </a:p>
        </p:txBody>
      </p:sp>
      <p:pic>
        <p:nvPicPr>
          <p:cNvPr id="10" name="Picture 9" descr="m5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977639"/>
            <a:ext cx="11612880" cy="522046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Category-wise Recall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21 / 40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Source Category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≤10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Perfect — distinctive press releases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&gt;10 pages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Good — sectioned chunks retrieve correctly at @7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Weakest — Q1/Q2/Q3/Q4 share identical vocabulary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Ceiling at @7 — analyst vocabulary mismatch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Perfect — distinctive news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31546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  <a:latin typeface="Calibri"/>
              </a:rPr>
              <a:t>Infosys IR analysis: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47872"/>
            <a:ext cx="11612880" cy="17373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84448"/>
            <a:ext cx="113385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▸  Earnings calls, press releases, and fact sheets for Q1/Q2/Q3/Q4 FY26 all discuss: revenue, operating margin, constant-currency growth, large-deal TCV, utilisation, attrition — in nearly identical language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▸  YAML topics and sample_queries overlap heavily across quarters — metadata-only embedding cannot distinguish 'Q1 earnings call' from 'Q3 earnings call'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▸  Root cause: the disambiguation signal (specific quarterly numbers) lives in the body, not the metadata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▸  Fix needed: explicit quarter/period tags in YAML + a separate structured lookup for exact numerical queries → implemented as Numeric Fidelity Layer in M6</a:t>
            </a:r>
          </a:p>
        </p:txBody>
      </p:sp>
      <p:pic>
        <p:nvPicPr>
          <p:cNvPr id="10" name="Picture 9" descr="m5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376672"/>
            <a:ext cx="116128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RAGAS Answer Quality Evaluation (Pipeline 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22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Pipeline A: Metadata-only top-10 retrieval → top-3 context → gpt-4o-mini answer → evaluated with RAGAS using gpt-5.6-luna</a:t>
            </a:r>
          </a:p>
        </p:txBody>
      </p:sp>
      <p:pic>
        <p:nvPicPr>
          <p:cNvPr id="7" name="Picture 6" descr="ragas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3837008"/>
          </a:xfrm>
          <a:prstGeom prst="rect">
            <a:avLst/>
          </a:prstGeom>
        </p:spPr>
      </p:pic>
      <p:pic>
        <p:nvPicPr>
          <p:cNvPr id="8" name="Picture 7" descr="m5_ra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69080"/>
            <a:ext cx="7772400" cy="48208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188720"/>
            <a:ext cx="3749039" cy="54406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2618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Score Interpretation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1645920"/>
            <a:ext cx="356616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1783080"/>
            <a:ext cx="3566160" cy="1005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Calibri"/>
              </a:rPr>
              <a:t>Faithfulness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48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0.8929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148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89% of answer claims are supported by retrieved docs. Strong.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880360"/>
            <a:ext cx="3566160" cy="1005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926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Calibri"/>
              </a:rPr>
              <a:t>Answer Relevancy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0.8439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461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84% of content directly addresses the question. Good.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3977640"/>
            <a:ext cx="3566160" cy="1005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0233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Calibri"/>
              </a:rPr>
              <a:t>Context Precision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43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0.9683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343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97% of retrieved passages are relevant. Excellent.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5074920"/>
            <a:ext cx="3566160" cy="1005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Calibri"/>
              </a:rPr>
              <a:t>Context Recall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440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0.8725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440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87% of needed information is in retrieved context. Good.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7150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Calibri"/>
              </a:rPr>
              <a:t>5 lowest-scoring questions: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3504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8A96A8"/>
                </a:solidFill>
                <a:latin typeface="Calibri"/>
              </a:rPr>
              <a:t>Q46 (AGM large-deal TCV — wrong year retrieved): 0.36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A96A8"/>
                </a:solidFill>
                <a:latin typeface="Calibri"/>
              </a:rPr>
              <a:t>Q15 (AI/cloud recognitions — multi-chunk): 0.65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A96A8"/>
                </a:solidFill>
                <a:latin typeface="Calibri"/>
              </a:rPr>
              <a:t>Q8  (H1 vs H2 guidance — RAGAS artifact): 0.67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M5 — Complete Strategy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23 / 40</a:t>
            </a:r>
          </a:p>
        </p:txBody>
      </p:sp>
      <p:pic>
        <p:nvPicPr>
          <p:cNvPr id="6" name="Picture 5" descr="milestone5-recall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663593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532120"/>
            <a:ext cx="11612880" cy="117043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577840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M5 Conclusion: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43600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Metadata-only retrieval (0.478 s) delivers +34pp Recall@3 vs M4 baseline — without any GPU, reranker, or LLM call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Adding CE reranker improves @5 and @7 but does NOT improve @3. Since only top-3 reach the LLM, reranker value is limited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Infosys IR (quarterly docs) is the persistent weak spot — solved in M6 via the Numeric Fidelity Layer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0A500"/>
                </a:solidFill>
                <a:latin typeface="Calibri"/>
              </a:rPr>
              <a:t>Milestone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Hybrid BM25+RRF · Numeric Fidelity · FastAPI+Docker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BM25 Keyword Retrieval: Motivation &amp;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25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41248"/>
            <a:ext cx="11612880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Problem: Vector search struggles when the correct document is identified only by exact quarterly terminology (Q3 FY26, $4.8 billion TCV, 18.4% margin).
BM25 leverages exact term matching — complementary to semantic search.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5486400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642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BM25 Index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0312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Built from: YAML front-matter text of all 1,875 ChromaDB documents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Library: rank-bm25 (BM25Okapi implementation)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Built at runtime on first VECTOR query (~3 s, then cached in memory)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Index size: 1,875 documents × avg 300 token YAML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Search: tokenised term frequency + inverse document frequency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Exact match on: quarter labels, company names, deal values, metric names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4846320"/>
          <a:ext cx="53035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vs Metadata-Only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42/50 = 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+10pp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44/50 = 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+10pp ✓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44/50 =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+6pp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&lt; 0.1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5× faster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035040" y="1600200"/>
            <a:ext cx="5852160" cy="49834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66420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BM25 vs Vector — Complementary Strengths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2048256"/>
            <a:ext cx="557784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94560"/>
            <a:ext cx="5577840" cy="10515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2402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Strength: Exact term matching
Speed: Fast
Weakness: Poor on paraphrase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337560"/>
            <a:ext cx="5577840" cy="10515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3832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3832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Strength: Semantic similarity
Speed: Moderate
Weakness: Poor on exact terms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577840" cy="105156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5262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Hybrid RRF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5262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Strength: Both: exact + semantic
Speed: Fast
Weakness: Best of both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566928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→  Merge both lists with Reciprocal Rank Fusion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Hybrid BM25 + Vector RRF: Full Experiment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26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RRF formula: score(d) = Σᵢ 1/(k + rankᵢ(d))  where k=60.  Documents in top of BOTH lists are promoted above documents in only one list.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Metadata-only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  (37/50)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78%  (39/50)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  (41/50)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0.478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Reference 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84%  (42/50)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&lt;0.1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Best @3 — but no semantic coverage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Hybrid RRF + CE Reranker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  (37/50)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  (41/50)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86%  (43/50)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~3.5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Reranker hurts @3 vs no-reranker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Hybrid RRF (no reranker) ★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76%  (38/50)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86%  (43/50)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~0.5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★ PRODUCTION — best speed/quality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6_strate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11612880" cy="52204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6492240"/>
            <a:ext cx="11612880" cy="32918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1967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★ Why no reranker? CE reranker (ms-marco) is trained on web passages — NOT calibrated for YAML metadata. Removing it lifts Recall@3 from 74% to 76%.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Source-wise Performance: Vector vs BM25 vs Hybrid RRF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27 / 40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Vector 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BM25 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Hybrid 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Best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≤10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Hybrid/BM25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NSE &gt;10 pages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All equal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BM25 @3, Hybrid @7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m6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383280"/>
            <a:ext cx="11612880" cy="522046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6492240"/>
            <a:ext cx="11612880" cy="329184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51967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Infosys IR: BM25 dramatically outperforms vector (60% vs 10%) because quarterly documents differ by exact numbers, not semantics.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Numeric Fidelity Layer: SQLite Fact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28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12880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5039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Calibri"/>
              </a:rPr>
              <a:t>Root cause: vector search over 4 nearly-identical quarterly documents returns the wrong period for numerical queries.
Solution: bypass document retrieval entirely for numerical queries. Query a structured SQLite database of extracted facts.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72768"/>
            <a:ext cx="594360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facts.db — Schema &amp; Contents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20574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row_label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Operating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column_label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Q3 FY26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raw_value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value_numeric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Q3_FY26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file_path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C1C2E"/>
                          </a:solidFill>
                          <a:latin typeface="Calibri"/>
                        </a:rPr>
                        <a:t>...FY26-Q3-fact-sheet/group_001.md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5806440"/>
            <a:ext cx="56692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Metrics covered: revenue, operating margin, EPS, net profit, large-deal TCV,
net-new deal mix, attrition, headcount, free cash flow, segment revenue
Source: Infosys IR only (USD-denominated) — avoids INR/USD mixing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72768"/>
            <a:ext cx="5486400" cy="41605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62763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FACT_DB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574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1. gpt-4o-mini classifies question → FACT_DB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2. gpt-4o-mini generates safe SELECT query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   (read-only URI, SELECT-only enforcement)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3. Execute SQL on facts.db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4. gpt-4o-mini formats rows as NL answer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5. Return: exact value + source file citation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Safety: database opened in read-only URI mode.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Keyword check refuses non-SELECT statements.</a:t>
            </a:r>
          </a:p>
        </p:txBody>
      </p:sp>
      <p:pic>
        <p:nvPicPr>
          <p:cNvPr id="15" name="Picture 14" descr="m6_fide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779008"/>
            <a:ext cx="5486400" cy="213175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Question Routing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29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4E96"/>
                </a:solidFill>
                <a:latin typeface="Calibri"/>
              </a:rPr>
              <a:t>A gpt-4o-mini classifier routes every question to FACT_DB (numerical) or VECTOR (descriptive) before retrieval.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74320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7A4A"/>
                </a:solidFill>
                <a:latin typeface="Calibri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Routing Accuracy
(40/40)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1234440"/>
            <a:ext cx="274320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3258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7A4A"/>
                </a:solidFill>
                <a:latin typeface="Calibri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FACT_DB Accuracy
(15/15 numerical)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234440"/>
            <a:ext cx="274320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3258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7A4A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VECTOR Accuracy
(25/25 descriptive)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1234440"/>
            <a:ext cx="274320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13258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A500"/>
                </a:solidFill>
                <a:latin typeface="Calibri"/>
              </a:rPr>
              <a:t>0.75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Avg Routing
Latency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274320" y="2697480"/>
          <a:ext cx="116128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Question Type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Expected Route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Numerical (revenue, margin, attrition, TCV, EPS, net profit)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FACT_DB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Descriptive (strategy, analyst views, partnerships, guidance)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25/25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274320" y="4343400"/>
            <a:ext cx="11612880" cy="5943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38912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The router defaults to VECTOR for ambiguous questions (e.g., trend analysis that requires both retrieval and exact numbers). Routing latency: 0.75 s average — negligible vs answer generation (~4 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0292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Sample FACT_DB questions correctly routed: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41324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What was Infosys operating margin in Q3 FY26?  →  FACT_DB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What was the diluted EPS for Q4 FY26?  →  FACT_DB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How much did attrition change from Q1 to Q3?  →  FACT_DB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0292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Sample VECTOR questions correctly routed: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41324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Why did Infosys margins decline in Q3 FY26?  →  VECTOR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What is Infosys's AI services strategy?  →  VECTOR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What are analysts saying about guidance?  →  VECTOR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Deployment: FastAPI + Streamlit + Docker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30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6675120" cy="571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68680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Docker Compose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6400800" cy="17830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99032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api  (:8000)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56232"/>
            <a:ext cx="6126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FastAPI backend
JWT auth · rate limiting · router
FACT_DB + VECTOR pipelines
BM25 index (lazy init, cached)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6400800" cy="178308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410712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streamlit  (:8501)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67912"/>
            <a:ext cx="6126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Browser-based chat UI
Login · Q&amp;A interface
4-step workflow display
Source citations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349240"/>
            <a:ext cx="6400800" cy="10515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2E"/>
                </a:solidFill>
                <a:latin typeface="Calibri"/>
              </a:rPr>
              <a:t>Volume mounts: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facts.db (rw)  ·  chroma_db/ (rw)  ·  data/ (ro)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3504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6A8"/>
                </a:solidFill>
                <a:latin typeface="Calibri"/>
              </a:rPr>
              <a:t>Streamlit waits for API health check before starting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822960"/>
            <a:ext cx="4754880" cy="57150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868680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Security &amp; API Features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1252728"/>
            <a:ext cx="448056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371600"/>
            <a:ext cx="4480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JWT authentication (8-hour tokens, HS256)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Per-user rate limiting: 30 req/hour (configurable)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4-step workflow trace with per-step latency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Source citations on every answer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Optional SQL query visible for FACT_DB route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GET /health — Docker Compose health check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POST /auth/token — login endpoint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POST /query — main Q&amp;A endpoint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Interactive Swagger docs at /docs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Single command start: docker compose up -d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M6 — Live System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31 / 40</a:t>
            </a:r>
          </a:p>
        </p:txBody>
      </p:sp>
      <p:pic>
        <p:nvPicPr>
          <p:cNvPr id="6" name="Picture 5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760720" cy="2169431"/>
          </a:xfrm>
          <a:prstGeom prst="rect">
            <a:avLst/>
          </a:prstGeom>
        </p:spPr>
      </p:pic>
      <p:pic>
        <p:nvPicPr>
          <p:cNvPr id="7" name="Picture 6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68680"/>
            <a:ext cx="5669280" cy="2134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8521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02A5A"/>
                </a:solidFill>
                <a:latin typeface="Calibri"/>
              </a:rPr>
              <a:t>FACT_DB path — exact numerical answer with SQL query and source citation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852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02A5A"/>
                </a:solidFill>
                <a:latin typeface="Calibri"/>
              </a:rPr>
              <a:t>Benchmark results CSV — hybrid BM25 retrieval output with recall columns</a:t>
            </a:r>
          </a:p>
        </p:txBody>
      </p:sp>
      <p:pic>
        <p:nvPicPr>
          <p:cNvPr id="10" name="Picture 9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291072"/>
            <a:ext cx="5760720" cy="2169431"/>
          </a:xfrm>
          <a:prstGeom prst="rect">
            <a:avLst/>
          </a:prstGeom>
        </p:spPr>
      </p:pic>
      <p:pic>
        <p:nvPicPr>
          <p:cNvPr id="11" name="Picture 10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6291072"/>
            <a:ext cx="5669280" cy="21349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Master Comparison — All Experiments Across All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32 / 40</a:t>
            </a:r>
          </a:p>
        </p:txBody>
      </p:sp>
      <p:pic>
        <p:nvPicPr>
          <p:cNvPr id="6" name="Picture 5" descr="master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3113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806440"/>
            <a:ext cx="11612880" cy="914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85216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2E"/>
                </a:solidFill>
                <a:latin typeface="Calibri"/>
              </a:rPr>
              <a:t>Recall@3 journey: 40% (M4 baseline) → 58% (BGE reranker) → 34% (rechunking set back) → 42% (GPU best) → 74% (metadata breakthrough) → 76% (Hybrid RRF production)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2362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The metadata-only insight in M5 was the single largest improvement (+34pp) — driven by a fundamental change in what is embedded, not by a more powerful model.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Complete Experiment Results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33 / 40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868680"/>
          <a:ext cx="11612874" cy="562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2"/>
              </a:tblGrid>
              <a:tr h="432581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Vector only (Top-10)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6.3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HyDE (Top-10)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9.3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Eliminated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Raw+HyDE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~12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Not pursued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BGE Reranking CPU (Top-25)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245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Too slow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Full-text Chroma (rechunked)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Full-text BGE CPU (Top-35)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486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Too slow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Full-text GPU best (0.0/1.0)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3.7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Viable but weak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Metadata-only (Top-10)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0.478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Breakthrough ✓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Metadata + CE Reranker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3.2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Best @7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&lt;0.1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Best @3 (no semantics)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3258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Hybrid RRF + CE Reranker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3.5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Reranker hurts 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5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Hybrid RRF (no reranker) ★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0.5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C1C2E"/>
                          </a:solidFill>
                          <a:latin typeface="Calibri"/>
                        </a:rPr>
                        <a:t>★ PRODUCTION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Latency Comparison Across All Strategies (Log Scale)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34 / 40</a:t>
            </a:r>
          </a:p>
        </p:txBody>
      </p:sp>
      <p:pic>
        <p:nvPicPr>
          <p:cNvPr id="6" name="Picture 5" descr="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11612880" cy="52204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577840"/>
            <a:ext cx="11612880" cy="1143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623560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Key latency insight: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89320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BGE CPU reranking (245–486 s) is 500–1,000× slower than the production Hybrid RRF pipeline (0.5 s). The metadata breakthrough did not just improve recall — it simultaneously eliminated the latency bottleneck. GPU (3.7 s) is viable but adds infrastructure cost. Production target: &lt; 1 second retrieval, &lt; 5 s end-to-end including LLM generation.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System Performance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35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2240280" cy="11887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A500"/>
                </a:solidFill>
                <a:latin typeface="Calibri"/>
              </a:rPr>
              <a:t>76%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Recall@3
(38/50)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868680"/>
            <a:ext cx="2240280" cy="11887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96012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A500"/>
                </a:solidFill>
                <a:latin typeface="Calibri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554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Recall@7
(44/50)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868680"/>
            <a:ext cx="2240280" cy="11887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96012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7A4A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Routing
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868680"/>
            <a:ext cx="2240280" cy="11887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96012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7A4A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1554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Numeric
Fidelity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0" y="868680"/>
            <a:ext cx="2240280" cy="11887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96012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4E96"/>
                </a:solidFill>
                <a:latin typeface="Calibri"/>
              </a:rPr>
              <a:t>~4–5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554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End-to-end
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94560"/>
            <a:ext cx="5303520" cy="434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2677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RAGAS Answer Quality (Pipeline 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743200"/>
            <a:ext cx="5029200" cy="749808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7889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Faithfulness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9443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0.8929  (89%)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5029200" cy="749808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Answer Relevancy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38130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0.8439  (84%)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80560"/>
            <a:ext cx="5029200" cy="74980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Context Precision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68172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0.9683  (97%)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349240"/>
            <a:ext cx="5029200" cy="749808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3949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Context Recall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5504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0.8725  (87%)</a:t>
            </a:r>
          </a:p>
        </p:txBody>
      </p:sp>
      <p:pic>
        <p:nvPicPr>
          <p:cNvPr id="35" name="Picture 34" descr="m6_fide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376672"/>
            <a:ext cx="5303520" cy="2060694"/>
          </a:xfrm>
          <a:prstGeom prst="rect">
            <a:avLst/>
          </a:prstGeom>
        </p:spPr>
      </p:pic>
      <p:pic>
        <p:nvPicPr>
          <p:cNvPr id="36" name="Picture 35" descr="m6_strateg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194560"/>
            <a:ext cx="6126480" cy="2754106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5760720" y="5376672"/>
            <a:ext cx="6126480" cy="117043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97880" y="5440680"/>
            <a:ext cx="5852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Production pipeline: Hybrid RRF (BM25 + Vector, k=60) → top-3 chunks → gpt-4o-mini
Corpus: 1,875 chunks  |  Facts: 2,500+  |  Sources: 4 data sources  |  Deployment: Docker Compose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Challenges Encountered &amp; How They Were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36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2468880" cy="102412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4183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Quarterly IR confusion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868680"/>
            <a:ext cx="4160520" cy="1024128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941832"/>
            <a:ext cx="39776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✗  Four quarters use identical vocabulary in metadata → retrieval returns wrong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161288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868680"/>
            <a:ext cx="4572000" cy="10241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941832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✓  Numeric Fidelity Layer: structured SQLite DB with period-tagged facts, queried via LLM-generated 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39112"/>
            <a:ext cx="2468880" cy="102412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112264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BGE CPU latency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360" y="2039112"/>
            <a:ext cx="4160520" cy="1024128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800" y="2112264"/>
            <a:ext cx="39776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✗  245–486 s/question for best recall — completely impractical for interactive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33172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2039112"/>
            <a:ext cx="4572000" cy="10241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112264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✓  Metadata-only embedding: same or better Recall@3 at 0.478 s — 500× faster, no GPU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09544"/>
            <a:ext cx="2468880" cy="102412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282696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HyDE regression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3209544"/>
            <a:ext cx="4160520" cy="1024128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3282696"/>
            <a:ext cx="39776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✗  HyDE paraphrases away exact entity names, reducing recall from 50% to 42% at @5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502152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52360" y="3209544"/>
            <a:ext cx="4572000" cy="10241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3282696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✓  Eliminated HyDE; raw question + BM25 term matching handles exact-entity queries better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79976"/>
            <a:ext cx="2468880" cy="102412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45312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Cross-encoder hurts hybrid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80360" y="4379976"/>
            <a:ext cx="4160520" cy="1024128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4453128"/>
            <a:ext cx="39776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✗  ms-marco CE reranker trained on web passages — not calibrated for YAML 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672584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4379976"/>
            <a:ext cx="4572000" cy="10241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4453128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✓  Remove reranker from hybrid pipeline; Recall@3 rises from 74% → 76%; latency drops from 3.5s → 0.5s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550408"/>
            <a:ext cx="2468880" cy="102412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562356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ChromaDB write-on-read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0360" y="5550408"/>
            <a:ext cx="4160520" cy="1024128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71800" y="5623560"/>
            <a:ext cx="39776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✗  ChromaDB writes internal state even on read queries → Docker volume permission error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5843016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60" y="5550408"/>
            <a:ext cx="4572000" cy="10241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800" y="5623560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✓  Mount chroma_db/ as read-write in docker-compose.yml; no functional impact on data integrity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37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557784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3268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Current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16736"/>
            <a:ext cx="53035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Single company — Infosys Limited only; no multi-company comparison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Fixed corpus window: July 2025 – July 2026; no auto-refresh on new filings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Top-3 context limit — multi-source questions may miss information across chunks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Infosys IR Recall@3 = 10% (metadata-only) — quarterly documents not distinguishable by YAML alone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No user-controlled filters (time period, document type, source)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RAGAS Pipeline B (metadata + reranker) evaluation not completed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BM25 index built at runtime — 3 s first-call latency (can be pre-warmed)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868680"/>
            <a:ext cx="5760720" cy="56692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93268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Future Directions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16736"/>
            <a:ext cx="548640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1732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Multi-company support — parameterise pipeline for any NSE-listed company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Real-time ingestion — auto-ingest new filings as published on NSE/IR portals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Explicit period tags in YAML — improve IR Recall@3 without structured DB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Fine-tuned embedding model — domain-adapted for financial YAML metadata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Adjacent chunk retrieval — for list-style multi-chunk questions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RAGAS Pipeline B evaluation — complete reranker answer-quality comparison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API pre-warming — build BM25 index at startup to eliminate first-call latency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828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960120"/>
            <a:ext cx="4480560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94360" cy="594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2A5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What you embed matters more than what model you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1556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Switching from full-document to YAML metadata embedding gave +34pp Recall@3. No new model, no GPU — just a better abstraction.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594360" cy="594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2A5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1284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The right tool for the right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21284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Vector search excels at semantics; BM25 excels at exact terms; SQL excels at structured facts. Use all three where each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91840"/>
            <a:ext cx="594360" cy="594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29184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2A5A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1012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Hybrid retrieval beats any single strategy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31012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BM25 + Vector + RRF delivers the best speed-quality combination. No reranker needed when the fusion signal is strong.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389120"/>
            <a:ext cx="594360" cy="594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38912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2A5A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0740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Numbers need structure, not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40740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Quarterly financial figures cannot be reliably disambiguated through retrieval. A tagged fact database with SQL delivers 100% fidelity every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486400"/>
            <a:ext cx="594360" cy="5943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54864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2A5A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50468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Speed and quality are not a tradeoff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50468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metadata breakthrough proved both can improve simultaneously. 0.5 s retrieval with 76% Recall@3 — better than BGE CPU at 245 s and 58%.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99516"/>
            <a:ext cx="12188952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Project Journey — Six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39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38728"/>
            <a:ext cx="11247120" cy="914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3429000"/>
            <a:ext cx="256032" cy="25603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783080" cy="21488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1783080" cy="4572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0058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Problem
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57400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Identified gap; defined scope, evaluation metrics, pilot company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61872" y="3154680"/>
            <a:ext cx="73152" cy="2743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0672" y="3429000"/>
            <a:ext cx="256032" cy="25603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0" y="3657600"/>
            <a:ext cx="1783080" cy="2148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77440" y="3657600"/>
            <a:ext cx="1783080" cy="4572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3657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M2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1148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Data
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709160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492 NSE PDFs → 207 curated docs; 4 data sources; 1-year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82112" y="3685032"/>
            <a:ext cx="73152" cy="-2743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10912" y="3429000"/>
            <a:ext cx="256032" cy="25603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1005840"/>
            <a:ext cx="1783080" cy="21488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1005840"/>
            <a:ext cx="1783080" cy="4572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10058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46304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Pipeline
Construction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057400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PDF→MD; KE prompts; ChromaDB + GPT-4o-mini; E2E 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02352" y="3154680"/>
            <a:ext cx="73152" cy="2743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31152" y="3429000"/>
            <a:ext cx="256032" cy="25603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657600"/>
            <a:ext cx="1783080" cy="2148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657600"/>
            <a:ext cx="1783080" cy="4572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3657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M4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1148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Retrieval
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709160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4 strategies tested; BGE: 58% @3 but 245 s/query bottleneck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22592" y="3685032"/>
            <a:ext cx="73152" cy="-2743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51392" y="3429000"/>
            <a:ext cx="256032" cy="25603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1005840"/>
            <a:ext cx="1783080" cy="21488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1005840"/>
            <a:ext cx="1783080" cy="4572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10058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M5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146304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Metadata
Breakthrough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2057400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74% @3 in 0.48 s; GPU weight sweep; RAGAS 89% faithfulness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42832" y="3154680"/>
            <a:ext cx="73152" cy="2743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771632" y="3429000"/>
            <a:ext cx="256032" cy="25603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58400" y="3657600"/>
            <a:ext cx="1783080" cy="2148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58400" y="3657600"/>
            <a:ext cx="1783080" cy="4572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M6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411480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
&amp; Fidelity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4709160"/>
            <a:ext cx="1783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Hybrid RRF 76% @3; Fact DB 100% fidelity; FastAPI + Docker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863072" y="3685032"/>
            <a:ext cx="73152" cy="-2743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6263640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6 milestones  ·  207 source documents  ·  1,875 indexed chunks  ·  2,500+ financial facts  ·  100% routing accuracy  ·  76% Recall@3  ·  88% Recall@7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0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0A500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2971800"/>
            <a:ext cx="4480560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96A8"/>
                </a:solidFill>
                <a:latin typeface="Calibri"/>
              </a:rPr>
              <a:t>Group 6  ·  Data Science &amp; AI Lab  ·  T2 –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360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B4D0"/>
                </a:solidFill>
                <a:latin typeface="Calibri"/>
              </a:rPr>
              <a:t>FinQuery: AI-powered, Stock-Specific Public Update Analyzer for Indian Capital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Source
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1,875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52303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Indexed
chunks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2,500+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2303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Financial
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2303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Routing
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A500"/>
                </a:solidFill>
                <a:latin typeface="Calibri"/>
              </a:rPr>
              <a:t>76%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52303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Recall@3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35040"/>
            <a:ext cx="11274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08AA8"/>
                </a:solidFill>
                <a:latin typeface="Calibri"/>
              </a:rPr>
              <a:t>Akbar Ali  ·  Gurram Sai Sri Ram Hruthik  ·  NandanReddy Parnapalli  ·  Shubham Gattani  ·  Shubhashish Biswas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653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40 /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