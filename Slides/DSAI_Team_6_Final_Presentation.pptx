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8895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4" roundtripDataSignature="AMtx7mjuVvWHhJWY24NiPco3IKlAg1n+E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4617720" y="0"/>
            <a:ext cx="45720" cy="6858000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411480" y="137160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FinQuery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411480" y="2423160"/>
            <a:ext cx="40233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B8CCE8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b="0" i="0" lang="en-US" sz="2100" u="none" cap="none" strike="noStrike">
                <a:solidFill>
                  <a:srgbClr val="B8CCE8"/>
                </a:solidFill>
                <a:latin typeface="Calibri"/>
                <a:ea typeface="Calibri"/>
                <a:cs typeface="Calibri"/>
                <a:sym typeface="Calibri"/>
              </a:rPr>
              <a:t>AI-Powered, </a:t>
            </a:r>
            <a:r>
              <a:rPr lang="en-US" sz="2100">
                <a:solidFill>
                  <a:srgbClr val="B8CCE8"/>
                </a:solidFill>
                <a:latin typeface="Calibri"/>
                <a:ea typeface="Calibri"/>
                <a:cs typeface="Calibri"/>
                <a:sym typeface="Calibri"/>
              </a:rPr>
              <a:t>stock-specific, Public Update Analyzer(PUA) for Indian Capital Markets</a:t>
            </a:r>
            <a:endParaRPr/>
          </a:p>
        </p:txBody>
      </p:sp>
      <p:sp>
        <p:nvSpPr>
          <p:cNvPr id="88" name="Google Shape;88;p1"/>
          <p:cNvSpPr/>
          <p:nvPr/>
        </p:nvSpPr>
        <p:spPr>
          <a:xfrm>
            <a:off x="411480" y="3611880"/>
            <a:ext cx="2743200" cy="18288"/>
          </a:xfrm>
          <a:prstGeom prst="rect">
            <a:avLst/>
          </a:prstGeom>
          <a:solidFill>
            <a:srgbClr val="4477AA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411480" y="3749039"/>
            <a:ext cx="4023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DS &amp; AI Lab  ·  Group 6  ·  </a:t>
            </a:r>
            <a:r>
              <a:rPr lang="en-US" sz="1200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T2</a:t>
            </a: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 202</a:t>
            </a:r>
            <a:r>
              <a:rPr lang="en-US" sz="1200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5029200" y="1554480"/>
            <a:ext cx="70227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From raw financial filings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to accurate, cited answers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b="1" lang="en-US" sz="2600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seconds</a:t>
            </a:r>
            <a:r>
              <a:rPr b="1" i="0" lang="en-US" sz="26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5029200" y="3566160"/>
            <a:ext cx="7022592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 production-ready RAG system for Infosys financial Q&amp;A — combining semantic vector search, BM25 keyword matching, and reciprocal rank fusion with a SQL fact layer to eliminate hallucinations on numerical queries.</a:t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408600" y="4326840"/>
            <a:ext cx="6400500" cy="92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Arial"/>
              <a:buNone/>
            </a:pPr>
            <a:r>
              <a:rPr lang="en-US" sz="1100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Akbar Ali — 23f1002997</a:t>
            </a:r>
            <a:endParaRPr sz="1100" strike="noStrike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Arial"/>
              <a:buNone/>
            </a:pPr>
            <a:r>
              <a:rPr lang="en-US" sz="1100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Gurram Sai Sri Ram Hruthik — 22f3001648</a:t>
            </a:r>
            <a:endParaRPr sz="1100" strike="noStrike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Arial"/>
              <a:buNone/>
            </a:pPr>
            <a:r>
              <a:rPr lang="en-US" sz="1100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NandanReddy Parnapalli — 22f3002857</a:t>
            </a:r>
            <a:endParaRPr sz="1100" strike="noStrike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Arial"/>
              <a:buNone/>
            </a:pPr>
            <a:r>
              <a:rPr lang="en-US" sz="1100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Shubham Gattani — 21f3002082</a:t>
            </a:r>
            <a:endParaRPr sz="1100" strike="noStrike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Arial"/>
              <a:buNone/>
            </a:pPr>
            <a:r>
              <a:rPr lang="en-US" sz="1100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Shubhashish Biswas — 21f1001460</a:t>
            </a:r>
            <a:endParaRPr sz="1100" strike="noStrik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Problem We Set Out to Solve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Financial Q&amp;A is uniquely hard — three compounding challenges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457200" y="1161288"/>
            <a:ext cx="3520440" cy="260604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621792" y="1271016"/>
            <a:ext cx="326440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Unstructured &amp; Vast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621792" y="1636776"/>
            <a:ext cx="3264408" cy="203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Infosys publishes hundreds of PDFs, earnings call transcripts, press releases, and NSE filings every year. No single structured database captures it all — a RAG system must search across all source types simultaneously to find the right chunk.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4142232" y="1161288"/>
            <a:ext cx="3520440" cy="2606040"/>
          </a:xfrm>
          <a:prstGeom prst="rect">
            <a:avLst/>
          </a:prstGeom>
          <a:solidFill>
            <a:srgbClr val="FDE8E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142232" y="1161288"/>
            <a:ext cx="64008" cy="260604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4306824" y="1271016"/>
            <a:ext cx="326440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Numbers Must Be Exact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4306824" y="1636776"/>
            <a:ext cx="3264408" cy="203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 wrong revenue figure is not just unhelpful — it is dangerous. LLMs hallucinate confidently on numeric facts. Analysts need verifiable, source-cited numbers every single time. One wrong percentage point can flip a buy/sell recommendation.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7827276" y="1161300"/>
            <a:ext cx="3904500" cy="2606100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7827264" y="1161288"/>
            <a:ext cx="64008" cy="260604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7991856" y="1271016"/>
            <a:ext cx="326440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Speed &amp; Usability Matter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7991849" y="1636775"/>
            <a:ext cx="3602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Analysts ask dozens of questions per session. A system that takes 4 minutes per question (as naive cross-encoder rerankers do) is not production-ready, regardless of accuracy. Sub-second response time is a hard requirement for real workflows.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457200" y="3968496"/>
            <a:ext cx="3648600" cy="187440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457200" y="3968496"/>
            <a:ext cx="3648456" cy="4114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594360" y="4169664"/>
            <a:ext cx="33741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800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207</a:t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594360" y="5065776"/>
            <a:ext cx="3374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document</a:t>
            </a:r>
            <a:r>
              <a:rPr lang="en-US" sz="130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 </a:t>
            </a:r>
            <a:r>
              <a:rPr b="0" i="0" lang="en-US" sz="13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chunk</a:t>
            </a:r>
            <a:r>
              <a:rPr lang="en-US" sz="130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ed</a:t>
            </a:r>
            <a:endParaRPr/>
          </a:p>
        </p:txBody>
      </p:sp>
      <p:sp>
        <p:nvSpPr>
          <p:cNvPr id="117" name="Google Shape;117;p2"/>
          <p:cNvSpPr/>
          <p:nvPr/>
        </p:nvSpPr>
        <p:spPr>
          <a:xfrm>
            <a:off x="4270248" y="3968496"/>
            <a:ext cx="3648456" cy="1874519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4270248" y="3968496"/>
            <a:ext cx="3648456" cy="41148"/>
          </a:xfrm>
          <a:prstGeom prst="rect">
            <a:avLst/>
          </a:prstGeom>
          <a:solidFill>
            <a:srgbClr val="40404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"/>
          <p:cNvSpPr txBox="1"/>
          <p:nvPr/>
        </p:nvSpPr>
        <p:spPr>
          <a:xfrm>
            <a:off x="4407408" y="4169664"/>
            <a:ext cx="337413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407408" y="5065776"/>
            <a:ext cx="3374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hand-crafted test questions t</a:t>
            </a:r>
            <a:r>
              <a:rPr lang="en-US" sz="130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o validate</a:t>
            </a:r>
            <a:endParaRPr/>
          </a:p>
        </p:txBody>
      </p:sp>
      <p:sp>
        <p:nvSpPr>
          <p:cNvPr id="121" name="Google Shape;121;p2"/>
          <p:cNvSpPr/>
          <p:nvPr/>
        </p:nvSpPr>
        <p:spPr>
          <a:xfrm>
            <a:off x="8083296" y="3968496"/>
            <a:ext cx="3648456" cy="1874519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8083296" y="3968496"/>
            <a:ext cx="3648456" cy="41148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8220456" y="4169664"/>
            <a:ext cx="337413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FY25–FY26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8220456" y="5065776"/>
            <a:ext cx="33741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all Infosys quarters covered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457075" y="1161300"/>
            <a:ext cx="63900" cy="260610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Our Data Universe</a:t>
            </a:r>
            <a:endParaRPr/>
          </a:p>
        </p:txBody>
      </p:sp>
      <p:sp>
        <p:nvSpPr>
          <p:cNvPr id="133" name="Google Shape;133;p3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Five source types · all Infosys FY25 – FY26</a:t>
            </a:r>
            <a:endParaRPr/>
          </a:p>
        </p:txBody>
      </p:sp>
      <p:sp>
        <p:nvSpPr>
          <p:cNvPr id="134" name="Google Shape;134;p3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35" name="Google Shape;135;p3"/>
          <p:cNvSpPr/>
          <p:nvPr/>
        </p:nvSpPr>
        <p:spPr>
          <a:xfrm>
            <a:off x="594363" y="1321839"/>
            <a:ext cx="2084700" cy="4617600"/>
          </a:xfrm>
          <a:prstGeom prst="rect">
            <a:avLst/>
          </a:prstGeom>
          <a:solidFill>
            <a:srgbClr val="E8F0FB"/>
          </a:solidFill>
          <a:ln cap="flat" cmpd="sng" w="12700">
            <a:solidFill>
              <a:srgbClr val="00308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594363" y="1238837"/>
            <a:ext cx="2084700" cy="12810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704090" y="1421717"/>
            <a:ext cx="1865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NSE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Filings</a:t>
            </a:r>
            <a:endParaRPr/>
          </a:p>
        </p:txBody>
      </p:sp>
      <p:sp>
        <p:nvSpPr>
          <p:cNvPr id="138" name="Google Shape;138;p3"/>
          <p:cNvSpPr/>
          <p:nvPr/>
        </p:nvSpPr>
        <p:spPr>
          <a:xfrm>
            <a:off x="731523" y="2098373"/>
            <a:ext cx="1810500" cy="2730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3"/>
          <p:cNvSpPr txBox="1"/>
          <p:nvPr/>
        </p:nvSpPr>
        <p:spPr>
          <a:xfrm>
            <a:off x="685803" y="2272815"/>
            <a:ext cx="19020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800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180</a:t>
            </a:r>
            <a:endParaRPr/>
          </a:p>
        </p:txBody>
      </p:sp>
      <p:sp>
        <p:nvSpPr>
          <p:cNvPr id="140" name="Google Shape;140;p3"/>
          <p:cNvSpPr txBox="1"/>
          <p:nvPr/>
        </p:nvSpPr>
        <p:spPr>
          <a:xfrm>
            <a:off x="685803" y="3296943"/>
            <a:ext cx="1902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NSE filings</a:t>
            </a:r>
            <a:endParaRPr/>
          </a:p>
        </p:txBody>
      </p:sp>
      <p:sp>
        <p:nvSpPr>
          <p:cNvPr id="141" name="Google Shape;141;p3"/>
          <p:cNvSpPr/>
          <p:nvPr/>
        </p:nvSpPr>
        <p:spPr>
          <a:xfrm>
            <a:off x="731523" y="4000325"/>
            <a:ext cx="1810500" cy="273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704090" y="4110053"/>
            <a:ext cx="18654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Regulatory filings,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results announcements,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quarterly docs</a:t>
            </a:r>
            <a:endParaRPr/>
          </a:p>
        </p:txBody>
      </p:sp>
      <p:sp>
        <p:nvSpPr>
          <p:cNvPr id="143" name="Google Shape;143;p3"/>
          <p:cNvSpPr/>
          <p:nvPr/>
        </p:nvSpPr>
        <p:spPr>
          <a:xfrm>
            <a:off x="2779778" y="1321839"/>
            <a:ext cx="2084700" cy="4617600"/>
          </a:xfrm>
          <a:prstGeom prst="rect">
            <a:avLst/>
          </a:prstGeom>
          <a:solidFill>
            <a:srgbClr val="E6F4EC"/>
          </a:solidFill>
          <a:ln cap="flat" cmpd="sng" w="12700">
            <a:solidFill>
              <a:srgbClr val="00704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2779778" y="1238837"/>
            <a:ext cx="2084700" cy="12810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 txBox="1"/>
          <p:nvPr/>
        </p:nvSpPr>
        <p:spPr>
          <a:xfrm>
            <a:off x="2889506" y="1421717"/>
            <a:ext cx="1865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Infosys IR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Docs</a:t>
            </a:r>
            <a:endParaRPr/>
          </a:p>
        </p:txBody>
      </p:sp>
      <p:sp>
        <p:nvSpPr>
          <p:cNvPr id="146" name="Google Shape;146;p3"/>
          <p:cNvSpPr/>
          <p:nvPr/>
        </p:nvSpPr>
        <p:spPr>
          <a:xfrm>
            <a:off x="2916938" y="2098373"/>
            <a:ext cx="1810500" cy="2730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 txBox="1"/>
          <p:nvPr/>
        </p:nvSpPr>
        <p:spPr>
          <a:xfrm>
            <a:off x="2871218" y="2272815"/>
            <a:ext cx="1902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600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  <p:sp>
        <p:nvSpPr>
          <p:cNvPr id="148" name="Google Shape;148;p3"/>
          <p:cNvSpPr txBox="1"/>
          <p:nvPr/>
        </p:nvSpPr>
        <p:spPr>
          <a:xfrm>
            <a:off x="2871218" y="3296943"/>
            <a:ext cx="1902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documents</a:t>
            </a:r>
            <a:endParaRPr/>
          </a:p>
        </p:txBody>
      </p:sp>
      <p:sp>
        <p:nvSpPr>
          <p:cNvPr id="149" name="Google Shape;149;p3"/>
          <p:cNvSpPr/>
          <p:nvPr/>
        </p:nvSpPr>
        <p:spPr>
          <a:xfrm>
            <a:off x="2916938" y="4000325"/>
            <a:ext cx="1810500" cy="273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 txBox="1"/>
          <p:nvPr/>
        </p:nvSpPr>
        <p:spPr>
          <a:xfrm>
            <a:off x="2889506" y="4110053"/>
            <a:ext cx="18654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Earnings call transcripts,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press releases,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investor docs</a:t>
            </a:r>
            <a:endParaRPr/>
          </a:p>
        </p:txBody>
      </p:sp>
      <p:sp>
        <p:nvSpPr>
          <p:cNvPr id="151" name="Google Shape;151;p3"/>
          <p:cNvSpPr/>
          <p:nvPr/>
        </p:nvSpPr>
        <p:spPr>
          <a:xfrm>
            <a:off x="4965193" y="1321839"/>
            <a:ext cx="2084700" cy="4617600"/>
          </a:xfrm>
          <a:prstGeom prst="rect">
            <a:avLst/>
          </a:prstGeom>
          <a:solidFill>
            <a:srgbClr val="FEF3D8"/>
          </a:solidFill>
          <a:ln cap="flat" cmpd="sng" w="12700">
            <a:solidFill>
              <a:srgbClr val="D08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/>
          <p:nvPr/>
        </p:nvSpPr>
        <p:spPr>
          <a:xfrm>
            <a:off x="4965193" y="1238837"/>
            <a:ext cx="2084700" cy="128100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"/>
          <p:cNvSpPr txBox="1"/>
          <p:nvPr/>
        </p:nvSpPr>
        <p:spPr>
          <a:xfrm>
            <a:off x="5074921" y="1421717"/>
            <a:ext cx="1865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Trendlyne</a:t>
            </a:r>
            <a:endParaRPr/>
          </a:p>
        </p:txBody>
      </p:sp>
      <p:sp>
        <p:nvSpPr>
          <p:cNvPr id="154" name="Google Shape;154;p3"/>
          <p:cNvSpPr/>
          <p:nvPr/>
        </p:nvSpPr>
        <p:spPr>
          <a:xfrm>
            <a:off x="5102353" y="2098373"/>
            <a:ext cx="1810500" cy="27300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3"/>
          <p:cNvSpPr txBox="1"/>
          <p:nvPr/>
        </p:nvSpPr>
        <p:spPr>
          <a:xfrm>
            <a:off x="5056633" y="2272815"/>
            <a:ext cx="1902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600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56" name="Google Shape;156;p3"/>
          <p:cNvSpPr txBox="1"/>
          <p:nvPr/>
        </p:nvSpPr>
        <p:spPr>
          <a:xfrm>
            <a:off x="5056633" y="3296943"/>
            <a:ext cx="190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news articles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&amp; analyses</a:t>
            </a:r>
            <a:endParaRPr/>
          </a:p>
        </p:txBody>
      </p:sp>
      <p:sp>
        <p:nvSpPr>
          <p:cNvPr id="157" name="Google Shape;157;p3"/>
          <p:cNvSpPr/>
          <p:nvPr/>
        </p:nvSpPr>
        <p:spPr>
          <a:xfrm>
            <a:off x="5102353" y="4000325"/>
            <a:ext cx="1810500" cy="273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 txBox="1"/>
          <p:nvPr/>
        </p:nvSpPr>
        <p:spPr>
          <a:xfrm>
            <a:off x="5074921" y="4110053"/>
            <a:ext cx="18654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Financial news summaries,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brokerage reports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7150608" y="1321839"/>
            <a:ext cx="2084700" cy="4617600"/>
          </a:xfrm>
          <a:prstGeom prst="rect">
            <a:avLst/>
          </a:prstGeom>
          <a:solidFill>
            <a:srgbClr val="FDE8E8"/>
          </a:solidFill>
          <a:ln cap="flat" cmpd="sng" w="12700">
            <a:solidFill>
              <a:srgbClr val="C0102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3"/>
          <p:cNvSpPr/>
          <p:nvPr/>
        </p:nvSpPr>
        <p:spPr>
          <a:xfrm>
            <a:off x="7150608" y="1238837"/>
            <a:ext cx="2084700" cy="12810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3"/>
          <p:cNvSpPr txBox="1"/>
          <p:nvPr/>
        </p:nvSpPr>
        <p:spPr>
          <a:xfrm>
            <a:off x="7260336" y="1421717"/>
            <a:ext cx="1865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Yahoo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Finance</a:t>
            </a:r>
            <a:endParaRPr/>
          </a:p>
        </p:txBody>
      </p:sp>
      <p:sp>
        <p:nvSpPr>
          <p:cNvPr id="162" name="Google Shape;162;p3"/>
          <p:cNvSpPr/>
          <p:nvPr/>
        </p:nvSpPr>
        <p:spPr>
          <a:xfrm>
            <a:off x="7287768" y="2098373"/>
            <a:ext cx="1810500" cy="2730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 txBox="1"/>
          <p:nvPr/>
        </p:nvSpPr>
        <p:spPr>
          <a:xfrm>
            <a:off x="7242048" y="2272815"/>
            <a:ext cx="1902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600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164" name="Google Shape;164;p3"/>
          <p:cNvSpPr txBox="1"/>
          <p:nvPr/>
        </p:nvSpPr>
        <p:spPr>
          <a:xfrm>
            <a:off x="7242048" y="3296943"/>
            <a:ext cx="190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market articles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&amp; commentary</a:t>
            </a:r>
            <a:endParaRPr/>
          </a:p>
        </p:txBody>
      </p:sp>
      <p:sp>
        <p:nvSpPr>
          <p:cNvPr id="165" name="Google Shape;165;p3"/>
          <p:cNvSpPr/>
          <p:nvPr/>
        </p:nvSpPr>
        <p:spPr>
          <a:xfrm>
            <a:off x="7287768" y="4000325"/>
            <a:ext cx="1810500" cy="273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"/>
          <p:cNvSpPr txBox="1"/>
          <p:nvPr/>
        </p:nvSpPr>
        <p:spPr>
          <a:xfrm>
            <a:off x="7260336" y="4110053"/>
            <a:ext cx="18654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Stock news, analyst views,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market reports</a:t>
            </a:r>
            <a:endParaRPr/>
          </a:p>
        </p:txBody>
      </p:sp>
      <p:sp>
        <p:nvSpPr>
          <p:cNvPr id="167" name="Google Shape;167;p3"/>
          <p:cNvSpPr/>
          <p:nvPr/>
        </p:nvSpPr>
        <p:spPr>
          <a:xfrm>
            <a:off x="9336023" y="1321839"/>
            <a:ext cx="2084700" cy="4617600"/>
          </a:xfrm>
          <a:prstGeom prst="rect">
            <a:avLst/>
          </a:prstGeom>
          <a:solidFill>
            <a:srgbClr val="EEE8F8"/>
          </a:solidFill>
          <a:ln cap="flat" cmpd="sng" w="12700">
            <a:solidFill>
              <a:srgbClr val="55009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3"/>
          <p:cNvSpPr/>
          <p:nvPr/>
        </p:nvSpPr>
        <p:spPr>
          <a:xfrm>
            <a:off x="9336023" y="1238837"/>
            <a:ext cx="2084700" cy="128100"/>
          </a:xfrm>
          <a:prstGeom prst="rect">
            <a:avLst/>
          </a:prstGeom>
          <a:solidFill>
            <a:srgbClr val="550099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3"/>
          <p:cNvSpPr txBox="1"/>
          <p:nvPr/>
        </p:nvSpPr>
        <p:spPr>
          <a:xfrm>
            <a:off x="9445751" y="1421717"/>
            <a:ext cx="1865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Q&amp;A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Benchmark</a:t>
            </a:r>
            <a:endParaRPr/>
          </a:p>
        </p:txBody>
      </p:sp>
      <p:sp>
        <p:nvSpPr>
          <p:cNvPr id="170" name="Google Shape;170;p3"/>
          <p:cNvSpPr/>
          <p:nvPr/>
        </p:nvSpPr>
        <p:spPr>
          <a:xfrm>
            <a:off x="9473183" y="2098373"/>
            <a:ext cx="1810500" cy="27300"/>
          </a:xfrm>
          <a:prstGeom prst="rect">
            <a:avLst/>
          </a:prstGeom>
          <a:solidFill>
            <a:srgbClr val="550099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3"/>
          <p:cNvSpPr txBox="1"/>
          <p:nvPr/>
        </p:nvSpPr>
        <p:spPr>
          <a:xfrm>
            <a:off x="9427463" y="2272815"/>
            <a:ext cx="1902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172" name="Google Shape;172;p3"/>
          <p:cNvSpPr txBox="1"/>
          <p:nvPr/>
        </p:nvSpPr>
        <p:spPr>
          <a:xfrm>
            <a:off x="9427463" y="3296943"/>
            <a:ext cx="190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hand-crafted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test questions</a:t>
            </a:r>
            <a:endParaRPr/>
          </a:p>
        </p:txBody>
      </p:sp>
      <p:sp>
        <p:nvSpPr>
          <p:cNvPr id="173" name="Google Shape;173;p3"/>
          <p:cNvSpPr/>
          <p:nvPr/>
        </p:nvSpPr>
        <p:spPr>
          <a:xfrm>
            <a:off x="9473183" y="4000325"/>
            <a:ext cx="1810500" cy="273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3"/>
          <p:cNvSpPr txBox="1"/>
          <p:nvPr/>
        </p:nvSpPr>
        <p:spPr>
          <a:xfrm>
            <a:off x="9445751" y="4110053"/>
            <a:ext cx="18654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Gold-standard evaluation set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for recall measurement</a:t>
            </a:r>
            <a:endParaRPr/>
          </a:p>
        </p:txBody>
      </p:sp>
      <p:sp>
        <p:nvSpPr>
          <p:cNvPr id="175" name="Google Shape;175;p3"/>
          <p:cNvSpPr/>
          <p:nvPr/>
        </p:nvSpPr>
        <p:spPr>
          <a:xfrm>
            <a:off x="594363" y="6092877"/>
            <a:ext cx="10817400" cy="50310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00308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3"/>
          <p:cNvSpPr txBox="1"/>
          <p:nvPr/>
        </p:nvSpPr>
        <p:spPr>
          <a:xfrm>
            <a:off x="868682" y="6239197"/>
            <a:ext cx="1072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All sources ingest → ChromaDB vector index  +  BM25 keyword index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4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4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From PDFs to a Searchable Knowledge Base</a:t>
            </a:r>
            <a:endParaRPr/>
          </a:p>
        </p:txBody>
      </p:sp>
      <p:sp>
        <p:nvSpPr>
          <p:cNvPr id="184" name="Google Shape;184;p4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How raw documents become indexed, retrievable chunks</a:t>
            </a:r>
            <a:endParaRPr/>
          </a:p>
        </p:txBody>
      </p:sp>
      <p:sp>
        <p:nvSpPr>
          <p:cNvPr id="185" name="Google Shape;185;p4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pic>
        <p:nvPicPr>
          <p:cNvPr descr="DSAI Lab Project Pipeline.png" id="186" name="Google Shape;18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097280"/>
            <a:ext cx="4846320" cy="507492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4"/>
          <p:cNvSpPr/>
          <p:nvPr/>
        </p:nvSpPr>
        <p:spPr>
          <a:xfrm>
            <a:off x="5623560" y="1097280"/>
            <a:ext cx="6245352" cy="507492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4"/>
          <p:cNvSpPr txBox="1"/>
          <p:nvPr/>
        </p:nvSpPr>
        <p:spPr>
          <a:xfrm>
            <a:off x="5806440" y="1234440"/>
            <a:ext cx="5879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Key steps</a:t>
            </a:r>
            <a:endParaRPr/>
          </a:p>
        </p:txBody>
      </p:sp>
      <p:sp>
        <p:nvSpPr>
          <p:cNvPr id="189" name="Google Shape;189;p4"/>
          <p:cNvSpPr/>
          <p:nvPr/>
        </p:nvSpPr>
        <p:spPr>
          <a:xfrm>
            <a:off x="5806440" y="1737360"/>
            <a:ext cx="54864" cy="65836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4"/>
          <p:cNvSpPr txBox="1"/>
          <p:nvPr/>
        </p:nvSpPr>
        <p:spPr>
          <a:xfrm>
            <a:off x="5971032" y="1773936"/>
            <a:ext cx="57424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Parse</a:t>
            </a:r>
            <a:endParaRPr/>
          </a:p>
        </p:txBody>
      </p:sp>
      <p:sp>
        <p:nvSpPr>
          <p:cNvPr id="191" name="Google Shape;191;p4"/>
          <p:cNvSpPr txBox="1"/>
          <p:nvPr/>
        </p:nvSpPr>
        <p:spPr>
          <a:xfrm>
            <a:off x="5971032" y="2066544"/>
            <a:ext cx="57424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PDFs → docling → Markdown</a:t>
            </a:r>
            <a:endParaRPr/>
          </a:p>
        </p:txBody>
      </p:sp>
      <p:sp>
        <p:nvSpPr>
          <p:cNvPr id="192" name="Google Shape;192;p4"/>
          <p:cNvSpPr/>
          <p:nvPr/>
        </p:nvSpPr>
        <p:spPr>
          <a:xfrm>
            <a:off x="5806440" y="2596896"/>
            <a:ext cx="54864" cy="65836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"/>
          <p:cNvSpPr txBox="1"/>
          <p:nvPr/>
        </p:nvSpPr>
        <p:spPr>
          <a:xfrm>
            <a:off x="5971032" y="2633472"/>
            <a:ext cx="57424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Section</a:t>
            </a:r>
            <a:endParaRPr/>
          </a:p>
        </p:txBody>
      </p:sp>
      <p:sp>
        <p:nvSpPr>
          <p:cNvPr id="194" name="Google Shape;194;p4"/>
          <p:cNvSpPr txBox="1"/>
          <p:nvPr/>
        </p:nvSpPr>
        <p:spPr>
          <a:xfrm>
            <a:off x="5971032" y="2926080"/>
            <a:ext cx="57424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Long docs (&gt;10 pp) split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by Python script + LLM</a:t>
            </a:r>
            <a:endParaRPr/>
          </a:p>
        </p:txBody>
      </p:sp>
      <p:sp>
        <p:nvSpPr>
          <p:cNvPr id="195" name="Google Shape;195;p4"/>
          <p:cNvSpPr/>
          <p:nvPr/>
        </p:nvSpPr>
        <p:spPr>
          <a:xfrm>
            <a:off x="5806440" y="3456432"/>
            <a:ext cx="54864" cy="65836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4"/>
          <p:cNvSpPr txBox="1"/>
          <p:nvPr/>
        </p:nvSpPr>
        <p:spPr>
          <a:xfrm>
            <a:off x="5971032" y="3493008"/>
            <a:ext cx="57424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Embed</a:t>
            </a:r>
            <a:endParaRPr/>
          </a:p>
        </p:txBody>
      </p:sp>
      <p:sp>
        <p:nvSpPr>
          <p:cNvPr id="197" name="Google Shape;197;p4"/>
          <p:cNvSpPr txBox="1"/>
          <p:nvPr/>
        </p:nvSpPr>
        <p:spPr>
          <a:xfrm>
            <a:off x="5971032" y="3785616"/>
            <a:ext cx="57424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Metadata YAML header only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(not body text)</a:t>
            </a:r>
            <a:endParaRPr/>
          </a:p>
        </p:txBody>
      </p:sp>
      <p:sp>
        <p:nvSpPr>
          <p:cNvPr id="198" name="Google Shape;198;p4"/>
          <p:cNvSpPr/>
          <p:nvPr/>
        </p:nvSpPr>
        <p:spPr>
          <a:xfrm>
            <a:off x="5806440" y="4315968"/>
            <a:ext cx="54864" cy="65836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4"/>
          <p:cNvSpPr txBox="1"/>
          <p:nvPr/>
        </p:nvSpPr>
        <p:spPr>
          <a:xfrm>
            <a:off x="5971032" y="4352544"/>
            <a:ext cx="57424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endParaRPr/>
          </a:p>
        </p:txBody>
      </p:sp>
      <p:sp>
        <p:nvSpPr>
          <p:cNvPr id="200" name="Google Shape;200;p4"/>
          <p:cNvSpPr txBox="1"/>
          <p:nvPr/>
        </p:nvSpPr>
        <p:spPr>
          <a:xfrm>
            <a:off x="5971032" y="4645152"/>
            <a:ext cx="57424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ChromaDB (vector)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+ BM25 (keyword)</a:t>
            </a:r>
            <a:endParaRPr/>
          </a:p>
        </p:txBody>
      </p:sp>
      <p:sp>
        <p:nvSpPr>
          <p:cNvPr id="201" name="Google Shape;201;p4"/>
          <p:cNvSpPr txBox="1"/>
          <p:nvPr/>
        </p:nvSpPr>
        <p:spPr>
          <a:xfrm>
            <a:off x="5842939" y="5175500"/>
            <a:ext cx="5989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Key innovation</a:t>
            </a:r>
            <a:endParaRPr/>
          </a:p>
        </p:txBody>
      </p:sp>
      <p:sp>
        <p:nvSpPr>
          <p:cNvPr id="202" name="Google Shape;202;p4"/>
          <p:cNvSpPr txBox="1"/>
          <p:nvPr/>
        </p:nvSpPr>
        <p:spPr>
          <a:xfrm>
            <a:off x="5842989" y="5504685"/>
            <a:ext cx="59892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Embedding only the YAML metadata header — not body text — lifted Recall@3 from 40% → 74% (+34 pp) while being 13× faster.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5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How We Measured Success</a:t>
            </a:r>
            <a:endParaRPr/>
          </a:p>
        </p:txBody>
      </p:sp>
      <p:sp>
        <p:nvSpPr>
          <p:cNvPr id="210" name="Google Shape;210;p5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Retrieval recall as the ground-truth metric</a:t>
            </a:r>
            <a:endParaRPr/>
          </a:p>
        </p:txBody>
      </p:sp>
      <p:sp>
        <p:nvSpPr>
          <p:cNvPr id="211" name="Google Shape;211;p5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212" name="Google Shape;212;p5"/>
          <p:cNvSpPr/>
          <p:nvPr/>
        </p:nvSpPr>
        <p:spPr>
          <a:xfrm>
            <a:off x="457200" y="1143000"/>
            <a:ext cx="5303520" cy="219456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5"/>
          <p:cNvSpPr txBox="1"/>
          <p:nvPr/>
        </p:nvSpPr>
        <p:spPr>
          <a:xfrm>
            <a:off x="621792" y="1252728"/>
            <a:ext cx="504748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What is Recall@k?</a:t>
            </a:r>
            <a:endParaRPr/>
          </a:p>
        </p:txBody>
      </p:sp>
      <p:sp>
        <p:nvSpPr>
          <p:cNvPr id="214" name="Google Shape;214;p5"/>
          <p:cNvSpPr txBox="1"/>
          <p:nvPr/>
        </p:nvSpPr>
        <p:spPr>
          <a:xfrm>
            <a:off x="621792" y="1618488"/>
            <a:ext cx="5047488" cy="16276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For each test question, we know which source document contains the correct answer. Recall@k = 1 if that document appears in the top-k retrieved results, else 0.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We measure Recall@3, @5, and @7, averaged across 50 questions.</a:t>
            </a:r>
            <a:endParaRPr/>
          </a:p>
        </p:txBody>
      </p:sp>
      <p:sp>
        <p:nvSpPr>
          <p:cNvPr id="215" name="Google Shape;215;p5"/>
          <p:cNvSpPr/>
          <p:nvPr/>
        </p:nvSpPr>
        <p:spPr>
          <a:xfrm>
            <a:off x="457200" y="3502152"/>
            <a:ext cx="5303520" cy="271576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/>
          <p:nvPr/>
        </p:nvSpPr>
        <p:spPr>
          <a:xfrm>
            <a:off x="457200" y="3502152"/>
            <a:ext cx="64008" cy="271576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5"/>
          <p:cNvSpPr txBox="1"/>
          <p:nvPr/>
        </p:nvSpPr>
        <p:spPr>
          <a:xfrm>
            <a:off x="640080" y="361188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Why retrieval recall?</a:t>
            </a:r>
            <a:endParaRPr/>
          </a:p>
        </p:txBody>
      </p:sp>
      <p:sp>
        <p:nvSpPr>
          <p:cNvPr id="218" name="Google Shape;218;p5"/>
          <p:cNvSpPr txBox="1"/>
          <p:nvPr/>
        </p:nvSpPr>
        <p:spPr>
          <a:xfrm>
            <a:off x="640080" y="4069080"/>
            <a:ext cx="50292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If the right chunk is never retrieved, no LLM — however powerful — can produce a correct answer. Retrieval is the fundamental bottleneck: fix retrieval first, then worry about answer generation.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Our final recall scores (Hybrid RRF system):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Recall@3 = 76%   ·   Recall@5 = 82%   ·   Recall@7 = 88%</a:t>
            </a:r>
            <a:endParaRPr/>
          </a:p>
        </p:txBody>
      </p:sp>
      <p:sp>
        <p:nvSpPr>
          <p:cNvPr id="219" name="Google Shape;219;p5"/>
          <p:cNvSpPr/>
          <p:nvPr/>
        </p:nvSpPr>
        <p:spPr>
          <a:xfrm>
            <a:off x="6080760" y="1143000"/>
            <a:ext cx="5650992" cy="507492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5"/>
          <p:cNvSpPr txBox="1"/>
          <p:nvPr/>
        </p:nvSpPr>
        <p:spPr>
          <a:xfrm>
            <a:off x="6263640" y="1325880"/>
            <a:ext cx="528523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Benchmark</a:t>
            </a:r>
            <a:endParaRPr/>
          </a:p>
        </p:txBody>
      </p:sp>
      <p:sp>
        <p:nvSpPr>
          <p:cNvPr id="221" name="Google Shape;221;p5"/>
          <p:cNvSpPr txBox="1"/>
          <p:nvPr/>
        </p:nvSpPr>
        <p:spPr>
          <a:xfrm>
            <a:off x="6309360" y="1947672"/>
            <a:ext cx="519379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222" name="Google Shape;222;p5"/>
          <p:cNvSpPr txBox="1"/>
          <p:nvPr/>
        </p:nvSpPr>
        <p:spPr>
          <a:xfrm>
            <a:off x="6309360" y="2514600"/>
            <a:ext cx="51937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hand-crafted questions</a:t>
            </a:r>
            <a:endParaRPr/>
          </a:p>
        </p:txBody>
      </p:sp>
      <p:sp>
        <p:nvSpPr>
          <p:cNvPr id="223" name="Google Shape;223;p5"/>
          <p:cNvSpPr/>
          <p:nvPr/>
        </p:nvSpPr>
        <p:spPr>
          <a:xfrm>
            <a:off x="6309360" y="2935224"/>
            <a:ext cx="5193792" cy="12801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5"/>
          <p:cNvSpPr txBox="1"/>
          <p:nvPr/>
        </p:nvSpPr>
        <p:spPr>
          <a:xfrm>
            <a:off x="6309360" y="3008376"/>
            <a:ext cx="5193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800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225" name="Google Shape;225;p5"/>
          <p:cNvSpPr txBox="1"/>
          <p:nvPr/>
        </p:nvSpPr>
        <p:spPr>
          <a:xfrm>
            <a:off x="6309360" y="3575304"/>
            <a:ext cx="51937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source categories</a:t>
            </a:r>
            <a:endParaRPr/>
          </a:p>
        </p:txBody>
      </p:sp>
      <p:sp>
        <p:nvSpPr>
          <p:cNvPr id="226" name="Google Shape;226;p5"/>
          <p:cNvSpPr/>
          <p:nvPr/>
        </p:nvSpPr>
        <p:spPr>
          <a:xfrm>
            <a:off x="6309360" y="3995928"/>
            <a:ext cx="5193792" cy="12801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5"/>
          <p:cNvSpPr txBox="1"/>
          <p:nvPr/>
        </p:nvSpPr>
        <p:spPr>
          <a:xfrm>
            <a:off x="6309360" y="4069080"/>
            <a:ext cx="519379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228" name="Google Shape;228;p5"/>
          <p:cNvSpPr txBox="1"/>
          <p:nvPr/>
        </p:nvSpPr>
        <p:spPr>
          <a:xfrm>
            <a:off x="6309360" y="4636008"/>
            <a:ext cx="51937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strategies tested</a:t>
            </a:r>
            <a:endParaRPr/>
          </a:p>
        </p:txBody>
      </p:sp>
      <p:sp>
        <p:nvSpPr>
          <p:cNvPr id="229" name="Google Shape;229;p5"/>
          <p:cNvSpPr/>
          <p:nvPr/>
        </p:nvSpPr>
        <p:spPr>
          <a:xfrm>
            <a:off x="6309360" y="5056632"/>
            <a:ext cx="5193792" cy="12801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5"/>
          <p:cNvSpPr txBox="1"/>
          <p:nvPr/>
        </p:nvSpPr>
        <p:spPr>
          <a:xfrm>
            <a:off x="6309360" y="5129784"/>
            <a:ext cx="519379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231" name="Google Shape;231;p5"/>
          <p:cNvSpPr txBox="1"/>
          <p:nvPr/>
        </p:nvSpPr>
        <p:spPr>
          <a:xfrm>
            <a:off x="6309360" y="5696712"/>
            <a:ext cx="51937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recall depths: @3 @5 @7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6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Research Journey — Three Phases</a:t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Systematic experimentation from baseline to production</a:t>
            </a:r>
            <a:endParaRPr/>
          </a:p>
        </p:txBody>
      </p:sp>
      <p:sp>
        <p:nvSpPr>
          <p:cNvPr id="240" name="Google Shape;240;p6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49225" y="1734400"/>
            <a:ext cx="3520500" cy="4572000"/>
          </a:xfrm>
          <a:prstGeom prst="rect">
            <a:avLst/>
          </a:prstGeom>
          <a:solidFill>
            <a:srgbClr val="FDE8E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6"/>
          <p:cNvSpPr/>
          <p:nvPr/>
        </p:nvSpPr>
        <p:spPr>
          <a:xfrm>
            <a:off x="649225" y="1734400"/>
            <a:ext cx="3520500" cy="5490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6"/>
          <p:cNvSpPr txBox="1"/>
          <p:nvPr/>
        </p:nvSpPr>
        <p:spPr>
          <a:xfrm>
            <a:off x="813817" y="1880704"/>
            <a:ext cx="3191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Phase 1</a:t>
            </a:r>
            <a:endParaRPr/>
          </a:p>
        </p:txBody>
      </p:sp>
      <p:sp>
        <p:nvSpPr>
          <p:cNvPr id="244" name="Google Shape;244;p6"/>
          <p:cNvSpPr txBox="1"/>
          <p:nvPr/>
        </p:nvSpPr>
        <p:spPr>
          <a:xfrm>
            <a:off x="813817" y="2237320"/>
            <a:ext cx="3191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Full-Text Embedding</a:t>
            </a:r>
            <a:endParaRPr/>
          </a:p>
        </p:txBody>
      </p:sp>
      <p:sp>
        <p:nvSpPr>
          <p:cNvPr id="245" name="Google Shape;245;p6"/>
          <p:cNvSpPr txBox="1"/>
          <p:nvPr/>
        </p:nvSpPr>
        <p:spPr>
          <a:xfrm>
            <a:off x="813817" y="2758528"/>
            <a:ext cx="3191400" cy="17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Three strategies tested on 50 questions: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① Vector-only baseline — embed full document body; query as-is.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② HyDE — generate a hypothetical answer, then embed it as the query.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③ BGE cross-encoder reranker — re-score top-k results using a neural model.</a:t>
            </a:r>
            <a:endParaRPr/>
          </a:p>
        </p:txBody>
      </p:sp>
      <p:sp>
        <p:nvSpPr>
          <p:cNvPr id="246" name="Google Shape;246;p6"/>
          <p:cNvSpPr/>
          <p:nvPr/>
        </p:nvSpPr>
        <p:spPr>
          <a:xfrm>
            <a:off x="813817" y="4660480"/>
            <a:ext cx="3191400" cy="1380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 txBox="1"/>
          <p:nvPr/>
        </p:nvSpPr>
        <p:spPr>
          <a:xfrm>
            <a:off x="813817" y="4788496"/>
            <a:ext cx="31914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Best R@3: 58%  (BGE reranker)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Best latency: 6.3 s  ·  BGE: ~4 min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Conclusion: body text adds noise;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HyDE hurts entity-heavy queries.</a:t>
            </a:r>
            <a:endParaRPr/>
          </a:p>
        </p:txBody>
      </p:sp>
      <p:sp>
        <p:nvSpPr>
          <p:cNvPr id="248" name="Google Shape;248;p6"/>
          <p:cNvSpPr/>
          <p:nvPr/>
        </p:nvSpPr>
        <p:spPr>
          <a:xfrm>
            <a:off x="4334257" y="1734400"/>
            <a:ext cx="3520500" cy="4572000"/>
          </a:xfrm>
          <a:prstGeom prst="rect">
            <a:avLst/>
          </a:prstGeom>
          <a:solidFill>
            <a:srgbClr val="EEE8F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6"/>
          <p:cNvSpPr/>
          <p:nvPr/>
        </p:nvSpPr>
        <p:spPr>
          <a:xfrm>
            <a:off x="4334257" y="1734400"/>
            <a:ext cx="3520500" cy="54900"/>
          </a:xfrm>
          <a:prstGeom prst="rect">
            <a:avLst/>
          </a:prstGeom>
          <a:solidFill>
            <a:srgbClr val="550099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6"/>
          <p:cNvSpPr txBox="1"/>
          <p:nvPr/>
        </p:nvSpPr>
        <p:spPr>
          <a:xfrm>
            <a:off x="4498849" y="1880704"/>
            <a:ext cx="3191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Phase 2</a:t>
            </a:r>
            <a:endParaRPr/>
          </a:p>
        </p:txBody>
      </p:sp>
      <p:sp>
        <p:nvSpPr>
          <p:cNvPr id="251" name="Google Shape;251;p6"/>
          <p:cNvSpPr txBox="1"/>
          <p:nvPr/>
        </p:nvSpPr>
        <p:spPr>
          <a:xfrm>
            <a:off x="4498849" y="2237320"/>
            <a:ext cx="3191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Metadata-Only Embedding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4498849" y="2758528"/>
            <a:ext cx="3191400" cy="12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Breakthrough insight: strip the body text and embed only the YAML front-matter (quarter label, source type, document category).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Also tested Metadata + BGE cross-encoder to see if reranking still adds value on top of the cleaner embeddings.</a:t>
            </a:r>
            <a:endParaRPr/>
          </a:p>
        </p:txBody>
      </p:sp>
      <p:sp>
        <p:nvSpPr>
          <p:cNvPr id="253" name="Google Shape;253;p6"/>
          <p:cNvSpPr/>
          <p:nvPr/>
        </p:nvSpPr>
        <p:spPr>
          <a:xfrm>
            <a:off x="4498849" y="4660480"/>
            <a:ext cx="3191400" cy="13800"/>
          </a:xfrm>
          <a:prstGeom prst="rect">
            <a:avLst/>
          </a:prstGeom>
          <a:solidFill>
            <a:srgbClr val="550099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6"/>
          <p:cNvSpPr txBox="1"/>
          <p:nvPr/>
        </p:nvSpPr>
        <p:spPr>
          <a:xfrm>
            <a:off x="4498849" y="4788496"/>
            <a:ext cx="31914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R@3: 74%   (+34 pp vs baseline)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Latency: 0.48 s   — 13× faster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CE reranker on meta: R@3=74%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No gain + 1.74 s overhead.</a:t>
            </a:r>
            <a:endParaRPr/>
          </a:p>
        </p:txBody>
      </p:sp>
      <p:sp>
        <p:nvSpPr>
          <p:cNvPr id="255" name="Google Shape;255;p6"/>
          <p:cNvSpPr/>
          <p:nvPr/>
        </p:nvSpPr>
        <p:spPr>
          <a:xfrm>
            <a:off x="8019289" y="1734400"/>
            <a:ext cx="3520500" cy="4572000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6"/>
          <p:cNvSpPr/>
          <p:nvPr/>
        </p:nvSpPr>
        <p:spPr>
          <a:xfrm>
            <a:off x="8019289" y="1734400"/>
            <a:ext cx="3520500" cy="5490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6"/>
          <p:cNvSpPr txBox="1"/>
          <p:nvPr/>
        </p:nvSpPr>
        <p:spPr>
          <a:xfrm>
            <a:off x="8183881" y="1880704"/>
            <a:ext cx="3191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Phase 3</a:t>
            </a:r>
            <a:endParaRPr/>
          </a:p>
        </p:txBody>
      </p:sp>
      <p:sp>
        <p:nvSpPr>
          <p:cNvPr id="258" name="Google Shape;258;p6"/>
          <p:cNvSpPr txBox="1"/>
          <p:nvPr/>
        </p:nvSpPr>
        <p:spPr>
          <a:xfrm>
            <a:off x="8183881" y="2237320"/>
            <a:ext cx="3191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Hybrid BM25 + Vector (RRF)</a:t>
            </a:r>
            <a:endParaRPr/>
          </a:p>
        </p:txBody>
      </p:sp>
      <p:sp>
        <p:nvSpPr>
          <p:cNvPr id="259" name="Google Shape;259;p6"/>
          <p:cNvSpPr txBox="1"/>
          <p:nvPr/>
        </p:nvSpPr>
        <p:spPr>
          <a:xfrm>
            <a:off x="8183881" y="2758528"/>
            <a:ext cx="31914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Combine keyword (BM25) and semantic (vector) search via Reciprocal Rank Fusion: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score = Σ 1 / (60 + rank_i)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Tested BM25-only, Hybrid RRF, and Hybrid + CE reranker to find the optimal trade-off between recall and latency.</a:t>
            </a:r>
            <a:endParaRPr/>
          </a:p>
        </p:txBody>
      </p:sp>
      <p:sp>
        <p:nvSpPr>
          <p:cNvPr id="260" name="Google Shape;260;p6"/>
          <p:cNvSpPr/>
          <p:nvPr/>
        </p:nvSpPr>
        <p:spPr>
          <a:xfrm>
            <a:off x="8183881" y="4660480"/>
            <a:ext cx="3191400" cy="1380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6"/>
          <p:cNvSpPr txBox="1"/>
          <p:nvPr/>
        </p:nvSpPr>
        <p:spPr>
          <a:xfrm>
            <a:off x="8183881" y="4788496"/>
            <a:ext cx="31914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R@7: 88%  ·  R@3: 76%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Hybrid RRF chosen as production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system: 0.56 s latency, no CE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overhead, domain-agnostic.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7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7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1: Full-Text Embedding Results</a:t>
            </a:r>
            <a:endParaRPr/>
          </a:p>
        </p:txBody>
      </p:sp>
      <p:sp>
        <p:nvSpPr>
          <p:cNvPr id="269" name="Google Shape;269;p7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Three strategies on 50 questions</a:t>
            </a:r>
            <a:endParaRPr/>
          </a:p>
        </p:txBody>
      </p:sp>
      <p:sp>
        <p:nvSpPr>
          <p:cNvPr id="270" name="Google Shape;270;p7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pic>
        <p:nvPicPr>
          <p:cNvPr descr="phase1.png" id="271" name="Google Shape;27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325530"/>
            <a:ext cx="7589520" cy="425196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7"/>
          <p:cNvSpPr/>
          <p:nvPr/>
        </p:nvSpPr>
        <p:spPr>
          <a:xfrm>
            <a:off x="8183875" y="1325524"/>
            <a:ext cx="3684900" cy="2196900"/>
          </a:xfrm>
          <a:prstGeom prst="rect">
            <a:avLst/>
          </a:prstGeom>
          <a:solidFill>
            <a:srgbClr val="FDE8E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8183879" y="1325530"/>
            <a:ext cx="3684900" cy="4560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7"/>
          <p:cNvSpPr txBox="1"/>
          <p:nvPr/>
        </p:nvSpPr>
        <p:spPr>
          <a:xfrm>
            <a:off x="8348471" y="1435258"/>
            <a:ext cx="3429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/>
          </a:p>
        </p:txBody>
      </p:sp>
      <p:sp>
        <p:nvSpPr>
          <p:cNvPr id="275" name="Google Shape;275;p7"/>
          <p:cNvSpPr txBox="1"/>
          <p:nvPr/>
        </p:nvSpPr>
        <p:spPr>
          <a:xfrm>
            <a:off x="8348471" y="1828450"/>
            <a:ext cx="34290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Baseline R@3 = 40%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HyDE: R@3 = 38% — no gain.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Entity-heavy queries already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contain the right vocabulary.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BGE reranker: R@3 = 58%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but ~4 minutes per question.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8183875" y="3657249"/>
            <a:ext cx="3684900" cy="19203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7"/>
          <p:cNvSpPr/>
          <p:nvPr/>
        </p:nvSpPr>
        <p:spPr>
          <a:xfrm>
            <a:off x="8183877" y="3657199"/>
            <a:ext cx="63900" cy="192030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 txBox="1"/>
          <p:nvPr/>
        </p:nvSpPr>
        <p:spPr>
          <a:xfrm>
            <a:off x="8385034" y="4024772"/>
            <a:ext cx="3410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Root cause</a:t>
            </a:r>
            <a:endParaRPr/>
          </a:p>
        </p:txBody>
      </p:sp>
      <p:sp>
        <p:nvSpPr>
          <p:cNvPr id="279" name="Google Shape;279;p7"/>
          <p:cNvSpPr txBox="1"/>
          <p:nvPr/>
        </p:nvSpPr>
        <p:spPr>
          <a:xfrm>
            <a:off x="8385025" y="4522738"/>
            <a:ext cx="3410700" cy="9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Full-text body embedding (thousands of tokens per chunk) produces noisy, unfocused vectors. Regulatory filings mix quarter-specific data with boilerplate, tables, and narrative — none of which helps retrieve the right quarter. The vector drifts away from the query signal.</a:t>
            </a:r>
            <a:endParaRPr/>
          </a:p>
        </p:txBody>
      </p:sp>
      <p:sp>
        <p:nvSpPr>
          <p:cNvPr id="280" name="Google Shape;280;p7"/>
          <p:cNvSpPr/>
          <p:nvPr/>
        </p:nvSpPr>
        <p:spPr>
          <a:xfrm>
            <a:off x="457200" y="5714650"/>
            <a:ext cx="11411700" cy="8046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7"/>
          <p:cNvSpPr/>
          <p:nvPr/>
        </p:nvSpPr>
        <p:spPr>
          <a:xfrm>
            <a:off x="457200" y="5714650"/>
            <a:ext cx="63900" cy="80460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7"/>
          <p:cNvSpPr txBox="1"/>
          <p:nvPr/>
        </p:nvSpPr>
        <p:spPr>
          <a:xfrm>
            <a:off x="662943" y="6034743"/>
            <a:ext cx="110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Phase 1 verdict: BGE reranker achieves the highest recall (R@3 = 58%) but at ~4 min/question — wholly impractical. Phase 2 addresses the root cause directly.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8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457200" y="128016"/>
            <a:ext cx="9628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Phase-2: </a:t>
            </a: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Breakthrough: Embed Metadata, Not Body Text</a:t>
            </a:r>
            <a:endParaRPr/>
          </a:p>
        </p:txBody>
      </p:sp>
      <p:sp>
        <p:nvSpPr>
          <p:cNvPr id="290" name="Google Shape;290;p8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 single architectural change → +34 percentage points in Recall@3</a:t>
            </a:r>
            <a:endParaRPr/>
          </a:p>
        </p:txBody>
      </p:sp>
      <p:sp>
        <p:nvSpPr>
          <p:cNvPr id="291" name="Google Shape;291;p8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292" name="Google Shape;292;p8"/>
          <p:cNvSpPr/>
          <p:nvPr/>
        </p:nvSpPr>
        <p:spPr>
          <a:xfrm>
            <a:off x="457200" y="1161288"/>
            <a:ext cx="5212080" cy="1828800"/>
          </a:xfrm>
          <a:prstGeom prst="rect">
            <a:avLst/>
          </a:prstGeom>
          <a:solidFill>
            <a:srgbClr val="FDE8E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8"/>
          <p:cNvSpPr/>
          <p:nvPr/>
        </p:nvSpPr>
        <p:spPr>
          <a:xfrm>
            <a:off x="457200" y="1161288"/>
            <a:ext cx="5212080" cy="4572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 txBox="1"/>
          <p:nvPr/>
        </p:nvSpPr>
        <p:spPr>
          <a:xfrm>
            <a:off x="640080" y="1271016"/>
            <a:ext cx="4846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BEFORE — Full-text body embedding</a:t>
            </a:r>
            <a:endParaRPr/>
          </a:p>
        </p:txBody>
      </p:sp>
      <p:sp>
        <p:nvSpPr>
          <p:cNvPr id="295" name="Google Shape;295;p8"/>
          <p:cNvSpPr txBox="1"/>
          <p:nvPr/>
        </p:nvSpPr>
        <p:spPr>
          <a:xfrm>
            <a:off x="640080" y="1673352"/>
            <a:ext cx="484632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Embed entire document body (thousands of tokens). Noisy vectors — body text dilutes the quarter/source signal. The semantic space becomes too broad to match specific quarter and doc-type queries.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Recall@3 = 40%  ·  Latency = 6.3 s/question</a:t>
            </a:r>
            <a:endParaRPr/>
          </a:p>
        </p:txBody>
      </p:sp>
      <p:sp>
        <p:nvSpPr>
          <p:cNvPr id="296" name="Google Shape;296;p8"/>
          <p:cNvSpPr txBox="1"/>
          <p:nvPr/>
        </p:nvSpPr>
        <p:spPr>
          <a:xfrm>
            <a:off x="457200" y="3044952"/>
            <a:ext cx="52120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▼  swap embedding target  ▼</a:t>
            </a:r>
            <a:endParaRPr/>
          </a:p>
        </p:txBody>
      </p:sp>
      <p:sp>
        <p:nvSpPr>
          <p:cNvPr id="297" name="Google Shape;297;p8"/>
          <p:cNvSpPr/>
          <p:nvPr/>
        </p:nvSpPr>
        <p:spPr>
          <a:xfrm>
            <a:off x="457200" y="3392424"/>
            <a:ext cx="5212080" cy="1828800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457200" y="3392424"/>
            <a:ext cx="5212080" cy="4572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8"/>
          <p:cNvSpPr txBox="1"/>
          <p:nvPr/>
        </p:nvSpPr>
        <p:spPr>
          <a:xfrm>
            <a:off x="640080" y="3502152"/>
            <a:ext cx="4846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AFTER — Metadata-only embedding</a:t>
            </a:r>
            <a:endParaRPr/>
          </a:p>
        </p:txBody>
      </p:sp>
      <p:sp>
        <p:nvSpPr>
          <p:cNvPr id="300" name="Google Shape;300;p8"/>
          <p:cNvSpPr txBox="1"/>
          <p:nvPr/>
        </p:nvSpPr>
        <p:spPr>
          <a:xfrm>
            <a:off x="640080" y="3904488"/>
            <a:ext cx="484632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Embed only YAML front matter (quarter, source, doc type). Compact, precise vectors — vocabulary matches query terms exactly. Fewer tokens means faster embedding and sharper retrieval.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Recall@3 = 74%  ·  Latency = 0.478 s  ·  13× faster</a:t>
            </a:r>
            <a:endParaRPr/>
          </a:p>
        </p:txBody>
      </p:sp>
      <p:sp>
        <p:nvSpPr>
          <p:cNvPr id="301" name="Google Shape;301;p8"/>
          <p:cNvSpPr/>
          <p:nvPr/>
        </p:nvSpPr>
        <p:spPr>
          <a:xfrm>
            <a:off x="5989320" y="1161288"/>
            <a:ext cx="5742432" cy="4059936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8"/>
          <p:cNvSpPr txBox="1"/>
          <p:nvPr/>
        </p:nvSpPr>
        <p:spPr>
          <a:xfrm>
            <a:off x="6126480" y="1362456"/>
            <a:ext cx="5468112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+34 pp</a:t>
            </a:r>
            <a:endParaRPr/>
          </a:p>
        </p:txBody>
      </p:sp>
      <p:sp>
        <p:nvSpPr>
          <p:cNvPr id="303" name="Google Shape;303;p8"/>
          <p:cNvSpPr txBox="1"/>
          <p:nvPr/>
        </p:nvSpPr>
        <p:spPr>
          <a:xfrm>
            <a:off x="6126480" y="2368296"/>
            <a:ext cx="546811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Recall@3 improvement</a:t>
            </a:r>
            <a:endParaRPr/>
          </a:p>
        </p:txBody>
      </p:sp>
      <p:sp>
        <p:nvSpPr>
          <p:cNvPr id="304" name="Google Shape;304;p8"/>
          <p:cNvSpPr/>
          <p:nvPr/>
        </p:nvSpPr>
        <p:spPr>
          <a:xfrm>
            <a:off x="6263640" y="2843784"/>
            <a:ext cx="5193792" cy="1463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 txBox="1"/>
          <p:nvPr/>
        </p:nvSpPr>
        <p:spPr>
          <a:xfrm>
            <a:off x="6153912" y="2990088"/>
            <a:ext cx="5413248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Why it works: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5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NSE documents carry rich YAML headers with exact quarter labels, source categories, and document types. The raw question ('Q3 FY26 margin') maps almost directly to those header terms.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5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Body text adds company history, regulatory boilerplate, and narrative — noise that pushes the vector away from the query.</a:t>
            </a:r>
            <a:endParaRPr/>
          </a:p>
        </p:txBody>
      </p:sp>
      <p:sp>
        <p:nvSpPr>
          <p:cNvPr id="306" name="Google Shape;306;p8"/>
          <p:cNvSpPr/>
          <p:nvPr/>
        </p:nvSpPr>
        <p:spPr>
          <a:xfrm>
            <a:off x="457200" y="5385816"/>
            <a:ext cx="11274552" cy="111556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8"/>
          <p:cNvSpPr txBox="1"/>
          <p:nvPr/>
        </p:nvSpPr>
        <p:spPr>
          <a:xfrm>
            <a:off x="594360" y="5477256"/>
            <a:ext cx="3422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Recall@3</a:t>
            </a:r>
            <a:endParaRPr/>
          </a:p>
        </p:txBody>
      </p:sp>
      <p:sp>
        <p:nvSpPr>
          <p:cNvPr id="308" name="Google Shape;308;p8"/>
          <p:cNvSpPr txBox="1"/>
          <p:nvPr/>
        </p:nvSpPr>
        <p:spPr>
          <a:xfrm>
            <a:off x="594360" y="5861304"/>
            <a:ext cx="342290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40%  →  74%</a:t>
            </a:r>
            <a:endParaRPr/>
          </a:p>
        </p:txBody>
      </p:sp>
      <p:sp>
        <p:nvSpPr>
          <p:cNvPr id="309" name="Google Shape;309;p8"/>
          <p:cNvSpPr/>
          <p:nvPr/>
        </p:nvSpPr>
        <p:spPr>
          <a:xfrm>
            <a:off x="4154424" y="5495544"/>
            <a:ext cx="16459" cy="89611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8"/>
          <p:cNvSpPr txBox="1"/>
          <p:nvPr/>
        </p:nvSpPr>
        <p:spPr>
          <a:xfrm>
            <a:off x="4383024" y="5477256"/>
            <a:ext cx="3422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Latency</a:t>
            </a:r>
            <a:endParaRPr/>
          </a:p>
        </p:txBody>
      </p:sp>
      <p:sp>
        <p:nvSpPr>
          <p:cNvPr id="311" name="Google Shape;311;p8"/>
          <p:cNvSpPr txBox="1"/>
          <p:nvPr/>
        </p:nvSpPr>
        <p:spPr>
          <a:xfrm>
            <a:off x="4383024" y="5861304"/>
            <a:ext cx="342290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6.3 s  →  0.48 s  (13× faster)</a:t>
            </a:r>
            <a:endParaRPr/>
          </a:p>
        </p:txBody>
      </p:sp>
      <p:sp>
        <p:nvSpPr>
          <p:cNvPr id="312" name="Google Shape;312;p8"/>
          <p:cNvSpPr/>
          <p:nvPr/>
        </p:nvSpPr>
        <p:spPr>
          <a:xfrm>
            <a:off x="7943088" y="5495544"/>
            <a:ext cx="16459" cy="89611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8"/>
          <p:cNvSpPr txBox="1"/>
          <p:nvPr/>
        </p:nvSpPr>
        <p:spPr>
          <a:xfrm>
            <a:off x="8171688" y="5477256"/>
            <a:ext cx="3422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What changed</a:t>
            </a:r>
            <a:endParaRPr/>
          </a:p>
        </p:txBody>
      </p:sp>
      <p:sp>
        <p:nvSpPr>
          <p:cNvPr id="314" name="Google Shape;314;p8"/>
          <p:cNvSpPr txBox="1"/>
          <p:nvPr/>
        </p:nvSpPr>
        <p:spPr>
          <a:xfrm>
            <a:off x="8171688" y="5861304"/>
            <a:ext cx="342290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Embedding target only — same model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9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3: Hybrid BM25 + Vector Search (RRF)</a:t>
            </a:r>
            <a:endParaRPr/>
          </a:p>
        </p:txBody>
      </p:sp>
      <p:sp>
        <p:nvSpPr>
          <p:cNvPr id="322" name="Google Shape;322;p9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Why we chose Hybrid RRF — and why we skipped the cross-encoder reranker</a:t>
            </a:r>
            <a:endParaRPr/>
          </a:p>
        </p:txBody>
      </p:sp>
      <p:sp>
        <p:nvSpPr>
          <p:cNvPr id="323" name="Google Shape;323;p9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pic>
        <p:nvPicPr>
          <p:cNvPr descr="phase3.png" id="324" name="Google Shape;32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097280"/>
            <a:ext cx="7498079" cy="425196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9"/>
          <p:cNvSpPr/>
          <p:nvPr/>
        </p:nvSpPr>
        <p:spPr>
          <a:xfrm>
            <a:off x="8092440" y="1097280"/>
            <a:ext cx="3776472" cy="205740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8092440" y="1097280"/>
            <a:ext cx="3776472" cy="4572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 txBox="1"/>
          <p:nvPr/>
        </p:nvSpPr>
        <p:spPr>
          <a:xfrm>
            <a:off x="8257032" y="1207008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CE vs. RRF</a:t>
            </a:r>
            <a:endParaRPr/>
          </a:p>
        </p:txBody>
      </p:sp>
      <p:sp>
        <p:nvSpPr>
          <p:cNvPr id="328" name="Google Shape;328;p9"/>
          <p:cNvSpPr txBox="1"/>
          <p:nvPr/>
        </p:nvSpPr>
        <p:spPr>
          <a:xfrm>
            <a:off x="8257032" y="1600200"/>
            <a:ext cx="35204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CE reranker: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R@3 = 74%  ·  +1.74 s latency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Hybrid RRF (chosen):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R@3 = 76%  ·  0 s overhead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RRF wins on both recall AND speed.</a:t>
            </a:r>
            <a:endParaRPr/>
          </a:p>
        </p:txBody>
      </p:sp>
      <p:sp>
        <p:nvSpPr>
          <p:cNvPr id="329" name="Google Shape;329;p9"/>
          <p:cNvSpPr/>
          <p:nvPr/>
        </p:nvSpPr>
        <p:spPr>
          <a:xfrm>
            <a:off x="8092440" y="3319272"/>
            <a:ext cx="3776472" cy="202996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8092440" y="3319272"/>
            <a:ext cx="64008" cy="202996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 txBox="1"/>
          <p:nvPr/>
        </p:nvSpPr>
        <p:spPr>
          <a:xfrm>
            <a:off x="8275320" y="3410712"/>
            <a:ext cx="350215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Why not CE reranker?</a:t>
            </a:r>
            <a:endParaRPr/>
          </a:p>
        </p:txBody>
      </p:sp>
      <p:sp>
        <p:nvSpPr>
          <p:cNvPr id="332" name="Google Shape;332;p9"/>
          <p:cNvSpPr txBox="1"/>
          <p:nvPr/>
        </p:nvSpPr>
        <p:spPr>
          <a:xfrm>
            <a:off x="8275320" y="3822192"/>
            <a:ext cx="3502152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The BGE cross-encoder was trained on MS-MARCO web queries — it has no understanding of financial domain terms, quarter labels, or Infosys-specific vocabulary. Domain mismatch means it cannot reliably distinguish which NSE filing chunk is most relevant.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RRF formula: score = Σ 1 / (60 + rank_i)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Simple, fast, domain-agnostic.</a:t>
            </a:r>
            <a:endParaRPr/>
          </a:p>
        </p:txBody>
      </p:sp>
      <p:sp>
        <p:nvSpPr>
          <p:cNvPr id="333" name="Google Shape;333;p9"/>
          <p:cNvSpPr/>
          <p:nvPr/>
        </p:nvSpPr>
        <p:spPr>
          <a:xfrm>
            <a:off x="457200" y="5486400"/>
            <a:ext cx="11274552" cy="804672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457200" y="5486400"/>
            <a:ext cx="64008" cy="804672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9"/>
          <p:cNvSpPr txBox="1"/>
          <p:nvPr/>
        </p:nvSpPr>
        <p:spPr>
          <a:xfrm>
            <a:off x="640080" y="5687568"/>
            <a:ext cx="1100023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Production choice: Hybrid RRF  —  R@3 = 76%,  R@7 = 88%,  latency = 0.56 s.  Higher recall than any reranker, zero domain-adaptation needed.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0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0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0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All 8 Strategies — Recall Progression</a:t>
            </a:r>
            <a:endParaRPr/>
          </a:p>
        </p:txBody>
      </p:sp>
      <p:sp>
        <p:nvSpPr>
          <p:cNvPr id="343" name="Google Shape;343;p10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Every experiment in sequence; ★ = production choice</a:t>
            </a:r>
            <a:endParaRPr/>
          </a:p>
        </p:txBody>
      </p:sp>
      <p:sp>
        <p:nvSpPr>
          <p:cNvPr id="344" name="Google Shape;344;p10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pic>
        <p:nvPicPr>
          <p:cNvPr descr="all_experiments.png" id="345" name="Google Shape;34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097280"/>
            <a:ext cx="11274552" cy="5074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1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1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Where Does the System Perform Best?</a:t>
            </a:r>
            <a:endParaRPr/>
          </a:p>
        </p:txBody>
      </p:sp>
      <p:sp>
        <p:nvSpPr>
          <p:cNvPr id="353" name="Google Shape;353;p11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Category-wise Recall@3 and Recall@7 breakdown</a:t>
            </a:r>
            <a:endParaRPr/>
          </a:p>
        </p:txBody>
      </p:sp>
      <p:sp>
        <p:nvSpPr>
          <p:cNvPr id="354" name="Google Shape;354;p11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356" name="Google Shape;356;p11"/>
          <p:cNvSpPr/>
          <p:nvPr/>
        </p:nvSpPr>
        <p:spPr>
          <a:xfrm>
            <a:off x="457200" y="5257800"/>
            <a:ext cx="3520440" cy="1417320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1"/>
          <p:cNvSpPr/>
          <p:nvPr/>
        </p:nvSpPr>
        <p:spPr>
          <a:xfrm>
            <a:off x="457200" y="5257800"/>
            <a:ext cx="3520440" cy="41148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1"/>
          <p:cNvSpPr txBox="1"/>
          <p:nvPr/>
        </p:nvSpPr>
        <p:spPr>
          <a:xfrm>
            <a:off x="594360" y="5349240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NSE ≤10 pages</a:t>
            </a:r>
            <a:endParaRPr/>
          </a:p>
        </p:txBody>
      </p:sp>
      <p:sp>
        <p:nvSpPr>
          <p:cNvPr id="359" name="Google Shape;359;p11"/>
          <p:cNvSpPr txBox="1"/>
          <p:nvPr/>
        </p:nvSpPr>
        <p:spPr>
          <a:xfrm>
            <a:off x="594360" y="5769864"/>
            <a:ext cx="3246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100% R@3 — short docs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index and retrieve cleanly</a:t>
            </a:r>
            <a:endParaRPr/>
          </a:p>
        </p:txBody>
      </p:sp>
      <p:sp>
        <p:nvSpPr>
          <p:cNvPr id="360" name="Google Shape;360;p11"/>
          <p:cNvSpPr/>
          <p:nvPr/>
        </p:nvSpPr>
        <p:spPr>
          <a:xfrm>
            <a:off x="4142232" y="5257800"/>
            <a:ext cx="3520440" cy="1417320"/>
          </a:xfrm>
          <a:prstGeom prst="rect">
            <a:avLst/>
          </a:prstGeom>
          <a:solidFill>
            <a:srgbClr val="FEF3D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1"/>
          <p:cNvSpPr/>
          <p:nvPr/>
        </p:nvSpPr>
        <p:spPr>
          <a:xfrm>
            <a:off x="4142232" y="5257800"/>
            <a:ext cx="3520440" cy="41148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1"/>
          <p:cNvSpPr txBox="1"/>
          <p:nvPr/>
        </p:nvSpPr>
        <p:spPr>
          <a:xfrm>
            <a:off x="4279392" y="5349240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NSE &gt;10 pages</a:t>
            </a:r>
            <a:endParaRPr/>
          </a:p>
        </p:txBody>
      </p:sp>
      <p:sp>
        <p:nvSpPr>
          <p:cNvPr id="363" name="Google Shape;363;p11"/>
          <p:cNvSpPr txBox="1"/>
          <p:nvPr/>
        </p:nvSpPr>
        <p:spPr>
          <a:xfrm>
            <a:off x="4279392" y="5769864"/>
            <a:ext cx="3246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70% R@3 — chunking splits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long reports imperfectly</a:t>
            </a:r>
            <a:endParaRPr/>
          </a:p>
        </p:txBody>
      </p:sp>
      <p:sp>
        <p:nvSpPr>
          <p:cNvPr id="364" name="Google Shape;364;p11"/>
          <p:cNvSpPr/>
          <p:nvPr/>
        </p:nvSpPr>
        <p:spPr>
          <a:xfrm>
            <a:off x="7827264" y="5257800"/>
            <a:ext cx="3520440" cy="1417320"/>
          </a:xfrm>
          <a:prstGeom prst="rect">
            <a:avLst/>
          </a:prstGeom>
          <a:solidFill>
            <a:srgbClr val="FDE8E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1"/>
          <p:cNvSpPr/>
          <p:nvPr/>
        </p:nvSpPr>
        <p:spPr>
          <a:xfrm>
            <a:off x="7827264" y="5257800"/>
            <a:ext cx="3520440" cy="41148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1"/>
          <p:cNvSpPr txBox="1"/>
          <p:nvPr/>
        </p:nvSpPr>
        <p:spPr>
          <a:xfrm>
            <a:off x="7964424" y="5349240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Infosys IR Docs</a:t>
            </a:r>
            <a:endParaRPr/>
          </a:p>
        </p:txBody>
      </p:sp>
      <p:sp>
        <p:nvSpPr>
          <p:cNvPr id="367" name="Google Shape;367;p11"/>
          <p:cNvSpPr txBox="1"/>
          <p:nvPr/>
        </p:nvSpPr>
        <p:spPr>
          <a:xfrm>
            <a:off x="7964424" y="5769864"/>
            <a:ext cx="3246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Only 20% R@3 — these queries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are best handled by the Fact DB</a:t>
            </a:r>
            <a:endParaRPr/>
          </a:p>
        </p:txBody>
      </p:sp>
      <p:pic>
        <p:nvPicPr>
          <p:cNvPr id="368" name="Picture 367" descr="category_fix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143000"/>
            <a:ext cx="1054303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2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2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2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Speed vs. Accuracy — Every Strategy at a Glance</a:t>
            </a:r>
            <a:endParaRPr/>
          </a:p>
        </p:txBody>
      </p:sp>
      <p:sp>
        <p:nvSpPr>
          <p:cNvPr id="375" name="Google Shape;375;p12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The ideal system is top-left: high recall, low latency</a:t>
            </a:r>
            <a:endParaRPr/>
          </a:p>
        </p:txBody>
      </p:sp>
      <p:sp>
        <p:nvSpPr>
          <p:cNvPr id="376" name="Google Shape;376;p12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pic>
        <p:nvPicPr>
          <p:cNvPr descr="scatter.png" id="377" name="Google Shape;37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43000"/>
            <a:ext cx="8046720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12"/>
          <p:cNvSpPr/>
          <p:nvPr/>
        </p:nvSpPr>
        <p:spPr>
          <a:xfrm>
            <a:off x="8668512" y="1143000"/>
            <a:ext cx="3200400" cy="1920240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2"/>
          <p:cNvSpPr/>
          <p:nvPr/>
        </p:nvSpPr>
        <p:spPr>
          <a:xfrm>
            <a:off x="8668512" y="1143000"/>
            <a:ext cx="3200400" cy="4572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2"/>
          <p:cNvSpPr txBox="1"/>
          <p:nvPr/>
        </p:nvSpPr>
        <p:spPr>
          <a:xfrm>
            <a:off x="8833104" y="1252728"/>
            <a:ext cx="29443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Verdict</a:t>
            </a:r>
            <a:endParaRPr/>
          </a:p>
        </p:txBody>
      </p:sp>
      <p:sp>
        <p:nvSpPr>
          <p:cNvPr id="381" name="Google Shape;381;p12"/>
          <p:cNvSpPr txBox="1"/>
          <p:nvPr/>
        </p:nvSpPr>
        <p:spPr>
          <a:xfrm>
            <a:off x="8833104" y="1645920"/>
            <a:ext cx="2944368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★ Hybrid RRF: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R@3 = 76%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0.56 s latency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BGE Reranker: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R@3 = 58%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245 s latency</a:t>
            </a:r>
            <a:endParaRPr/>
          </a:p>
        </p:txBody>
      </p:sp>
      <p:sp>
        <p:nvSpPr>
          <p:cNvPr id="382" name="Google Shape;382;p12"/>
          <p:cNvSpPr/>
          <p:nvPr/>
        </p:nvSpPr>
        <p:spPr>
          <a:xfrm>
            <a:off x="8668512" y="3227832"/>
            <a:ext cx="3200400" cy="202996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2"/>
          <p:cNvSpPr/>
          <p:nvPr/>
        </p:nvSpPr>
        <p:spPr>
          <a:xfrm>
            <a:off x="8668512" y="3227832"/>
            <a:ext cx="64008" cy="2029968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2"/>
          <p:cNvSpPr txBox="1"/>
          <p:nvPr/>
        </p:nvSpPr>
        <p:spPr>
          <a:xfrm>
            <a:off x="8851392" y="3319272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Why Hybrid wins</a:t>
            </a:r>
            <a:endParaRPr/>
          </a:p>
        </p:txBody>
      </p:sp>
      <p:sp>
        <p:nvSpPr>
          <p:cNvPr id="385" name="Google Shape;385;p12"/>
          <p:cNvSpPr txBox="1"/>
          <p:nvPr/>
        </p:nvSpPr>
        <p:spPr>
          <a:xfrm>
            <a:off x="8851392" y="370332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Hybrid is both faster AND more accurate than the BGE reranker. BM25 adds keyword precision that pure vector search misses on entity-heavy financial queries. RRF merges the two signals without any additional latency.</a:t>
            </a:r>
            <a:endParaRPr/>
          </a:p>
        </p:txBody>
      </p:sp>
      <p:sp>
        <p:nvSpPr>
          <p:cNvPr id="386" name="Google Shape;386;p12"/>
          <p:cNvSpPr/>
          <p:nvPr/>
        </p:nvSpPr>
        <p:spPr>
          <a:xfrm>
            <a:off x="457200" y="5394960"/>
            <a:ext cx="11274552" cy="804672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2"/>
          <p:cNvSpPr/>
          <p:nvPr/>
        </p:nvSpPr>
        <p:spPr>
          <a:xfrm>
            <a:off x="457200" y="5394960"/>
            <a:ext cx="64008" cy="804672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2"/>
          <p:cNvSpPr txBox="1"/>
          <p:nvPr/>
        </p:nvSpPr>
        <p:spPr>
          <a:xfrm>
            <a:off x="640080" y="5596128"/>
            <a:ext cx="1100023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Hybrid RRF is the production system: highest recall at the second-lowest latency. The BGE reranker sits in the worst quadrant — slower AND less accurate.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3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3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Hallucination Problem in Finance</a:t>
            </a:r>
            <a:endParaRPr/>
          </a:p>
        </p:txBody>
      </p:sp>
      <p:sp>
        <p:nvSpPr>
          <p:cNvPr id="396" name="Google Shape;396;p13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Why retrieval quality alone is not enough for numeric queries</a:t>
            </a:r>
            <a:endParaRPr/>
          </a:p>
        </p:txBody>
      </p:sp>
      <p:sp>
        <p:nvSpPr>
          <p:cNvPr id="397" name="Google Shape;397;p13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457200" y="1188720"/>
            <a:ext cx="6949440" cy="25146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 txBox="1"/>
          <p:nvPr/>
        </p:nvSpPr>
        <p:spPr>
          <a:xfrm>
            <a:off x="640080" y="1353312"/>
            <a:ext cx="658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Question:</a:t>
            </a:r>
            <a:endParaRPr/>
          </a:p>
        </p:txBody>
      </p:sp>
      <p:sp>
        <p:nvSpPr>
          <p:cNvPr id="400" name="Google Shape;400;p13"/>
          <p:cNvSpPr txBox="1"/>
          <p:nvPr/>
        </p:nvSpPr>
        <p:spPr>
          <a:xfrm>
            <a:off x="640080" y="1691640"/>
            <a:ext cx="6583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"What was Infosys's operating margin in Q3 FY26?"</a:t>
            </a:r>
            <a:endParaRPr/>
          </a:p>
        </p:txBody>
      </p:sp>
      <p:sp>
        <p:nvSpPr>
          <p:cNvPr id="401" name="Google Shape;401;p13"/>
          <p:cNvSpPr txBox="1"/>
          <p:nvPr/>
        </p:nvSpPr>
        <p:spPr>
          <a:xfrm>
            <a:off x="640080" y="2194560"/>
            <a:ext cx="658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Vector RAG answer (no fact layer):</a:t>
            </a:r>
            <a:endParaRPr/>
          </a:p>
        </p:txBody>
      </p:sp>
      <p:sp>
        <p:nvSpPr>
          <p:cNvPr id="402" name="Google Shape;402;p13"/>
          <p:cNvSpPr txBox="1"/>
          <p:nvPr/>
        </p:nvSpPr>
        <p:spPr>
          <a:xfrm>
            <a:off x="640080" y="2560320"/>
            <a:ext cx="6583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"…the operating margin was approximately 17.8%."   ✗  WRONG  (actual: 21.1%)</a:t>
            </a:r>
            <a:endParaRPr/>
          </a:p>
        </p:txBody>
      </p:sp>
      <p:sp>
        <p:nvSpPr>
          <p:cNvPr id="403" name="Google Shape;403;p13"/>
          <p:cNvSpPr/>
          <p:nvPr/>
        </p:nvSpPr>
        <p:spPr>
          <a:xfrm>
            <a:off x="457200" y="3904488"/>
            <a:ext cx="6949440" cy="1737360"/>
          </a:xfrm>
          <a:prstGeom prst="rect">
            <a:avLst/>
          </a:prstGeom>
          <a:solidFill>
            <a:srgbClr val="FDE8E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3"/>
          <p:cNvSpPr/>
          <p:nvPr/>
        </p:nvSpPr>
        <p:spPr>
          <a:xfrm>
            <a:off x="457200" y="3904488"/>
            <a:ext cx="64008" cy="173736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3"/>
          <p:cNvSpPr txBox="1"/>
          <p:nvPr/>
        </p:nvSpPr>
        <p:spPr>
          <a:xfrm>
            <a:off x="621792" y="4014216"/>
            <a:ext cx="669340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Why does this happen?</a:t>
            </a:r>
            <a:endParaRPr/>
          </a:p>
        </p:txBody>
      </p:sp>
      <p:sp>
        <p:nvSpPr>
          <p:cNvPr id="406" name="Google Shape;406;p13"/>
          <p:cNvSpPr txBox="1"/>
          <p:nvPr/>
        </p:nvSpPr>
        <p:spPr>
          <a:xfrm>
            <a:off x="621792" y="4379976"/>
            <a:ext cx="6693408" cy="11704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The retrieved chunk may not contain the exact figure — the value may span a table row that was split during chunking, or the same metric appears rounded differently across documents. The LLM interpolates from nearby figures. Even a 1–2 pp margin error can flip an analyst's recommendation.</a:t>
            </a:r>
            <a:endParaRPr/>
          </a:p>
        </p:txBody>
      </p:sp>
      <p:sp>
        <p:nvSpPr>
          <p:cNvPr id="407" name="Google Shape;407;p13"/>
          <p:cNvSpPr/>
          <p:nvPr/>
        </p:nvSpPr>
        <p:spPr>
          <a:xfrm>
            <a:off x="7726680" y="1188720"/>
            <a:ext cx="4005072" cy="621792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00704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3"/>
          <p:cNvSpPr/>
          <p:nvPr/>
        </p:nvSpPr>
        <p:spPr>
          <a:xfrm>
            <a:off x="7726680" y="1188720"/>
            <a:ext cx="64008" cy="621792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3"/>
          <p:cNvSpPr txBox="1"/>
          <p:nvPr/>
        </p:nvSpPr>
        <p:spPr>
          <a:xfrm>
            <a:off x="7909549" y="1335025"/>
            <a:ext cx="3933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Our Solution: Fact Database / N</a:t>
            </a:r>
            <a:r>
              <a:rPr b="1" lang="en-US" sz="1300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umeric Fidelity Layer</a:t>
            </a:r>
            <a:endParaRPr/>
          </a:p>
        </p:txBody>
      </p:sp>
      <p:sp>
        <p:nvSpPr>
          <p:cNvPr id="410" name="Google Shape;410;p13"/>
          <p:cNvSpPr/>
          <p:nvPr/>
        </p:nvSpPr>
        <p:spPr>
          <a:xfrm>
            <a:off x="7726680" y="1938528"/>
            <a:ext cx="4005072" cy="1901952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3"/>
          <p:cNvSpPr txBox="1"/>
          <p:nvPr/>
        </p:nvSpPr>
        <p:spPr>
          <a:xfrm>
            <a:off x="7863840" y="2048256"/>
            <a:ext cx="373075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Route numeric queries to the Fact DB:</a:t>
            </a:r>
            <a:endParaRPr/>
          </a:p>
        </p:txBody>
      </p:sp>
      <p:sp>
        <p:nvSpPr>
          <p:cNvPr id="412" name="Google Shape;412;p13"/>
          <p:cNvSpPr txBox="1"/>
          <p:nvPr/>
        </p:nvSpPr>
        <p:spPr>
          <a:xfrm>
            <a:off x="7863840" y="2505456"/>
            <a:ext cx="37307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① LLM generates SQL from the question</a:t>
            </a:r>
            <a:endParaRPr/>
          </a:p>
        </p:txBody>
      </p:sp>
      <p:sp>
        <p:nvSpPr>
          <p:cNvPr id="413" name="Google Shape;413;p13"/>
          <p:cNvSpPr txBox="1"/>
          <p:nvPr/>
        </p:nvSpPr>
        <p:spPr>
          <a:xfrm>
            <a:off x="7863840" y="2907792"/>
            <a:ext cx="37307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② SQLite executes on 2,551 stored rows</a:t>
            </a:r>
            <a:endParaRPr/>
          </a:p>
        </p:txBody>
      </p:sp>
      <p:sp>
        <p:nvSpPr>
          <p:cNvPr id="414" name="Google Shape;414;p13"/>
          <p:cNvSpPr txBox="1"/>
          <p:nvPr/>
        </p:nvSpPr>
        <p:spPr>
          <a:xfrm>
            <a:off x="7863840" y="3310128"/>
            <a:ext cx="37307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③ Exact value returned — no generation</a:t>
            </a:r>
            <a:endParaRPr/>
          </a:p>
        </p:txBody>
      </p:sp>
      <p:sp>
        <p:nvSpPr>
          <p:cNvPr id="415" name="Google Shape;415;p13"/>
          <p:cNvSpPr/>
          <p:nvPr/>
        </p:nvSpPr>
        <p:spPr>
          <a:xfrm>
            <a:off x="7726680" y="3968496"/>
            <a:ext cx="4005072" cy="1673352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3"/>
          <p:cNvSpPr/>
          <p:nvPr/>
        </p:nvSpPr>
        <p:spPr>
          <a:xfrm>
            <a:off x="7726680" y="3968496"/>
            <a:ext cx="4005072" cy="36576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3"/>
          <p:cNvSpPr txBox="1"/>
          <p:nvPr/>
        </p:nvSpPr>
        <p:spPr>
          <a:xfrm>
            <a:off x="7818120" y="4041648"/>
            <a:ext cx="3822192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4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sp>
        <p:nvSpPr>
          <p:cNvPr id="418" name="Google Shape;418;p13"/>
          <p:cNvSpPr txBox="1"/>
          <p:nvPr/>
        </p:nvSpPr>
        <p:spPr>
          <a:xfrm>
            <a:off x="7818120" y="5065776"/>
            <a:ext cx="382219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numeric hallucinations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on Fact DB path queries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4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4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4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How FinQuery Works End-to-End</a:t>
            </a:r>
            <a:endParaRPr/>
          </a:p>
        </p:txBody>
      </p:sp>
      <p:sp>
        <p:nvSpPr>
          <p:cNvPr id="426" name="Google Shape;426;p14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LLM-based router directs each query to the right retrieval path</a:t>
            </a:r>
            <a:endParaRPr/>
          </a:p>
        </p:txBody>
      </p:sp>
      <p:sp>
        <p:nvSpPr>
          <p:cNvPr id="427" name="Google Shape;427;p14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  <p:pic>
        <p:nvPicPr>
          <p:cNvPr descr="pipeline.png" id="428" name="Google Shape;42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097280"/>
            <a:ext cx="11274552" cy="3291840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14"/>
          <p:cNvSpPr/>
          <p:nvPr/>
        </p:nvSpPr>
        <p:spPr>
          <a:xfrm>
            <a:off x="457200" y="4480560"/>
            <a:ext cx="3636264" cy="1664208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4"/>
          <p:cNvSpPr/>
          <p:nvPr/>
        </p:nvSpPr>
        <p:spPr>
          <a:xfrm>
            <a:off x="457200" y="4480560"/>
            <a:ext cx="3636264" cy="4572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4"/>
          <p:cNvSpPr txBox="1"/>
          <p:nvPr/>
        </p:nvSpPr>
        <p:spPr>
          <a:xfrm>
            <a:off x="594360" y="4590288"/>
            <a:ext cx="33619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Query Router</a:t>
            </a:r>
            <a:endParaRPr/>
          </a:p>
        </p:txBody>
      </p:sp>
      <p:sp>
        <p:nvSpPr>
          <p:cNvPr id="432" name="Google Shape;432;p14"/>
          <p:cNvSpPr txBox="1"/>
          <p:nvPr/>
        </p:nvSpPr>
        <p:spPr>
          <a:xfrm>
            <a:off x="594360" y="5047488"/>
            <a:ext cx="336194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gpt-4o-mini · temperature=0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~95% routing accuracy · ~0.75 s</a:t>
            </a:r>
            <a:endParaRPr/>
          </a:p>
        </p:txBody>
      </p:sp>
      <p:sp>
        <p:nvSpPr>
          <p:cNvPr id="433" name="Google Shape;433;p14"/>
          <p:cNvSpPr/>
          <p:nvPr/>
        </p:nvSpPr>
        <p:spPr>
          <a:xfrm>
            <a:off x="4276344" y="4480560"/>
            <a:ext cx="3636264" cy="1664208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4"/>
          <p:cNvSpPr/>
          <p:nvPr/>
        </p:nvSpPr>
        <p:spPr>
          <a:xfrm>
            <a:off x="4276344" y="4480560"/>
            <a:ext cx="3636264" cy="4572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4"/>
          <p:cNvSpPr txBox="1"/>
          <p:nvPr/>
        </p:nvSpPr>
        <p:spPr>
          <a:xfrm>
            <a:off x="4413504" y="4590288"/>
            <a:ext cx="33619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FACT_DB path</a:t>
            </a:r>
            <a:endParaRPr/>
          </a:p>
        </p:txBody>
      </p:sp>
      <p:sp>
        <p:nvSpPr>
          <p:cNvPr id="436" name="Google Shape;436;p14"/>
          <p:cNvSpPr txBox="1"/>
          <p:nvPr/>
        </p:nvSpPr>
        <p:spPr>
          <a:xfrm>
            <a:off x="4413504" y="5047488"/>
            <a:ext cx="336194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2,551 rows · 7 metrics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Q1 FY25–Q4 FY26 · Infosys IR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Zero hallucination on numbers</a:t>
            </a:r>
            <a:endParaRPr/>
          </a:p>
        </p:txBody>
      </p:sp>
      <p:sp>
        <p:nvSpPr>
          <p:cNvPr id="437" name="Google Shape;437;p14"/>
          <p:cNvSpPr/>
          <p:nvPr/>
        </p:nvSpPr>
        <p:spPr>
          <a:xfrm>
            <a:off x="8095488" y="4480560"/>
            <a:ext cx="3636264" cy="1664208"/>
          </a:xfrm>
          <a:prstGeom prst="rect">
            <a:avLst/>
          </a:prstGeom>
          <a:solidFill>
            <a:srgbClr val="FEF3D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4"/>
          <p:cNvSpPr/>
          <p:nvPr/>
        </p:nvSpPr>
        <p:spPr>
          <a:xfrm>
            <a:off x="8095488" y="4480560"/>
            <a:ext cx="3636264" cy="45720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4"/>
          <p:cNvSpPr txBox="1"/>
          <p:nvPr/>
        </p:nvSpPr>
        <p:spPr>
          <a:xfrm>
            <a:off x="8232648" y="4590288"/>
            <a:ext cx="33619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VECTOR path</a:t>
            </a:r>
            <a:endParaRPr/>
          </a:p>
        </p:txBody>
      </p:sp>
      <p:sp>
        <p:nvSpPr>
          <p:cNvPr id="440" name="Google Shape;440;p14"/>
          <p:cNvSpPr txBox="1"/>
          <p:nvPr/>
        </p:nvSpPr>
        <p:spPr>
          <a:xfrm>
            <a:off x="8232648" y="5047488"/>
            <a:ext cx="336194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Hybrid RRF retrieval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top-3 chunks → gpt-4o-mini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Qualitative &amp; explanatory Q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5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5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5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Final Answer Quality — RAGAS Evaluation</a:t>
            </a:r>
            <a:endParaRPr/>
          </a:p>
        </p:txBody>
      </p:sp>
      <p:sp>
        <p:nvSpPr>
          <p:cNvPr id="448" name="Google Shape;448;p15"/>
          <p:cNvSpPr txBox="1"/>
          <p:nvPr/>
        </p:nvSpPr>
        <p:spPr>
          <a:xfrm>
            <a:off x="457200" y="658368"/>
            <a:ext cx="9628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Pipeline A (vector RAG path) · 50 questions · gpt-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5.6-luna</a:t>
            </a:r>
            <a:endParaRPr/>
          </a:p>
        </p:txBody>
      </p:sp>
      <p:sp>
        <p:nvSpPr>
          <p:cNvPr id="449" name="Google Shape;449;p15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pic>
        <p:nvPicPr>
          <p:cNvPr descr="ragas.png" id="450" name="Google Shape;45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43000"/>
            <a:ext cx="7223760" cy="3749039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15"/>
          <p:cNvSpPr/>
          <p:nvPr/>
        </p:nvSpPr>
        <p:spPr>
          <a:xfrm>
            <a:off x="7863840" y="1143000"/>
            <a:ext cx="4005072" cy="11430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5"/>
          <p:cNvSpPr/>
          <p:nvPr/>
        </p:nvSpPr>
        <p:spPr>
          <a:xfrm>
            <a:off x="7863840" y="1143000"/>
            <a:ext cx="45720" cy="114300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5"/>
          <p:cNvSpPr txBox="1"/>
          <p:nvPr/>
        </p:nvSpPr>
        <p:spPr>
          <a:xfrm>
            <a:off x="8019288" y="1234440"/>
            <a:ext cx="375818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Context Precision</a:t>
            </a:r>
            <a:endParaRPr/>
          </a:p>
        </p:txBody>
      </p:sp>
      <p:sp>
        <p:nvSpPr>
          <p:cNvPr id="454" name="Google Shape;454;p15"/>
          <p:cNvSpPr txBox="1"/>
          <p:nvPr/>
        </p:nvSpPr>
        <p:spPr>
          <a:xfrm>
            <a:off x="8019288" y="1581912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0.968</a:t>
            </a:r>
            <a:endParaRPr/>
          </a:p>
        </p:txBody>
      </p:sp>
      <p:sp>
        <p:nvSpPr>
          <p:cNvPr id="455" name="Google Shape;455;p15"/>
          <p:cNvSpPr txBox="1"/>
          <p:nvPr/>
        </p:nvSpPr>
        <p:spPr>
          <a:xfrm>
            <a:off x="9281160" y="1572768"/>
            <a:ext cx="24505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Retrieved chunks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are highly relevant</a:t>
            </a:r>
            <a:endParaRPr/>
          </a:p>
        </p:txBody>
      </p:sp>
      <p:sp>
        <p:nvSpPr>
          <p:cNvPr id="456" name="Google Shape;456;p15"/>
          <p:cNvSpPr/>
          <p:nvPr/>
        </p:nvSpPr>
        <p:spPr>
          <a:xfrm>
            <a:off x="7863840" y="2331720"/>
            <a:ext cx="4005072" cy="11430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5"/>
          <p:cNvSpPr/>
          <p:nvPr/>
        </p:nvSpPr>
        <p:spPr>
          <a:xfrm>
            <a:off x="7863840" y="2331720"/>
            <a:ext cx="45720" cy="1143000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5"/>
          <p:cNvSpPr txBox="1"/>
          <p:nvPr/>
        </p:nvSpPr>
        <p:spPr>
          <a:xfrm>
            <a:off x="8019288" y="2423160"/>
            <a:ext cx="375818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85ABC"/>
                </a:solidFill>
                <a:latin typeface="Calibri"/>
                <a:ea typeface="Calibri"/>
                <a:cs typeface="Calibri"/>
                <a:sym typeface="Calibri"/>
              </a:rPr>
              <a:t>Context Recall</a:t>
            </a:r>
            <a:endParaRPr/>
          </a:p>
        </p:txBody>
      </p:sp>
      <p:sp>
        <p:nvSpPr>
          <p:cNvPr id="459" name="Google Shape;459;p15"/>
          <p:cNvSpPr txBox="1"/>
          <p:nvPr/>
        </p:nvSpPr>
        <p:spPr>
          <a:xfrm>
            <a:off x="8019288" y="2770632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85ABC"/>
                </a:solidFill>
                <a:latin typeface="Calibri"/>
                <a:ea typeface="Calibri"/>
                <a:cs typeface="Calibri"/>
                <a:sym typeface="Calibri"/>
              </a:rPr>
              <a:t>0.873</a:t>
            </a:r>
            <a:endParaRPr/>
          </a:p>
        </p:txBody>
      </p:sp>
      <p:sp>
        <p:nvSpPr>
          <p:cNvPr id="460" name="Google Shape;460;p15"/>
          <p:cNvSpPr txBox="1"/>
          <p:nvPr/>
        </p:nvSpPr>
        <p:spPr>
          <a:xfrm>
            <a:off x="9281160" y="2761488"/>
            <a:ext cx="24505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Needed information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found in context</a:t>
            </a:r>
            <a:endParaRPr/>
          </a:p>
        </p:txBody>
      </p:sp>
      <p:sp>
        <p:nvSpPr>
          <p:cNvPr id="461" name="Google Shape;461;p15"/>
          <p:cNvSpPr/>
          <p:nvPr/>
        </p:nvSpPr>
        <p:spPr>
          <a:xfrm>
            <a:off x="7863840" y="3520440"/>
            <a:ext cx="4005072" cy="11430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5"/>
          <p:cNvSpPr/>
          <p:nvPr/>
        </p:nvSpPr>
        <p:spPr>
          <a:xfrm>
            <a:off x="7863840" y="3520440"/>
            <a:ext cx="45720" cy="114300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5"/>
          <p:cNvSpPr txBox="1"/>
          <p:nvPr/>
        </p:nvSpPr>
        <p:spPr>
          <a:xfrm>
            <a:off x="8019288" y="3611880"/>
            <a:ext cx="375818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Faithfulness</a:t>
            </a:r>
            <a:endParaRPr/>
          </a:p>
        </p:txBody>
      </p:sp>
      <p:sp>
        <p:nvSpPr>
          <p:cNvPr id="464" name="Google Shape;464;p15"/>
          <p:cNvSpPr txBox="1"/>
          <p:nvPr/>
        </p:nvSpPr>
        <p:spPr>
          <a:xfrm>
            <a:off x="8019288" y="3959352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0.893</a:t>
            </a:r>
            <a:endParaRPr/>
          </a:p>
        </p:txBody>
      </p:sp>
      <p:sp>
        <p:nvSpPr>
          <p:cNvPr id="465" name="Google Shape;465;p15"/>
          <p:cNvSpPr txBox="1"/>
          <p:nvPr/>
        </p:nvSpPr>
        <p:spPr>
          <a:xfrm>
            <a:off x="9281160" y="3950208"/>
            <a:ext cx="24505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Answer grounded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in retrieved text</a:t>
            </a:r>
            <a:endParaRPr/>
          </a:p>
        </p:txBody>
      </p:sp>
      <p:sp>
        <p:nvSpPr>
          <p:cNvPr id="466" name="Google Shape;466;p15"/>
          <p:cNvSpPr/>
          <p:nvPr/>
        </p:nvSpPr>
        <p:spPr>
          <a:xfrm>
            <a:off x="7863840" y="4709160"/>
            <a:ext cx="4005072" cy="11430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5"/>
          <p:cNvSpPr/>
          <p:nvPr/>
        </p:nvSpPr>
        <p:spPr>
          <a:xfrm>
            <a:off x="7863840" y="4709160"/>
            <a:ext cx="45720" cy="1143000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5"/>
          <p:cNvSpPr txBox="1"/>
          <p:nvPr/>
        </p:nvSpPr>
        <p:spPr>
          <a:xfrm>
            <a:off x="8019288" y="4800600"/>
            <a:ext cx="375818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Answer Relevancy</a:t>
            </a:r>
            <a:endParaRPr/>
          </a:p>
        </p:txBody>
      </p:sp>
      <p:sp>
        <p:nvSpPr>
          <p:cNvPr id="469" name="Google Shape;469;p15"/>
          <p:cNvSpPr txBox="1"/>
          <p:nvPr/>
        </p:nvSpPr>
        <p:spPr>
          <a:xfrm>
            <a:off x="8019288" y="5148072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0.844</a:t>
            </a:r>
            <a:endParaRPr/>
          </a:p>
        </p:txBody>
      </p:sp>
      <p:sp>
        <p:nvSpPr>
          <p:cNvPr id="470" name="Google Shape;470;p15"/>
          <p:cNvSpPr txBox="1"/>
          <p:nvPr/>
        </p:nvSpPr>
        <p:spPr>
          <a:xfrm>
            <a:off x="9281160" y="5138928"/>
            <a:ext cx="24505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Answer directly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addresses question</a:t>
            </a:r>
            <a:endParaRPr/>
          </a:p>
        </p:txBody>
      </p:sp>
      <p:sp>
        <p:nvSpPr>
          <p:cNvPr id="471" name="Google Shape;471;p15"/>
          <p:cNvSpPr txBox="1"/>
          <p:nvPr/>
        </p:nvSpPr>
        <p:spPr>
          <a:xfrm>
            <a:off x="457200" y="5029199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All 4 metrics exceed 0.84 — strong, verifiable answer quality.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16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6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6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 at a Glance</a:t>
            </a:r>
            <a:endParaRPr/>
          </a:p>
        </p:txBody>
      </p:sp>
      <p:sp>
        <p:nvSpPr>
          <p:cNvPr id="479" name="Google Shape;479;p16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Final production system — Hybrid RRF + Fact DB</a:t>
            </a:r>
            <a:endParaRPr/>
          </a:p>
        </p:txBody>
      </p:sp>
      <p:sp>
        <p:nvSpPr>
          <p:cNvPr id="480" name="Google Shape;480;p16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  <p:sp>
        <p:nvSpPr>
          <p:cNvPr id="481" name="Google Shape;481;p16"/>
          <p:cNvSpPr/>
          <p:nvPr/>
        </p:nvSpPr>
        <p:spPr>
          <a:xfrm>
            <a:off x="457200" y="1188720"/>
            <a:ext cx="2606040" cy="274320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6"/>
          <p:cNvSpPr/>
          <p:nvPr/>
        </p:nvSpPr>
        <p:spPr>
          <a:xfrm>
            <a:off x="457200" y="1188720"/>
            <a:ext cx="2606040" cy="4572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6"/>
          <p:cNvSpPr txBox="1"/>
          <p:nvPr/>
        </p:nvSpPr>
        <p:spPr>
          <a:xfrm>
            <a:off x="594360" y="1444752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76%</a:t>
            </a:r>
            <a:endParaRPr/>
          </a:p>
        </p:txBody>
      </p:sp>
      <p:sp>
        <p:nvSpPr>
          <p:cNvPr id="484" name="Google Shape;484;p16"/>
          <p:cNvSpPr txBox="1"/>
          <p:nvPr/>
        </p:nvSpPr>
        <p:spPr>
          <a:xfrm>
            <a:off x="594360" y="2542032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Recall@3</a:t>
            </a:r>
            <a:endParaRPr/>
          </a:p>
        </p:txBody>
      </p:sp>
      <p:sp>
        <p:nvSpPr>
          <p:cNvPr id="485" name="Google Shape;485;p16"/>
          <p:cNvSpPr/>
          <p:nvPr/>
        </p:nvSpPr>
        <p:spPr>
          <a:xfrm>
            <a:off x="960120" y="3017520"/>
            <a:ext cx="1600200" cy="12801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6"/>
          <p:cNvSpPr txBox="1"/>
          <p:nvPr/>
        </p:nvSpPr>
        <p:spPr>
          <a:xfrm>
            <a:off x="594360" y="3127248"/>
            <a:ext cx="23317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Top-3 retrieval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endParaRPr/>
          </a:p>
        </p:txBody>
      </p:sp>
      <p:sp>
        <p:nvSpPr>
          <p:cNvPr id="487" name="Google Shape;487;p16"/>
          <p:cNvSpPr/>
          <p:nvPr/>
        </p:nvSpPr>
        <p:spPr>
          <a:xfrm>
            <a:off x="3246120" y="1188720"/>
            <a:ext cx="2606040" cy="2743200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6"/>
          <p:cNvSpPr/>
          <p:nvPr/>
        </p:nvSpPr>
        <p:spPr>
          <a:xfrm>
            <a:off x="3246120" y="1188720"/>
            <a:ext cx="2606040" cy="4572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6"/>
          <p:cNvSpPr txBox="1"/>
          <p:nvPr/>
        </p:nvSpPr>
        <p:spPr>
          <a:xfrm>
            <a:off x="3383280" y="1444752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88%</a:t>
            </a:r>
            <a:endParaRPr/>
          </a:p>
        </p:txBody>
      </p:sp>
      <p:sp>
        <p:nvSpPr>
          <p:cNvPr id="490" name="Google Shape;490;p16"/>
          <p:cNvSpPr txBox="1"/>
          <p:nvPr/>
        </p:nvSpPr>
        <p:spPr>
          <a:xfrm>
            <a:off x="3383280" y="2542032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Recall@7</a:t>
            </a:r>
            <a:endParaRPr/>
          </a:p>
        </p:txBody>
      </p:sp>
      <p:sp>
        <p:nvSpPr>
          <p:cNvPr id="491" name="Google Shape;491;p16"/>
          <p:cNvSpPr/>
          <p:nvPr/>
        </p:nvSpPr>
        <p:spPr>
          <a:xfrm>
            <a:off x="3749040" y="3017520"/>
            <a:ext cx="1600200" cy="12801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6"/>
          <p:cNvSpPr txBox="1"/>
          <p:nvPr/>
        </p:nvSpPr>
        <p:spPr>
          <a:xfrm>
            <a:off x="3383280" y="3127248"/>
            <a:ext cx="23317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Near-perfect coverage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by rank 7</a:t>
            </a:r>
            <a:endParaRPr/>
          </a:p>
        </p:txBody>
      </p:sp>
      <p:sp>
        <p:nvSpPr>
          <p:cNvPr id="493" name="Google Shape;493;p16"/>
          <p:cNvSpPr/>
          <p:nvPr/>
        </p:nvSpPr>
        <p:spPr>
          <a:xfrm>
            <a:off x="6035040" y="1188720"/>
            <a:ext cx="2606040" cy="2743200"/>
          </a:xfrm>
          <a:prstGeom prst="rect">
            <a:avLst/>
          </a:prstGeom>
          <a:solidFill>
            <a:srgbClr val="FEF3D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6"/>
          <p:cNvSpPr/>
          <p:nvPr/>
        </p:nvSpPr>
        <p:spPr>
          <a:xfrm>
            <a:off x="6035040" y="1188720"/>
            <a:ext cx="2606040" cy="45720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6"/>
          <p:cNvSpPr txBox="1"/>
          <p:nvPr/>
        </p:nvSpPr>
        <p:spPr>
          <a:xfrm>
            <a:off x="6172200" y="1444752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0.56 s</a:t>
            </a:r>
            <a:endParaRPr/>
          </a:p>
        </p:txBody>
      </p:sp>
      <p:sp>
        <p:nvSpPr>
          <p:cNvPr id="496" name="Google Shape;496;p16"/>
          <p:cNvSpPr txBox="1"/>
          <p:nvPr/>
        </p:nvSpPr>
        <p:spPr>
          <a:xfrm>
            <a:off x="6172200" y="2542032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Retrieval Latency</a:t>
            </a:r>
            <a:endParaRPr/>
          </a:p>
        </p:txBody>
      </p:sp>
      <p:sp>
        <p:nvSpPr>
          <p:cNvPr id="497" name="Google Shape;497;p16"/>
          <p:cNvSpPr/>
          <p:nvPr/>
        </p:nvSpPr>
        <p:spPr>
          <a:xfrm>
            <a:off x="6537960" y="3017520"/>
            <a:ext cx="1600200" cy="12801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6"/>
          <p:cNvSpPr txBox="1"/>
          <p:nvPr/>
        </p:nvSpPr>
        <p:spPr>
          <a:xfrm>
            <a:off x="6172200" y="3127248"/>
            <a:ext cx="23317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Per question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13× faster vs Phase 1</a:t>
            </a:r>
            <a:endParaRPr/>
          </a:p>
        </p:txBody>
      </p:sp>
      <p:sp>
        <p:nvSpPr>
          <p:cNvPr id="499" name="Google Shape;499;p16"/>
          <p:cNvSpPr/>
          <p:nvPr/>
        </p:nvSpPr>
        <p:spPr>
          <a:xfrm>
            <a:off x="8823949" y="1188725"/>
            <a:ext cx="2907900" cy="274320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6"/>
          <p:cNvSpPr/>
          <p:nvPr/>
        </p:nvSpPr>
        <p:spPr>
          <a:xfrm>
            <a:off x="8823949" y="1188728"/>
            <a:ext cx="2907900" cy="4560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6"/>
          <p:cNvSpPr txBox="1"/>
          <p:nvPr/>
        </p:nvSpPr>
        <p:spPr>
          <a:xfrm>
            <a:off x="8961120" y="1444752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0.90</a:t>
            </a:r>
            <a:endParaRPr/>
          </a:p>
        </p:txBody>
      </p:sp>
      <p:sp>
        <p:nvSpPr>
          <p:cNvPr id="502" name="Google Shape;502;p16"/>
          <p:cNvSpPr txBox="1"/>
          <p:nvPr/>
        </p:nvSpPr>
        <p:spPr>
          <a:xfrm>
            <a:off x="8961120" y="2542032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Avg RAGAS Score</a:t>
            </a:r>
            <a:endParaRPr/>
          </a:p>
        </p:txBody>
      </p:sp>
      <p:sp>
        <p:nvSpPr>
          <p:cNvPr id="503" name="Google Shape;503;p16"/>
          <p:cNvSpPr/>
          <p:nvPr/>
        </p:nvSpPr>
        <p:spPr>
          <a:xfrm>
            <a:off x="9326880" y="3017520"/>
            <a:ext cx="1600200" cy="12801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6"/>
          <p:cNvSpPr txBox="1"/>
          <p:nvPr/>
        </p:nvSpPr>
        <p:spPr>
          <a:xfrm>
            <a:off x="8961120" y="3127248"/>
            <a:ext cx="23317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Across all 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RAGAS metrics</a:t>
            </a:r>
            <a:endParaRPr/>
          </a:p>
        </p:txBody>
      </p:sp>
      <p:sp>
        <p:nvSpPr>
          <p:cNvPr id="505" name="Google Shape;505;p16"/>
          <p:cNvSpPr/>
          <p:nvPr/>
        </p:nvSpPr>
        <p:spPr>
          <a:xfrm>
            <a:off x="457200" y="4160520"/>
            <a:ext cx="11274552" cy="1901952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6"/>
          <p:cNvSpPr txBox="1"/>
          <p:nvPr/>
        </p:nvSpPr>
        <p:spPr>
          <a:xfrm>
            <a:off x="594360" y="4434840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~95%</a:t>
            </a:r>
            <a:endParaRPr/>
          </a:p>
        </p:txBody>
      </p:sp>
      <p:sp>
        <p:nvSpPr>
          <p:cNvPr id="507" name="Google Shape;507;p16"/>
          <p:cNvSpPr txBox="1"/>
          <p:nvPr/>
        </p:nvSpPr>
        <p:spPr>
          <a:xfrm>
            <a:off x="594360" y="5184648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query routing accuracy</a:t>
            </a:r>
            <a:endParaRPr/>
          </a:p>
        </p:txBody>
      </p:sp>
      <p:sp>
        <p:nvSpPr>
          <p:cNvPr id="508" name="Google Shape;508;p16"/>
          <p:cNvSpPr/>
          <p:nvPr/>
        </p:nvSpPr>
        <p:spPr>
          <a:xfrm>
            <a:off x="3344418" y="4434840"/>
            <a:ext cx="16459" cy="135331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6"/>
          <p:cNvSpPr txBox="1"/>
          <p:nvPr/>
        </p:nvSpPr>
        <p:spPr>
          <a:xfrm>
            <a:off x="3435858" y="4434840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sp>
        <p:nvSpPr>
          <p:cNvPr id="510" name="Google Shape;510;p16"/>
          <p:cNvSpPr txBox="1"/>
          <p:nvPr/>
        </p:nvSpPr>
        <p:spPr>
          <a:xfrm>
            <a:off x="3435858" y="5184648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numeric hallucinations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(Fact DB path)</a:t>
            </a:r>
            <a:endParaRPr/>
          </a:p>
        </p:txBody>
      </p:sp>
      <p:sp>
        <p:nvSpPr>
          <p:cNvPr id="511" name="Google Shape;511;p16"/>
          <p:cNvSpPr/>
          <p:nvPr/>
        </p:nvSpPr>
        <p:spPr>
          <a:xfrm>
            <a:off x="6185916" y="4434840"/>
            <a:ext cx="16459" cy="135331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6"/>
          <p:cNvSpPr txBox="1"/>
          <p:nvPr/>
        </p:nvSpPr>
        <p:spPr>
          <a:xfrm>
            <a:off x="6277356" y="4434840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513" name="Google Shape;513;p16"/>
          <p:cNvSpPr txBox="1"/>
          <p:nvPr/>
        </p:nvSpPr>
        <p:spPr>
          <a:xfrm>
            <a:off x="6277356" y="5184648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retrieval strategies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compared</a:t>
            </a:r>
            <a:endParaRPr/>
          </a:p>
        </p:txBody>
      </p:sp>
      <p:sp>
        <p:nvSpPr>
          <p:cNvPr id="514" name="Google Shape;514;p16"/>
          <p:cNvSpPr/>
          <p:nvPr/>
        </p:nvSpPr>
        <p:spPr>
          <a:xfrm>
            <a:off x="9027414" y="4434840"/>
            <a:ext cx="16459" cy="135331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6"/>
          <p:cNvSpPr txBox="1"/>
          <p:nvPr/>
        </p:nvSpPr>
        <p:spPr>
          <a:xfrm>
            <a:off x="9118854" y="4434840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516" name="Google Shape;516;p16"/>
          <p:cNvSpPr txBox="1"/>
          <p:nvPr/>
        </p:nvSpPr>
        <p:spPr>
          <a:xfrm>
            <a:off x="9118854" y="5184648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source types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indexed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17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7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7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This Project Taught Us</a:t>
            </a:r>
            <a:endParaRPr/>
          </a:p>
        </p:txBody>
      </p:sp>
      <p:sp>
        <p:nvSpPr>
          <p:cNvPr id="524" name="Google Shape;524;p17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Three transferable lessons for production RAG systems</a:t>
            </a:r>
            <a:endParaRPr/>
          </a:p>
        </p:txBody>
      </p:sp>
      <p:sp>
        <p:nvSpPr>
          <p:cNvPr id="525" name="Google Shape;525;p17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526" name="Google Shape;526;p17"/>
          <p:cNvSpPr/>
          <p:nvPr/>
        </p:nvSpPr>
        <p:spPr>
          <a:xfrm>
            <a:off x="457200" y="1143000"/>
            <a:ext cx="11274552" cy="175564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7"/>
          <p:cNvSpPr/>
          <p:nvPr/>
        </p:nvSpPr>
        <p:spPr>
          <a:xfrm>
            <a:off x="457200" y="1143000"/>
            <a:ext cx="64008" cy="175564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7"/>
          <p:cNvSpPr txBox="1"/>
          <p:nvPr/>
        </p:nvSpPr>
        <p:spPr>
          <a:xfrm>
            <a:off x="640080" y="1252728"/>
            <a:ext cx="11000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Representation beats model size</a:t>
            </a:r>
            <a:endParaRPr/>
          </a:p>
        </p:txBody>
      </p:sp>
      <p:sp>
        <p:nvSpPr>
          <p:cNvPr id="529" name="Google Shape;529;p17"/>
          <p:cNvSpPr txBox="1"/>
          <p:nvPr/>
        </p:nvSpPr>
        <p:spPr>
          <a:xfrm>
            <a:off x="640080" y="1709928"/>
            <a:ext cx="11000232" cy="107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Embedding only the right signal (YAML metadata) outperformed expensive cross-encoder rerankers. A +34 pp recall gain came from a 10-line architectural change, not a larger or newer model. The lesson: what you embed matters more than how you score it.</a:t>
            </a:r>
            <a:endParaRPr/>
          </a:p>
        </p:txBody>
      </p:sp>
      <p:sp>
        <p:nvSpPr>
          <p:cNvPr id="530" name="Google Shape;530;p17"/>
          <p:cNvSpPr/>
          <p:nvPr/>
        </p:nvSpPr>
        <p:spPr>
          <a:xfrm>
            <a:off x="457200" y="3035808"/>
            <a:ext cx="11274552" cy="175564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7"/>
          <p:cNvSpPr/>
          <p:nvPr/>
        </p:nvSpPr>
        <p:spPr>
          <a:xfrm>
            <a:off x="457200" y="3035808"/>
            <a:ext cx="64008" cy="175564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7"/>
          <p:cNvSpPr txBox="1"/>
          <p:nvPr/>
        </p:nvSpPr>
        <p:spPr>
          <a:xfrm>
            <a:off x="640080" y="3145536"/>
            <a:ext cx="11000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Hallucination needs structural, not just prompt-level, solutions</a:t>
            </a:r>
            <a:endParaRPr/>
          </a:p>
        </p:txBody>
      </p:sp>
      <p:sp>
        <p:nvSpPr>
          <p:cNvPr id="533" name="Google Shape;533;p17"/>
          <p:cNvSpPr txBox="1"/>
          <p:nvPr/>
        </p:nvSpPr>
        <p:spPr>
          <a:xfrm>
            <a:off x="640080" y="3602736"/>
            <a:ext cx="11000232" cy="107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Routing numeric questions to an SQL database eliminates an entire class of errors that no amount of prompt engineering can reliably fix. The LLM writes SQL; the database returns the exact value. For financial systems, this boundary is non-negotiable.</a:t>
            </a:r>
            <a:endParaRPr/>
          </a:p>
        </p:txBody>
      </p:sp>
      <p:sp>
        <p:nvSpPr>
          <p:cNvPr id="534" name="Google Shape;534;p17"/>
          <p:cNvSpPr/>
          <p:nvPr/>
        </p:nvSpPr>
        <p:spPr>
          <a:xfrm>
            <a:off x="457200" y="4928616"/>
            <a:ext cx="11274552" cy="175564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7"/>
          <p:cNvSpPr/>
          <p:nvPr/>
        </p:nvSpPr>
        <p:spPr>
          <a:xfrm>
            <a:off x="457200" y="4928616"/>
            <a:ext cx="64008" cy="175564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7"/>
          <p:cNvSpPr txBox="1"/>
          <p:nvPr/>
        </p:nvSpPr>
        <p:spPr>
          <a:xfrm>
            <a:off x="640080" y="5038344"/>
            <a:ext cx="11000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Benchmark distribution matters as much as benchmark size</a:t>
            </a:r>
            <a:endParaRPr/>
          </a:p>
        </p:txBody>
      </p:sp>
      <p:sp>
        <p:nvSpPr>
          <p:cNvPr id="537" name="Google Shape;537;p17"/>
          <p:cNvSpPr txBox="1"/>
          <p:nvPr/>
        </p:nvSpPr>
        <p:spPr>
          <a:xfrm>
            <a:off x="640080" y="5495544"/>
            <a:ext cx="11000232" cy="107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Entity-heavy questions (proper nouns, quarter labels) behave very differently from general semantic queries. HyDE hurt recall here because the raw question was already the best query vector — the generated passage only added drift. Know your query distribution before choosing a retrieval strategy.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18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8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457200" y="1280160"/>
            <a:ext cx="11274552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/>
          </a:p>
        </p:txBody>
      </p:sp>
      <p:sp>
        <p:nvSpPr>
          <p:cNvPr id="545" name="Google Shape;545;p18"/>
          <p:cNvSpPr/>
          <p:nvPr/>
        </p:nvSpPr>
        <p:spPr>
          <a:xfrm>
            <a:off x="3200400" y="2606040"/>
            <a:ext cx="5788152" cy="22860"/>
          </a:xfrm>
          <a:prstGeom prst="rect">
            <a:avLst/>
          </a:prstGeom>
          <a:solidFill>
            <a:srgbClr val="4477AA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18"/>
          <p:cNvSpPr txBox="1"/>
          <p:nvPr/>
        </p:nvSpPr>
        <p:spPr>
          <a:xfrm>
            <a:off x="457200" y="2834640"/>
            <a:ext cx="1127455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8CCE8"/>
                </a:solidFill>
                <a:latin typeface="Calibri"/>
                <a:ea typeface="Calibri"/>
                <a:cs typeface="Calibri"/>
                <a:sym typeface="Calibri"/>
              </a:rPr>
              <a:t>FinQuery — AI-Powered Financial Intelligence System</a:t>
            </a:r>
            <a:endParaRPr/>
          </a:p>
        </p:txBody>
      </p:sp>
      <p:sp>
        <p:nvSpPr>
          <p:cNvPr id="547" name="Google Shape;547;p18"/>
          <p:cNvSpPr txBox="1"/>
          <p:nvPr/>
        </p:nvSpPr>
        <p:spPr>
          <a:xfrm>
            <a:off x="457200" y="3456432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From 40% → 88% retrieval recall  ·  Zero hallucinations on numbers  ·  0.56 s latency</a:t>
            </a:r>
            <a:endParaRPr/>
          </a:p>
        </p:txBody>
      </p:sp>
      <p:sp>
        <p:nvSpPr>
          <p:cNvPr id="548" name="Google Shape;548;p18"/>
          <p:cNvSpPr txBox="1"/>
          <p:nvPr/>
        </p:nvSpPr>
        <p:spPr>
          <a:xfrm>
            <a:off x="457200" y="5257800"/>
            <a:ext cx="11274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7088A0"/>
                </a:solidFill>
                <a:latin typeface="Calibri"/>
                <a:ea typeface="Calibri"/>
                <a:cs typeface="Calibri"/>
                <a:sym typeface="Calibri"/>
              </a:rPr>
              <a:t>DS &amp; AI Lab  ·  Group 6  ·  </a:t>
            </a:r>
            <a:r>
              <a:rPr lang="en-US" sz="1200">
                <a:solidFill>
                  <a:srgbClr val="7088A0"/>
                </a:solidFill>
                <a:latin typeface="Calibri"/>
                <a:ea typeface="Calibri"/>
                <a:cs typeface="Calibri"/>
                <a:sym typeface="Calibri"/>
              </a:rPr>
              <a:t>T2 2026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