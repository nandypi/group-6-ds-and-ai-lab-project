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82296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FinQuery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D4FF"/>
                </a:solidFill>
                <a:latin typeface="Calibri"/>
              </a:rPr>
              <a:t>AI-Powered Financial Document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2A8"/>
                </a:solidFill>
                <a:latin typeface="Calibri"/>
              </a:rPr>
              <a:t>End-to-end RAG pipeline for Infosys financial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023360"/>
            <a:ext cx="2011680" cy="8229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Calibri"/>
              </a:rPr>
              <a:t>50
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023360"/>
            <a:ext cx="2011680" cy="8229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96"/>
                </a:solidFill>
                <a:latin typeface="Calibri"/>
              </a:rPr>
              <a:t>88%
Recall@7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023360"/>
            <a:ext cx="2011680" cy="8229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97763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300"/>
                </a:solidFill>
                <a:latin typeface="Calibri"/>
              </a:rPr>
              <a:t>0.558s
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A8"/>
                </a:solidFill>
                <a:latin typeface="Calibri"/>
              </a:rPr>
              <a:t>DS &amp; AI Lab — Group 6  |  T2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Is Financial Q&amp;A So Hard?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143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A8"/>
                </a:solidFill>
                <a:latin typeface="Calibri"/>
              </a:rPr>
              <a:t>Billions in financial data — locked in documents, inaccessible to quick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828800"/>
            <a:ext cx="3200400" cy="310896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828800"/>
            <a:ext cx="3200400" cy="109728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7,000+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  <a:latin typeface="Calibri"/>
              </a:rPr>
              <a:t>NSE filings, quarterly reports, earnings call transcripts — spread across hundreds of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28800"/>
            <a:ext cx="3200400" cy="310896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200400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Precision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  <a:latin typeface="Calibri"/>
              </a:rPr>
              <a:t>"$4.8B revenue" vs "$5.1B revenue" — LLMs embed these as nearly identical, but they mean different quarters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828800"/>
            <a:ext cx="3200400" cy="310896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828800"/>
            <a:ext cx="3200400" cy="10972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Hallucination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06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  <a:latin typeface="Calibri"/>
              </a:rPr>
              <a:t>Ask an LLM for Q2 FY26 operating margin — it might say "approximately 20%" when the answer is exactly 21.0%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257800"/>
            <a:ext cx="121889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21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9122B"/>
                </a:solidFill>
                <a:latin typeface="Calibri"/>
              </a:rPr>
              <a:t>FinQuery solves all three: precise retrieval + exact numeric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Data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~7,300 documents spanning Infosys financials — FY25 through FY26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194560" cy="320040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2194560" cy="12801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A4A"/>
                </a:solidFill>
                <a:latin typeface="Calibri"/>
              </a:rPr>
              <a:t>~7,000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B"/>
                </a:solidFill>
                <a:latin typeface="Calibri"/>
              </a:rPr>
              <a:t>NSE Annual
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8"/>
                </a:solidFill>
                <a:latin typeface="Calibri"/>
              </a:rPr>
              <a:t>Multi-year tables,
segment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508760"/>
            <a:ext cx="2194560" cy="3200400"/>
          </a:xfrm>
          <a:prstGeom prst="rect">
            <a:avLst/>
          </a:prstGeom>
          <a:solidFill>
            <a:srgbClr val="ED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508760"/>
            <a:ext cx="2194560" cy="12801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4DFF"/>
                </a:solidFill>
                <a:latin typeface="Calibri"/>
              </a:rPr>
              <a:t>~270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B"/>
                </a:solidFill>
                <a:latin typeface="Calibri"/>
              </a:rPr>
              <a:t>Infosys
IR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8"/>
                </a:solidFill>
                <a:latin typeface="Calibri"/>
              </a:rPr>
              <a:t>Fact sheets, press
releases, earnings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508760"/>
            <a:ext cx="2194560" cy="3200400"/>
          </a:xfrm>
          <a:prstGeom prst="rect">
            <a:avLst/>
          </a:prstGeom>
          <a:solidFill>
            <a:srgbClr val="E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508760"/>
            <a:ext cx="2194560" cy="12801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96"/>
                </a:solidFill>
                <a:latin typeface="Calibri"/>
              </a:rPr>
              <a:t>12 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B"/>
                </a:solidFill>
                <a:latin typeface="Calibri"/>
              </a:rPr>
              <a:t>Yahoo
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8"/>
                </a:solidFill>
                <a:latin typeface="Calibri"/>
              </a:rPr>
              <a:t>News, analyst
commentary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508760"/>
            <a:ext cx="2194560" cy="32004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508760"/>
            <a:ext cx="2194560" cy="12801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  <a:latin typeface="Calibri"/>
              </a:rPr>
              <a:t>15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B"/>
                </a:solidFill>
                <a:latin typeface="Calibri"/>
              </a:rPr>
              <a:t>Trendlyne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8"/>
                </a:solidFill>
                <a:latin typeface="Calibri"/>
              </a:rPr>
              <a:t>Market data,
financial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508760"/>
            <a:ext cx="2194560" cy="32004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508760"/>
            <a:ext cx="219456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737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Part of 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4A6B"/>
                </a:solidFill>
                <a:latin typeface="Calibri"/>
              </a:rPr>
              <a:t>Earnings
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8"/>
                </a:solidFill>
                <a:latin typeface="Calibri"/>
              </a:rPr>
              <a:t>Mgmt commentary,
Q&amp;A transcripts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074920"/>
            <a:ext cx="5303520" cy="640080"/>
          </a:xfrm>
          <a:prstGeom prst="rect">
            <a:avLst/>
          </a:prstGeom>
          <a:solidFill>
            <a:srgbClr val="E8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120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A4A"/>
                </a:solidFill>
                <a:latin typeface="Calibri"/>
              </a:rPr>
              <a:t>Coverage: Q1 FY25 — Q4 FY26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074920"/>
            <a:ext cx="5303520" cy="640080"/>
          </a:xfrm>
          <a:prstGeom prst="rect">
            <a:avLst/>
          </a:prstGeom>
          <a:solidFill>
            <a:srgbClr val="E8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120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A4A"/>
                </a:solidFill>
                <a:latin typeface="Calibri"/>
              </a:rPr>
              <a:t>Benchmark: 50 questions, 5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From Raw Documents to Searchable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4-stage pipeline: Collect → Extract → Embed → Retrieve</a:t>
            </a:r>
          </a:p>
        </p:txBody>
      </p:sp>
      <p:pic>
        <p:nvPicPr>
          <p:cNvPr id="7" name="Picture 6" descr="DSAI Lab Project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76072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" y="1554480"/>
            <a:ext cx="502920" cy="5029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4A6B"/>
                </a:solidFill>
                <a:latin typeface="Calibri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8"/>
                </a:solidFill>
                <a:latin typeface="Calibri"/>
              </a:rPr>
              <a:t>PDFs, Markdown, CSV
from 4 data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2057400"/>
            <a:ext cx="54864" cy="73152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4A6B"/>
                </a:solidFill>
                <a:latin typeface="Calibri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8"/>
                </a:solidFill>
                <a:latin typeface="Calibri"/>
              </a:rPr>
              <a:t>LLM-powered semantic extraction
YAML metadata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6" y="3337560"/>
            <a:ext cx="54864" cy="73152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69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4A6B"/>
                </a:solidFill>
                <a:latin typeface="Calibri"/>
              </a:rP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348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8"/>
                </a:solidFill>
                <a:latin typeface="Calibri"/>
              </a:rPr>
              <a:t>Only YAML front matter → ChromaDB
13× faster than full-text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3856" y="4617720"/>
            <a:ext cx="54864" cy="73152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394959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492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4A6B"/>
                </a:solidFill>
                <a:latin typeface="Calibri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1499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8"/>
                </a:solidFill>
                <a:latin typeface="Calibri"/>
              </a:rPr>
              <a:t>Hybrid BM25 + Vector
via Reciprocal Rank 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We Measure: Recall@k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Our primary metric for retrieval quality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6858000" cy="3749039"/>
          </a:xfrm>
          <a:prstGeom prst="rect">
            <a:avLst/>
          </a:prstGeom>
          <a:solidFill>
            <a:srgbClr val="E8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6858000" cy="7315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  <a:latin typeface="Calibri"/>
              </a:rPr>
              <a:t>What is Recall@k?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6B"/>
                </a:solidFill>
                <a:latin typeface="Calibri"/>
              </a:rPr>
              <a:t>Recall@k = fraction of questions where the correct document appears in the top-k retrieved results
If the system retrieves 7 documents and the correct one is among them → Recall@7 = 1 for that question
We measure k = 3, k = 5, and k = 7
Higher k is easier  |  k = 3 is the strictest test
Overall Recall@k = (# questions with correct doc in top-k) / 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63040"/>
            <a:ext cx="44805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463040"/>
            <a:ext cx="448056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08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50-Question Benchmark Breakdown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65960"/>
            <a:ext cx="4480560" cy="42976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0116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0116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A4A"/>
                </a:solidFill>
                <a:latin typeface="Calibri"/>
              </a:rPr>
              <a:t>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395728"/>
            <a:ext cx="44805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4414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NSE ≤10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A4A"/>
                </a:solidFill>
                <a:latin typeface="Calibri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825496"/>
            <a:ext cx="4480560" cy="429768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871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NSE &gt;10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871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A4A"/>
                </a:solidFill>
                <a:latin typeface="Calibri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255263"/>
            <a:ext cx="44805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30098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Infosys IR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30098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A4A"/>
                </a:solidFill>
                <a:latin typeface="Calibr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685031"/>
            <a:ext cx="4480560" cy="429768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7307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Trendlyne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73075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A4A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114800"/>
            <a:ext cx="44805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4160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Yahoo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A4A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544568"/>
            <a:ext cx="4480560" cy="42976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45902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45902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A4A"/>
                </a:solidFill>
                <a:latin typeface="Calibri"/>
              </a:rPr>
              <a:t>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532120"/>
            <a:ext cx="1152144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5778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D4C00"/>
                </a:solidFill>
                <a:latin typeface="Calibri"/>
              </a:rPr>
              <a:t>Ground truth: each question has exactly one correct source document, identified manually by the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Phases of Experimentation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280160"/>
            <a:ext cx="3337560" cy="4754880"/>
          </a:xfrm>
          <a:prstGeom prst="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280160"/>
            <a:ext cx="3337560" cy="16459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351515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5087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252"/>
                </a:solidFill>
                <a:latin typeface="Calibri"/>
              </a:rPr>
              <a:t>PHASE 1 — FULL-TEXT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03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Embed entire document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Best: 58% Recall@3 (with slow BGE reranker)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747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8"/>
                </a:solidFill>
                <a:latin typeface="Calibri"/>
              </a:rPr>
              <a:t>Challenge: 4-minute latency, recall 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280160"/>
            <a:ext cx="3337560" cy="4754880"/>
          </a:xfrm>
          <a:prstGeom prst="rect">
            <a:avLst/>
          </a:prstGeom>
          <a:solidFill>
            <a:srgbClr val="18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1280160"/>
            <a:ext cx="3337560" cy="16459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2E1A35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5087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  <a:latin typeface="Calibri"/>
              </a:rPr>
              <a:t>PHASE 2 — METADATA BREAKTHROUGH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03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Embed only YAML structured headers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743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Best: 74% Recall@3 in 0.478s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747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8"/>
                </a:solidFill>
                <a:latin typeface="Calibri"/>
              </a:rPr>
              <a:t>Insight: structure &gt; raw 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280160"/>
            <a:ext cx="3337560" cy="4754880"/>
          </a:xfrm>
          <a:prstGeom prst="rect">
            <a:avLst/>
          </a:prstGeom>
          <a:solidFill>
            <a:srgbClr val="00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280160"/>
            <a:ext cx="3337560" cy="1645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9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253555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15087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96"/>
                </a:solidFill>
                <a:latin typeface="Calibri"/>
              </a:rPr>
              <a:t>PHASE 3 — HYBRID BM25 + RRF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39" y="2103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Keyword + semantic search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39" y="2743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Best: 88% Recall@7 in 0.558s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9" y="347472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2A8"/>
                </a:solidFill>
                <a:latin typeface="Calibri"/>
              </a:rPr>
              <a:t>Production choice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1 — Baselines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Full-text embedding: good start, but recall ceiling at 58% and extreme latency</a:t>
            </a:r>
          </a:p>
        </p:txBody>
      </p:sp>
      <p:pic>
        <p:nvPicPr>
          <p:cNvPr id="7" name="Picture 6" descr="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1323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463040"/>
            <a:ext cx="4480560" cy="493776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463040"/>
            <a:ext cx="4480560" cy="7315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/>
              </a:rPr>
              <a:t>Key Findings: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BGE reranker hits 58% R@3 but takes ~4 minutes per question — unusable in production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HyDE made things WORSE — queries already had the right keywords, expansion added noise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The bottleneck: embedding entire documents creates noisy, averaged vectors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8892A8"/>
                </a:solidFill>
                <a:latin typeface="Calibri"/>
              </a:rPr>
              <a:t>Full-text (no reranker): 40% R@3 at 6.3s — fast but low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Metadata Breakthrough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0C896"/>
                </a:solidFill>
                <a:latin typeface="Calibri"/>
              </a:rPr>
              <a:t>+34pp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Recall@3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2A8"/>
                </a:solidFill>
                <a:latin typeface="Calibri"/>
              </a:rPr>
              <a:t>(40% → 74%)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2834640" cy="256032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280160"/>
            <a:ext cx="2834640" cy="914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252"/>
                </a:solidFill>
                <a:latin typeface="Calibri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783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Full-text embedding
40% Recall@3
~6 seconds
Noisy body text drowns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834640" cy="2560320"/>
          </a:xfrm>
          <a:prstGeom prst="rect">
            <a:avLst/>
          </a:prstGeom>
          <a:solidFill>
            <a:srgbClr val="00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280160"/>
            <a:ext cx="283464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Calibri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83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YAML metadata only
74% Recall@3
0.478 seconds
Structured fields: pure signal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423160"/>
            <a:ext cx="2743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297680"/>
            <a:ext cx="10515600" cy="146304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297680"/>
            <a:ext cx="64008" cy="1463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0740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C518"/>
                </a:solidFill>
                <a:latin typeface="Calibri"/>
              </a:rPr>
              <a:t>"Embed only what matters — discard the noise. Structured YAML headers contain all the discriminating information about a document — quarter, metric, company — without the verbose body text that confuses the vector model."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3 — Hybrid BM25 + Reciprocal Rank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Keyword precision + semantic breadth: the best of both worlds</a:t>
            </a:r>
          </a:p>
        </p:txBody>
      </p:sp>
      <p:pic>
        <p:nvPicPr>
          <p:cNvPr id="7" name="Picture 6" descr="phas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1323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508760"/>
            <a:ext cx="4480560" cy="210312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508760"/>
            <a:ext cx="44805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39" y="161848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/>
              </a:rPr>
              <a:t>Why BM25?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2075688"/>
            <a:ext cx="4206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Exact token match: "Q3 FY26" scores only documents containing that string.
Vector models embed Q1 FY26 and Q3 FY26 as similar — fatal for date-sensitive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840480"/>
            <a:ext cx="4480560" cy="210312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840480"/>
            <a:ext cx="448056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39" y="39502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/>
              </a:rPr>
              <a:t>Why no CE reranker?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407408"/>
            <a:ext cx="4206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Cross-encoder (MS-MARCO) hurt R@3: 74% vs 76%.
MS-MARCO trained on web search — wrong domain.
Also 4× slower. RRF alone is the winner.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All 8 Experiments — The Complete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Each phase built on the last; production choice balances recall and latency</a:t>
            </a:r>
          </a:p>
        </p:txBody>
      </p:sp>
      <p:pic>
        <p:nvPicPr>
          <p:cNvPr id="7" name="Picture 6" descr="all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1179576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5486400"/>
            <a:ext cx="3749039" cy="114300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5486400"/>
            <a:ext cx="3749039" cy="64008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5577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Phase 1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943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8"/>
                </a:solidFill>
                <a:latin typeface="Calibri"/>
              </a:rPr>
              <a:t>58% R@3 with BGE reranker — but 245s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5486400"/>
            <a:ext cx="3749039" cy="114300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5486400"/>
            <a:ext cx="3749039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577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Phase 2 Breakthrough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943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8"/>
                </a:solidFill>
                <a:latin typeface="Calibri"/>
              </a:rPr>
              <a:t>74% R@3 in 0.478s — metadata embedding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5486400"/>
            <a:ext cx="3749039" cy="114300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5486400"/>
            <a:ext cx="3749039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5577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Phase 3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59436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8"/>
                </a:solidFill>
                <a:latin typeface="Calibri"/>
              </a:rPr>
              <a:t>88% R@7 + 76% R@3 in 0.558s — Hybrid RRF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Category-wise Recall — Where We Win and Struggle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Short structured tables: perfect. Long IR documents: challenging.</a:t>
            </a:r>
          </a:p>
        </p:txBody>
      </p:sp>
      <p:pic>
        <p:nvPicPr>
          <p:cNvPr id="7" name="Picture 6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13232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463040"/>
            <a:ext cx="4480560" cy="493776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463040"/>
            <a:ext cx="448056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/>
              </a:rPr>
              <a:t>Category Insights: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NSE ≤10 pages — 100% across all metrics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Short, structured tables: BM25 exact match dominates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NSE &gt;10 pages — Hybrid @R7: 90%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Long multi-year reports: harder to locate specific pages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FFB300"/>
                </a:solidFill>
                <a:latin typeface="Calibri"/>
              </a:rPr>
              <a:t>IR Documents — most challenging (60% @R7)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Few docs (5 Qs), complex prose — semantic overlap high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FF5252"/>
                </a:solidFill>
                <a:latin typeface="Calibri"/>
              </a:rPr>
              <a:t>Trendlyne — 67% @R7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Mixed articles + PDFs; keyword match less reliable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Yahoo Finance — 100%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Very small set (1 Q); highly specific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Latency vs. Recall — The Production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The cross-encoder reranker adds 4× latency with no recall gain — domain mismatch</a:t>
            </a:r>
          </a:p>
        </p:txBody>
      </p:sp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82296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463040"/>
            <a:ext cx="3383280" cy="493776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463040"/>
            <a:ext cx="338328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0020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4A"/>
                </a:solidFill>
                <a:latin typeface="Calibri"/>
              </a:rPr>
              <a:t>Trade-off Summary: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FF5252"/>
                </a:solidFill>
                <a:latin typeface="Calibri"/>
              </a:rPr>
              <a:t>BGE Reranker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245s — top-right quadrant: slow AND low recall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FF5252"/>
                </a:solidFill>
                <a:latin typeface="Calibri"/>
              </a:rPr>
              <a:t>HyDE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More latency, LOWER recall than baseline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★ Hybrid RRF</a:t>
            </a:r>
          </a:p>
          <a:p>
            <a:pPr algn="l"/>
            <a:r>
              <a:rPr sz="1000" b="0" i="0">
                <a:solidFill>
                  <a:srgbClr val="3D4A6B"/>
                </a:solidFill>
                <a:latin typeface="Calibri"/>
              </a:rPr>
              <a:t>Best quadrant: bottom-right = fast AND accurate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7C4DFF"/>
                </a:solidFill>
                <a:latin typeface="Calibri"/>
              </a:rPr>
              <a:t>Metadata-only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Great speed (0.478s), but 6pp lower than Hybrid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CE reranker added 4–80× latency with no R@7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Hallucination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188720"/>
            <a:ext cx="10058400" cy="3200400"/>
          </a:xfrm>
          <a:prstGeom prst="rect">
            <a:avLst/>
          </a:prstGeom>
          <a:solidFill>
            <a:srgbClr val="10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188720"/>
            <a:ext cx="73152" cy="32004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3716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8892A8"/>
                </a:solidFill>
                <a:latin typeface="Calibri"/>
              </a:rPr>
              <a:t>Q: "What was Infosys operating margin in Q2 FY26?"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202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252"/>
                </a:solidFill>
                <a:latin typeface="Calibri"/>
              </a:rPr>
              <a:t>LLM says: "approximately 20%"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146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Official Infosys fact sheet says: "21.0%"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0896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C518"/>
                </a:solidFill>
                <a:latin typeface="Calibri"/>
              </a:rPr>
              <a:t>"A 1% error on reported earnings is not rounding — it is misinformation"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709160"/>
            <a:ext cx="3200400" cy="7772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709160"/>
            <a:ext cx="3200400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5252"/>
                </a:solidFill>
                <a:latin typeface="Calibri"/>
              </a:rPr>
              <a:t>Rounded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709160"/>
            <a:ext cx="3200400" cy="7772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709160"/>
            <a:ext cx="32004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300"/>
                </a:solidFill>
                <a:latin typeface="Calibri"/>
              </a:rPr>
              <a:t>Wrong quarter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709160"/>
            <a:ext cx="3200400" cy="7772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4709160"/>
            <a:ext cx="320040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4DFF"/>
                </a:solidFill>
                <a:latin typeface="Calibri"/>
              </a:rPr>
              <a:t>Averaged across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2A8"/>
                </a:solidFill>
                <a:latin typeface="Calibri"/>
              </a:rPr>
              <a:t>We needed a fundamentally different approach for numerical questions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Numeric Fidelity Layer &amp; Query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Exact answers from a structured database — no generation, no hallucination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6583680" cy="5029200"/>
          </a:xfrm>
          <a:prstGeom prst="rect">
            <a:avLst/>
          </a:prstGeom>
          <a:solidFill>
            <a:srgbClr val="E8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6583680" cy="5029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SQLite Fact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574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2,551 rows from Infosys quarterly fact sheets</a:t>
            </a:r>
          </a:p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7 metrics: operating margin, revenue, net profit,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EPS, attrition, TCV, net-new %</a:t>
            </a:r>
          </a:p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8 quarters covered: Q1 FY25 — Q4 FY26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Example query: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"What was operating margin in Q2 FY26?"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→ SQL: SELECT value FROM facts WHERE quarter='Q2 FY26'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AND metric='operating_margin'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→ Exact answer: 21.0% (not 'approximately 20%')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Quality gates:</a:t>
            </a:r>
          </a:p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15/15 SQL queries correct</a:t>
            </a:r>
          </a:p>
          <a:p>
            <a:pPr algn="l"/>
            <a:r>
              <a:rPr sz="1100" b="1" i="0">
                <a:solidFill>
                  <a:srgbClr val="3D4A6B"/>
                </a:solidFill>
                <a:latin typeface="Calibri"/>
              </a:rPr>
              <a:t>  15/15 numeric values within ±5%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Average FACT_DB pipeline: 4.1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463040"/>
            <a:ext cx="5029200" cy="50292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1463040"/>
            <a:ext cx="5029200" cy="5029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50876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Intelligent Query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574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4A6B"/>
                </a:solidFill>
                <a:latin typeface="Calibri"/>
              </a:rPr>
              <a:t>gpt-4o-mini classifies every query:</a:t>
            </a:r>
          </a:p>
          <a:p>
            <a:pPr algn="l"/>
            <a:r>
              <a:rPr sz="1300" b="1" i="0">
                <a:solidFill>
                  <a:srgbClr val="7C4DFF"/>
                </a:solidFill>
                <a:latin typeface="Calibri"/>
              </a:rPr>
              <a:t>FACT_DB  or  VECTOR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3D4A6B"/>
                </a:solidFill>
                <a:latin typeface="Calibri"/>
              </a:rPr>
              <a:t>"What was margin in Q2 FY26?"</a:t>
            </a:r>
          </a:p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→ FACT_DB (exact number from SQL)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3D4A6B"/>
                </a:solidFill>
                <a:latin typeface="Calibri"/>
              </a:rPr>
              <a:t>"Why did margin drop in Q3 FY26?"</a:t>
            </a:r>
          </a:p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→ VECTOR (context from documents)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~95% routing accuracy</a:t>
            </a:r>
          </a:p>
          <a:p>
            <a:pPr algn="l"/>
            <a:r>
              <a:rPr sz="1100" b="0" i="0">
                <a:solidFill>
                  <a:srgbClr val="8892A8"/>
                </a:solidFill>
                <a:latin typeface="Calibri"/>
              </a:rPr>
              <a:t>on 40-question benchmark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3D4A6B"/>
                </a:solidFill>
                <a:latin typeface="Calibri"/>
              </a:rPr>
              <a:t>Routing prevents hallucination for all numeric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Answer Quality Evaluation — RAGAS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Pipeline A (metadata top-10 → gpt-4o-mini): measured on 50 questions</a:t>
            </a:r>
          </a:p>
        </p:txBody>
      </p:sp>
      <p:pic>
        <p:nvPicPr>
          <p:cNvPr id="7" name="Picture 6" descr="ra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68580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1463040"/>
            <a:ext cx="4663440" cy="493776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63040"/>
            <a:ext cx="466344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/>
              </a:rPr>
              <a:t>What RAGAS Measures: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7C4DFF"/>
                </a:solidFill>
                <a:latin typeface="Calibri"/>
              </a:rPr>
              <a:t>Faithfulness  0.893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Is the answer grounded in retrieved documents?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9B59B6"/>
                </a:solidFill>
                <a:latin typeface="Calibri"/>
              </a:rPr>
              <a:t>Answer Relevancy  0.844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Does the answer actually address the question?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00C896"/>
                </a:solidFill>
                <a:latin typeface="Calibri"/>
              </a:rPr>
              <a:t>Context Precision  0.968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Are the retrieved documents relevant?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009670"/>
                </a:solidFill>
                <a:latin typeface="Calibri"/>
              </a:rPr>
              <a:t>Context Recall  0.873</a:t>
            </a:r>
          </a:p>
          <a:p>
            <a:pPr algn="l"/>
            <a:r>
              <a:rPr sz="1000" b="0" i="1">
                <a:solidFill>
                  <a:srgbClr val="3D4A6B"/>
                </a:solidFill>
                <a:latin typeface="Calibri"/>
              </a:rPr>
              <a:t>Are all necessary documents retrieved?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2A4A"/>
                </a:solidFill>
                <a:latin typeface="Calibri"/>
              </a:rPr>
              <a:t>Context Precision 0.968 — our retrieval is highly precise</a:t>
            </a:r>
          </a:p>
          <a:p>
            <a:pPr algn="l"/>
            <a:r>
              <a:rPr sz="1000" b="0" i="1">
                <a:solidFill>
                  <a:srgbClr val="8892A8"/>
                </a:solidFill>
                <a:latin typeface="Calibri"/>
              </a:rPr>
              <a:t>All scores above the 0.8 'good threshold'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Production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FastAPI backend + Streamlit UI + JWT authentication + rate limiting</a:t>
            </a:r>
          </a:p>
        </p:txBody>
      </p:sp>
      <p:pic>
        <p:nvPicPr>
          <p:cNvPr id="7" name="Picture 6" descr="milestone6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57784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554480"/>
            <a:ext cx="530352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48840"/>
            <a:ext cx="73152" cy="228600"/>
          </a:xfrm>
          <a:prstGeom prst="rect">
            <a:avLst/>
          </a:prstGeom>
          <a:solidFill>
            <a:srgbClr val="889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303520" cy="5943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Embed (text-embedding-3-small)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71800"/>
            <a:ext cx="73152" cy="228600"/>
          </a:xfrm>
          <a:prstGeom prst="rect">
            <a:avLst/>
          </a:prstGeom>
          <a:solidFill>
            <a:srgbClr val="889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303520" cy="5943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Route (gpt-4o-mini)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60520"/>
            <a:ext cx="2560320" cy="2103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160520"/>
            <a:ext cx="256032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FACT_DB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  <a:latin typeface="Calibri"/>
              </a:rPr>
              <a:t>Generate SQL → SQLite
→ Exact Value
→ Format Answer
avg 4.1s end-to-end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160520"/>
            <a:ext cx="2743200" cy="2103120"/>
          </a:xfrm>
          <a:prstGeom prst="rect">
            <a:avLst/>
          </a:prstGeom>
          <a:solidFill>
            <a:srgbClr val="E8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4160520"/>
            <a:ext cx="274320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206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4DFF"/>
                </a:solidFill>
                <a:latin typeface="Calibri"/>
              </a:rPr>
              <a:t>VECTOR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720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A6B"/>
                </a:solidFill>
                <a:latin typeface="Calibri"/>
              </a:rPr>
              <a:t>Chroma top-20 + BM25 top-20
→ RRF fusion
→ top-3 docs
→ gpt-4o-mini
~3-4s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6400800"/>
            <a:ext cx="1179576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1908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  <a:latin typeface="Calibri"/>
              </a:rPr>
              <a:t>JWT HS256 · 8-hour tokens · 20 req/hr rate limit · env-var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0"/>
            <a:ext cx="3657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14300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143000"/>
            <a:ext cx="324612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258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896"/>
                </a:solidFill>
                <a:latin typeface="Calibri"/>
              </a:rP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Peak Recall@7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14300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143000"/>
            <a:ext cx="324612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258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Calibri"/>
              </a:rPr>
              <a:t>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317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Recall@3 (Production)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14300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143000"/>
            <a:ext cx="324612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3258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C518"/>
                </a:solidFill>
                <a:latin typeface="Calibri"/>
              </a:rPr>
              <a:t>0.56s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3317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Retrieval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15468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3154680"/>
            <a:ext cx="3246120" cy="914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3375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7C4DFF"/>
                </a:solidFill>
                <a:latin typeface="Calibri"/>
              </a:rPr>
              <a:t>~95%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434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Routing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15468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154680"/>
            <a:ext cx="324612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3375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896"/>
                </a:solidFill>
                <a:latin typeface="Calibri"/>
              </a:rPr>
              <a:t>15/15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434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Numeric Fidelity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154680"/>
            <a:ext cx="3246120" cy="1828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154680"/>
            <a:ext cx="3246120" cy="914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3375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B300"/>
                </a:solidFill>
                <a:latin typeface="Calibri"/>
              </a:rPr>
              <a:t>0.97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3434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Context Precision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5120640"/>
            <a:ext cx="10149840" cy="50292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1663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8"/>
                </a:solidFill>
                <a:latin typeface="Calibri"/>
              </a:rPr>
              <a:t>Yahoo 100%  |  NSE Short 100%  |  NSE Long 90%  |  Trendlyne 67%  |  IR Docs 60%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806440"/>
            <a:ext cx="12188952" cy="5943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80644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Production: Hybrid RRF  |  Latency: 0.558s retrieval  |  LLM: gpt-4o-mini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Learnings &amp;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From experiment to production — the path forward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5760720" cy="384048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576072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4A"/>
                </a:solidFill>
                <a:latin typeface="Calibri"/>
              </a:rPr>
              <a:t>1.  Structure beats raw text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YAML metadata embedding: +34pp recall over full-text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1A2A4A"/>
                </a:solidFill>
                <a:latin typeface="Calibri"/>
              </a:rPr>
              <a:t>2.  Domain matters for reranking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MS-MARCO CE reranker hurt our domain; RRF alone wins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1A2A4A"/>
                </a:solidFill>
                <a:latin typeface="Calibri"/>
              </a:rPr>
              <a:t>3.  Exact retrieval needs exact storage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Vector + LLM cannot replace SQL for numeric facts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1A2A4A"/>
                </a:solidFill>
                <a:latin typeface="Calibri"/>
              </a:rPr>
              <a:t>4.  Speed and quality can coexist</a:t>
            </a:r>
          </a:p>
          <a:p>
            <a:pPr algn="l"/>
            <a:r>
              <a:rPr sz="1100" b="0" i="0">
                <a:solidFill>
                  <a:srgbClr val="3D4A6B"/>
                </a:solidFill>
                <a:latin typeface="Calibri"/>
              </a:rPr>
              <a:t>    Hybrid RRF: 88% R@7 in 0.558s — no trade-off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760720" cy="38404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760720" cy="457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We'd Do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A6B"/>
                </a:solidFill>
                <a:latin typeface="Calibri"/>
              </a:rPr>
              <a:t>·  Fine-tune a cross-encoder on financial domain data</a:t>
            </a:r>
          </a:p>
          <a:p>
            <a:pPr algn="l"/>
            <a:r>
              <a:rPr sz="1000" b="0" i="1">
                <a:solidFill>
                  <a:srgbClr val="8892A8"/>
                </a:solidFill>
                <a:latin typeface="Calibri"/>
              </a:rPr>
              <a:t>   (domain-specific reranking could recover lost recall)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D4A6B"/>
                </a:solidFill>
                <a:latin typeface="Calibri"/>
              </a:rPr>
              <a:t>·  Expand Fact DB: TCS, Wipro, HCL coverage</a:t>
            </a:r>
          </a:p>
          <a:p>
            <a:pPr algn="l"/>
            <a:r>
              <a:rPr sz="1000" b="0" i="1">
                <a:solidFill>
                  <a:srgbClr val="8892A8"/>
                </a:solidFill>
                <a:latin typeface="Calibri"/>
              </a:rPr>
              <a:t>   (multi-company comparative Q&amp;A)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D4A6B"/>
                </a:solidFill>
                <a:latin typeface="Calibri"/>
              </a:rPr>
              <a:t>·  Add streaming responses</a:t>
            </a:r>
          </a:p>
          <a:p>
            <a:pPr algn="l"/>
            <a:r>
              <a:rPr sz="1000" b="0" i="1">
                <a:solidFill>
                  <a:srgbClr val="8892A8"/>
                </a:solidFill>
                <a:latin typeface="Calibri"/>
              </a:rPr>
              <a:t>   (lower perceived latency for end users)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D4A6B"/>
                </a:solidFill>
                <a:latin typeface="Calibri"/>
              </a:rPr>
              <a:t>·  Multi-hop reasoning for complex analytical questions</a:t>
            </a:r>
          </a:p>
          <a:p>
            <a:pPr algn="l"/>
            <a:r>
              <a:rPr sz="1000" b="0" i="1">
                <a:solidFill>
                  <a:srgbClr val="8892A8"/>
                </a:solidFill>
                <a:latin typeface="Calibri"/>
              </a:rPr>
              <a:t>   (e.g., YoY trend analysis across multiple quarters)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09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440680"/>
            <a:ext cx="1218895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Thank You  ·  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2A8"/>
                </a:solidFill>
                <a:latin typeface="Calibri"/>
              </a:rPr>
              <a:t>FinQuery — Group 6, DS &amp; AI Lab  |  T2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2011680" cy="1645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5257800"/>
            <a:ext cx="2011680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5257800"/>
            <a:ext cx="2011680" cy="16459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5257800"/>
            <a:ext cx="2011680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5257800"/>
            <a:ext cx="2011680" cy="16459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2A8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