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6015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F0A500"/>
                </a:solidFill>
                <a:latin typeface="Calibri"/>
              </a:rPr>
              <a:t>FinQuery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31720"/>
            <a:ext cx="103601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An AI-powered, Stock-Specific
Public Update Analyzer (PUA)
for Indian Capital Markets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3931920"/>
            <a:ext cx="3931920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A96A8"/>
                </a:solidFill>
                <a:latin typeface="Calibri"/>
              </a:rPr>
              <a:t>Group 6  |  Data Science &amp; AI Lab  |  T2 –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6344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0B4D0"/>
                </a:solidFill>
                <a:latin typeface="Calibri"/>
              </a:rPr>
              <a:t>Pilot Company: Infosys Limited (NSE: INFY)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68096"/>
            <a:ext cx="12188952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02920" cy="50292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A500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1430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2E"/>
                </a:solidFill>
                <a:latin typeface="Calibri"/>
              </a:rPr>
              <a:t>The Problem &amp; Motivation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029968"/>
            <a:ext cx="502920" cy="50292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02996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A500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7568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2E"/>
                </a:solidFill>
                <a:latin typeface="Calibri"/>
              </a:rPr>
              <a:t>What is FinQuery?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962656"/>
            <a:ext cx="502920" cy="50292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96265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A500"/>
                </a:solidFill>
                <a:latin typeface="Calibr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08376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2E"/>
                </a:solidFill>
                <a:latin typeface="Calibri"/>
              </a:rPr>
              <a:t>Data Collection &amp; Corpus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895344"/>
            <a:ext cx="502920" cy="50292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89534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A500"/>
                </a:solidFill>
                <a:latin typeface="Calibr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941064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2E"/>
                </a:solidFill>
                <a:latin typeface="Calibri"/>
              </a:rPr>
              <a:t>Document Preprocessing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828032"/>
            <a:ext cx="502920" cy="50292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82803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A500"/>
                </a:solidFill>
                <a:latin typeface="Calibr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873752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2E"/>
                </a:solidFill>
                <a:latin typeface="Calibri"/>
              </a:rPr>
              <a:t>System Architecture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1097280"/>
            <a:ext cx="502920" cy="50292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0972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A500"/>
                </a:solidFill>
                <a:latin typeface="Calibri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11430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2E"/>
                </a:solidFill>
                <a:latin typeface="Calibri"/>
              </a:rPr>
              <a:t>Retrieval Evolution  (M4 → M5 → M6)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2029968"/>
            <a:ext cx="502920" cy="50292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02996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A500"/>
                </a:solidFill>
                <a:latin typeface="Calibri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207568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2E"/>
                </a:solidFill>
                <a:latin typeface="Calibri"/>
              </a:rPr>
              <a:t>Numeric Fidelity Layer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962656"/>
            <a:ext cx="502920" cy="50292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96265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A500"/>
                </a:solidFill>
                <a:latin typeface="Calibri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95160" y="3008376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2E"/>
                </a:solidFill>
                <a:latin typeface="Calibri"/>
              </a:rPr>
              <a:t>Deployment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3895344"/>
            <a:ext cx="502920" cy="50292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89534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A500"/>
                </a:solidFill>
                <a:latin typeface="Calibri"/>
              </a:rPr>
              <a:t>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3941064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2E"/>
                </a:solidFill>
                <a:latin typeface="Calibri"/>
              </a:rPr>
              <a:t>Evaluation Results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828032"/>
            <a:ext cx="502920" cy="50292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482803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A500"/>
                </a:solidFill>
                <a:latin typeface="Calibri"/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60" y="4873752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2E"/>
                </a:solidFill>
                <a:latin typeface="Calibri"/>
              </a:rPr>
              <a:t>Challenges, Limitations &amp; Future Work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64240" y="6537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A8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Problem &amp; 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68096"/>
            <a:ext cx="12188952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539496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02A5A"/>
                </a:solidFill>
                <a:latin typeface="Calibri"/>
              </a:rPr>
              <a:t>The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C1C2E"/>
                </a:solidFill>
                <a:latin typeface="Calibri"/>
              </a:rPr>
              <a:t>•  Infosys publishes 100s of pages of disclosures every quarter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C1C2E"/>
                </a:solidFill>
                <a:latin typeface="Calibri"/>
              </a:rPr>
              <a:t>•  NSE filings, earnings calls, analyst reports — scattered across multiple sources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C1C2E"/>
                </a:solidFill>
                <a:latin typeface="Calibri"/>
              </a:rPr>
              <a:t>•  Retail investors &amp; students lack time and vocabulary to parse dense documents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C1C2E"/>
                </a:solidFill>
                <a:latin typeface="Calibri"/>
              </a:rPr>
              <a:t>•  Existing tools show charts &amp; ratios — none give evidence-backed Q&amp;A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C1C2E"/>
                </a:solidFill>
                <a:latin typeface="Calibri"/>
              </a:rPr>
              <a:t>•  No tool can answer: "Why is Infosys passing AI gains to clients rather than expanding margins?"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005840"/>
            <a:ext cx="5943600" cy="53949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0972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0A500"/>
                </a:solidFill>
                <a:latin typeface="Calibri"/>
              </a:rPr>
              <a:t>The Opportunity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60020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LLMs can read and reason across 200+ documents instantly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Vector search finds the right passage in milliseconds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Structured fact databases deliver exact financial figures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A unified Q&amp;A interface makes professional-grade research accessible to everyone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539496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A500"/>
                </a:solidFill>
                <a:latin typeface="Calibri"/>
              </a:rPr>
              <a:t>→ Democratise access to financial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537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A8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What is FinQuery?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68096"/>
            <a:ext cx="12188952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02A5A"/>
                </a:solidFill>
                <a:latin typeface="Calibri"/>
              </a:rPr>
              <a:t>A natural-language Q&amp;A system over Infosys public financial disclosures.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5394960" cy="429768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0A500"/>
                </a:solidFill>
                <a:latin typeface="Calibri"/>
              </a:rPr>
              <a:t>Numerical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Ask for specific financial figures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774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▸  "What was Infosys revenue in Q1 FY26?"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▸  "What is the operating margin in Q4 FY26?"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▸  "How did attrition change from Q1 to Q3?"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886200"/>
            <a:ext cx="5029200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977639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  <a:latin typeface="Calibri"/>
              </a:rPr>
              <a:t>→  Answered from SQLite fact database
     with exact, verified figures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463040"/>
            <a:ext cx="5669280" cy="429768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5544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0A500"/>
                </a:solidFill>
                <a:latin typeface="Calibri"/>
              </a:rPr>
              <a:t>Descriptive Questions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9659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Ask for explanations, strategy, commentary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3774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▸  "Why did margins decline in Q3 FY26?"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▸  "What are analysts saying about Infosys outlook?"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▸  "How is Infosys expanding its AI services?"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886200"/>
            <a:ext cx="5303520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977639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  <a:latin typeface="Calibri"/>
              </a:rPr>
              <a:t>→  Answered via hybrid retrieval
     over 1,875 indexed documents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9436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02A5A"/>
                </a:solidFill>
                <a:latin typeface="Calibri"/>
              </a:rPr>
              <a:t>Question type is classified automatically — no user input required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537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A8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Data Collection &amp; Corpus Construction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68096"/>
            <a:ext cx="12188952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1A4E96"/>
                </a:solidFill>
                <a:latin typeface="Calibri"/>
              </a:rPr>
              <a:t>Coverage: July 2025 – July 2026  |  Pilot company: Infosys Limited (NSE: INFY)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2672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Raw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After Filtering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Format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C1C2E"/>
                          </a:solidFill>
                          <a:latin typeface="Calibri"/>
                        </a:rPr>
                        <a:t>NSE Corporate Announcements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C1C2E"/>
                          </a:solidFill>
                          <a:latin typeface="Calibri"/>
                        </a:rPr>
                        <a:t>492 PDFs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C1C2E"/>
                          </a:solidFill>
                          <a:latin typeface="Calibri"/>
                        </a:rPr>
                        <a:t>137 documents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C1C2E"/>
                          </a:solidFill>
                          <a:latin typeface="Calibri"/>
                        </a:rPr>
                        <a:t>PDF → Markdown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C1C2E"/>
                          </a:solidFill>
                          <a:latin typeface="Calibri"/>
                        </a:rPr>
                        <a:t>Infosys Investor Relations (IR)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C1C2E"/>
                          </a:solidFill>
                          <a:latin typeface="Calibri"/>
                        </a:rPr>
                        <a:t>16 documents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C1C2E"/>
                          </a:solidFill>
                          <a:latin typeface="Calibri"/>
                        </a:rPr>
                        <a:t>16 documents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C1C2E"/>
                          </a:solidFill>
                          <a:latin typeface="Calibri"/>
                        </a:rPr>
                        <a:t>PDF → Markdown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C1C2E"/>
                          </a:solidFill>
                          <a:latin typeface="Calibri"/>
                        </a:rPr>
                        <a:t>Yahoo Finance News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C1C2E"/>
                          </a:solidFill>
                          <a:latin typeface="Calibri"/>
                        </a:rPr>
                        <a:t>6 articles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C1C2E"/>
                          </a:solidFill>
                          <a:latin typeface="Calibri"/>
                        </a:rPr>
                        <a:t>6 articles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C1C2E"/>
                          </a:solidFill>
                          <a:latin typeface="Calibri"/>
                        </a:rPr>
                        <a:t>PDF → Markdown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C1C2E"/>
                          </a:solidFill>
                          <a:latin typeface="Calibri"/>
                        </a:rPr>
                        <a:t>Trendlyne Broker Reports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C1C2E"/>
                          </a:solidFill>
                          <a:latin typeface="Calibri"/>
                        </a:rPr>
                        <a:t>5 reports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C1C2E"/>
                          </a:solidFill>
                          <a:latin typeface="Calibri"/>
                        </a:rPr>
                        <a:t>5 reports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C1C2E"/>
                          </a:solidFill>
                          <a:latin typeface="Calibri"/>
                        </a:rPr>
                        <a:t>PDF → Markdown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C1C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C1C2E"/>
                          </a:solidFill>
                          <a:latin typeface="Calibri"/>
                        </a:rPr>
                        <a:t>519 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C1C2E"/>
                          </a:solidFill>
                          <a:latin typeface="Calibri"/>
                        </a:rPr>
                        <a:t>207 source documents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C1C2E"/>
                          </a:solidFill>
                          <a:latin typeface="Calibri"/>
                        </a:rPr>
                        <a:t>Markdown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160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2A5A"/>
                </a:solidFill>
                <a:latin typeface="Calibri"/>
              </a:rPr>
              <a:t>NSE 3-Stage Filtering Pipeline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4617720"/>
            <a:ext cx="2651760" cy="164592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46634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0A500"/>
                </a:solidFill>
                <a:latin typeface="Calibri"/>
              </a:rPr>
              <a:t>Stage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98348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Rule-based
Category Filter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66928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A500"/>
                </a:solidFill>
                <a:latin typeface="Calibri"/>
              </a:rPr>
              <a:t>492 → 240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521208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2A5A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6120" y="4617720"/>
            <a:ext cx="2651760" cy="164592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46634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0A500"/>
                </a:solidFill>
                <a:latin typeface="Calibri"/>
              </a:rPr>
              <a:t>Stage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498348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Keyword
Screening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566928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A500"/>
                </a:solidFill>
                <a:latin typeface="Calibri"/>
              </a:rPr>
              <a:t>240 → 137+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521208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2A5A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4617720"/>
            <a:ext cx="2651760" cy="164592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46634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0A500"/>
                </a:solidFill>
                <a:latin typeface="Calibri"/>
              </a:rPr>
              <a:t>Stage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498348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LLM-assisted
Content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566928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A500"/>
                </a:solidFill>
                <a:latin typeface="Calibri"/>
              </a:rPr>
              <a:t>+72 accepted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521208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2A5A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06840" y="4617720"/>
            <a:ext cx="2651760" cy="164592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46634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0A500"/>
                </a:solidFill>
                <a:latin typeface="Calibri"/>
              </a:rP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498348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Final NSE
Corpus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566928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A500"/>
                </a:solidFill>
                <a:latin typeface="Calibri"/>
              </a:rPr>
              <a:t>137 docs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537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A8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Document Preprocessing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68096"/>
            <a:ext cx="12188952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51560"/>
            <a:ext cx="2743200" cy="512064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2743200" cy="5029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5156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02A5A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64592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PDF → Markdown
Conversion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14600"/>
            <a:ext cx="25603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Docling — structure-preserving;
retains tables, headings, figures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22860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0A500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051560"/>
            <a:ext cx="2743200" cy="512064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6120" y="1051560"/>
            <a:ext cx="2743200" cy="5029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105156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02A5A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164592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Splitting by
Page Count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514600"/>
            <a:ext cx="25603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≤10 pages: processed whole
&gt;10 pages: sectioned into 1,500–2,500 token chunks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22860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0A500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1051560"/>
            <a:ext cx="2743200" cy="512064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1051560"/>
            <a:ext cx="2743200" cy="5029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105156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02A5A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164592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AI-powered
Knowledge Extraction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514600"/>
            <a:ext cx="25603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GPT-based KE prompts remove noise
(signatures, headers, OCR artifacts)
Preserves: tables, figures, risks, quotations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2860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0A500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98280" y="1051560"/>
            <a:ext cx="2743200" cy="512064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98280" y="1051560"/>
            <a:ext cx="2743200" cy="5029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98280" y="105156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02A5A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164592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YAML Metadata
Generation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2514600"/>
            <a:ext cx="25603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Each chunk gets: title, summary,
topics list, sample_queries —
the key to M5 retrieval breakthrough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3550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02A5A"/>
                </a:solidFill>
                <a:latin typeface="Calibri"/>
              </a:rPr>
              <a:t>Final corpus: 207 source documents  →  1,875 indexed Markdown chunks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0" y="6537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A8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68096"/>
            <a:ext cx="12188952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1005840"/>
            <a:ext cx="2286000" cy="64008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37760" y="100584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User (Browser)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6916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6A8"/>
                </a:solidFill>
                <a:latin typeface="Calibri"/>
              </a:rPr>
              <a:t>↓  question  /  ↑  answer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2057400"/>
            <a:ext cx="3200400" cy="5943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205740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Streamlit Frontend  (:8501)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697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6A8"/>
                </a:solidFill>
                <a:latin typeface="Calibri"/>
              </a:rPr>
              <a:t>↓  REST API  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3063240"/>
            <a:ext cx="4846320" cy="5943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306324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FastAPI Backend  (:8000)  —  Auth · Rate Limit · Router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703320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96A8"/>
                </a:solidFill>
                <a:latin typeface="Calibri"/>
              </a:rPr>
              <a:t>↙  FACT_DB route           VECTOR route  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114800"/>
            <a:ext cx="512064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4114800"/>
            <a:ext cx="5120640" cy="36576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1148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02A5A"/>
                </a:solidFill>
                <a:latin typeface="Calibri"/>
              </a:rPr>
              <a:t>Pipeline A — Numeric Fidelity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57200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Calibri"/>
              </a:rPr>
              <a:t>1. gpt-4o-mini generates SQL SELECT
2. Execute on SQLite facts.db  (2,500+ facts)
3. gpt-4o-mini formats NL answer
4. Return exact figure + source citation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4114800"/>
            <a:ext cx="512064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75120" y="4114800"/>
            <a:ext cx="5120640" cy="36576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1148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02A5A"/>
                </a:solidFill>
                <a:latin typeface="Calibri"/>
              </a:rPr>
              <a:t>Pipeline B — Hybrid Retrieval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57200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Calibri"/>
              </a:rPr>
              <a:t>1. Embed query  (text-embedding-3-small)
2. Vector search: top-20 from ChromaDB
3. BM25 keyword search: top-20
4. Reciprocal Rank Fusion (k=60) → top-3
5. gpt-4o-mini generates cited answer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537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A8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Retrieval Evolution — Milestone 4: Baseline Experiments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68096"/>
            <a:ext cx="12188952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1A4E96"/>
                </a:solidFill>
                <a:latin typeface="Calibri"/>
              </a:rPr>
              <a:t>Full-document text embedding  |  50-question benchmark  |  1,877 chunks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11430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Candidates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Recall@3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Recall@7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Avg Latency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Chroma vector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Top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40%  (20/50)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50%  (25/50)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54%  (27/50)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6.3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Chroma + HyDE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Top 10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40%  (20/50)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42%  (21/50)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46%  (23/50)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9.3 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Chroma + BGE reranker (CPU)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Top 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58%  (29/50)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64%  (32/50)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64%  (32/50)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245 s  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3566160"/>
            <a:ext cx="11430000" cy="100584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611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FFFF"/>
                </a:solidFill>
                <a:latin typeface="Calibri"/>
              </a:rPr>
              <a:t>Key Finding:  BGE reranker improved Recall@3 from 40% → 58%, but 245 seconds per query makes it impractical for real-time use.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709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2A5A"/>
                </a:solidFill>
                <a:latin typeface="Calibri"/>
              </a:rPr>
              <a:t>Latency Breakdown (BGE on CPU):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12064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Query embedding: 1.2 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ChromaDB retrieval: 0.1 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BGE cross-encoder reranking: 244 s  ← bottleneck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470916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0392B"/>
                </a:solidFill>
                <a:latin typeface="Calibri"/>
              </a:rPr>
              <a:t>Bottleneck Identified: BGE reranker not viable on CPU
→ Need a smarter approach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537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A8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Retrieval Evolution — Milestone 5: The Metadata Breakthrough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68096"/>
            <a:ext cx="12188952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430000" cy="7315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2A5A"/>
                </a:solidFill>
                <a:latin typeface="Calibri"/>
              </a:rPr>
              <a:t>Key Insight:  Instead of embedding the full document body, embed only the YAML metadata block (title, topics, sample questions).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83080"/>
          <a:ext cx="114300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466344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Recall@3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Recall@7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vs. Baseline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M4 Chroma full-text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6.3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M4 BGE reranker (best M4)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64%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64%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245 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+18pp @3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M5 Metadata-only 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78%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0.48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+34pp @3 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M5 Metadata + cross-encoder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88%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3.2 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+34pp @3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251960"/>
            <a:ext cx="5303520" cy="21945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2976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A500"/>
                </a:solidFill>
                <a:latin typeface="Calibri"/>
              </a:rPr>
              <a:t>RAGAS Answer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0"/>
            <a:ext cx="51206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Faithfulness:         89%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Answer Relevancy:     84%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Context Precision:    97%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Context Recall:       87%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4251960"/>
            <a:ext cx="585216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42976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2A5A"/>
                </a:solidFill>
                <a:latin typeface="Calibri"/>
              </a:rPr>
              <a:t>Why Metadata-only 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4754880"/>
            <a:ext cx="5669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YAML topics = distilled semantic essence of each chunk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Sample questions align directly to retrieval intent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Avoids embedding irrelevant body text that dilutes signal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•  10× faster than cross-encoder with same Recall@3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0" y="6537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A8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Retrieval Evolution — Milestone 6: Hybrid BM25 + Vector (RRF)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68096"/>
            <a:ext cx="12188952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0392B"/>
                </a:solidFill>
                <a:latin typeface="Calibri"/>
              </a:rPr>
              <a:t>Problem:  Quarterly IR documents (same metrics, same language across 4 quarters) caused retrieval confusion.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1A7A4A"/>
                </a:solidFill>
                <a:latin typeface="Calibri"/>
              </a:rPr>
              <a:t>Solution:  Add BM25 keyword retrieval alongside vector search. Merge ranked lists with Reciprocal Rank Fusion (RRF, k=60).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920240"/>
          <a:ext cx="114300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466344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Recall@3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Recall@7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M5 Metadata-only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74%  (37/50)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78%  (39/50)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82%  (41/50)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0.48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BM25 only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84%  (42/50)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88%  (44/50)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88%  (44/50)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&lt; 0.1 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Hybrid RRF + cross-encoder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74%  (37/50)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82%  (41/50)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86%  (43/50)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~3.5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Hybrid RRF  (no reranker)  ★ PRODUCTION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76%  (38/50)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86%  (43/50)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88%  (44/50)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~0.5 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4389120"/>
            <a:ext cx="11430000" cy="5943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★  Production choice: Hybrid RRF (no reranker)  —  76% @3, 88% @7, ~0.5 s latency. Cross-encoder trained on MS MARCO hurts YAML metadata; removing it gains +2pp @3.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120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2A5A"/>
                </a:solidFill>
                <a:latin typeface="Calibri"/>
              </a:rPr>
              <a:t>RRF Formula: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532120"/>
            <a:ext cx="50292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55778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02A5A"/>
                </a:solidFill>
                <a:latin typeface="Calibri"/>
              </a:rPr>
              <a:t>score(d) = Σᵢ  1 / (k + rankᵢ(d))   where k = 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5120640"/>
            <a:ext cx="6126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C1C2E"/>
                </a:solidFill>
                <a:latin typeface="Calibri"/>
              </a:rPr>
              <a:t>Documents appearing highly in BOTH vector and BM25 lists are promoted above those in only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0" y="6537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A8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Numeric Fidelity Layer — Milestone 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68096"/>
            <a:ext cx="12188952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0392B"/>
                </a:solidFill>
                <a:latin typeface="Calibri"/>
              </a:rPr>
              <a:t>Problem:  Vector search over quarterly documents returns wrong period values when the same metric appears across four quarters.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1A7A4A"/>
                </a:solidFill>
                <a:latin typeface="Calibri"/>
              </a:rPr>
              <a:t>Solution:  Bypass document search entirely for numerical queries. Query a structured SQLite database of extracted financial facts.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920240"/>
            <a:ext cx="5486400" cy="429768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A500"/>
                </a:solidFill>
                <a:latin typeface="Calibri"/>
              </a:rPr>
              <a:t>facts.db — SQLite Fact 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468880"/>
            <a:ext cx="5212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▸  Source: Infosys IR documents only (USD-denominated)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▸  2,500+ extracted financial facts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▸  Schema: metric name, value, unit, period (Q1-Q4 FY26), source file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▸  Covers: revenue, operating margin, EPS, net profit, TCV,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▸           attrition, headcount, free cash flow, segment revenue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▸  Opened read-only — no accidental writes possible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920240"/>
            <a:ext cx="548640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9659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2A5A"/>
                </a:solidFill>
                <a:latin typeface="Calibri"/>
              </a:rPr>
              <a:t>FACT_DB Query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46888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1.  Route question → FACT_DB  (gpt-4o-mini classifier)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2.  gpt-4o-mini generates safe SELECT query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3.  Execute on SQLite (read-only URI mode)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4.  gpt-4o-mini formats rows as natural-language answer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C1C2E"/>
                </a:solidFill>
                <a:latin typeface="Calibri"/>
              </a:rPr>
              <a:t>5.  Return: exact value + source file citation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4846320"/>
            <a:ext cx="5212080" cy="118872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892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A500"/>
                </a:solidFill>
                <a:latin typeface="Calibri"/>
              </a:rPr>
              <a:t>Benchmark Results: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25780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Routing accuracy:   40 / 40 = 100%
SQL execution success:  15 / 15 = 100%
Numeric fidelity (within 5%):  15 / 15 = 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537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A8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Deployment — Milestone 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68096"/>
            <a:ext cx="12188952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685800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2A5A"/>
                </a:solidFill>
                <a:latin typeface="Calibri"/>
              </a:rPr>
              <a:t>Docker Compose Stack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6492240" cy="17373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0A500"/>
                </a:solidFill>
                <a:latin typeface="Calibri"/>
              </a:rPr>
              <a:t>api  (:8000)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FastAPI backend
Auth · Rate Limiting · Router
FACT_DB + VECTOR pipelines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611880"/>
            <a:ext cx="6492240" cy="173736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0A500"/>
                </a:solidFill>
                <a:latin typeface="Calibri"/>
              </a:rPr>
              <a:t>streamlit  (:8501)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Browser-based chat UI
Login · Q&amp;A interface
Workflow step display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623560"/>
            <a:ext cx="6492240" cy="6858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6692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1C1C2E"/>
                </a:solidFill>
                <a:latin typeface="Calibri"/>
              </a:rPr>
              <a:t>Volume mounts:  facts.db (rw)  |  chroma_db/ (rw)  |  data/ (ro)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79" y="1005840"/>
            <a:ext cx="4389120" cy="53949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0" y="105156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A500"/>
                </a:solidFill>
                <a:latin typeface="Calibri"/>
              </a:rPr>
              <a:t>System Features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1554480"/>
            <a:ext cx="4206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JWT authentication  (8-hour tokens)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Per-user rate limiting  (30 req/hour)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4-step workflow trace with latencies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Source citations on every answer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Interactive API docs at /docs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Health check endpoint for orchestration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 No software install required for users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537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A8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Live System — Screenshots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68096"/>
            <a:ext cx="12188952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ilestone5-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0"/>
            <a:ext cx="5669280" cy="2134996"/>
          </a:xfrm>
          <a:prstGeom prst="rect">
            <a:avLst/>
          </a:prstGeom>
        </p:spPr>
      </p:pic>
      <p:pic>
        <p:nvPicPr>
          <p:cNvPr id="6" name="Picture 5" descr="milestone5-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05840"/>
            <a:ext cx="5669280" cy="2134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0040" y="61722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102A5A"/>
                </a:solidFill>
                <a:latin typeface="Calibri"/>
              </a:rPr>
              <a:t>FACT_DB path — numerical answer with SQL and citation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61722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102A5A"/>
                </a:solidFill>
                <a:latin typeface="Calibri"/>
              </a:rPr>
              <a:t>VECTOR path — descriptive answer with 3 cited 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537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A8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Evaluation Results — Final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68096"/>
            <a:ext cx="12188952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2240280" cy="123444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0A500"/>
                </a:solidFill>
                <a:latin typeface="Calibri"/>
              </a:rPr>
              <a:t>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6916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Routing
Accuracy
(40/40)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1005840"/>
            <a:ext cx="2240280" cy="123444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114300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0A500"/>
                </a:solidFill>
                <a:latin typeface="Calibri"/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6916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Numeric
Fidelity
(15/15)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005840"/>
            <a:ext cx="2240280" cy="123444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114300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0A500"/>
                </a:solidFill>
                <a:latin typeface="Calibri"/>
              </a:rPr>
              <a:t>76%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16916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Retrieval
Recall@3
(38/50)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20" y="1005840"/>
            <a:ext cx="2240280" cy="123444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60920" y="114300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0A500"/>
                </a:solidFill>
                <a:latin typeface="Calibri"/>
              </a:rPr>
              <a:t>88%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16916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Retrieval
Recall@7
(44/50)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005840"/>
            <a:ext cx="2240280" cy="123444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114300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0A500"/>
                </a:solidFill>
                <a:latin typeface="Calibri"/>
              </a:rPr>
              <a:t>~4–5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6916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End-to-end
Latency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688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2A5A"/>
                </a:solidFill>
                <a:latin typeface="Calibri"/>
              </a:rPr>
              <a:t>Answer Quality — RAGAS Evaluation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65760" y="2880360"/>
          <a:ext cx="57607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</a:tblGrid>
              <a:tr h="603504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Score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Faithfulness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89% of answer claims supported by retrieved docs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Answer Relevancy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0.84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84% of answer content directly addresses the question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Context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97% of retrieved passages are relevant to the question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Context Recall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0.87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C1C2E"/>
                          </a:solidFill>
                          <a:latin typeface="Calibri"/>
                        </a:rPr>
                        <a:t>87% of necessary information is retrieved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6400800" y="2468880"/>
            <a:ext cx="5486400" cy="3429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514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2A5A"/>
                </a:solidFill>
                <a:latin typeface="Calibri"/>
              </a:rPr>
              <a:t>Recall@3 Improvement Journey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9718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Calibri"/>
              </a:rPr>
              <a:t>M4 Baseline (vector only)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26880" y="3017520"/>
            <a:ext cx="950976" cy="32004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23576" y="2971800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2A5A"/>
                </a:solidFill>
                <a:latin typeface="Calibri"/>
              </a:rPr>
              <a:t>40%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68503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Calibri"/>
              </a:rPr>
              <a:t>M4 BGE reranker (CPU)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26880" y="3730752"/>
            <a:ext cx="1378915" cy="32004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51515" y="368503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2A5A"/>
                </a:solidFill>
                <a:latin typeface="Calibri"/>
              </a:rPr>
              <a:t>58%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39826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Calibri"/>
              </a:rPr>
              <a:t>M5 Metadata-only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26880" y="4443984"/>
            <a:ext cx="1759305" cy="32004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131905" y="4398264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2A5A"/>
                </a:solidFill>
                <a:latin typeface="Calibri"/>
              </a:rPr>
              <a:t>74%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511149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Calibri"/>
              </a:rPr>
              <a:t>M6 Hybrid RRF (final)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26880" y="5157216"/>
            <a:ext cx="1806854" cy="32004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179454" y="511149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2A5A"/>
                </a:solidFill>
                <a:latin typeface="Calibri"/>
              </a:rPr>
              <a:t>76%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64240" y="6537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A8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Retrieval Recall — Full Comparison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68096"/>
            <a:ext cx="12188952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ilestone5-recall-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05840"/>
            <a:ext cx="10698480" cy="6113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102A5A"/>
                </a:solidFill>
                <a:latin typeface="Calibri"/>
              </a:rPr>
              <a:t>Metadata-only pipeline is 10× faster than cross-encoder reranking while matching its Recall@3. Hybrid RRF adds +2pp @3 over metadata-only.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37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A8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Challenges Encountered &amp; How They Were Solved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68096"/>
            <a:ext cx="12188952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2560320" cy="96012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5156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A500"/>
                </a:solidFill>
                <a:latin typeface="Calibri"/>
              </a:rPr>
              <a:t>Quarterly document confusion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971800" y="1005840"/>
            <a:ext cx="402336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1051560"/>
            <a:ext cx="393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392B"/>
                </a:solidFill>
                <a:latin typeface="Calibri"/>
              </a:rPr>
              <a:t>Four quarters discuss identical metrics in similar language → retrieval returned wrong period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12344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2A5A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005840"/>
            <a:ext cx="4663440" cy="96012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2360" y="1051560"/>
            <a:ext cx="4572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7A4A"/>
                </a:solidFill>
                <a:latin typeface="Calibri"/>
              </a:rPr>
              <a:t>Numeric Fidelity Layer: bypass document search; query tagged SQLite database directly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03120"/>
            <a:ext cx="2560320" cy="96012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214884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A500"/>
                </a:solidFill>
                <a:latin typeface="Calibri"/>
              </a:rPr>
              <a:t>Retrieval accuracy vs. speed tradeoff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2103120"/>
            <a:ext cx="402336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7520" y="2148840"/>
            <a:ext cx="393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392B"/>
                </a:solidFill>
                <a:latin typeface="Calibri"/>
              </a:rPr>
              <a:t>BGE reranker: 58% @3 but 245s/query. Unacceptable for interactive use.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2A5A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103120"/>
            <a:ext cx="4663440" cy="96012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2148840"/>
            <a:ext cx="4572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7A4A"/>
                </a:solidFill>
                <a:latin typeface="Calibri"/>
              </a:rPr>
              <a:t>Metadata-only embedding: 74% @3 at 0.48s — better accuracy AND 500× faster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00400"/>
            <a:ext cx="2560320" cy="96012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324612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A500"/>
                </a:solidFill>
                <a:latin typeface="Calibri"/>
              </a:rPr>
              <a:t>Region vs. company-wide values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3200400"/>
            <a:ext cx="402336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17520" y="3246120"/>
            <a:ext cx="393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392B"/>
                </a:solidFill>
                <a:latin typeface="Calibri"/>
              </a:rPr>
              <a:t>Same metric appears at both segment and consolidated level in same file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34290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2A5A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3200400"/>
            <a:ext cx="4663440" cy="96012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3246120"/>
            <a:ext cx="4572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7A4A"/>
                </a:solidFill>
                <a:latin typeface="Calibri"/>
              </a:rPr>
              <a:t>SQL data-quality rules: explicit value range constraints per metric to filter segment-level rows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297680"/>
            <a:ext cx="2560320" cy="96012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434340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A500"/>
                </a:solidFill>
                <a:latin typeface="Calibri"/>
              </a:rPr>
              <a:t>ChromaDB in Docker (write-on-read)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71800" y="4297680"/>
            <a:ext cx="402336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17520" y="4343400"/>
            <a:ext cx="393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392B"/>
                </a:solidFill>
                <a:latin typeface="Calibri"/>
              </a:rPr>
              <a:t>Library writes internal state even on read queries → permission error on read-only volume mount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45262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2A5A"/>
                </a:solidFill>
                <a:latin typeface="Calibri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06640" y="4297680"/>
            <a:ext cx="4663440" cy="96012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52360" y="4343400"/>
            <a:ext cx="4572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7A4A"/>
                </a:solidFill>
                <a:latin typeface="Calibri"/>
              </a:rPr>
              <a:t>Mount chroma_db/ as read-write; no data security impact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394960"/>
            <a:ext cx="2560320" cy="96012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544068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A500"/>
                </a:solidFill>
                <a:latin typeface="Calibri"/>
              </a:rPr>
              <a:t>Cross-encoder hurts hybrid list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5394960"/>
            <a:ext cx="402336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17520" y="5440680"/>
            <a:ext cx="393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392B"/>
                </a:solidFill>
                <a:latin typeface="Calibri"/>
              </a:rPr>
              <a:t>ms-marco cross-encoder trained on web passages — mis-calibrated for YAML metadata text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6600" y="5623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02A5A"/>
                </a:solidFill>
                <a:latin typeface="Calibri"/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06640" y="5394960"/>
            <a:ext cx="4663440" cy="96012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52360" y="5440680"/>
            <a:ext cx="4572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7A4A"/>
                </a:solidFill>
                <a:latin typeface="Calibri"/>
              </a:rPr>
              <a:t>Removed reranker from hybrid pipeline; Recall@3 rose from 74% → 76%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537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A8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Limitations &amp; Future Directions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68096"/>
            <a:ext cx="12188952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548640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02A5A"/>
                </a:solidFill>
                <a:latin typeface="Calibri"/>
              </a:rPr>
              <a:t>Current Limitations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5303520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002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 b="0">
                <a:solidFill>
                  <a:srgbClr val="1C1C2E"/>
                </a:solidFill>
                <a:latin typeface="Calibri"/>
              </a:rPr>
              <a:t>•  Single company — Infosys Limited only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1C1C2E"/>
                </a:solidFill>
                <a:latin typeface="Calibri"/>
              </a:rPr>
              <a:t>•  Fixed corpus window: July 2025 – July 2026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1C1C2E"/>
                </a:solidFill>
                <a:latin typeface="Calibri"/>
              </a:rPr>
              <a:t>•  Top-3 document context limit — multi-source questions may be incomplete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1C1C2E"/>
                </a:solidFill>
                <a:latin typeface="Calibri"/>
              </a:rPr>
              <a:t>•  No user-controlled filters (time period, document type)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1C1C2E"/>
                </a:solidFill>
                <a:latin typeface="Calibri"/>
              </a:rPr>
              <a:t>•  Infosys IR documents have lowest retrieval recall (10–50%) due to repetitive quarterly language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1005840"/>
            <a:ext cx="5852160" cy="53949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05156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0A500"/>
                </a:solidFill>
                <a:latin typeface="Calibri"/>
              </a:rPr>
              <a:t>Future Directions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463040"/>
            <a:ext cx="5669280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60020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Multi-company support — parameterise pipeline for any NSE-listed company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Real-time document ingestion — auto-ingest new filings as published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User-controlled filters — restrict search by time period or document type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Expand document types — shareholder letters, ESG reports, AGM transcripts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 Fine-tuned embedding model — domain-adapted for financial YAML metadata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537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A8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0A500"/>
                </a:solidFill>
                <a:latin typeface="Calibri"/>
              </a:rPr>
              <a:t>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1051560"/>
            <a:ext cx="4846320" cy="6400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548640" cy="54864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02A5A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298448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A500"/>
                </a:solidFill>
                <a:latin typeface="Calibri"/>
              </a:rPr>
              <a:t>Insight over information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298448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 domain-specific AI system can outperform generic search by understanding what users actually need to know from financial disclosures.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359152"/>
            <a:ext cx="548640" cy="54864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35915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02A5A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7744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A500"/>
                </a:solidFill>
                <a:latin typeface="Calibri"/>
              </a:rPr>
              <a:t>Metadata &gt; body 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37744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Embedding curated YAML metadata (topics, sample questions) beats full-document embedding — delivering 74% Recall@3 at 10× the speed.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438144"/>
            <a:ext cx="548640" cy="54864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438144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02A5A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456432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A500"/>
                </a:solidFill>
                <a:latin typeface="Calibri"/>
              </a:rPr>
              <a:t>Hybrid retrieval wins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456432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Combining vector search with BM25 and RRF covers both semantic similarity and exact term matching — critical for financial terminology.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517136"/>
            <a:ext cx="548640" cy="54864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4517136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02A5A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35424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A500"/>
                </a:solidFill>
                <a:latin typeface="Calibri"/>
              </a:rPr>
              <a:t>Structured data for numbers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4535424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Vector search is the wrong tool for numerical queries. A tagged fact database with SQL delivers 100% fidelity every time.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596128"/>
            <a:ext cx="548640" cy="54864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5596128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02A5A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1441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0A500"/>
                </a:solidFill>
                <a:latin typeface="Calibri"/>
              </a:rPr>
              <a:t>Speed and accuracy together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5614416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The metadata breakthrough proved that the right abstraction solves both quality and performance — no GPU required.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537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A8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Project Journey — Six Milestones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68096"/>
            <a:ext cx="12188952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11247120" cy="7315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20" y="2624328"/>
            <a:ext cx="237744" cy="237744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737360" cy="132588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A500"/>
                </a:solidFill>
                <a:latin typeface="Calibri"/>
              </a:rPr>
              <a:t>M1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Problem
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Identified the gap;
defined scope &amp;
evaluation metrics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2331720"/>
            <a:ext cx="73152" cy="29260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08960" y="2624328"/>
            <a:ext cx="237744" cy="237744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77440" y="2926080"/>
            <a:ext cx="1737360" cy="132588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9260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A500"/>
                </a:solidFill>
                <a:latin typeface="Calibri"/>
              </a:rPr>
              <a:t>M2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32918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Data
Collection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3730752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492 NSE PDFs → 207
curated documents;
1-year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862072"/>
            <a:ext cx="73152" cy="6400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0" y="2624328"/>
            <a:ext cx="237744" cy="237744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1005840"/>
            <a:ext cx="1737360" cy="132588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0" y="10058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A500"/>
                </a:solidFill>
                <a:latin typeface="Calibri"/>
              </a:rPr>
              <a:t>M3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13716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Pipeline
Construction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1810512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PDF→Markdown;
KE prompts;
ChromaDB + GPT-4o-mini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2331720"/>
            <a:ext cx="73152" cy="29260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49440" y="2624328"/>
            <a:ext cx="237744" cy="237744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2926080"/>
            <a:ext cx="1737360" cy="132588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29260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A500"/>
                </a:solidFill>
                <a:latin typeface="Calibri"/>
              </a:rPr>
              <a:t>M4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2918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Retrieval
Baseline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3730752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3 retrieval strategies;
BGE: 58% @3
but 245s/query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2862072"/>
            <a:ext cx="73152" cy="6400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869680" y="2624328"/>
            <a:ext cx="237744" cy="237744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8160" y="1005840"/>
            <a:ext cx="1737360" cy="132588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10058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A500"/>
                </a:solidFill>
                <a:latin typeface="Calibri"/>
              </a:rPr>
              <a:t>M5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13716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Metadata
Breakthrough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1810512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74% @3 in 0.48s;
RAGAS faithfulness 89%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61120" y="2331720"/>
            <a:ext cx="73152" cy="29260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789920" y="2624328"/>
            <a:ext cx="237744" cy="237744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58400" y="2926080"/>
            <a:ext cx="1737360" cy="132588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0" y="29260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A500"/>
                </a:solidFill>
                <a:latin typeface="Calibri"/>
              </a:rPr>
              <a:t>M6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0" y="32918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Deployment
+ Fidelity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3730752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Hybrid RRF 76% @3;
Fact DB 100%;
FastAPI + Docker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881360" y="2862072"/>
            <a:ext cx="73152" cy="6400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02A5A"/>
                </a:solidFill>
                <a:latin typeface="Calibri"/>
              </a:rPr>
              <a:t>Total:  6 milestones  |  207 documents  |  1,875 indexed chunks  |  2,500+ facts  |  100% routing accuracy  |  76% Recall@3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64240" y="6537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A8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F0A500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3154680"/>
            <a:ext cx="3931920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337560"/>
            <a:ext cx="10360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A96A8"/>
                </a:solidFill>
                <a:latin typeface="Calibri"/>
              </a:rPr>
              <a:t>Group 6  —  Data Science &amp; AI Lab  —  T2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0B4D0"/>
                </a:solidFill>
                <a:latin typeface="Calibri"/>
              </a:rPr>
              <a:t>FinQuery: AI-powered, Stock-Specific PUA for Indian Capital Markets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0A500"/>
                </a:solidFill>
                <a:latin typeface="Calibri"/>
              </a:rPr>
              <a:t>207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96A8"/>
                </a:solidFill>
                <a:latin typeface="Calibri"/>
              </a:rPr>
              <a:t>Source docs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475488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0A500"/>
                </a:solidFill>
                <a:latin typeface="Calibri"/>
              </a:rPr>
              <a:t>1,875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5349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96A8"/>
                </a:solidFill>
                <a:latin typeface="Calibri"/>
              </a:rPr>
              <a:t>Indexed chunks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475488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0A500"/>
                </a:solidFill>
                <a:latin typeface="Calibri"/>
              </a:rPr>
              <a:t>2,500+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5349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96A8"/>
                </a:solidFill>
                <a:latin typeface="Calibri"/>
              </a:rPr>
              <a:t>Financial facts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475488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0A500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5349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96A8"/>
                </a:solidFill>
                <a:latin typeface="Calibri"/>
              </a:rPr>
              <a:t>Routing 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475488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0A500"/>
                </a:solidFill>
                <a:latin typeface="Calibri"/>
              </a:rPr>
              <a:t>76%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5349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96A8"/>
                </a:solidFill>
                <a:latin typeface="Calibri"/>
              </a:rPr>
              <a:t>Recall@3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537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A8"/>
                </a:solidFill>
                <a:latin typeface="Calibri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