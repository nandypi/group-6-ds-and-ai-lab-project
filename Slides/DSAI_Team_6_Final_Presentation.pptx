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1480"/>
            <a:ext cx="1218895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82512"/>
            <a:ext cx="1218895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FFFFFF"/>
                </a:solidFill>
                <a:latin typeface="Calibri"/>
              </a:rPr>
              <a:t>FinQuery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F0A500"/>
                </a:solidFill>
                <a:latin typeface="Calibri"/>
              </a:rPr>
              <a:t>AI-Powered Financial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AACCFF"/>
                </a:solidFill>
                <a:latin typeface="Calibri"/>
              </a:rPr>
              <a:t>End-to-End RAG Pipeline for Infosys Financial Document Q&amp;A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566160"/>
            <a:ext cx="5760720" cy="2743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8A96A8"/>
                </a:solidFill>
                <a:latin typeface="Calibri"/>
              </a:rPr>
              <a:t>DS &amp; AI Lab Project  |  Group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Problem Statement &amp;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 / 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5486400" cy="5394960"/>
          </a:xfrm>
          <a:prstGeom prst="rect">
            <a:avLst/>
          </a:prstGeom>
          <a:solidFill>
            <a:srgbClr val="F8D7DA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✗  Infosys financial data spans 1,800+ documents: NSE filings, earnings calls, analyst reports, news articles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✗  Investors struggle to extract precise answers from unstructured PDFs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✗  Exact numbers (TCV, revenue, margin) appear across dozens of similar quarterly documents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✗  No existing tool provides grounded, source-attributed financial Q&amp;A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✗  Standard keyword search fails on semantic financial queries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960120"/>
            <a:ext cx="5577840" cy="5394960"/>
          </a:xfrm>
          <a:prstGeom prst="rect">
            <a:avLst/>
          </a:prstGeom>
          <a:solidFill>
            <a:srgbClr val="D4EDDA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051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7A4A"/>
                </a:solidFill>
                <a:latin typeface="Calibri"/>
              </a:rPr>
              <a:t>Our Objective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✓  Build an end-to-end RAG pipeline over 4 financial document types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✓  Achieve high retrieval accuracy (Recall@7 ≥ 85%) at interactive latency (&lt;1s)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✓  Ensure numeric fidelity: exact numbers answered from a structured fact store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✓  Smart routing: numerical questions → SQL fact DB, descriptive → Vector search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✓  Fully deployable via Docker with a Streamlit UI and secure REST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Data Sources &amp; Collection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Four financial document types covering Infosys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3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2788920" cy="5303520"/>
          </a:xfrm>
          <a:prstGeom prst="rect">
            <a:avLst/>
          </a:prstGeom>
          <a:solidFill>
            <a:srgbClr val="F4F6F9"/>
          </a:solidFill>
          <a:ln w="12700">
            <a:solidFill>
              <a:srgbClr val="102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2788920" cy="4572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0515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NSE Filings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600200"/>
            <a:ext cx="257860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2E"/>
                </a:solidFill>
                <a:latin typeface="Calibri"/>
              </a:rPr>
              <a:t>Press releases, AGM transcripts,
buyback filings, partnerships,
responsible AI 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3749039"/>
            <a:ext cx="2578608" cy="2743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3931920"/>
            <a:ext cx="25786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2A5A"/>
                </a:solidFill>
                <a:latin typeface="Calibri"/>
              </a:rPr>
              <a:t>34 documents
~900 pages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05840"/>
            <a:ext cx="2788920" cy="5303520"/>
          </a:xfrm>
          <a:prstGeom prst="rect">
            <a:avLst/>
          </a:prstGeom>
          <a:solidFill>
            <a:srgbClr val="F4F6F9"/>
          </a:solidFill>
          <a:ln w="12700">
            <a:solidFill>
              <a:srgbClr val="1A4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05840"/>
            <a:ext cx="2788920" cy="45720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0515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Infosys 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600200"/>
            <a:ext cx="257860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2E"/>
                </a:solidFill>
                <a:latin typeface="Calibri"/>
              </a:rPr>
              <a:t>Quarterly earnings calls,
press conferences, fact sheets,
annual reports (Q1–Q4 FY26)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3749039"/>
            <a:ext cx="2578608" cy="2743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3931920"/>
            <a:ext cx="25786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4E96"/>
                </a:solidFill>
                <a:latin typeface="Calibri"/>
              </a:rPr>
              <a:t>Chunked into
~1,200 sections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05840"/>
            <a:ext cx="2788920" cy="5303520"/>
          </a:xfrm>
          <a:prstGeom prst="rect">
            <a:avLst/>
          </a:prstGeom>
          <a:solidFill>
            <a:srgbClr val="F4F6F9"/>
          </a:solidFill>
          <a:ln w="12700">
            <a:solidFill>
              <a:srgbClr val="117A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05840"/>
            <a:ext cx="2788920" cy="457200"/>
          </a:xfrm>
          <a:prstGeom prst="rect">
            <a:avLst/>
          </a:prstGeom>
          <a:solidFill>
            <a:srgbClr val="117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10515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Yahoo Finance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600200"/>
            <a:ext cx="257860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2E"/>
                </a:solidFill>
                <a:latin typeface="Calibri"/>
              </a:rPr>
              <a:t>Financial news articles
about Infosys, analyst commentary,
market reactions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3749039"/>
            <a:ext cx="2578608" cy="2743"/>
          </a:xfrm>
          <a:prstGeom prst="rect">
            <a:avLst/>
          </a:prstGeom>
          <a:solidFill>
            <a:srgbClr val="117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3931920"/>
            <a:ext cx="25786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7A8B"/>
                </a:solidFill>
                <a:latin typeface="Calibri"/>
              </a:rPr>
              <a:t>3 documents
News format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05840"/>
            <a:ext cx="2788920" cy="5303520"/>
          </a:xfrm>
          <a:prstGeom prst="rect">
            <a:avLst/>
          </a:prstGeom>
          <a:solidFill>
            <a:srgbClr val="F4F6F9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05840"/>
            <a:ext cx="278892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17736" y="10515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Trendlyne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600200"/>
            <a:ext cx="257860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2E"/>
                </a:solidFill>
                <a:latin typeface="Calibri"/>
              </a:rPr>
              <a:t>Brokerage research reports
with target prices, P/E multiples,
HOLD/BUY ratings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3749039"/>
            <a:ext cx="2578608" cy="2743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3931920"/>
            <a:ext cx="257860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7E22"/>
                </a:solidFill>
                <a:latin typeface="Calibri"/>
              </a:rPr>
              <a:t>3 analyst
research notes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400800"/>
            <a:ext cx="11640312" cy="3474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Collection tool: Docling  |  Total: ~1,875 processed documents  |  Source PDFs accessed mid-2025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System Pipeline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From raw PDFs to grounded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4 / 26</a:t>
            </a:r>
          </a:p>
        </p:txBody>
      </p:sp>
      <p:pic>
        <p:nvPicPr>
          <p:cNvPr id="7" name="Picture 6" descr="DSAI Lab Project 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4031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Knowledge Extraction — Preparing Clean Markdowns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LLM-powered semantic enrichment with YAML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5 /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60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Extraction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Raw PDFs → Docling → Markdown (structure preserved)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LLM (gpt-4o-mini) cleans and enriches each document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Generates structured YAML front matter with semantic fields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Short docs (≤10 pages): single clean markdown per document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Long docs (&gt;10 pages): section-aware chunking at 1,500–2,500 tokens (hard max 3,000)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663440"/>
            <a:ext cx="5303520" cy="2011680"/>
          </a:xfrm>
          <a:prstGeom prst="rect">
            <a:avLst/>
          </a:prstGeom>
          <a:solidFill>
            <a:srgbClr val="1E1E2E"/>
          </a:solidFill>
          <a:ln w="12700">
            <a:solidFill>
              <a:srgbClr val="F0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7091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A500"/>
                </a:solidFill>
                <a:latin typeface="Calibri"/>
              </a:rPr>
              <a:t>YAML Front Matter (embedded into ChromaDB)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5047488"/>
            <a:ext cx="52120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0FFC0"/>
                </a:solidFill>
                <a:latin typeface="Courier New"/>
              </a:rPr>
              <a:t>---
section_title: Q3 FY26 Large Deal TCV Update
section_description: &gt;
  Infosys reported $4.8B large deal TCV for Q3 FY26,
  with 57% net-new business, driven by AI and cloud.
topics:
  - large deal TCV
  - net-new business
  - AI-led deal wins
sample_queries:
  - Total large deal TCV in Q3 FY26?
  - What share of deals were net-new in Q3 FY26?
---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9601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Chunking Strategy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943600" y="1417320"/>
          <a:ext cx="576072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28016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Document Type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Chunk Size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NSE Short (≤10p)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1 file → 1 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Full 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~34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NSE Long (&gt;10p)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Section-aware split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1,500–2,500 tok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~300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Infosys 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Section-aware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1,500–2,500 tok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~1,200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Yahoo Finance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1 file → 1 markdown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Full article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Trendlyne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1 file → 1 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Full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943600" y="43434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A4A"/>
                </a:solidFill>
                <a:latin typeface="Calibri"/>
              </a:rPr>
              <a:t>Total indexed: 1,875 documents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754880"/>
            <a:ext cx="5760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Two embedding strategies evaluated: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Full-text: embed complete markdown body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Metadata-only: embed only YAML fields (breakthrough!)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Reproducible benchmarking with strict ground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6 /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601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50-Question Benchmark Dataset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417320"/>
          <a:ext cx="530352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Source Category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Questions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NSE Short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24 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NSE Long docs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10 questions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Infosys 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10 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Trendlyne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3 questions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Yahoo Finance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3 questions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50 questions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411480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Investor-oriented questions from document content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Ground truth: exact relative file path (strict matching)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No partial credit — must retrieve exact 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960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5A"/>
                </a:solidFill>
                <a:latin typeface="Calibri"/>
              </a:rPr>
              <a:t>Evaluation Metrics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17920" y="1417320"/>
          <a:ext cx="553212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560320"/>
                <a:gridCol w="105156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Expected doc in top-3 retrieved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Retrieval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Expected doc in top-5 retrieved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Retrieval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Expected doc in top-7 retrieved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Retrieval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RAGAS Faithfulness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Answer supported by context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Answer quality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RAGAS Relevancy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Answer addresses the question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Answer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RAGAS Ctx Precision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Context relevant to question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Answer quality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RAGAS Ctx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Context contains needed info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Answer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8895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Retrieval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AACCFF"/>
                </a:solidFill>
                <a:latin typeface="Calibri"/>
              </a:rPr>
              <a:t>Iterative improvement across three phases of experimentation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1: Vector Retrieval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Baseline embedding strategies on full-text corpus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8 /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144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Approaches Tried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325880"/>
          <a:ext cx="795527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246120"/>
                <a:gridCol w="1874519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R@3 / R@5 / R@7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Vector-only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Embed full markdown → Chroma → Top-10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40 / 50 / 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6.3s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HyDE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LLM generates hypothetical answer → embed → search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40 / 42 / 46%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9.3s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Raw+HyDE RRF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Fuse original + HyDE ranked lists with RRF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48 / 54 / 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~12s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BGE CPU Reranker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25 Chroma candidates → BGE cross-encoder (CPU)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58 / 64 / 64%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245s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3749039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392B"/>
                </a:solidFill>
                <a:latin typeface="Calibri"/>
              </a:rPr>
              <a:t>Key insight: BGE reranking helps (+18% vs baseline)
but 245s/question makes it unusable in practice</a:t>
            </a:r>
          </a:p>
        </p:txBody>
      </p:sp>
      <p:pic>
        <p:nvPicPr>
          <p:cNvPr id="10" name="Picture 9" descr="phase1_v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914400"/>
            <a:ext cx="6949440" cy="31240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BGE Reranker — T4 GPU Acceleration &amp; Weight Sweep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Does scoring metadata vs body text differently change recall?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9 /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1440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Hypothesis: BGE reranker scores both YAML metadata and body text together — what if we weight them differently?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Experiment: 35 Chroma candidates, T4 GPU, body weight varied 0.0 → 1.0 (metadata weight = 1 − body)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C1C2E"/>
                </a:solidFill>
                <a:latin typeface="Calibri"/>
              </a:rPr>
              <a:t>•  GPU reduced reranking latency from 245s (CPU) → 3.7s per question</a:t>
            </a:r>
          </a:p>
        </p:txBody>
      </p:sp>
      <p:pic>
        <p:nvPicPr>
          <p:cNvPr id="8" name="Picture 7" descr="gpu_weight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11680"/>
            <a:ext cx="11640312" cy="52328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635508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102A5A"/>
                </a:solidFill>
                <a:latin typeface="Calibri"/>
              </a:rPr>
              <a:t>Finding: Metadata-heavy scoring consistently outperforms body-heavy scoring — confirming that YAML metadata is a richer retrieval signal than raw body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2: Metadata Embedding — A Breakthrough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Embed only YAML semantic fields, discard body text entirely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10 / 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4754880" cy="3200400"/>
          </a:xfrm>
          <a:prstGeom prst="rect">
            <a:avLst/>
          </a:prstGeom>
          <a:solidFill>
            <a:srgbClr val="D4EDDA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24128"/>
            <a:ext cx="4480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4A"/>
                </a:solidFill>
                <a:latin typeface="Calibri"/>
              </a:rPr>
              <a:t>Key 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463040"/>
            <a:ext cx="45720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The GPU weight sweep showed metadata-only scoring wins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What if we embed only YAML metadata (no body text)?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YAML fields: section_title, section_description, topics, sample_queries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Result: 74% Recall@3 vs 40% baseline — +34 percentage points!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Latency: 0.478s — 13× faster than plain vector, 513× faster than BGE 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4297680"/>
            <a:ext cx="2194560" cy="10058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7A4A"/>
                </a:solidFill>
                <a:latin typeface="Calibri"/>
              </a:rPr>
              <a:t>74%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48463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2E"/>
                </a:solidFill>
                <a:latin typeface="Calibri"/>
              </a:rPr>
              <a:t>Recall@3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4297680"/>
            <a:ext cx="2194560" cy="10058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7A4A"/>
                </a:solidFill>
                <a:latin typeface="Calibri"/>
              </a:rPr>
              <a:t>82%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48463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2E"/>
                </a:solidFill>
                <a:latin typeface="Calibri"/>
              </a:rPr>
              <a:t>Recall@7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92040" y="4297680"/>
            <a:ext cx="2194560" cy="10058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7A4A"/>
                </a:solidFill>
                <a:latin typeface="Calibri"/>
              </a:rPr>
              <a:t>0.48s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8463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2E"/>
                </a:solidFill>
                <a:latin typeface="Calibri"/>
              </a:rPr>
              <a:t>Avg Latency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440680"/>
            <a:ext cx="6858000" cy="1280160"/>
          </a:xfrm>
          <a:prstGeom prst="rect">
            <a:avLst/>
          </a:prstGeom>
          <a:solidFill>
            <a:srgbClr val="CCE5FF"/>
          </a:solidFill>
          <a:ln w="12700">
            <a:solidFill>
              <a:srgbClr val="1A4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02A5A"/>
                </a:solidFill>
                <a:latin typeface="Calibri"/>
              </a:rPr>
              <a:t>Adding Cross-Encoder Reranking (Top-20 → CE → Top-k):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70448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C1C2E"/>
                </a:solidFill>
                <a:latin typeface="Calibri"/>
              </a:rPr>
              <a:t>Recall@3: 74%  →  Recall@5: 82%  →  Recall@7: 88%  (latency: 3.17s)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199632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1C1C2E"/>
                </a:solidFill>
                <a:latin typeface="Calibri"/>
              </a:rPr>
              <a:t>CE reranker improves @5 by +4pp and @7 by +6pp over metadata-only</a:t>
            </a:r>
          </a:p>
        </p:txBody>
      </p:sp>
      <p:pic>
        <p:nvPicPr>
          <p:cNvPr id="23" name="Picture 22" descr="phase2_meta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914400"/>
            <a:ext cx="6629400" cy="32812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3: Hybrid BM25 + Vector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Combining keyword search with semantic search via Reciprocal Rank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11 /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258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Metadata-only retrieval still struggles with Infosys IR (10% Recall@3)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IR documents contain quarter-specific numbers, ticker symbols, exact dates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BM25 keyword search excels at matching exact terms that vectors may blur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Hypothesis: fusing BM25 + vector rankings should beat either alone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3383280"/>
          <a:ext cx="7543799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63240"/>
                <a:gridCol w="1874519"/>
                <a:gridCol w="77724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R@3 / R@5 / R@7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BM25-only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BM25Okapi on YAML text, Top-20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84 / 88 / 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&lt;0.1s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Hybrid RRF + CE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BM25 + Vector fused with RRF → Cross-Encoder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74 / 82 / 86%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2.3s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Hybrid RRF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BM25 + Vector fused with RRF (no reranker)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76 / 86 / 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0.56s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4709160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7A4A"/>
                </a:solidFill>
                <a:latin typeface="Calibri"/>
              </a:rPr>
              <a:t>★ Hybrid RRF (no reranker) chosen as PRODUCTION
   — matches best recall at 0.56s latency</a:t>
            </a:r>
          </a:p>
        </p:txBody>
      </p:sp>
      <p:pic>
        <p:nvPicPr>
          <p:cNvPr id="11" name="Picture 10" descr="phase3_hyb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914400"/>
            <a:ext cx="6766560" cy="33491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All Experiments: Recall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Every retrieval strategy on the same 50-question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12 / 26</a:t>
            </a:r>
          </a:p>
        </p:txBody>
      </p:sp>
      <p:pic>
        <p:nvPicPr>
          <p:cNvPr id="7" name="Picture 6" descr="master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868680"/>
            <a:ext cx="11914632" cy="505729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4652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Best result: 88% Recall@7 (BM25-only and Hybrid RRF)  |  Best latency at 88%: Hybrid RRF at 0.56s  |  Metadata breakthrough: +34pp vs baseline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Category-wise Retrieval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Where the system excels and where it struggles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13 / 26</a:t>
            </a:r>
          </a:p>
        </p:txBody>
      </p:sp>
      <p:pic>
        <p:nvPicPr>
          <p:cNvPr id="7" name="Picture 6" descr="category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132320" cy="32062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9601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Observations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41732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NSE Short (24q): ~100% recall — distinctive entities, unique metadata per filing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Yahoo Finance (3q): 100% recall — news articles with unique language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NSE Long (10q): 70–100% — strong but some multi-section fragmentation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Trendlyne (3q): ~67% — some overlap with similar quarterly report vocabulary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Infosys IR (10q): 10–50% — hardest category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4663440"/>
            <a:ext cx="4297680" cy="2011680"/>
          </a:xfrm>
          <a:prstGeom prst="rect">
            <a:avLst/>
          </a:prstGeom>
          <a:solidFill>
            <a:srgbClr val="F8D7DA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470916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0392B"/>
                </a:solidFill>
                <a:latin typeface="Calibri"/>
              </a:rPr>
              <a:t>Why Infosys IR is hard: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074920"/>
            <a:ext cx="40690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C1C2E"/>
                </a:solidFill>
                <a:latin typeface="Calibri"/>
              </a:rPr>
              <a:t>•  Q1 through Q4 earnings calls share identical vocabulary (revenue guidance, operating margin, large-deal TCV)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C1C2E"/>
                </a:solidFill>
                <a:latin typeface="Calibri"/>
              </a:rPr>
              <a:t>•  YAML topics field is nearly identical across quarters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C1C2E"/>
                </a:solidFill>
                <a:latin typeface="Calibri"/>
              </a:rPr>
              <a:t>•  Correct document often ranked 4th or 5th — just outside top-3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RAGAS Evaluation — Answer Quality: Pipeline A vs Pipeline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14 /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91440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>
                <a:solidFill>
                  <a:srgbClr val="1C1C2E"/>
                </a:solidFill>
                <a:latin typeface="Calibri"/>
              </a:rPr>
              <a:t>Pipeline A: Metadata-only Top-10 → Top-3 context → gpt-4o-mini  |  Pipeline B: Metadata Top-20 → Cross-Encoder reranker → Top-3 → gpt-4o-mini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1C1C2E"/>
                </a:solidFill>
                <a:latin typeface="Calibri"/>
              </a:rPr>
              <a:t>50 questions evaluated on both pipelines  |  RAGAS graded by gpt-4o-mini  |  Reference answers from source documents</a:t>
            </a:r>
          </a:p>
        </p:txBody>
      </p:sp>
      <p:pic>
        <p:nvPicPr>
          <p:cNvPr id="7" name="Picture 6" descr="ragas_ab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91640"/>
            <a:ext cx="8046720" cy="39864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2A5A"/>
                </a:solidFill>
                <a:latin typeface="Calibri"/>
              </a:rPr>
              <a:t>Detailed Scores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412480" y="2176272"/>
          <a:ext cx="3483864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658368"/>
                <a:gridCol w="658368"/>
                <a:gridCol w="658368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Pipe A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Pipe B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Faithfulness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0.8929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0.9210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+0.028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Answer Relevancy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0.8439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0.8146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-0.029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Context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0.9683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0.9507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-0.018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Context Recall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0.8725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0.9277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+0.055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412480" y="3840480"/>
            <a:ext cx="3566160" cy="2834640"/>
          </a:xfrm>
          <a:prstGeom prst="rect">
            <a:avLst/>
          </a:prstGeom>
          <a:solidFill>
            <a:srgbClr val="D4EDDA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9640" y="391363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7A4A"/>
                </a:solidFill>
                <a:latin typeface="Calibri"/>
              </a:rPr>
              <a:t>Key Findings: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4297680"/>
            <a:ext cx="3337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C2E"/>
                </a:solidFill>
                <a:latin typeface="Calibri"/>
              </a:rPr>
              <a:t>•  B improves Faithfulness by +2.8pp — reranking surfaces more grounded context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C2E"/>
                </a:solidFill>
                <a:latin typeface="Calibri"/>
              </a:rPr>
              <a:t>•  B improves Context Recall by +5.5pp — wider top-20 candidate pool captures more needed info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C2E"/>
                </a:solidFill>
                <a:latin typeface="Calibri"/>
              </a:rPr>
              <a:t>•  A has slightly better Context Precision (0.97 vs 0.95) — tighter top-10 pool is more focused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C2E"/>
                </a:solidFill>
                <a:latin typeface="Calibri"/>
              </a:rPr>
              <a:t>•  A slightly better Answer Relevancy — shorter, more focused answers from top-10 retrieval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C2E"/>
                </a:solidFill>
                <a:latin typeface="Calibri"/>
              </a:rPr>
              <a:t>•  Both pipelines score strongly on all 4 RAGAS dimensions (&gt; 0.80)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Latency vs. Recall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Choosing the right pipeline for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15 / 26</a:t>
            </a:r>
          </a:p>
        </p:txBody>
      </p:sp>
      <p:pic>
        <p:nvPicPr>
          <p:cNvPr id="7" name="Picture 6" descr="latency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914400"/>
            <a:ext cx="6675120" cy="2660933"/>
          </a:xfrm>
          <a:prstGeom prst="rect">
            <a:avLst/>
          </a:prstGeom>
        </p:spPr>
      </p:pic>
      <p:pic>
        <p:nvPicPr>
          <p:cNvPr id="8" name="Picture 7" descr="latency_recall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914400"/>
            <a:ext cx="5257800" cy="287546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4652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Production choice: Hybrid RRF (0.56s) achieves 88% Recall@7 — same as BM25-only but with semantic understanding from vector search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8895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Production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AACCFF"/>
                </a:solidFill>
                <a:latin typeface="Calibri"/>
              </a:rPr>
              <a:t>Routing, numeric fidelity, and the final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Intelligent Query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Two-path system: structured numerical queries vs. semantic descriptive 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17 /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60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2194560" cy="685800"/>
          </a:xfrm>
          <a:prstGeom prst="rect">
            <a:avLst/>
          </a:prstGeom>
          <a:solidFill>
            <a:srgbClr val="CCE5FF"/>
          </a:solidFill>
          <a:ln w="12700">
            <a:solidFill>
              <a:srgbClr val="1A4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2A5A"/>
                </a:solidFill>
                <a:latin typeface="Calibri"/>
              </a:rPr>
              <a:t>User 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94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02A5A"/>
                </a:solidFill>
                <a:latin typeface="Calibri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606040"/>
            <a:ext cx="2560320" cy="68580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6517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LLM Router
(gpt-4o-mini classifier)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337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1C1C2E"/>
                </a:solidFill>
                <a:latin typeface="Calibri"/>
              </a:rPr>
              <a:t>← Numerical query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03320"/>
            <a:ext cx="2560320" cy="685800"/>
          </a:xfrm>
          <a:prstGeom prst="rect">
            <a:avLst/>
          </a:prstGeom>
          <a:solidFill>
            <a:srgbClr val="D4EDDA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749039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7A4A"/>
                </a:solidFill>
                <a:latin typeface="Calibri"/>
              </a:rPr>
              <a:t>SQLite Fact DB
(2,500+ financial facts)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34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C1C2E"/>
                </a:solidFill>
                <a:latin typeface="Calibri"/>
              </a:rPr>
              <a:t>↓ SQL query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754880"/>
            <a:ext cx="2560320" cy="594360"/>
          </a:xfrm>
          <a:prstGeom prst="rect">
            <a:avLst/>
          </a:prstGeom>
          <a:solidFill>
            <a:srgbClr val="D4EDDA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800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7A4A"/>
                </a:solidFill>
                <a:latin typeface="Calibri"/>
              </a:rPr>
              <a:t>Exact numeric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337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1C1C2E"/>
                </a:solidFill>
                <a:latin typeface="Calibri"/>
              </a:rPr>
              <a:t>Descriptive query 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71800" y="3703320"/>
            <a:ext cx="2560320" cy="685800"/>
          </a:xfrm>
          <a:prstGeom prst="rect">
            <a:avLst/>
          </a:prstGeom>
          <a:solidFill>
            <a:srgbClr val="CCE5FF"/>
          </a:solidFill>
          <a:ln w="12700">
            <a:solidFill>
              <a:srgbClr val="1A4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71800" y="3749039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E96"/>
                </a:solidFill>
                <a:latin typeface="Calibri"/>
              </a:rPr>
              <a:t>Hybrid RRF Retrieval
(Vector + BM25)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434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C1C2E"/>
                </a:solidFill>
                <a:latin typeface="Calibri"/>
              </a:rPr>
              <a:t>↓ gpt-4o-mini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4754880"/>
            <a:ext cx="2560320" cy="594360"/>
          </a:xfrm>
          <a:prstGeom prst="rect">
            <a:avLst/>
          </a:prstGeom>
          <a:solidFill>
            <a:srgbClr val="CCE5FF"/>
          </a:solidFill>
          <a:ln w="12700">
            <a:solidFill>
              <a:srgbClr val="1A4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800" y="4800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E96"/>
                </a:solidFill>
                <a:latin typeface="Calibri"/>
              </a:rPr>
              <a:t>Grounded answer + sources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9601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Benchmark Results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943600" y="1417320"/>
          <a:ext cx="521208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28600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1C1C2E"/>
                          </a:solidFill>
                          <a:latin typeface="Calibri"/>
                        </a:rPr>
                        <a:t>Overall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C1C2E"/>
                          </a:solidFill>
                          <a:latin typeface="Calibri"/>
                        </a:rPr>
                        <a:t>40/40 =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1C1C2E"/>
                          </a:solidFill>
                          <a:latin typeface="Calibri"/>
                        </a:rPr>
                        <a:t>Numerical (→ FACT_DB)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C1C2E"/>
                          </a:solidFill>
                          <a:latin typeface="Calibri"/>
                        </a:rPr>
                        <a:t>15/15 = 100%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1C1C2E"/>
                          </a:solidFill>
                          <a:latin typeface="Calibri"/>
                        </a:rPr>
                        <a:t>Descriptive (→ VECTOR)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C1C2E"/>
                          </a:solidFill>
                          <a:latin typeface="Calibri"/>
                        </a:rPr>
                        <a:t>25/25 = 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1C1C2E"/>
                          </a:solidFill>
                          <a:latin typeface="Calibri"/>
                        </a:rPr>
                        <a:t>Average routing latency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>
                          <a:solidFill>
                            <a:srgbClr val="1C1C2E"/>
                          </a:solidFill>
                          <a:latin typeface="Calibri"/>
                        </a:rPr>
                        <a:t>0.753s/question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pic>
        <p:nvPicPr>
          <p:cNvPr id="27" name="Picture 26" descr="quality_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3291840"/>
            <a:ext cx="5943600" cy="218053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Numeric Fidelity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Exact financial numbers from a structured SQL database — no hallucination on key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18 /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60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Calibri"/>
              </a:rPr>
              <a:t>The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LLMs can hallucinate or round financial figures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Revenue, EPS, margin numbers must be exact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Vector search may retrieve wrong quarter's numbers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Questions like 'What was Infosys revenue in Q3 FY26?' demand 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3375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4A"/>
                </a:solidFill>
                <a:latin typeface="Calibri"/>
              </a:rPr>
              <a:t>Our Solution: SQLite Fact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79476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2,500+ financial facts extracted from Infosys documents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Period-tagged: company, quarter, fiscal year, metric name, value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LLM generates SQL query from natural language question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Fact DB returns exact, sourced number with period context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Numeric fidelity benchmark: 15/15 =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960120"/>
            <a:ext cx="5943600" cy="53949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02412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A500"/>
                </a:solidFill>
                <a:latin typeface="Calibri"/>
              </a:rPr>
              <a:t>Example: Exact Numeric Retrieval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41732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FFC0"/>
                </a:solidFill>
                <a:latin typeface="Courier New"/>
              </a:rPr>
              <a:t>Query: "What was Infosys revenue in Q3 FY26?"
Generated SQL:
SELECT value, unit, period
FROM facts
WHERE metric = "revenue"
  AND quarter = "Q3"
  AND fiscal_year = "FY26";
Result: ₹41,764 crore  (Q3 FY26)
        → Returned verbatim, no hallucination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8895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Frontend &amp;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AACCFF"/>
                </a:solidFill>
                <a:latin typeface="Calibri"/>
              </a:rPr>
              <a:t>FastAPI REST API + Streamlit UI + Docker Compose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System Architecture — API &amp;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F"/>
                </a:solidFill>
                <a:latin typeface="Calibri"/>
              </a:rPr>
              <a:t>Production-ready with authentication, rate limiting, and containerization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20 /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960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FastAPI Backend (port 8000)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1732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POST /token — JWT authentication (username + password)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POST /query — Main Q&amp;A endpoint (Bearer token required)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GET /health — Health check for Docker readiness probe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Rate limiting: 30 requests per hour per user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Query routing inside API: VECTOR or FACT_DB path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Returns: answer + source documents + latency metadata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14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Streamlit Frontend (port 8501)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57200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Login page with JWT token acquisition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Chat-style interface with question input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Displays answer + expandable source documents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Shows retrieval path (VECTOR / FACT_DB) and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9601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Docker Compose Deployment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943600" y="1417320"/>
          <a:ext cx="576072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920240"/>
                <a:gridCol w="91440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Port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Depends on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Python 3.11 slim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8000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streamlit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Python 3.11 slim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8501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api (healthy)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943600" y="256032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docker compose up --build -d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Volumes: ./data:/app/data (ChromaDB + facts.db)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Health check: GET /health before Streamlit starts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Environment: .env file (API key, credentials, rate limit)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C1C2E"/>
                </a:solidFill>
                <a:latin typeface="Calibri"/>
              </a:rPr>
              <a:t>•  Single command setup — no manual pip install needed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0" y="4572000"/>
          <a:ext cx="58064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Config Variable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OPENAI_API_KEY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OpenAI embedding + generation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APP_USERNAME / APP_PASSWORD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Login credentials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JWT_SECRET_KEY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Token signing 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APP_RATE_LIMIT_PER_HOUR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Request cap (default: 30)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DO_RERANKING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1C1C2E"/>
                          </a:solidFill>
                          <a:latin typeface="Calibri"/>
                        </a:rPr>
                        <a:t>Enable CE reranker (True/False)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Live Demo — FinQuery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21 / 26</a:t>
            </a:r>
          </a:p>
        </p:txBody>
      </p:sp>
      <p:pic>
        <p:nvPicPr>
          <p:cNvPr id="6" name="Picture 5" descr="milestone6-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5897880" cy="2221085"/>
          </a:xfrm>
          <a:prstGeom prst="rect">
            <a:avLst/>
          </a:prstGeom>
        </p:spPr>
      </p:pic>
      <p:pic>
        <p:nvPicPr>
          <p:cNvPr id="7" name="Picture 6" descr="milestone6-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914400"/>
            <a:ext cx="5715000" cy="2152214"/>
          </a:xfrm>
          <a:prstGeom prst="rect">
            <a:avLst/>
          </a:prstGeom>
        </p:spPr>
      </p:pic>
      <p:pic>
        <p:nvPicPr>
          <p:cNvPr id="8" name="Picture 7" descr="milestone6-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407408"/>
            <a:ext cx="5897880" cy="2221085"/>
          </a:xfrm>
          <a:prstGeom prst="rect">
            <a:avLst/>
          </a:prstGeom>
        </p:spPr>
      </p:pic>
      <p:pic>
        <p:nvPicPr>
          <p:cNvPr id="9" name="Picture 8" descr="milestone6-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4407408"/>
            <a:ext cx="5715000" cy="21522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8600" y="3429000"/>
            <a:ext cx="5897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A96A8"/>
                </a:solidFill>
                <a:latin typeface="Calibri"/>
              </a:rPr>
              <a:t>Login &amp; FACT_DB 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429000"/>
            <a:ext cx="5715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A96A8"/>
                </a:solidFill>
                <a:latin typeface="Calibri"/>
              </a:rPr>
              <a:t>Vector RAG Answer with Sources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Key Results &amp; Achievements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22 / 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2103120" cy="10058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7899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7A4A"/>
                </a:solidFill>
                <a:latin typeface="Calibri"/>
              </a:rPr>
              <a:t>88%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554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2E"/>
                </a:solidFill>
                <a:latin typeface="Calibri"/>
              </a:rPr>
              <a:t>Peak Recall@7
(Hybrid RRF)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1005840"/>
            <a:ext cx="2103120" cy="1005840"/>
          </a:xfrm>
          <a:prstGeom prst="rect">
            <a:avLst/>
          </a:prstGeom>
          <a:solidFill>
            <a:srgbClr val="CC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07899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4E96"/>
                </a:solidFill>
                <a:latin typeface="Calibri"/>
              </a:rPr>
              <a:t>0.56s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554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2E"/>
                </a:solidFill>
                <a:latin typeface="Calibri"/>
              </a:rPr>
              <a:t>Production Latency
(Hybrid RRF)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005840"/>
            <a:ext cx="2103120" cy="10058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07899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7A4A"/>
                </a:solidFill>
                <a:latin typeface="Calibri"/>
              </a:rPr>
              <a:t>0.97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554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2E"/>
                </a:solidFill>
                <a:latin typeface="Calibri"/>
              </a:rPr>
              <a:t>RAGAS Context
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5160" y="1005840"/>
            <a:ext cx="2103120" cy="10058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107899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7A4A"/>
                </a:solidFill>
                <a:latin typeface="Calibri"/>
              </a:rPr>
              <a:t>0.89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1554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2E"/>
                </a:solidFill>
                <a:latin typeface="Calibri"/>
              </a:rPr>
              <a:t>RAGAS
Faithfulness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1005840"/>
            <a:ext cx="2103120" cy="10058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07899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7A4A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554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2E"/>
                </a:solidFill>
                <a:latin typeface="Calibri"/>
              </a:rPr>
              <a:t>Query Routing
Accuracy (40/40)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74320" y="2194560"/>
          <a:ext cx="7772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051560"/>
                <a:gridCol w="1051560"/>
                <a:gridCol w="1051560"/>
                <a:gridCol w="114300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Pipeline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Recall@3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Recall@7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102A5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Vector-only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6.3s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BGE CPU Reranker (best Phase 1)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245s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Metadata-only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0.48s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Metadata + Cross-Encoder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3.17s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BM25-only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&lt;0.1s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Hybrid RRF ★ PRODUCTION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0.56s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7726679" y="226771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A4A"/>
                </a:solidFill>
                <a:latin typeface="Calibri"/>
              </a:rPr>
              <a:t>RAGAS Answer Quality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726679" y="2670048"/>
          <a:ext cx="315468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0584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A7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>
                    <a:solidFill>
                      <a:srgbClr val="1A7A4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Faithfulness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0.8929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Answer Relevancy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0.8439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Context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0.9683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Context Recall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1C1C2E"/>
                          </a:solidFill>
                          <a:latin typeface="Calibri"/>
                        </a:rPr>
                        <a:t>0.8725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7726679" y="4617720"/>
            <a:ext cx="3749039" cy="10058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469087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7A4A"/>
                </a:solidFill>
                <a:latin typeface="Calibri"/>
              </a:rPr>
              <a:t>2,500+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516636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2E"/>
                </a:solidFill>
                <a:latin typeface="Calibri"/>
              </a:rPr>
              <a:t>Financial Facts
in SQLite DB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2194560"/>
            <a:ext cx="4297680" cy="3977639"/>
          </a:xfrm>
          <a:prstGeom prst="rect">
            <a:avLst/>
          </a:prstGeom>
          <a:solidFill>
            <a:srgbClr val="D4EDDA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226771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A4A"/>
                </a:solidFill>
                <a:latin typeface="Calibri"/>
              </a:rPr>
              <a:t>RAGAS Evaluation (50 questions)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726679" y="2670048"/>
          <a:ext cx="3429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868680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A7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Pipe A</a:t>
                      </a:r>
                    </a:p>
                  </a:txBody>
                  <a:tcPr>
                    <a:solidFill>
                      <a:srgbClr val="1A7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Pipe B</a:t>
                      </a:r>
                    </a:p>
                  </a:txBody>
                  <a:tcPr>
                    <a:solidFill>
                      <a:srgbClr val="1A7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Faithfulness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0.893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Ans. Relevancy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0.844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0.815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Ctx.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0.968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0.951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Ctx. Recall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0.873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C1C2E"/>
                          </a:solidFill>
                          <a:latin typeface="Calibri"/>
                        </a:rPr>
                        <a:t>0.928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7726679" y="425196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A96A8"/>
                </a:solidFill>
                <a:latin typeface="Calibri"/>
              </a:rPr>
              <a:t>A = Metadata-only (no reranker)  |  B = Metadata + Cross-Encoder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26679" y="4709160"/>
            <a:ext cx="3749039" cy="1325880"/>
          </a:xfrm>
          <a:prstGeom prst="rect">
            <a:avLst/>
          </a:prstGeom>
          <a:solidFill>
            <a:srgbClr val="D4EDDA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79" y="4773168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7A4A"/>
                </a:solidFill>
                <a:latin typeface="Calibri"/>
              </a:rPr>
              <a:t>2,500+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79" y="5413248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C1C2E"/>
                </a:solidFill>
                <a:latin typeface="Calibri"/>
              </a:rPr>
              <a:t>Financial Facts in SQLite DB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Challenges Encountered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23 / 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5577840" cy="1627632"/>
          </a:xfrm>
          <a:prstGeom prst="rect">
            <a:avLst/>
          </a:prstGeom>
          <a:solidFill>
            <a:srgbClr val="F4F6F9"/>
          </a:solidFill>
          <a:ln w="12700">
            <a:solidFill>
              <a:srgbClr val="1A4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2A5A"/>
                </a:solidFill>
                <a:latin typeface="Calibri"/>
              </a:rPr>
              <a:t>Infosys IR Disambiguation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44752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E"/>
                </a:solidFill>
                <a:latin typeface="Calibri"/>
              </a:rPr>
              <a:t>Q1–Q4 earnings calls share identical vocabulary. Metadata-only retrieval often identifies the right document family but wrong quarter. Addressed partially with BM25 for exact number matching.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788920"/>
            <a:ext cx="5577840" cy="1627632"/>
          </a:xfrm>
          <a:prstGeom prst="rect">
            <a:avLst/>
          </a:prstGeom>
          <a:solidFill>
            <a:srgbClr val="F4F6F9"/>
          </a:solidFill>
          <a:ln w="12700">
            <a:solidFill>
              <a:srgbClr val="1A4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8803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2A5A"/>
                </a:solidFill>
                <a:latin typeface="Calibri"/>
              </a:rPr>
              <a:t>Long Document Fragmentation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227832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E"/>
                </a:solidFill>
                <a:latin typeface="Calibri"/>
              </a:rPr>
              <a:t>Evidence for list-style questions spans multiple section chunks. Retrieving one correct chunk may miss parts of the answer when evidence spans group_001.md through group_005.md.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572000"/>
            <a:ext cx="5577840" cy="1627632"/>
          </a:xfrm>
          <a:prstGeom prst="rect">
            <a:avLst/>
          </a:prstGeom>
          <a:solidFill>
            <a:srgbClr val="F4F6F9"/>
          </a:solidFill>
          <a:ln w="12700">
            <a:solidFill>
              <a:srgbClr val="1A4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6634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2A5A"/>
                </a:solidFill>
                <a:latin typeface="Calibri"/>
              </a:rPr>
              <a:t>YAML Formatting Errors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010912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E"/>
                </a:solidFill>
                <a:latin typeface="Calibri"/>
              </a:rPr>
              <a:t>Original documents had malformed YAML quoting. Required repair and full re-embedding of 1,877 documents — a multi-hour rebuild.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005840"/>
            <a:ext cx="5623560" cy="1627632"/>
          </a:xfrm>
          <a:prstGeom prst="rect">
            <a:avLst/>
          </a:prstGeom>
          <a:solidFill>
            <a:srgbClr val="F4F6F9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0972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7E22"/>
                </a:solidFill>
                <a:latin typeface="Calibri"/>
              </a:rPr>
              <a:t>BGE CPU 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444752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E"/>
                </a:solidFill>
                <a:latin typeface="Calibri"/>
              </a:rPr>
              <a:t>Full cross-encoder reranking on CPU: 245s/question. Unusable for interactive use. Resolved with T4 GPU (3.7s) and by pivoting to lightweight CE models.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788920"/>
            <a:ext cx="5623560" cy="1627632"/>
          </a:xfrm>
          <a:prstGeom prst="rect">
            <a:avLst/>
          </a:prstGeom>
          <a:solidFill>
            <a:srgbClr val="F4F6F9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8803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7E22"/>
                </a:solidFill>
                <a:latin typeface="Calibri"/>
              </a:rPr>
              <a:t>RAGAS Evaluation Artifacts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27832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E"/>
                </a:solidFill>
                <a:latin typeface="Calibri"/>
              </a:rPr>
              <a:t>Answer relevancy metric penalizes faithful but detailed answers. A correct grounded answer received 0 relevancy for one question due to RAGAS synthetic question reconstruction.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572000"/>
            <a:ext cx="5623560" cy="1627632"/>
          </a:xfrm>
          <a:prstGeom prst="rect">
            <a:avLst/>
          </a:prstGeom>
          <a:solidFill>
            <a:srgbClr val="F4F6F9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6634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7E22"/>
                </a:solidFill>
                <a:latin typeface="Calibri"/>
              </a:rPr>
              <a:t>Reranker Candidate Ceiling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10912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C2E"/>
                </a:solidFill>
                <a:latin typeface="Calibri"/>
              </a:rPr>
              <a:t>Rerankers can only reorder documents already in the candidate pool. If the correct document is absent from the initial Chroma results, reranking cannot recover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Limitations &amp; Future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24 / 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5394960" cy="5715000"/>
          </a:xfrm>
          <a:prstGeom prst="rect">
            <a:avLst/>
          </a:prstGeom>
          <a:solidFill>
            <a:srgbClr val="F8D7DA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0392B"/>
                </a:solidFill>
                <a:latin typeface="Calibri"/>
              </a:rPr>
              <a:t>Current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Infosys IR retrieval remains weakest (10–50% @R3) — quarterly documents too similar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Fact DB covers extracted facts only — new documents need manual extraction pipeline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Context window limited to top-3 documents; multi-hop or list questions may be incomplete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No conversation history — each query is independent (stateless API)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RAGAS Pipeline B (with reranker) evaluation was not available at initial submission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BGE reranker truncates very long document bodies — some content lost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Trendlyne and Yahoo Finance are small sets (3 docs each) — recall percentages less reliable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960120"/>
            <a:ext cx="5760720" cy="5715000"/>
          </a:xfrm>
          <a:prstGeom prst="rect">
            <a:avLst/>
          </a:prstGeom>
          <a:solidFill>
            <a:srgbClr val="D4EDDA"/>
          </a:solidFill>
          <a:ln w="1270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02412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7A4A"/>
                </a:solidFill>
                <a:latin typeface="Calibri"/>
              </a:rPr>
              <a:t>Future Directions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4630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Fine-tune embedding model on financial domain data for better IR disambiguation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Expand fact DB with automated LLM extraction for all new filings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Add conversation history with session-based context management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Multi-document synthesis for list-style questions spanning adjacent chunks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GraphRAG or entity-linked retrieval to connect documents by company/event relationships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Larger reranker (BAAI/bge-reranker-v2-m3) on dedicated GPU for production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C1C2E"/>
                </a:solidFill>
                <a:latin typeface="Calibri"/>
              </a:rPr>
              <a:t>•  Streaming API responses for better user experience on long answers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04672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8952"/>
            <a:ext cx="12188952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25 / 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457200" cy="10058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887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960120"/>
            <a:ext cx="11155680" cy="10058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051560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Metadata &gt; Full-text for 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9903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2E"/>
                </a:solidFill>
                <a:latin typeface="Calibri"/>
              </a:rPr>
              <a:t>Embedding only YAML semantic metadata (section_title, topics, sample_queries) achieved 74% Recall@3 vs 40% for full-text — a 34 percentage point gain with 13× lower latency.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75688"/>
            <a:ext cx="457200" cy="100584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304288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075688"/>
            <a:ext cx="11155680" cy="10058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167128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Hybrid &gt; Single Modality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1460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2E"/>
                </a:solidFill>
                <a:latin typeface="Calibri"/>
              </a:rPr>
              <a:t>BM25 keyword search and vector semantic search capture complementary signals. Hybrid RRF combines both without requiring a slow reranker, achieving 88% Recall@7 at 0.56s.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191256"/>
            <a:ext cx="457200" cy="1005840"/>
          </a:xfrm>
          <a:prstGeom prst="rect">
            <a:avLst/>
          </a:prstGeom>
          <a:solidFill>
            <a:srgbClr val="10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419856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191256"/>
            <a:ext cx="11155680" cy="10058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28269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Routing Enables Precision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6301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2E"/>
                </a:solidFill>
                <a:latin typeface="Calibri"/>
              </a:rPr>
              <a:t>Separating numerical queries (→ SQL fact store) from descriptive queries (→ vector RAG) eliminates hallucination on financial figures while keeping the RAG pipeline focused.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306824"/>
            <a:ext cx="457200" cy="1005840"/>
          </a:xfrm>
          <a:prstGeom prst="rect">
            <a:avLst/>
          </a:prstGeom>
          <a:solidFill>
            <a:srgbClr val="117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535424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306824"/>
            <a:ext cx="11155680" cy="10058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9826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Speed-Quality Tradeoff is Real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745736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2E"/>
                </a:solidFill>
                <a:latin typeface="Calibri"/>
              </a:rPr>
              <a:t>BGE CPU reranking gives 64% R@7 at 245s. Metadata-only gives 82% R@7 at 0.48s. The right architecture choice matters more than heavy reranking.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422392"/>
            <a:ext cx="457200" cy="10058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565099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5422392"/>
            <a:ext cx="11155680" cy="10058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513832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2A5A"/>
                </a:solidFill>
                <a:latin typeface="Calibri"/>
              </a:rPr>
              <a:t>RAGAS Confirms End-to-End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861304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C2E"/>
                </a:solidFill>
                <a:latin typeface="Calibri"/>
              </a:rPr>
              <a:t>Context Precision 0.97 and Faithfulness 0.89 show that high retrieval accuracy translates to grounded, relevant answers — not just high recall numbers.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88952" cy="64008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0A500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ACCFF"/>
                </a:solidFill>
                <a:latin typeface="Calibri"/>
              </a:rPr>
              <a:t>FinQuery — Group 6 | DS &amp; AI Lab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2103120" cy="141732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1,875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21808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A500"/>
                </a:solidFill>
                <a:latin typeface="Calibri"/>
              </a:rPr>
              <a:t>Indexed
Documents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4572000"/>
            <a:ext cx="2103120" cy="141732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21808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A500"/>
                </a:solidFill>
                <a:latin typeface="Calibri"/>
              </a:rPr>
              <a:t>Peak
Recall@7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4572000"/>
            <a:ext cx="2103120" cy="141732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0.56s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5321808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A500"/>
                </a:solidFill>
                <a:latin typeface="Calibri"/>
              </a:rPr>
              <a:t>Production
Latency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59" y="4572000"/>
            <a:ext cx="2103120" cy="141732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59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59" y="5321808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A500"/>
                </a:solidFill>
                <a:latin typeface="Calibri"/>
              </a:rPr>
              <a:t>Routing
Accuracy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84080" y="4572000"/>
            <a:ext cx="2103120" cy="1417320"/>
          </a:xfrm>
          <a:prstGeom prst="rect">
            <a:avLst/>
          </a:prstGeom>
          <a:solidFill>
            <a:srgbClr val="1A4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46634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2,500+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5321808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A500"/>
                </a:solidFill>
                <a:latin typeface="Calibri"/>
              </a:rPr>
              <a:t>Financial
Facts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6019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6A8"/>
                </a:solidFill>
                <a:latin typeface="Calibri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