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cIdOdLNcDIyANw8NTgjaBC14H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B21B74-D8FC-48D4-869A-1F738B3A4953}">
  <a:tblStyle styleId="{25B21B74-D8FC-48D4-869A-1F738B3A49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1609649-03A6-4475-90FF-E06B5FD767E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0f63ba8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f60f63ba8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f60f63ba8d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0f63ba8d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60f63ba8d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f60f63ba8d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60f63ba8d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60f63ba8d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f60f63ba8d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602db402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f602db402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602db402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602db4028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602db4028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602db4028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60f63ba8d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f60f63ba8d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f60f63ba8d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60f63ba8d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60f63ba8d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607040" y="4480560"/>
            <a:ext cx="1280160" cy="12801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2240280"/>
            <a:ext cx="112772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MILESTONE 4  —  TRAINING &amp; EXPERIMENTATION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651760"/>
            <a:ext cx="1127729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FinQuery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3794750"/>
            <a:ext cx="11665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AI-Powered, Stock-Specific Public Update Analyzer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 Indian Capital Markets</a:t>
            </a:r>
            <a:endParaRPr sz="17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Team 06  ·  IIT Madras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457200" y="4846325"/>
            <a:ext cx="3000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Akbar Ali — 23f1002997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Gurram Sai Sri Ram Hruthik — 22f3001648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NandanReddy Parnapalli — 22f3002857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Shubham Gattani — 21f3002082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Shubhashish Biswas — 21f1001460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DATASETS 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Retrieval Corpus — Sources &amp; Volumes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" name="Google Shape;33;p2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2834650"/>
                <a:gridCol w="4572000"/>
                <a:gridCol w="38679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Used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NSE Corporate Announcements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Infosys filings, last 12 months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source for official disclosures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Infosys Investor Relations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Earnings calls, press conf., fact sheets, IFRS/INR releases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Detailed financial &amp; operational context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Trendlyne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Brokerage / research reports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Analyst and market interpretation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yfinance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News and market-related articles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Supporting recent market context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 Query Set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Infosys-related test questions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 / evaluation experiments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34" name="Google Shape;34;p2"/>
          <p:cNvSpPr/>
          <p:nvPr/>
        </p:nvSpPr>
        <p:spPr>
          <a:xfrm>
            <a:off x="457200" y="4800600"/>
            <a:ext cx="11277295" cy="1234440"/>
          </a:xfrm>
          <a:prstGeom prst="roundRect">
            <a:avLst>
              <a:gd fmla="val 5926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85800" y="4937760"/>
            <a:ext cx="108200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Corpus volumes after filtering: 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240 NSE PDFs → 137 retained (65 rule-based + 72 GPT/Codex review)  ·  109 short (≤10pp) / 28 long (&gt;10pp) → 749 header-aware sections  ·  16 Infosys IR docs  ·  6 yfinance articles  ·  5 Trendlyne reports  ·  50 benchmark questions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NECESSARY 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Pipeline &amp; Chunking Strategy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011784" y="150876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103224" y="132588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1103224" y="13258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121512" y="1728216"/>
            <a:ext cx="21579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PDF → Markdown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(Docling)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398368" y="186080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3608680" y="150876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3700120" y="132588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3700120" y="13258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718408" y="1728216"/>
            <a:ext cx="21579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NSE filtering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(metadata+keyword+review)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995264" y="186080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205576" y="150876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297016" y="132588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297016" y="13258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315304" y="1728216"/>
            <a:ext cx="21579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Dedup &amp;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renaming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592160" y="186080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802472" y="150876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893912" y="1325880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893912" y="13258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912200" y="1728216"/>
            <a:ext cx="21579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Page-count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(≤10pp/&gt;10pp)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11784" y="283464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F7F1E0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103224" y="2651760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103224" y="26517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21512" y="3054096"/>
            <a:ext cx="21579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Header-aware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sectioning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398368" y="318668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608680" y="283464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F7F1E0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700120" y="2651760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700120" y="26517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718408" y="3054096"/>
            <a:ext cx="21579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Source-specific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cleaning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995264" y="318668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205576" y="283464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F7F1E0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297016" y="2651760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297016" y="26517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315304" y="3054096"/>
            <a:ext cx="21579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(1 file/section)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592160" y="318668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8802472" y="2834640"/>
            <a:ext cx="2377440" cy="868680"/>
          </a:xfrm>
          <a:prstGeom prst="roundRect">
            <a:avLst>
              <a:gd fmla="val 8421" name="adj"/>
            </a:avLst>
          </a:prstGeom>
          <a:solidFill>
            <a:srgbClr val="F7F1E0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893912" y="2651760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893912" y="26517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912200" y="3054096"/>
            <a:ext cx="21579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Embed + index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(ChromaDB)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100" y="3886200"/>
            <a:ext cx="11277300" cy="2194500"/>
          </a:xfrm>
          <a:prstGeom prst="roundRect">
            <a:avLst>
              <a:gd fmla="val 3077" name="adj"/>
            </a:avLst>
          </a:prstGeom>
          <a:solidFill>
            <a:srgbClr val="F7F9FE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85800" y="38862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Chunking: 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828800" y="3886200"/>
            <a:ext cx="95399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Short docs (≤10pp):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whole cleaned file = 1 chunk.  </a:t>
            </a: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Long NSE docs (&gt;10pp):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each header-aware section = 1 chunk.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85800" y="43434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Source-specific cleaning focus: 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85800" y="4681728"/>
            <a:ext cx="1082009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NSE — strip exchange wrappers, signatures, boilerplate  ·  IR — preserve earnings-call/report structure  ·  Trendlyne — preserve recommendations, target prices, valuation logic  ·  yfinance — preserve facts, dates, quotes, figures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End-to-End RAG Flow &amp; Key Components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1280160"/>
            <a:ext cx="11277295" cy="1188720"/>
          </a:xfrm>
          <a:prstGeom prst="roundRect">
            <a:avLst>
              <a:gd fmla="val 6154" name="adj"/>
            </a:avLst>
          </a:prstGeom>
          <a:solidFill>
            <a:srgbClr val="F7F9FE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40080" y="132588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INDEXING — OFFLINE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23748" y="1600200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769468" y="160020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Raw Public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Documents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698852" y="195224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918308" y="1600200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964028" y="160020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PDF / Article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93412" y="195224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112868" y="1600200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5158588" y="160020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Clean Markdown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YAML Metadata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087972" y="195224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7307428" y="1600200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7353148" y="160020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Embedding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(text-embedding-3-small)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282532" y="1952244"/>
            <a:ext cx="182880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9501988" y="1600200"/>
            <a:ext cx="1965960" cy="868680"/>
          </a:xfrm>
          <a:prstGeom prst="roundRect">
            <a:avLst>
              <a:gd fmla="val 842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9547708" y="1600200"/>
            <a:ext cx="1874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Vector Index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200" y="2743200"/>
            <a:ext cx="11277295" cy="1188720"/>
          </a:xfrm>
          <a:prstGeom prst="roundRect">
            <a:avLst>
              <a:gd fmla="val 6154" name="adj"/>
            </a:avLst>
          </a:prstGeom>
          <a:solidFill>
            <a:srgbClr val="FBF6E9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40080" y="27889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QUERY — ONLINE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74624" y="3063240"/>
            <a:ext cx="1572768" cy="868680"/>
          </a:xfrm>
          <a:prstGeom prst="roundRect">
            <a:avLst>
              <a:gd fmla="val 8421" name="adj"/>
            </a:avLst>
          </a:prstGeom>
          <a:solidFill>
            <a:srgbClr val="FDF9EF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920344" y="306324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456536" y="3415284"/>
            <a:ext cx="146304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648560" y="3063240"/>
            <a:ext cx="1572768" cy="868680"/>
          </a:xfrm>
          <a:prstGeom prst="roundRect">
            <a:avLst>
              <a:gd fmla="val 8421" name="adj"/>
            </a:avLst>
          </a:prstGeom>
          <a:solidFill>
            <a:srgbClr val="FDF9EF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2694280" y="306324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Query Embed 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HyDE Expansion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230472" y="3415284"/>
            <a:ext cx="146304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422496" y="3063240"/>
            <a:ext cx="1572768" cy="868680"/>
          </a:xfrm>
          <a:prstGeom prst="roundRect">
            <a:avLst>
              <a:gd fmla="val 8421" name="adj"/>
            </a:avLst>
          </a:prstGeom>
          <a:solidFill>
            <a:srgbClr val="FDF9EF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468216" y="306324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Top-k Semantic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004408" y="3415284"/>
            <a:ext cx="146304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196432" y="3063240"/>
            <a:ext cx="1572768" cy="868680"/>
          </a:xfrm>
          <a:prstGeom prst="roundRect">
            <a:avLst>
              <a:gd fmla="val 8421" name="adj"/>
            </a:avLst>
          </a:prstGeom>
          <a:solidFill>
            <a:srgbClr val="FDF9EF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6242152" y="306324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Reranking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778344" y="3415284"/>
            <a:ext cx="146304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970368" y="3063240"/>
            <a:ext cx="1572768" cy="868680"/>
          </a:xfrm>
          <a:prstGeom prst="roundRect">
            <a:avLst>
              <a:gd fmla="val 8421" name="adj"/>
            </a:avLst>
          </a:prstGeom>
          <a:solidFill>
            <a:srgbClr val="FDF9EF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8016088" y="306324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9552280" y="3415284"/>
            <a:ext cx="146304" cy="164592"/>
          </a:xfrm>
          <a:prstGeom prst="chevron">
            <a:avLst>
              <a:gd fmla="val 50000" name="adj"/>
            </a:avLst>
          </a:prstGeom>
          <a:solidFill>
            <a:srgbClr val="E4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744304" y="3063240"/>
            <a:ext cx="1572768" cy="868680"/>
          </a:xfrm>
          <a:prstGeom prst="roundRect">
            <a:avLst>
              <a:gd fmla="val 8421" name="adj"/>
            </a:avLst>
          </a:prstGeom>
          <a:solidFill>
            <a:srgbClr val="FDF9EF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9790024" y="3063240"/>
            <a:ext cx="148132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Grounded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57200" y="4434840"/>
            <a:ext cx="11277295" cy="1874520"/>
          </a:xfrm>
          <a:prstGeom prst="roundRect">
            <a:avLst>
              <a:gd fmla="val 3902" name="adj"/>
            </a:avLst>
          </a:prstGeom>
          <a:solidFill>
            <a:srgbClr val="F3F1F6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85800" y="4572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Key Components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85800" y="4919472"/>
            <a:ext cx="1082009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YAML metadata layer: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title, description, topics, sample queries per chunk.</a:t>
            </a:r>
            <a:b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Embedding: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text-embedding-3-small → 1536-d vectors, stored in ChromaDB collection finance_documents.</a:t>
            </a:r>
            <a:b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BGE reranker: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final_score = 0.8×body_score + 0.2×metadata_score over top-25 candidates.</a:t>
            </a:r>
            <a:b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gpt-4o-mini: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generates the answer strictly from retrieved context; states when not found.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0f63ba8d_0_1"/>
          <p:cNvSpPr/>
          <p:nvPr/>
        </p:nvSpPr>
        <p:spPr>
          <a:xfrm>
            <a:off x="457200" y="320040"/>
            <a:ext cx="112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TRAINING &amp; EXPERIMENTAL 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60f63ba8d_0_1"/>
          <p:cNvSpPr/>
          <p:nvPr/>
        </p:nvSpPr>
        <p:spPr>
          <a:xfrm>
            <a:off x="457200" y="566928"/>
            <a:ext cx="1127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Frozen Models, Retrieval &amp; Reranking Setup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60f63ba8d_0_1"/>
          <p:cNvSpPr/>
          <p:nvPr/>
        </p:nvSpPr>
        <p:spPr>
          <a:xfrm>
            <a:off x="457200" y="651052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60f63ba8d_0_1"/>
          <p:cNvSpPr/>
          <p:nvPr/>
        </p:nvSpPr>
        <p:spPr>
          <a:xfrm>
            <a:off x="11185855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60f63ba8d_0_1"/>
          <p:cNvSpPr/>
          <p:nvPr/>
        </p:nvSpPr>
        <p:spPr>
          <a:xfrm>
            <a:off x="457200" y="1417320"/>
            <a:ext cx="1127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No conventional training was performed — weights, loss function, optimizer, learning rate, batch size, and epochs are not applicable. All models used are frozen pretrained models.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60f63ba8d_0_1"/>
          <p:cNvSpPr/>
          <p:nvPr/>
        </p:nvSpPr>
        <p:spPr>
          <a:xfrm>
            <a:off x="457200" y="2057400"/>
            <a:ext cx="545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Frozen Pretrained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g3f60f63ba8d_0_1"/>
          <p:cNvGraphicFramePr/>
          <p:nvPr/>
        </p:nvGraphicFramePr>
        <p:xfrm>
          <a:off x="45720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{D1609649-03A6-4475-90FF-E06B5FD767E6}</a:tableStyleId>
              </a:tblPr>
              <a:tblGrid>
                <a:gridCol w="1920250"/>
                <a:gridCol w="3017525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text-embedding-3-small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Embeds chunks &amp; queries (1536-d)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gpt-4o-mini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Generates grounded answers from context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BGE reranker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Optional cross-encoder reranking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g3f60f63ba8d_0_1"/>
          <p:cNvSpPr/>
          <p:nvPr/>
        </p:nvSpPr>
        <p:spPr>
          <a:xfrm>
            <a:off x="6278728" y="2057400"/>
            <a:ext cx="545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Retrieval, Reranking, HyDE &amp; Hardware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g3f60f63ba8d_0_1"/>
          <p:cNvGraphicFramePr/>
          <p:nvPr/>
        </p:nvGraphicFramePr>
        <p:xfrm>
          <a:off x="6278728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{D1609649-03A6-4475-90FF-E06B5FD767E6}</a:tableStyleId>
              </a:tblPr>
              <a:tblGrid>
                <a:gridCol w="2103125"/>
                <a:gridCol w="3319275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 DB / collection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ChromaDB / finance_documents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/ rerank candidates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3 / Top 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LLM context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3 chunks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Reranking weights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 body + 0.2 metadata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HyDE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hypothetical passage (gpt-4o-mini), embedded instead of raw query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sufficient; GPU helps only for BGE reranking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g3f60f63ba8d_0_1"/>
          <p:cNvSpPr/>
          <p:nvPr/>
        </p:nvSpPr>
        <p:spPr>
          <a:xfrm>
            <a:off x="457200" y="5257800"/>
            <a:ext cx="11277300" cy="822900"/>
          </a:xfrm>
          <a:prstGeom prst="roundRect">
            <a:avLst>
              <a:gd fmla="val 8889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60f63ba8d_0_1"/>
          <p:cNvSpPr/>
          <p:nvPr/>
        </p:nvSpPr>
        <p:spPr>
          <a:xfrm>
            <a:off x="685800" y="5394960"/>
            <a:ext cx="10820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Evaluation metrics: Recall@3 / @5 / @7, latency, success rate, and qualitative grounding — measured over the 50-question benchmark.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HYPERPARAMETER EXPERIMENTS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Three Pipelines, Head to Head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6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3200400"/>
                <a:gridCol w="1554475"/>
                <a:gridCol w="1554475"/>
                <a:gridCol w="1554475"/>
                <a:gridCol w="1554475"/>
                <a:gridCol w="17648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Successful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Latency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Chroma only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50/50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6.251 sec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Chroma + HyDE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50/50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9.320 sec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Chroma + BGE Reranking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50/50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245.342 sec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6"/>
          <p:cNvSpPr/>
          <p:nvPr/>
        </p:nvSpPr>
        <p:spPr>
          <a:xfrm>
            <a:off x="457200" y="3383280"/>
            <a:ext cx="11277295" cy="2651760"/>
          </a:xfrm>
          <a:prstGeom prst="roundRect">
            <a:avLst>
              <a:gd fmla="val 2759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85800" y="3566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Settings Tested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85800" y="3931920"/>
            <a:ext cx="10820095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Retrieval strategy: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Chroma-only, Chroma + HyDE, Chroma + BGE reranking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Candidate pool: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Top </a:t>
            </a:r>
            <a:r>
              <a:rPr lang="en-US" sz="12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(baseline/HyDE) vs. Top 25 (reranking) — final LLM context always Top 3 chunks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Query representation: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raw user query vs. HyDE-generated hypothetical passage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BGE score weighting: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0.8 × body_score + 0.2 × metadata_score, evaluated at Recall@3/5/7</a:t>
            </a:r>
            <a:b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Answer model: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gpt-4o-mini throughout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0f63ba8d_0_41"/>
          <p:cNvSpPr/>
          <p:nvPr/>
        </p:nvSpPr>
        <p:spPr>
          <a:xfrm>
            <a:off x="457200" y="320040"/>
            <a:ext cx="112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HYPERPARAMETER EXPERIMENTS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60f63ba8d_0_41"/>
          <p:cNvSpPr/>
          <p:nvPr/>
        </p:nvSpPr>
        <p:spPr>
          <a:xfrm>
            <a:off x="457200" y="566928"/>
            <a:ext cx="1127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Recall vs. Latency Trade-off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60f63ba8d_0_41"/>
          <p:cNvSpPr/>
          <p:nvPr/>
        </p:nvSpPr>
        <p:spPr>
          <a:xfrm>
            <a:off x="457200" y="651052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60f63ba8d_0_41"/>
          <p:cNvSpPr/>
          <p:nvPr/>
        </p:nvSpPr>
        <p:spPr>
          <a:xfrm>
            <a:off x="11185855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g3f60f63ba8d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5455800" cy="448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f60f63ba8d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8728" y="1463040"/>
            <a:ext cx="5455800" cy="44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60f63ba8d_0_41"/>
          <p:cNvSpPr/>
          <p:nvPr/>
        </p:nvSpPr>
        <p:spPr>
          <a:xfrm>
            <a:off x="457200" y="6126480"/>
            <a:ext cx="1127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BGE reranking lifts Recall@3 from 40% to 58% but is ~40× slower than the Chroma-only baseline.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60f63ba8d_0_41"/>
          <p:cNvSpPr txBox="1"/>
          <p:nvPr/>
        </p:nvSpPr>
        <p:spPr>
          <a:xfrm>
            <a:off x="6845825" y="5871325"/>
            <a:ext cx="10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Chroma Only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60f63ba8d_0_41"/>
          <p:cNvSpPr txBox="1"/>
          <p:nvPr/>
        </p:nvSpPr>
        <p:spPr>
          <a:xfrm>
            <a:off x="8734500" y="5871325"/>
            <a:ext cx="96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60f63ba8d_0_41"/>
          <p:cNvSpPr txBox="1"/>
          <p:nvPr/>
        </p:nvSpPr>
        <p:spPr>
          <a:xfrm>
            <a:off x="10061925" y="58713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Chroma + Re-ranking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HYPERPARAMETER EXPERIMENTS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Alternative Choice </a:t>
            </a: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Experimented</a:t>
            </a: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- HyDE</a:t>
            </a:r>
            <a:endParaRPr b="1" sz="30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7200" y="141732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Additional Experiment — RRF (raw query + HyDE)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8"/>
          <p:cNvGraphicFramePr/>
          <p:nvPr/>
        </p:nvGraphicFramePr>
        <p:xfrm>
          <a:off x="4572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5029200"/>
                <a:gridCol w="2084825"/>
                <a:gridCol w="2084825"/>
                <a:gridCol w="20757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query baseline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HyDE only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query + HyDE (RRF)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8"/>
          <p:cNvSpPr/>
          <p:nvPr/>
        </p:nvSpPr>
        <p:spPr>
          <a:xfrm>
            <a:off x="457200" y="3246120"/>
            <a:ext cx="112772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Final Hyperparameter Choices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8"/>
          <p:cNvGraphicFramePr/>
          <p:nvPr/>
        </p:nvGraphicFramePr>
        <p:xfrm>
          <a:off x="457200" y="3584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2743200"/>
                <a:gridCol w="2743200"/>
                <a:gridCol w="57881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Choice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Query representation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query (baseline)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Fast; beat HyDE-only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Candidate count for reranking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Wider pool for reranker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Reranking score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 body + 0.2 metadata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Body primary; metadata aids title/date matches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LLM context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3 chunks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Focused, manageable latency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accuracy / best practical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Chroma+BGE rerank / Chroma-only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Highest recall / lowest latency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60f63ba8d_0_60"/>
          <p:cNvSpPr/>
          <p:nvPr/>
        </p:nvSpPr>
        <p:spPr>
          <a:xfrm>
            <a:off x="457200" y="320040"/>
            <a:ext cx="112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RERANKING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60f63ba8d_0_60"/>
          <p:cNvSpPr/>
          <p:nvPr/>
        </p:nvSpPr>
        <p:spPr>
          <a:xfrm>
            <a:off x="457200" y="566928"/>
            <a:ext cx="1127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Re-ranking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60f63ba8d_0_60"/>
          <p:cNvSpPr/>
          <p:nvPr/>
        </p:nvSpPr>
        <p:spPr>
          <a:xfrm>
            <a:off x="457200" y="651052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60f63ba8d_0_60"/>
          <p:cNvSpPr/>
          <p:nvPr/>
        </p:nvSpPr>
        <p:spPr>
          <a:xfrm>
            <a:off x="11185855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60f63ba8d_0_60"/>
          <p:cNvSpPr/>
          <p:nvPr/>
        </p:nvSpPr>
        <p:spPr>
          <a:xfrm>
            <a:off x="472488" y="1344127"/>
            <a:ext cx="545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Best Setting (Chroma + BGE): Latency by Stage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g3f60f63ba8d_0_60"/>
          <p:cNvGraphicFramePr/>
          <p:nvPr/>
        </p:nvGraphicFramePr>
        <p:xfrm>
          <a:off x="457200" y="1801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{D1609649-03A6-4475-90FF-E06B5FD767E6}</a:tableStyleId>
              </a:tblPr>
              <a:tblGrid>
                <a:gridCol w="2275400"/>
                <a:gridCol w="2872675"/>
              </a:tblGrid>
              <a:tr h="379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Time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Query embedding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1.236 sec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36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Chroma retrieval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0.089 sec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BGE reranking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243.994 sec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36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/ range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229.987 sec / 185.5–454.8 sec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sequential runtime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204.45 min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g3f60f63ba8d_0_60"/>
          <p:cNvSpPr/>
          <p:nvPr/>
        </p:nvSpPr>
        <p:spPr>
          <a:xfrm>
            <a:off x="5623560" y="1344168"/>
            <a:ext cx="6111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BGE Reranker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60f63ba8d_0_60"/>
          <p:cNvSpPr/>
          <p:nvPr/>
        </p:nvSpPr>
        <p:spPr>
          <a:xfrm>
            <a:off x="5623560" y="1737360"/>
            <a:ext cx="6111000" cy="2286000"/>
          </a:xfrm>
          <a:prstGeom prst="roundRect">
            <a:avLst>
              <a:gd fmla="val 3200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60f63ba8d_0_60"/>
          <p:cNvSpPr/>
          <p:nvPr/>
        </p:nvSpPr>
        <p:spPr>
          <a:xfrm>
            <a:off x="5879592" y="1737360"/>
            <a:ext cx="5598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BAAI/bge-reranker-v2-m3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Cross-encoder architecture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~568 million parameters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~2.27 GB model weights on disk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~2.5–3.5 GB estimated runtime memory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Runs on CPU; GPU acceleration recommended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60f63ba8d_0_60"/>
          <p:cNvSpPr/>
          <p:nvPr/>
        </p:nvSpPr>
        <p:spPr>
          <a:xfrm>
            <a:off x="685800" y="5328054"/>
            <a:ext cx="11048700" cy="752700"/>
          </a:xfrm>
          <a:prstGeom prst="roundRect">
            <a:avLst>
              <a:gd fmla="val 6154" name="adj"/>
            </a:avLst>
          </a:prstGeom>
          <a:solidFill>
            <a:srgbClr val="F3F1F6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60f63ba8d_0_60"/>
          <p:cNvSpPr/>
          <p:nvPr/>
        </p:nvSpPr>
        <p:spPr>
          <a:xfrm>
            <a:off x="800100" y="5230600"/>
            <a:ext cx="10820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Reranking 25 candidates — with separate body and metadata scoring — is the dominant cost. CPU works, but GPU acceleration is recommended for interactive latency.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GENERALIZATION &amp; STABILITY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Techniques Used and Their Effect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57200" y="1371600"/>
            <a:ext cx="112772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With no trained weights, “stability” means consistent retrieval, grounded answers, and error-free completion across unseen questions.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9"/>
          <p:cNvGraphicFramePr/>
          <p:nvPr/>
        </p:nvGraphicFramePr>
        <p:xfrm>
          <a:off x="45720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4572000"/>
                <a:gridCol w="6702550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Technique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Effect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Multi-source corpus (NSE, IR, yfinance, Trendlyne)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Improved coverage across regulatory, company, news, brokerage views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Source-specific preprocessing prompts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Reduced noise before embedding; more reliable retrieval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YAML metadata enrichment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Helped embeddings capture content and document intent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Structure-aware chunking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Preserved financial context; avoided cutting numbers from explanations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Grounded answer prompt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Reduced hallucination risk; improved faithfulness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Persistent ChromaDB index + benchmark logging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Reproducible retrieval; traceable failures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BGE reranking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Improved Recall@3 from 40% to 58%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SAMPLE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Example — Grounded Answer(1)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9400"/>
            <a:ext cx="8707937" cy="49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602db4028_0_1"/>
          <p:cNvSpPr/>
          <p:nvPr/>
        </p:nvSpPr>
        <p:spPr>
          <a:xfrm>
            <a:off x="457200" y="320040"/>
            <a:ext cx="112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SAMPLE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602db4028_0_1"/>
          <p:cNvSpPr/>
          <p:nvPr/>
        </p:nvSpPr>
        <p:spPr>
          <a:xfrm>
            <a:off x="457200" y="566928"/>
            <a:ext cx="1127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Example — Grounded Answer(2)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602db4028_0_1"/>
          <p:cNvSpPr/>
          <p:nvPr/>
        </p:nvSpPr>
        <p:spPr>
          <a:xfrm>
            <a:off x="457200" y="651052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602db4028_0_1"/>
          <p:cNvSpPr/>
          <p:nvPr/>
        </p:nvSpPr>
        <p:spPr>
          <a:xfrm>
            <a:off x="11185855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f602db4028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9528"/>
            <a:ext cx="10442060" cy="49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602db4028_0_11"/>
          <p:cNvSpPr/>
          <p:nvPr/>
        </p:nvSpPr>
        <p:spPr>
          <a:xfrm>
            <a:off x="457200" y="320040"/>
            <a:ext cx="112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SAMPLE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602db4028_0_11"/>
          <p:cNvSpPr/>
          <p:nvPr/>
        </p:nvSpPr>
        <p:spPr>
          <a:xfrm>
            <a:off x="457200" y="566928"/>
            <a:ext cx="1127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Example — Grounded Answer(</a:t>
            </a: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602db4028_0_11"/>
          <p:cNvSpPr/>
          <p:nvPr/>
        </p:nvSpPr>
        <p:spPr>
          <a:xfrm>
            <a:off x="457200" y="651052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602db4028_0_11"/>
          <p:cNvSpPr/>
          <p:nvPr/>
        </p:nvSpPr>
        <p:spPr>
          <a:xfrm>
            <a:off x="11185855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g3f602db4028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9528"/>
            <a:ext cx="9728367" cy="499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What Worked Well vs. What Didn’t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457200" y="1417320"/>
            <a:ext cx="5455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Worked Well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12"/>
          <p:cNvGraphicFramePr/>
          <p:nvPr/>
        </p:nvGraphicFramePr>
        <p:xfrm>
          <a:off x="457200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2194550"/>
                <a:gridCol w="32004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architecture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Answered from fresh disclosures</a:t>
                      </a: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no fine-tuning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Clean Markdown + YAML metadata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Reduced noise; clearer chunk identity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Chroma + </a:t>
                      </a: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BGE reranking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Recall@3 40%→58%; Recall@5 50%→64%</a:t>
                      </a:r>
                      <a:endParaRPr sz="1200" u="none" cap="none" strike="noStrike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Improved Recall</a:t>
                      </a:r>
                      <a:endParaRPr sz="1200">
                        <a:solidFill>
                          <a:srgbClr val="1A1A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Grounded generation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Useful, source-grounded answers when retrieval was correct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p12"/>
          <p:cNvSpPr/>
          <p:nvPr/>
        </p:nvSpPr>
        <p:spPr>
          <a:xfrm>
            <a:off x="6278728" y="1417320"/>
            <a:ext cx="5455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Didn’t Perform as Expected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12"/>
          <p:cNvGraphicFramePr/>
          <p:nvPr/>
        </p:nvGraphicFramePr>
        <p:xfrm>
          <a:off x="6278728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2103125"/>
                <a:gridCol w="32918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HyDE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Recall@3 flat at 40%; Recall@5/@7 dropped vs. baseline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chunks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Some ≈ 8k tokens; higher noise-to-signal ratio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Top-3 context limit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Recall@5/@7 &gt; Recall@3 — right doc often excluded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 NSE documents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Recall@3 than short filings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BGE reranking latency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~245 sec/question — too slow for interactive use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60f63ba8d_0_77"/>
          <p:cNvSpPr/>
          <p:nvPr/>
        </p:nvSpPr>
        <p:spPr>
          <a:xfrm>
            <a:off x="457200" y="320040"/>
            <a:ext cx="112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EVALUATION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60f63ba8d_0_77"/>
          <p:cNvSpPr/>
          <p:nvPr/>
        </p:nvSpPr>
        <p:spPr>
          <a:xfrm>
            <a:off x="457200" y="566928"/>
            <a:ext cx="1127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RAGAS: Scoring the Generated Answer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60f63ba8d_0_77"/>
          <p:cNvSpPr/>
          <p:nvPr/>
        </p:nvSpPr>
        <p:spPr>
          <a:xfrm>
            <a:off x="457200" y="651052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60f63ba8d_0_77"/>
          <p:cNvSpPr/>
          <p:nvPr/>
        </p:nvSpPr>
        <p:spPr>
          <a:xfrm>
            <a:off x="11185855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60f63ba8d_0_77"/>
          <p:cNvSpPr/>
          <p:nvPr/>
        </p:nvSpPr>
        <p:spPr>
          <a:xfrm>
            <a:off x="457200" y="1417320"/>
            <a:ext cx="11277300" cy="1051500"/>
          </a:xfrm>
          <a:prstGeom prst="roundRect">
            <a:avLst>
              <a:gd fmla="val 6957" name="adj"/>
            </a:avLst>
          </a:prstGeom>
          <a:solidFill>
            <a:srgbClr val="1E2761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f60f63ba8d_0_77"/>
          <p:cNvSpPr/>
          <p:nvPr/>
        </p:nvSpPr>
        <p:spPr>
          <a:xfrm>
            <a:off x="777240" y="1417320"/>
            <a:ext cx="2286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RAGAS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60f63ba8d_0_77"/>
          <p:cNvSpPr/>
          <p:nvPr/>
        </p:nvSpPr>
        <p:spPr>
          <a:xfrm>
            <a:off x="3337560" y="1417320"/>
            <a:ext cx="80769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Assessment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LLM-based evaluator (gpt-4o-mini) scores the generated answer itself on four dimensions — not just whether retrieval found the right document.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60f63ba8d_0_77"/>
          <p:cNvSpPr/>
          <p:nvPr/>
        </p:nvSpPr>
        <p:spPr>
          <a:xfrm>
            <a:off x="457200" y="2651760"/>
            <a:ext cx="5501400" cy="1143000"/>
          </a:xfrm>
          <a:prstGeom prst="roundRect">
            <a:avLst>
              <a:gd fmla="val 6400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60f63ba8d_0_77"/>
          <p:cNvSpPr/>
          <p:nvPr/>
        </p:nvSpPr>
        <p:spPr>
          <a:xfrm>
            <a:off x="713232" y="2651760"/>
            <a:ext cx="498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Faithfulness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Is the saved answer supported by its retrieved context?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60f63ba8d_0_77"/>
          <p:cNvSpPr/>
          <p:nvPr/>
        </p:nvSpPr>
        <p:spPr>
          <a:xfrm>
            <a:off x="6233008" y="2651760"/>
            <a:ext cx="5501400" cy="1143000"/>
          </a:xfrm>
          <a:prstGeom prst="roundRect">
            <a:avLst>
              <a:gd fmla="val 6400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f60f63ba8d_0_77"/>
          <p:cNvSpPr/>
          <p:nvPr/>
        </p:nvSpPr>
        <p:spPr>
          <a:xfrm>
            <a:off x="6489040" y="2651760"/>
            <a:ext cx="498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Answer Relevancy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Does the saved answer address the question?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60f63ba8d_0_77"/>
          <p:cNvSpPr/>
          <p:nvPr/>
        </p:nvSpPr>
        <p:spPr>
          <a:xfrm>
            <a:off x="457200" y="3977640"/>
            <a:ext cx="5501400" cy="1143000"/>
          </a:xfrm>
          <a:prstGeom prst="roundRect">
            <a:avLst>
              <a:gd fmla="val 6400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60f63ba8d_0_77"/>
          <p:cNvSpPr/>
          <p:nvPr/>
        </p:nvSpPr>
        <p:spPr>
          <a:xfrm>
            <a:off x="713232" y="3977640"/>
            <a:ext cx="498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Context Precision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Is the retrieved context useful for the reference answer?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60f63ba8d_0_77"/>
          <p:cNvSpPr/>
          <p:nvPr/>
        </p:nvSpPr>
        <p:spPr>
          <a:xfrm>
            <a:off x="6233008" y="3977640"/>
            <a:ext cx="5501400" cy="1143000"/>
          </a:xfrm>
          <a:prstGeom prst="roundRect">
            <a:avLst>
              <a:gd fmla="val 6400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60f63ba8d_0_77"/>
          <p:cNvSpPr/>
          <p:nvPr/>
        </p:nvSpPr>
        <p:spPr>
          <a:xfrm>
            <a:off x="6489040" y="3977640"/>
            <a:ext cx="498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Context Recall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Does the retrieved context contain the facts in the reference answer?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60f63ba8d_0_77"/>
          <p:cNvSpPr/>
          <p:nvPr/>
        </p:nvSpPr>
        <p:spPr>
          <a:xfrm>
            <a:off x="457200" y="5349240"/>
            <a:ext cx="11277300" cy="868800"/>
          </a:xfrm>
          <a:prstGeom prst="roundRect">
            <a:avLst>
              <a:gd fmla="val 8421" name="adj"/>
            </a:avLst>
          </a:prstGeom>
          <a:solidFill>
            <a:srgbClr val="FBF6E9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60f63ba8d_0_77"/>
          <p:cNvSpPr/>
          <p:nvPr/>
        </p:nvSpPr>
        <p:spPr>
          <a:xfrm>
            <a:off x="731520" y="5349240"/>
            <a:ext cx="10728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Scores are useful for comparing pipeline versions — they are not a replacement for human review. Evaluated on the no-reranking baseline (RAGAS/no_reranking_ragas_summary.md); results on the following slides.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60f63ba8d_0_100"/>
          <p:cNvSpPr/>
          <p:nvPr/>
        </p:nvSpPr>
        <p:spPr>
          <a:xfrm>
            <a:off x="457200" y="320040"/>
            <a:ext cx="112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EVALUATION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60f63ba8d_0_100"/>
          <p:cNvSpPr/>
          <p:nvPr/>
        </p:nvSpPr>
        <p:spPr>
          <a:xfrm>
            <a:off x="457200" y="566928"/>
            <a:ext cx="1127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RAGAS Results: No-Reranking Baseline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60f63ba8d_0_100"/>
          <p:cNvSpPr/>
          <p:nvPr/>
        </p:nvSpPr>
        <p:spPr>
          <a:xfrm>
            <a:off x="457200" y="651052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60f63ba8d_0_100"/>
          <p:cNvSpPr/>
          <p:nvPr/>
        </p:nvSpPr>
        <p:spPr>
          <a:xfrm>
            <a:off x="11185855" y="6510528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60f63ba8d_0_100"/>
          <p:cNvSpPr/>
          <p:nvPr/>
        </p:nvSpPr>
        <p:spPr>
          <a:xfrm>
            <a:off x="457200" y="1325880"/>
            <a:ext cx="11277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Evaluated on the no-reranking baseline: 50 Infosys questions, each scoring the saved answer against its saved top-3 retrieved contexts and a manually prepared reference answer. Evaluator: gpt-4o-mini. Embedding: text-embedding-3-small. All 50 rows completed successfully — 0 failures.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g3f60f63ba8d_0_100"/>
          <p:cNvGraphicFramePr/>
          <p:nvPr/>
        </p:nvGraphicFramePr>
        <p:xfrm>
          <a:off x="4572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{D1609649-03A6-4475-90FF-E06B5FD767E6}</a:tableStyleId>
              </a:tblPr>
              <a:tblGrid>
                <a:gridCol w="2377450"/>
                <a:gridCol w="1554475"/>
                <a:gridCol w="73453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Avg. Score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Measures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Faithfulness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the answer is supported by the retrieved context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 relevancy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0.6655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the answer addresses the question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precision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0.9117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the retrieved context is useful and focused for the reference answer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recall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0.7769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000"/>
                        <a:buFont typeface="Calibri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the retrieved context contains the facts needed for the reference answer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g3f60f63ba8d_0_100"/>
          <p:cNvSpPr/>
          <p:nvPr/>
        </p:nvSpPr>
        <p:spPr>
          <a:xfrm>
            <a:off x="457200" y="4800600"/>
            <a:ext cx="11277300" cy="1417200"/>
          </a:xfrm>
          <a:prstGeom prst="roundRect">
            <a:avLst>
              <a:gd fmla="val 5161" name="adj"/>
            </a:avLst>
          </a:prstGeom>
          <a:solidFill>
            <a:srgbClr val="EEF3FC"/>
          </a:solidFill>
          <a:ln cap="flat" cmpd="sng" w="12700">
            <a:solidFill>
              <a:srgbClr val="E4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8492A6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f60f63ba8d_0_100"/>
          <p:cNvSpPr/>
          <p:nvPr/>
        </p:nvSpPr>
        <p:spPr>
          <a:xfrm>
            <a:off x="731520" y="4800600"/>
            <a:ext cx="10728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RAGAS scores range from 0 to 1, where a higher score indicates better performance. Retrieved context was generally precise and answers were mostly grounded in the available evidence. Answer relevancy was the weakest average metric — some answers didn’t address the question as directly as expected — and the lower context recall suggests the top-3 context limit can exclude information needed for some questions.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457200" y="566928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Bottlenecks &amp; Improvement Plan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FinQuery — Milestone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11185855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57200" y="1417320"/>
            <a:ext cx="5455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Main Bottlenecks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6" name="Google Shape;306;p14"/>
          <p:cNvGraphicFramePr/>
          <p:nvPr/>
        </p:nvGraphicFramePr>
        <p:xfrm>
          <a:off x="457200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2194550"/>
                <a:gridCol w="32004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Bottleneck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Matters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Chunk size too large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Dilutes relevant span; less precise embedding/reranking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Table-heavy documents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rows get buried without structure-aware handling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Reranking latency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~245 sec/question, impractical for real-time use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Semantic</a:t>
                      </a: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-only retrieval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miss exact company/deal names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Top-3 context limit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 docs at ranks 4–5 never seen by the LLM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p14"/>
          <p:cNvSpPr/>
          <p:nvPr/>
        </p:nvSpPr>
        <p:spPr>
          <a:xfrm>
            <a:off x="6278728" y="1417320"/>
            <a:ext cx="54557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Improvement 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14"/>
          <p:cNvGraphicFramePr/>
          <p:nvPr/>
        </p:nvGraphicFramePr>
        <p:xfrm>
          <a:off x="6278728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{25B21B74-D8FC-48D4-869A-1F738B3A4953}</a:tableStyleId>
              </a:tblPr>
              <a:tblGrid>
                <a:gridCol w="2103125"/>
                <a:gridCol w="32918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Benefit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 chunk size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noise-to-signal ratio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Table-aware chunking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Preserve financial tables as queryable units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3 → Top 5 context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Recovers near-miss documents at ranks 4–5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 dense + BM25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Catches exact keyword/entity matches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Lighter reranker + richer metadata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 latency; better title/date matching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10241280" y="4937760"/>
            <a:ext cx="3108960" cy="310896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457200" y="64008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BGE Reranking Was the Headline Result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457200" y="2011680"/>
            <a:ext cx="3576218" cy="1554480"/>
          </a:xfrm>
          <a:prstGeom prst="roundRect">
            <a:avLst>
              <a:gd fmla="val 4706" name="adj"/>
            </a:avLst>
          </a:prstGeom>
          <a:solidFill>
            <a:srgbClr val="141B45"/>
          </a:solidFill>
          <a:ln cap="flat" cmpd="sng" w="12700">
            <a:solidFill>
              <a:srgbClr val="3A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457200" y="2194560"/>
            <a:ext cx="3576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40% → 58%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640080" y="2926080"/>
            <a:ext cx="32104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Recall@3, Chroma-only → + BGE reranking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4307738" y="2011680"/>
            <a:ext cx="3576218" cy="1554480"/>
          </a:xfrm>
          <a:prstGeom prst="roundRect">
            <a:avLst>
              <a:gd fmla="val 4706" name="adj"/>
            </a:avLst>
          </a:prstGeom>
          <a:solidFill>
            <a:srgbClr val="141B45"/>
          </a:solidFill>
          <a:ln cap="flat" cmpd="sng" w="12700">
            <a:solidFill>
              <a:srgbClr val="3A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4307738" y="2194560"/>
            <a:ext cx="3576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6.3 → 245 sec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4490618" y="2926080"/>
            <a:ext cx="32104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Average latency, same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8158277" y="2011680"/>
            <a:ext cx="3576218" cy="1554480"/>
          </a:xfrm>
          <a:prstGeom prst="roundRect">
            <a:avLst>
              <a:gd fmla="val 4706" name="adj"/>
            </a:avLst>
          </a:prstGeom>
          <a:solidFill>
            <a:srgbClr val="141B45"/>
          </a:solidFill>
          <a:ln cap="flat" cmpd="sng" w="12700">
            <a:solidFill>
              <a:srgbClr val="3A4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8158277" y="2194560"/>
            <a:ext cx="35762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50/50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8341157" y="2926080"/>
            <a:ext cx="321045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Benchmark questions, zero failures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457200" y="3977640"/>
            <a:ext cx="1127729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FinQuery uses frozen pretrained models throughout</a:t>
            </a:r>
            <a:r>
              <a:rPr lang="en-US" sz="13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Generalization and stability came from clean preprocessing, metadata enrichment, structure-aware chunking, grounded prompting, and reranking. Next steps: smaller table-aware chunks, hybrid BM25 + dense retrieval, richer metadata, and a lighter reranker for top-5 context at interactive latency.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Team 06  ·  IIT Madras  ·  FinQuery Milestone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2026-07-30T18:41:21Z</dcterms:created>
  <dc:creator>PptxGenJS</dc:creator>
</cp:coreProperties>
</file>