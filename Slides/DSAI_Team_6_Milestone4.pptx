
<file path=[Content_Types].xml><?xml version="1.0" encoding="utf-8"?>
<Types xmlns="http://schemas.openxmlformats.org/package/2006/content-types">
  <Default ContentType="application/vnd.openxmlformats-officedocument.spreadsheetml.sheet" Extension="xlsx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2.xml"/>
  <Override ContentType="application/vnd.openxmlformats-officedocument.drawingml.chart+xml" PartName="/ppt/charts/chart1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gOlXOlwaerps+81Qye/+I/9vPaY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ACAF7ED-44A8-45E6-B49F-551263877EC3}">
  <a:tblStyle styleId="{BACAF7ED-44A8-45E6-B49F-551263877EC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mbria"/>
              </a:rPr>
              <a:t>Recall@k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Chroma only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R@3</c:v>
                  </c:pt>
                  <c:pt idx="1">
                    <c:v>R@5</c:v>
                  </c:pt>
                  <c:pt idx="2">
                    <c:v>R@7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50</c:v>
                </c:pt>
                <c:pt idx="2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HyDE</c:v>
                </c:pt>
              </c:strCache>
            </c:strRef>
          </c:tx>
          <c:spPr>
            <a:solidFill>
              <a:srgbClr val="8FA6C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R@3</c:v>
                  </c:pt>
                  <c:pt idx="1">
                    <c:v>R@5</c:v>
                  </c:pt>
                  <c:pt idx="2">
                    <c:v>R@7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40</c:v>
                </c:pt>
                <c:pt idx="1">
                  <c:v>42</c:v>
                </c:pt>
                <c:pt idx="2">
                  <c:v>46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+ BGE Rerank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R@3</c:v>
                  </c:pt>
                  <c:pt idx="1">
                    <c:v>R@5</c:v>
                  </c:pt>
                  <c:pt idx="2">
                    <c:v>R@7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58</c:v>
                </c:pt>
                <c:pt idx="1">
                  <c:v>64</c:v>
                </c:pt>
                <c:pt idx="2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0"/>
        <c:axPos val="l"/>
        <c:majorGridlines>
          <c:spPr>
            <a:ln w="9525" cap="flat">
              <a:solidFill>
                <a:srgbClr val="E4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mbria"/>
              </a:rPr>
              <a:t>Avg. Latency (sec)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sec/question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Chroma
only</c:v>
                  </c:pt>
                  <c:pt idx="1">
                    <c:v>+ HyDE</c:v>
                  </c:pt>
                  <c:pt idx="2">
                    <c:v>+ BGE
Rerank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6.251</c:v>
                </c:pt>
                <c:pt idx="1">
                  <c:v>9.32</c:v>
                </c:pt>
                <c:pt idx="2">
                  <c:v>245.342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4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" name="Google Shape;16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f602db4028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g3f602db4028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3f602db4028_0_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602db4028_0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7" name="Google Shape;237;g3f602db4028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g3f602db4028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" name="Google Shape;28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141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41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10607040" y="4480560"/>
            <a:ext cx="1280160" cy="128016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457200" y="2240280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MILESTONE 4  —  TRAINING &amp; EXPERIMENTATION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2651760"/>
            <a:ext cx="1127729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Cambria"/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FinQuery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" y="3794760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 Retrieval-Augmented Generation System for Indian Capital Markets Analysis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57200" y="60350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Team 06  ·  IIT Madras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 txBox="1"/>
          <p:nvPr/>
        </p:nvSpPr>
        <p:spPr>
          <a:xfrm>
            <a:off x="457200" y="4846325"/>
            <a:ext cx="3000000" cy="12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Akbar Ali — 23f1002997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Gurram Sai Sri Ram Hruthik — 22f3001648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NandanReddy Parnapalli — 22f3002857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Shubham Gattani — 21f3002082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Shubhashish Biswas — 21f1001460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DATASETS USED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Retrieval Corpus — Sources &amp; Volumes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3" name="Google Shape;33;p2"/>
          <p:cNvGraphicFramePr/>
          <p:nvPr/>
        </p:nvGraphicFramePr>
        <p:xfrm>
          <a:off x="457200" y="14630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2834650"/>
                <a:gridCol w="4572000"/>
                <a:gridCol w="386790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Source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Used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Purpose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NSE Corporate Announcements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Infosys filings, last 12 months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Primary source for official disclosures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Infosys Investor Relations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Earnings calls, press conf., fact sheets, IFRS/INR releases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Detailed financial &amp; operational context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Trendlyne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Brokerage / research reports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Analyst and market interpretation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yfinance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News and market-related articles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Supporting recent market context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Benchmark Query Set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 Infosys-related test questions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Retrieval / evaluation experiments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34" name="Google Shape;34;p2"/>
          <p:cNvSpPr/>
          <p:nvPr/>
        </p:nvSpPr>
        <p:spPr>
          <a:xfrm>
            <a:off x="457200" y="4800600"/>
            <a:ext cx="11277295" cy="1234440"/>
          </a:xfrm>
          <a:prstGeom prst="roundRect">
            <a:avLst>
              <a:gd fmla="val 5926" name="adj"/>
            </a:avLst>
          </a:prstGeom>
          <a:solidFill>
            <a:srgbClr val="EEF3FC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685800" y="4937760"/>
            <a:ext cx="1082009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Corpus volumes after filtering:  </a:t>
            </a:r>
            <a:r>
              <a:rPr b="0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240 NSE PDFs → 137 retained (65 rule-based + 72 GPT/Codex review)  ·  109 short (≤10pp) / 28 long (&gt;10pp) → 749 header-aware sections  ·  16 Infosys IR docs  ·  6 yfinance articles  ·  5 Trendlyne reports  ·  50 benchmark questions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NECESSARY PREPROCESSING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Pipeline &amp; Chunking Strategy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1011784" y="1508760"/>
            <a:ext cx="2377440" cy="868680"/>
          </a:xfrm>
          <a:prstGeom prst="roundRect">
            <a:avLst>
              <a:gd fmla="val 8421" name="adj"/>
            </a:avLst>
          </a:prstGeom>
          <a:solidFill>
            <a:srgbClr val="EEF3FC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3"/>
          <p:cNvSpPr/>
          <p:nvPr/>
        </p:nvSpPr>
        <p:spPr>
          <a:xfrm>
            <a:off x="1103224" y="1325880"/>
            <a:ext cx="329184" cy="329184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3"/>
          <p:cNvSpPr/>
          <p:nvPr/>
        </p:nvSpPr>
        <p:spPr>
          <a:xfrm>
            <a:off x="1103224" y="132588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1121512" y="1728216"/>
            <a:ext cx="215798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PDF → Markdown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(Docling)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3398368" y="1860804"/>
            <a:ext cx="182880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3608680" y="1508760"/>
            <a:ext cx="2377440" cy="868680"/>
          </a:xfrm>
          <a:prstGeom prst="roundRect">
            <a:avLst>
              <a:gd fmla="val 8421" name="adj"/>
            </a:avLst>
          </a:prstGeom>
          <a:solidFill>
            <a:srgbClr val="EEF3FC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3"/>
          <p:cNvSpPr/>
          <p:nvPr/>
        </p:nvSpPr>
        <p:spPr>
          <a:xfrm>
            <a:off x="3700120" y="1325880"/>
            <a:ext cx="329184" cy="329184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3"/>
          <p:cNvSpPr/>
          <p:nvPr/>
        </p:nvSpPr>
        <p:spPr>
          <a:xfrm>
            <a:off x="3700120" y="132588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3718408" y="1728216"/>
            <a:ext cx="215798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NSE filtering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(metadata+keyword+review)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5995264" y="1860804"/>
            <a:ext cx="182880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3"/>
          <p:cNvSpPr/>
          <p:nvPr/>
        </p:nvSpPr>
        <p:spPr>
          <a:xfrm>
            <a:off x="6205576" y="1508760"/>
            <a:ext cx="2377440" cy="868680"/>
          </a:xfrm>
          <a:prstGeom prst="roundRect">
            <a:avLst>
              <a:gd fmla="val 8421" name="adj"/>
            </a:avLst>
          </a:prstGeom>
          <a:solidFill>
            <a:srgbClr val="EEF3FC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3"/>
          <p:cNvSpPr/>
          <p:nvPr/>
        </p:nvSpPr>
        <p:spPr>
          <a:xfrm>
            <a:off x="6297016" y="1325880"/>
            <a:ext cx="329184" cy="329184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3"/>
          <p:cNvSpPr/>
          <p:nvPr/>
        </p:nvSpPr>
        <p:spPr>
          <a:xfrm>
            <a:off x="6297016" y="132588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6315304" y="1728216"/>
            <a:ext cx="215798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Dedup &amp;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renaming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8592160" y="1860804"/>
            <a:ext cx="182880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3"/>
          <p:cNvSpPr/>
          <p:nvPr/>
        </p:nvSpPr>
        <p:spPr>
          <a:xfrm>
            <a:off x="8802472" y="1508760"/>
            <a:ext cx="2377440" cy="868680"/>
          </a:xfrm>
          <a:prstGeom prst="roundRect">
            <a:avLst>
              <a:gd fmla="val 8421" name="adj"/>
            </a:avLst>
          </a:prstGeom>
          <a:solidFill>
            <a:srgbClr val="EEF3FC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3"/>
          <p:cNvSpPr/>
          <p:nvPr/>
        </p:nvSpPr>
        <p:spPr>
          <a:xfrm>
            <a:off x="8893912" y="1325880"/>
            <a:ext cx="329184" cy="329184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"/>
          <p:cNvSpPr/>
          <p:nvPr/>
        </p:nvSpPr>
        <p:spPr>
          <a:xfrm>
            <a:off x="8893912" y="132588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912200" y="1728216"/>
            <a:ext cx="215798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Page-count split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(≤10pp/&gt;10pp)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1011784" y="2834640"/>
            <a:ext cx="2377440" cy="868680"/>
          </a:xfrm>
          <a:prstGeom prst="roundRect">
            <a:avLst>
              <a:gd fmla="val 8421" name="adj"/>
            </a:avLst>
          </a:prstGeom>
          <a:solidFill>
            <a:srgbClr val="F7F1E0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1103224" y="2651760"/>
            <a:ext cx="329184" cy="32918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1103224" y="265176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1121512" y="3054096"/>
            <a:ext cx="215798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Header-aware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sectioning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398368" y="3186684"/>
            <a:ext cx="182880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3608680" y="2834640"/>
            <a:ext cx="2377440" cy="868680"/>
          </a:xfrm>
          <a:prstGeom prst="roundRect">
            <a:avLst>
              <a:gd fmla="val 8421" name="adj"/>
            </a:avLst>
          </a:prstGeom>
          <a:solidFill>
            <a:srgbClr val="F7F1E0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3700120" y="2651760"/>
            <a:ext cx="329184" cy="32918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3700120" y="265176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3718408" y="3054096"/>
            <a:ext cx="215798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Source-specific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cleaning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5995264" y="3186684"/>
            <a:ext cx="182880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6205576" y="2834640"/>
            <a:ext cx="2377440" cy="868680"/>
          </a:xfrm>
          <a:prstGeom prst="roundRect">
            <a:avLst>
              <a:gd fmla="val 8421" name="adj"/>
            </a:avLst>
          </a:prstGeom>
          <a:solidFill>
            <a:srgbClr val="F7F1E0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3"/>
          <p:cNvSpPr/>
          <p:nvPr/>
        </p:nvSpPr>
        <p:spPr>
          <a:xfrm>
            <a:off x="6297016" y="2651760"/>
            <a:ext cx="329184" cy="32918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6297016" y="265176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6315304" y="3054096"/>
            <a:ext cx="215798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Chunking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(1 file/section)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8592160" y="3186684"/>
            <a:ext cx="182880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8802472" y="2834640"/>
            <a:ext cx="2377440" cy="868680"/>
          </a:xfrm>
          <a:prstGeom prst="roundRect">
            <a:avLst>
              <a:gd fmla="val 8421" name="adj"/>
            </a:avLst>
          </a:prstGeom>
          <a:solidFill>
            <a:srgbClr val="F7F1E0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8893912" y="2651760"/>
            <a:ext cx="329184" cy="32918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8893912" y="265176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8912200" y="3054096"/>
            <a:ext cx="215798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Embed + index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(ChromaDB)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457200" y="3703320"/>
            <a:ext cx="11277295" cy="2377440"/>
          </a:xfrm>
          <a:prstGeom prst="roundRect">
            <a:avLst>
              <a:gd fmla="val 3077" name="adj"/>
            </a:avLst>
          </a:prstGeom>
          <a:solidFill>
            <a:srgbClr val="F7F9FE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3"/>
          <p:cNvSpPr/>
          <p:nvPr/>
        </p:nvSpPr>
        <p:spPr>
          <a:xfrm>
            <a:off x="685800" y="38862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Chunking:  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1828800" y="3886200"/>
            <a:ext cx="953993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Short docs (≤10pp): </a:t>
            </a:r>
            <a:r>
              <a:rPr b="0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whole cleaned file = 1 chunk.  </a:t>
            </a:r>
            <a:r>
              <a:rPr b="1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Long NSE docs (&gt;10pp): </a:t>
            </a:r>
            <a:r>
              <a:rPr b="0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each header-aware section = 1 chunk.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685800" y="434340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Source-specific cleaning focus:  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685800" y="4681728"/>
            <a:ext cx="10820095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NSE — strip exchange wrappers, signatures, boilerplate  ·  IR — preserve earnings-call/report structure  ·  Trendlyne — preserve recommendations, target prices, valuation logic  ·  yfinance — preserve facts, dates, quotes, figures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MODEL ARCHITECTURE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End-to-End RAG Flow &amp; Key Components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457200" y="1280160"/>
            <a:ext cx="11277295" cy="1188720"/>
          </a:xfrm>
          <a:prstGeom prst="roundRect">
            <a:avLst>
              <a:gd fmla="val 6154" name="adj"/>
            </a:avLst>
          </a:prstGeom>
          <a:solidFill>
            <a:srgbClr val="F7F9FE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4"/>
          <p:cNvSpPr/>
          <p:nvPr/>
        </p:nvSpPr>
        <p:spPr>
          <a:xfrm>
            <a:off x="640080" y="132588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INDEXING — OFFLINE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723748" y="1600200"/>
            <a:ext cx="1965960" cy="868680"/>
          </a:xfrm>
          <a:prstGeom prst="roundRect">
            <a:avLst>
              <a:gd fmla="val 8421" name="adj"/>
            </a:avLst>
          </a:prstGeom>
          <a:solidFill>
            <a:srgbClr val="EEF3FC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769468" y="1600200"/>
            <a:ext cx="18745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Raw Public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Documents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2698852" y="1952244"/>
            <a:ext cx="182880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2918308" y="1600200"/>
            <a:ext cx="1965960" cy="868680"/>
          </a:xfrm>
          <a:prstGeom prst="roundRect">
            <a:avLst>
              <a:gd fmla="val 8421" name="adj"/>
            </a:avLst>
          </a:prstGeom>
          <a:solidFill>
            <a:srgbClr val="EEF3FC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2964028" y="1600200"/>
            <a:ext cx="18745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PDF / Article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Preprocessing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4893412" y="1952244"/>
            <a:ext cx="182880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5112868" y="1600200"/>
            <a:ext cx="1965960" cy="868680"/>
          </a:xfrm>
          <a:prstGeom prst="roundRect">
            <a:avLst>
              <a:gd fmla="val 8421" name="adj"/>
            </a:avLst>
          </a:prstGeom>
          <a:solidFill>
            <a:srgbClr val="EEF3FC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"/>
          <p:cNvSpPr/>
          <p:nvPr/>
        </p:nvSpPr>
        <p:spPr>
          <a:xfrm>
            <a:off x="5158588" y="1600200"/>
            <a:ext cx="18745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Clean Markdown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+ YAML Metadata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7087972" y="1952244"/>
            <a:ext cx="182880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4"/>
          <p:cNvSpPr/>
          <p:nvPr/>
        </p:nvSpPr>
        <p:spPr>
          <a:xfrm>
            <a:off x="7307428" y="1600200"/>
            <a:ext cx="1965960" cy="868680"/>
          </a:xfrm>
          <a:prstGeom prst="roundRect">
            <a:avLst>
              <a:gd fmla="val 8421" name="adj"/>
            </a:avLst>
          </a:prstGeom>
          <a:solidFill>
            <a:srgbClr val="EEF3FC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7353148" y="1600200"/>
            <a:ext cx="18745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Embedding Model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(text-embedding-3-small)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9282532" y="1952244"/>
            <a:ext cx="182880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"/>
          <p:cNvSpPr/>
          <p:nvPr/>
        </p:nvSpPr>
        <p:spPr>
          <a:xfrm>
            <a:off x="9501988" y="1600200"/>
            <a:ext cx="1965960" cy="868680"/>
          </a:xfrm>
          <a:prstGeom prst="roundRect">
            <a:avLst>
              <a:gd fmla="val 8421" name="adj"/>
            </a:avLst>
          </a:prstGeom>
          <a:solidFill>
            <a:srgbClr val="EEF3FC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547708" y="1600200"/>
            <a:ext cx="18745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ChromaDB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Vector Index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457200" y="2743200"/>
            <a:ext cx="11277295" cy="1188720"/>
          </a:xfrm>
          <a:prstGeom prst="roundRect">
            <a:avLst>
              <a:gd fmla="val 6154" name="adj"/>
            </a:avLst>
          </a:prstGeom>
          <a:solidFill>
            <a:srgbClr val="FBF6E9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640080" y="278892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QUERY — ONLINE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874624" y="3063240"/>
            <a:ext cx="1572768" cy="868680"/>
          </a:xfrm>
          <a:prstGeom prst="roundRect">
            <a:avLst>
              <a:gd fmla="val 8421" name="adj"/>
            </a:avLst>
          </a:prstGeom>
          <a:solidFill>
            <a:srgbClr val="FDF9EF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4"/>
          <p:cNvSpPr/>
          <p:nvPr/>
        </p:nvSpPr>
        <p:spPr>
          <a:xfrm>
            <a:off x="920344" y="3063240"/>
            <a:ext cx="1481328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Query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2456536" y="3415284"/>
            <a:ext cx="146304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2648560" y="3063240"/>
            <a:ext cx="1572768" cy="868680"/>
          </a:xfrm>
          <a:prstGeom prst="roundRect">
            <a:avLst>
              <a:gd fmla="val 8421" name="adj"/>
            </a:avLst>
          </a:prstGeom>
          <a:solidFill>
            <a:srgbClr val="FDF9EF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"/>
          <p:cNvSpPr/>
          <p:nvPr/>
        </p:nvSpPr>
        <p:spPr>
          <a:xfrm>
            <a:off x="2694280" y="3063240"/>
            <a:ext cx="1481328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Query Embed /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HyDE Expansion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4230472" y="3415284"/>
            <a:ext cx="146304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4"/>
          <p:cNvSpPr/>
          <p:nvPr/>
        </p:nvSpPr>
        <p:spPr>
          <a:xfrm>
            <a:off x="4422496" y="3063240"/>
            <a:ext cx="1572768" cy="868680"/>
          </a:xfrm>
          <a:prstGeom prst="roundRect">
            <a:avLst>
              <a:gd fmla="val 8421" name="adj"/>
            </a:avLst>
          </a:prstGeom>
          <a:solidFill>
            <a:srgbClr val="FDF9EF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"/>
          <p:cNvSpPr/>
          <p:nvPr/>
        </p:nvSpPr>
        <p:spPr>
          <a:xfrm>
            <a:off x="4468216" y="3063240"/>
            <a:ext cx="1481328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Top-k Semantic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Retrieval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6004408" y="3415284"/>
            <a:ext cx="146304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"/>
          <p:cNvSpPr/>
          <p:nvPr/>
        </p:nvSpPr>
        <p:spPr>
          <a:xfrm>
            <a:off x="6196432" y="3063240"/>
            <a:ext cx="1572768" cy="868680"/>
          </a:xfrm>
          <a:prstGeom prst="roundRect">
            <a:avLst>
              <a:gd fmla="val 8421" name="adj"/>
            </a:avLst>
          </a:prstGeom>
          <a:solidFill>
            <a:srgbClr val="FDF9EF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"/>
          <p:cNvSpPr/>
          <p:nvPr/>
        </p:nvSpPr>
        <p:spPr>
          <a:xfrm>
            <a:off x="6242152" y="3063240"/>
            <a:ext cx="1481328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Optional BGE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Reranking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7778344" y="3415284"/>
            <a:ext cx="146304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4"/>
          <p:cNvSpPr/>
          <p:nvPr/>
        </p:nvSpPr>
        <p:spPr>
          <a:xfrm>
            <a:off x="7970368" y="3063240"/>
            <a:ext cx="1572768" cy="868680"/>
          </a:xfrm>
          <a:prstGeom prst="roundRect">
            <a:avLst>
              <a:gd fmla="val 8421" name="adj"/>
            </a:avLst>
          </a:prstGeom>
          <a:solidFill>
            <a:srgbClr val="FDF9EF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4"/>
          <p:cNvSpPr/>
          <p:nvPr/>
        </p:nvSpPr>
        <p:spPr>
          <a:xfrm>
            <a:off x="8016088" y="3063240"/>
            <a:ext cx="1481328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gpt-4o-mini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9552280" y="3415284"/>
            <a:ext cx="146304" cy="164592"/>
          </a:xfrm>
          <a:prstGeom prst="chevron">
            <a:avLst>
              <a:gd fmla="val 50000" name="adj"/>
            </a:avLst>
          </a:prstGeom>
          <a:solidFill>
            <a:srgbClr val="E4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9744304" y="3063240"/>
            <a:ext cx="1572768" cy="868680"/>
          </a:xfrm>
          <a:prstGeom prst="roundRect">
            <a:avLst>
              <a:gd fmla="val 8421" name="adj"/>
            </a:avLst>
          </a:prstGeom>
          <a:solidFill>
            <a:srgbClr val="FDF9EF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"/>
          <p:cNvSpPr/>
          <p:nvPr/>
        </p:nvSpPr>
        <p:spPr>
          <a:xfrm>
            <a:off x="9790024" y="3063240"/>
            <a:ext cx="1481328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Grounded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Response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457200" y="4434840"/>
            <a:ext cx="11277295" cy="1874520"/>
          </a:xfrm>
          <a:prstGeom prst="roundRect">
            <a:avLst>
              <a:gd fmla="val 3902" name="adj"/>
            </a:avLst>
          </a:prstGeom>
          <a:solidFill>
            <a:srgbClr val="F3F1F6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685800" y="45720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Key Components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685800" y="4919472"/>
            <a:ext cx="10820095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YAML metadata layer: </a:t>
            </a: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title, description, topics, sample queries per chunk.</a:t>
            </a:r>
            <a:b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Embedding: </a:t>
            </a: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text-embedding-3-small → 1536-d vectors, stored in ChromaDB collection finance_documents.</a:t>
            </a:r>
            <a:b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BGE reranker: </a:t>
            </a: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final_score = 0.8×body_score + 0.2×metadata_score over top-25 candidates.</a:t>
            </a:r>
            <a:b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gpt-4o-mini: </a:t>
            </a: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generates the answer strictly from retrieved context; states when not found.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TRAINING &amp; EXPERIMENTAL CONFIGURATION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Frozen Models, Retrieval &amp; Reranking Setup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457200" y="1417320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No conventional training was performed — weights, loss function, optimizer, learning rate, batch size, and epochs are not applicable. All models used are frozen pretrained models.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457200" y="2057400"/>
            <a:ext cx="5455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Frozen Pretrained Models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6" name="Google Shape;146;p5"/>
          <p:cNvGraphicFramePr/>
          <p:nvPr/>
        </p:nvGraphicFramePr>
        <p:xfrm>
          <a:off x="457200" y="239572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1920250"/>
                <a:gridCol w="3017525"/>
              </a:tblGrid>
              <a:tr h="133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Usage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text-embedding-3-small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Embeds chunks &amp; queries (1536-d)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gpt-4o-mini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Generates grounded answers from context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BGE reranker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Optional cross-encoder reranking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147" name="Google Shape;147;p5"/>
          <p:cNvSpPr/>
          <p:nvPr/>
        </p:nvSpPr>
        <p:spPr>
          <a:xfrm>
            <a:off x="6278728" y="2057400"/>
            <a:ext cx="5455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Retrieval, Reranking, HyDE &amp; Hardware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8" name="Google Shape;148;p5"/>
          <p:cNvGraphicFramePr/>
          <p:nvPr/>
        </p:nvGraphicFramePr>
        <p:xfrm>
          <a:off x="6278728" y="239572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2103125"/>
                <a:gridCol w="3319275"/>
              </a:tblGrid>
              <a:tr h="133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Setting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120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Vector DB / collection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ChromaDB / finance_documents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120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 / rerank candidates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Top 10 / Top 25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20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LLM context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Top 3 chunks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120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Reranking weights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 body + 0.2 metadata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20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HyDE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hypothetical passage (gpt-4o-mini), embedded instead of raw query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120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Hardware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CPU sufficient; GPU helps only for BGE reranking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9" name="Google Shape;149;p5"/>
          <p:cNvSpPr/>
          <p:nvPr/>
        </p:nvSpPr>
        <p:spPr>
          <a:xfrm>
            <a:off x="457200" y="5257800"/>
            <a:ext cx="11277295" cy="822960"/>
          </a:xfrm>
          <a:prstGeom prst="roundRect">
            <a:avLst>
              <a:gd fmla="val 8889" name="adj"/>
            </a:avLst>
          </a:prstGeom>
          <a:solidFill>
            <a:srgbClr val="EEF3FC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"/>
          <p:cNvSpPr/>
          <p:nvPr/>
        </p:nvSpPr>
        <p:spPr>
          <a:xfrm>
            <a:off x="685800" y="5394960"/>
            <a:ext cx="10820095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Evaluation metrics: Recall@3 / @5 / @7, latency, success rate, and qualitative grounding — measured over the 50-question benchmark.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HYPERPARAMETER EXPERIMENTS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Three Pipelines, Head to Head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6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0" name="Google Shape;160;p6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3200400"/>
                <a:gridCol w="1554475"/>
                <a:gridCol w="1554475"/>
                <a:gridCol w="1554475"/>
                <a:gridCol w="1554475"/>
                <a:gridCol w="1764800"/>
              </a:tblGrid>
              <a:tr h="152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Successful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Recall@3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Recall@5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Recall@7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Avg Latency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146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Chroma only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50/50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54%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6.251 sec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146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Chroma + HyDE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50/50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9.320 sec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46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Chroma + BGE Reranking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50/50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58%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245.342 sec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161" name="Google Shape;161;p6"/>
          <p:cNvSpPr/>
          <p:nvPr/>
        </p:nvSpPr>
        <p:spPr>
          <a:xfrm>
            <a:off x="457200" y="3383280"/>
            <a:ext cx="11277295" cy="2651760"/>
          </a:xfrm>
          <a:prstGeom prst="roundRect">
            <a:avLst>
              <a:gd fmla="val 2759" name="adj"/>
            </a:avLst>
          </a:prstGeom>
          <a:solidFill>
            <a:srgbClr val="EEF3FC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6"/>
          <p:cNvSpPr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Settings Tested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685800" y="3931920"/>
            <a:ext cx="10820095" cy="1965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Retrieval strategy: </a:t>
            </a:r>
            <a:r>
              <a:rPr b="0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Chroma-only, Chroma + HyDE, Chroma + BGE reranking</a:t>
            </a:r>
            <a:br>
              <a:rPr b="0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Candidate pool: </a:t>
            </a:r>
            <a:r>
              <a:rPr b="0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Top 10 (baseline/HyDE) vs. Top 25 (reranking) — final LLM context always Top 3 chunks</a:t>
            </a:r>
            <a:br>
              <a:rPr b="0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Query representation: </a:t>
            </a:r>
            <a:r>
              <a:rPr b="0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raw user query vs. HyDE-generated hypothetical passage</a:t>
            </a:r>
            <a:br>
              <a:rPr b="0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BGE score weighting: </a:t>
            </a:r>
            <a:r>
              <a:rPr b="0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0.8 × body_score + 0.2 × metadata_score, evaluated at Recall@3/5/7</a:t>
            </a:r>
            <a:br>
              <a:rPr b="0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Answer model: </a:t>
            </a:r>
            <a:r>
              <a:rPr b="0" i="0" lang="en-US" sz="12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gpt-4o-mini throughout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HYPERPARAMETER EXPERIMENTS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Recall vs. Latency Trade-off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3" name="Google Shape;173;p7"/>
          <p:cNvGraphicFramePr/>
          <p:nvPr/>
        </p:nvGraphicFramePr>
        <p:xfrm>
          <a:off x="457200" y="1463040"/>
          <a:ext cx="5455768" cy="448056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174" name="Google Shape;174;p7"/>
          <p:cNvGraphicFramePr/>
          <p:nvPr/>
        </p:nvGraphicFramePr>
        <p:xfrm>
          <a:off x="6278728" y="1463040"/>
          <a:ext cx="5455768" cy="448056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175" name="Google Shape;175;p7"/>
          <p:cNvSpPr/>
          <p:nvPr/>
        </p:nvSpPr>
        <p:spPr>
          <a:xfrm>
            <a:off x="457200" y="6126480"/>
            <a:ext cx="112772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BGE reranking lifts Recall@3 from 40% to 58% but is ~40× slower than the Chroma-only baseline.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HYPERPARAMETER EXPERIMENTS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RRF Fusion &amp; Final Choices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457200" y="141732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Additional Experiment — RRF (raw query + HyDE)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6" name="Google Shape;186;p8"/>
          <p:cNvGraphicFramePr/>
          <p:nvPr/>
        </p:nvGraphicFramePr>
        <p:xfrm>
          <a:off x="457200" y="17830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5029200"/>
                <a:gridCol w="2084825"/>
                <a:gridCol w="2084825"/>
                <a:gridCol w="2075700"/>
              </a:tblGrid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Recall@3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Recall@5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Recall@7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Raw query baseline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54%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HyDE only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Raw query + HyDE (RRF)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54%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58%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187" name="Google Shape;187;p8"/>
          <p:cNvSpPr/>
          <p:nvPr/>
        </p:nvSpPr>
        <p:spPr>
          <a:xfrm>
            <a:off x="457200" y="324612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Final Hyperparameter Choices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8" name="Google Shape;188;p8"/>
          <p:cNvGraphicFramePr/>
          <p:nvPr/>
        </p:nvGraphicFramePr>
        <p:xfrm>
          <a:off x="457200" y="358444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2743200"/>
                <a:gridCol w="2743200"/>
                <a:gridCol w="578815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Setting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Choice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Reason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Query representation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Raw query (baseline)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Fast; beat HyDE-only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Candidate count for reranking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Top 25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Wider pool for reranker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Reranking score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 body + 0.2 metadata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Body primary; metadata aids title/date matches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LLM context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Top 3 chunks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Focused, manageable latency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 accuracy / best practical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Chroma+BGE rerank / Chroma-only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Highest recall / lowest latency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9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GENERALIZATION &amp; STABILITY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Techniques Used and Their Effect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9"/>
          <p:cNvSpPr/>
          <p:nvPr/>
        </p:nvSpPr>
        <p:spPr>
          <a:xfrm>
            <a:off x="457200" y="1371600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With no trained weights, “stability” means consistent retrieval, grounded answers, and error-free completion across unseen questions.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9" name="Google Shape;199;p9"/>
          <p:cNvGraphicFramePr/>
          <p:nvPr/>
        </p:nvGraphicFramePr>
        <p:xfrm>
          <a:off x="457200" y="18745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4572000"/>
                <a:gridCol w="6702550"/>
              </a:tblGrid>
              <a:tr h="530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Technique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Effect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Multi-source corpus (NSE, IR, yfinance, Trendlyne)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Improved coverage across regulatory, company, news, brokerage views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Source-specific preprocessing prompts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Reduced noise before embedding; more reliable retrieval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YAML metadata enrichment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Helped embeddings capture content and document intent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Structure-aware chunking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Preserved financial context; avoided cutting numbers from explanations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Grounded answer prompt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Reduced hallucination risk; improved faithfulness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Persistent ChromaDB index + benchmark logging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Reproducible retrieval; traceable failures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BGE reranking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Improved Recall@3 from 40% to 58%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QUANTITATIVE RESULTS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Latency Breakdown &amp; Source-Wise Recall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457200" y="1463040"/>
            <a:ext cx="5455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Best Setting (Chroma + BGE): Latency by Stage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0" name="Google Shape;210;p10"/>
          <p:cNvGraphicFramePr/>
          <p:nvPr/>
        </p:nvGraphicFramePr>
        <p:xfrm>
          <a:off x="457200" y="18013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2194550"/>
                <a:gridCol w="2770625"/>
              </a:tblGrid>
              <a:tr h="133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Stage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Avg. Time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Query embedding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1.236 sec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Chroma retrieval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0.089 sec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BGE reranking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243.994 sec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Median / range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229.987 sec / 185.5–454.8 sec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 sequential runtime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204.45 min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211" name="Google Shape;211;p10"/>
          <p:cNvSpPr/>
          <p:nvPr/>
        </p:nvSpPr>
        <p:spPr>
          <a:xfrm>
            <a:off x="6278728" y="1463040"/>
            <a:ext cx="5455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Recall@3 by Source (With Reranking)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2" name="Google Shape;212;p10"/>
          <p:cNvGraphicFramePr/>
          <p:nvPr/>
        </p:nvGraphicFramePr>
        <p:xfrm>
          <a:off x="6278728" y="18013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3319275"/>
                <a:gridCol w="1828800"/>
              </a:tblGrid>
              <a:tr h="133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Source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Recall@3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NSE ≤ 10 pages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9/10 = 90%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NSE &gt; 10 pages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15/30 = 50%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Infosys IR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2/5 = 40%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Trendlyne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2/4 = 50%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Yahoo Finance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1/1 = 100%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213" name="Google Shape;213;p10"/>
          <p:cNvSpPr/>
          <p:nvPr/>
        </p:nvSpPr>
        <p:spPr>
          <a:xfrm>
            <a:off x="457200" y="4892040"/>
            <a:ext cx="11277295" cy="1188720"/>
          </a:xfrm>
          <a:prstGeom prst="roundRect">
            <a:avLst>
              <a:gd fmla="val 6154" name="adj"/>
            </a:avLst>
          </a:prstGeom>
          <a:solidFill>
            <a:srgbClr val="F3F1F6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0"/>
          <p:cNvSpPr/>
          <p:nvPr/>
        </p:nvSpPr>
        <p:spPr>
          <a:xfrm>
            <a:off x="685800" y="5029200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BGE reranking is the bottleneck stage by far. Short NSE filings retrieve best (90%); long NSE documents — split into many similar sections — retrieve worst (50%).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SAMPLE OUTPUT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1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Example — Grounded Answer(1)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1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4" name="Google Shape;22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59400"/>
            <a:ext cx="8707937" cy="4983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f602db4028_0_1"/>
          <p:cNvSpPr/>
          <p:nvPr/>
        </p:nvSpPr>
        <p:spPr>
          <a:xfrm>
            <a:off x="457200" y="320040"/>
            <a:ext cx="1127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SAMPLE OUTPUT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g3f602db4028_0_1"/>
          <p:cNvSpPr/>
          <p:nvPr/>
        </p:nvSpPr>
        <p:spPr>
          <a:xfrm>
            <a:off x="457200" y="566928"/>
            <a:ext cx="11277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Example — Grounded Answer(2)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g3f602db4028_0_1"/>
          <p:cNvSpPr/>
          <p:nvPr/>
        </p:nvSpPr>
        <p:spPr>
          <a:xfrm>
            <a:off x="457200" y="6510528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g3f602db4028_0_1"/>
          <p:cNvSpPr/>
          <p:nvPr/>
        </p:nvSpPr>
        <p:spPr>
          <a:xfrm>
            <a:off x="11185855" y="6510528"/>
            <a:ext cx="548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4" name="Google Shape;234;g3f602db4028_0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59528"/>
            <a:ext cx="10442060" cy="499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f602db4028_0_11"/>
          <p:cNvSpPr/>
          <p:nvPr/>
        </p:nvSpPr>
        <p:spPr>
          <a:xfrm>
            <a:off x="457200" y="320040"/>
            <a:ext cx="1127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SAMPLE OUTPUT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g3f602db4028_0_11"/>
          <p:cNvSpPr/>
          <p:nvPr/>
        </p:nvSpPr>
        <p:spPr>
          <a:xfrm>
            <a:off x="457200" y="566928"/>
            <a:ext cx="11277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Example — Grounded Answer(</a:t>
            </a:r>
            <a:r>
              <a:rPr b="1" lang="en-US" sz="3000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3)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g3f602db4028_0_11"/>
          <p:cNvSpPr/>
          <p:nvPr/>
        </p:nvSpPr>
        <p:spPr>
          <a:xfrm>
            <a:off x="457200" y="6510528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g3f602db4028_0_11"/>
          <p:cNvSpPr/>
          <p:nvPr/>
        </p:nvSpPr>
        <p:spPr>
          <a:xfrm>
            <a:off x="11185855" y="6510528"/>
            <a:ext cx="548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4" name="Google Shape;244;g3f602db4028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59528"/>
            <a:ext cx="9728367" cy="4998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What Worked Well vs. What Didn’t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2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2"/>
          <p:cNvSpPr/>
          <p:nvPr/>
        </p:nvSpPr>
        <p:spPr>
          <a:xfrm>
            <a:off x="457200" y="1417320"/>
            <a:ext cx="5455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Worked Well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55" name="Google Shape;255;p12"/>
          <p:cNvGraphicFramePr/>
          <p:nvPr/>
        </p:nvGraphicFramePr>
        <p:xfrm>
          <a:off x="457200" y="175564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2194550"/>
                <a:gridCol w="3200400"/>
              </a:tblGrid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Finding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Evidence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RAG architecture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Answered from fresh disclosures, no fine-tuning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Clean Markdown + YAML metadata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Reduced noise; clearer chunk identity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Chroma-only retrieval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50/50 completed, 6.251 sec avg latency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BGE reranking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Recall@3 40%→58%; Recall@5 50%→64%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Grounded generation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Useful, source-grounded answers when retrieval was correct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256" name="Google Shape;256;p12"/>
          <p:cNvSpPr/>
          <p:nvPr/>
        </p:nvSpPr>
        <p:spPr>
          <a:xfrm>
            <a:off x="6278728" y="1417320"/>
            <a:ext cx="5455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Didn’t Perform as Expected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57" name="Google Shape;257;p12"/>
          <p:cNvGraphicFramePr/>
          <p:nvPr/>
        </p:nvGraphicFramePr>
        <p:xfrm>
          <a:off x="6278728" y="175564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2103125"/>
                <a:gridCol w="3291850"/>
              </a:tblGrid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Issue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Observation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HyDE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Recall@3 flat at 40%; Recall@5/@7 dropped vs. baseline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Large chunks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Some ≈ 8k tokens; higher noise-to-signal ratio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Top-3 context limit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Recall@5/@7 &gt; Recall@3 — right doc often excluded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Long NSE documents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Lower Recall@3 than short filings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BGE reranking latency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~245 sec/question — too slow for interactive use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3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ARTIFACTS GENERATED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3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Corpus, Scripts &amp; Checkpoint Status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3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67" name="Google Shape;267;p13"/>
          <p:cNvGraphicFramePr/>
          <p:nvPr/>
        </p:nvGraphicFramePr>
        <p:xfrm>
          <a:off x="457200" y="14630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4754875"/>
                <a:gridCol w="6519675"/>
              </a:tblGrid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Artifact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Purpose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Cleaned NSE / IR / yfinance / Trendlyne Markdown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Retrieval-ready chunks per source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ChromaDB vector index (finance_documents)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Persistent embeddings store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Benchmark dataset (50 queries) + result CSVs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Recall/latency results for baseline, HyDE, reranking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RAGAS summary &amp; benchmarking notes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Evaluation summaries and observations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Indexing / retrieval / benchmark scripts + cleaning &amp; sectioning prompts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Reproducible pipeline: index_documents.py, retriever.py, hyde_retriever.py, benchmark runners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268" name="Google Shape;268;p13"/>
          <p:cNvSpPr/>
          <p:nvPr/>
        </p:nvSpPr>
        <p:spPr>
          <a:xfrm>
            <a:off x="457200" y="489204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Model Checkpoint Status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3"/>
          <p:cNvSpPr/>
          <p:nvPr/>
        </p:nvSpPr>
        <p:spPr>
          <a:xfrm>
            <a:off x="457200" y="5230368"/>
            <a:ext cx="3606698" cy="777240"/>
          </a:xfrm>
          <a:prstGeom prst="roundRect">
            <a:avLst>
              <a:gd fmla="val 9412" name="adj"/>
            </a:avLst>
          </a:prstGeom>
          <a:solidFill>
            <a:srgbClr val="F3F1F6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3"/>
          <p:cNvSpPr/>
          <p:nvPr/>
        </p:nvSpPr>
        <p:spPr>
          <a:xfrm>
            <a:off x="566928" y="5303520"/>
            <a:ext cx="33872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Saved weights / checkpoints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3"/>
          <p:cNvSpPr/>
          <p:nvPr/>
        </p:nvSpPr>
        <p:spPr>
          <a:xfrm>
            <a:off x="566928" y="5650992"/>
            <a:ext cx="338724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9432F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A9432F"/>
                </a:solidFill>
                <a:latin typeface="Calibri"/>
                <a:ea typeface="Calibri"/>
                <a:cs typeface="Calibri"/>
                <a:sym typeface="Calibri"/>
              </a:rPr>
              <a:t>Not generated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3"/>
          <p:cNvSpPr/>
          <p:nvPr/>
        </p:nvSpPr>
        <p:spPr>
          <a:xfrm>
            <a:off x="4292498" y="5230368"/>
            <a:ext cx="3606698" cy="777240"/>
          </a:xfrm>
          <a:prstGeom prst="roundRect">
            <a:avLst>
              <a:gd fmla="val 9412" name="adj"/>
            </a:avLst>
          </a:prstGeom>
          <a:solidFill>
            <a:srgbClr val="F3F1F6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3"/>
          <p:cNvSpPr/>
          <p:nvPr/>
        </p:nvSpPr>
        <p:spPr>
          <a:xfrm>
            <a:off x="4402226" y="5303520"/>
            <a:ext cx="33872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Fine-tuned model artifact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3"/>
          <p:cNvSpPr/>
          <p:nvPr/>
        </p:nvSpPr>
        <p:spPr>
          <a:xfrm>
            <a:off x="4402226" y="5650992"/>
            <a:ext cx="338724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9432F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A9432F"/>
                </a:solidFill>
                <a:latin typeface="Calibri"/>
                <a:ea typeface="Calibri"/>
                <a:cs typeface="Calibri"/>
                <a:sym typeface="Calibri"/>
              </a:rPr>
              <a:t>Not generated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3"/>
          <p:cNvSpPr/>
          <p:nvPr/>
        </p:nvSpPr>
        <p:spPr>
          <a:xfrm>
            <a:off x="8127797" y="5230368"/>
            <a:ext cx="3606698" cy="777240"/>
          </a:xfrm>
          <a:prstGeom prst="roundRect">
            <a:avLst>
              <a:gd fmla="val 9412" name="adj"/>
            </a:avLst>
          </a:prstGeom>
          <a:solidFill>
            <a:srgbClr val="EAF3F0"/>
          </a:solidFill>
          <a:ln cap="flat" cmpd="sng" w="12700">
            <a:solidFill>
              <a:srgbClr val="E4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8492A6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3"/>
          <p:cNvSpPr/>
          <p:nvPr/>
        </p:nvSpPr>
        <p:spPr>
          <a:xfrm>
            <a:off x="8237525" y="5303520"/>
            <a:ext cx="33872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Vector index &amp; evaluation logs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3"/>
          <p:cNvSpPr/>
          <p:nvPr/>
        </p:nvSpPr>
        <p:spPr>
          <a:xfrm>
            <a:off x="8237525" y="5650992"/>
            <a:ext cx="338724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7D6B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2F7D6B"/>
                </a:solidFill>
                <a:latin typeface="Calibri"/>
                <a:ea typeface="Calibri"/>
                <a:cs typeface="Calibri"/>
                <a:sym typeface="Calibri"/>
              </a:rPr>
              <a:t>Generated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"/>
          <p:cNvSpPr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/>
          <p:nvPr/>
        </p:nvSpPr>
        <p:spPr>
          <a:xfrm>
            <a:off x="457200" y="566928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Bottlenecks &amp; Improvement Plan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FinQuery — Milestone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4"/>
          <p:cNvSpPr/>
          <p:nvPr/>
        </p:nvSpPr>
        <p:spPr>
          <a:xfrm>
            <a:off x="11185855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4"/>
          <p:cNvSpPr/>
          <p:nvPr/>
        </p:nvSpPr>
        <p:spPr>
          <a:xfrm>
            <a:off x="457200" y="1417320"/>
            <a:ext cx="5455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Main Bottlenecks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8" name="Google Shape;288;p14"/>
          <p:cNvGraphicFramePr/>
          <p:nvPr/>
        </p:nvGraphicFramePr>
        <p:xfrm>
          <a:off x="457200" y="175564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2194550"/>
                <a:gridCol w="3200400"/>
              </a:tblGrid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Bottleneck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Why It Matters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Chunk size too large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Dilutes relevant span; less precise embedding/reranking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Table-heavy documents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Key rows get buried without structure-aware handling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Reranking latency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~245 sec/question, impractical for real-time use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Dense-only retrieval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 miss exact company/deal names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Top-3 context limit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Correct docs at ranks 4–5 never seen by the LLM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289" name="Google Shape;289;p14"/>
          <p:cNvSpPr/>
          <p:nvPr/>
        </p:nvSpPr>
        <p:spPr>
          <a:xfrm>
            <a:off x="6278728" y="1417320"/>
            <a:ext cx="5455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Improvement Plan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90" name="Google Shape;290;p14"/>
          <p:cNvGraphicFramePr/>
          <p:nvPr/>
        </p:nvGraphicFramePr>
        <p:xfrm>
          <a:off x="6278728" y="175564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{BACAF7ED-44A8-45E6-B49F-551263877EC3}</a:tableStyleId>
              </a:tblPr>
              <a:tblGrid>
                <a:gridCol w="2103125"/>
                <a:gridCol w="3291850"/>
              </a:tblGrid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Improvement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Expected Benefit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Reduce chunk size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Lower noise-to-signal ratio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Table-aware chunking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Preserve financial tables as queryable units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Top 3 → Top 5 context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Recovers near-miss documents at ranks 4–5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Hybrid dense + BM25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Catches exact keyword/entity matches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Lighter reranker + richer metadata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Lower latency; better title/date matching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5"/>
          <p:cNvSpPr/>
          <p:nvPr/>
        </p:nvSpPr>
        <p:spPr>
          <a:xfrm>
            <a:off x="-1280160" y="-1463040"/>
            <a:ext cx="3657600" cy="3657600"/>
          </a:xfrm>
          <a:prstGeom prst="ellipse">
            <a:avLst/>
          </a:prstGeom>
          <a:solidFill>
            <a:srgbClr val="141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5"/>
          <p:cNvSpPr/>
          <p:nvPr/>
        </p:nvSpPr>
        <p:spPr>
          <a:xfrm>
            <a:off x="10241280" y="4937760"/>
            <a:ext cx="3108960" cy="3108960"/>
          </a:xfrm>
          <a:prstGeom prst="ellipse">
            <a:avLst/>
          </a:prstGeom>
          <a:solidFill>
            <a:srgbClr val="141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5"/>
          <p:cNvSpPr/>
          <p:nvPr/>
        </p:nvSpPr>
        <p:spPr>
          <a:xfrm>
            <a:off x="457200" y="640080"/>
            <a:ext cx="112772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SUMMARY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5"/>
          <p:cNvSpPr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BGE Reranking Was the Headline Result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5"/>
          <p:cNvSpPr/>
          <p:nvPr/>
        </p:nvSpPr>
        <p:spPr>
          <a:xfrm>
            <a:off x="457200" y="2011680"/>
            <a:ext cx="3576218" cy="1554480"/>
          </a:xfrm>
          <a:prstGeom prst="roundRect">
            <a:avLst>
              <a:gd fmla="val 4706" name="adj"/>
            </a:avLst>
          </a:prstGeom>
          <a:solidFill>
            <a:srgbClr val="141B45"/>
          </a:solidFill>
          <a:ln cap="flat" cmpd="sng" w="12700">
            <a:solidFill>
              <a:srgbClr val="3A4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5"/>
          <p:cNvSpPr/>
          <p:nvPr/>
        </p:nvSpPr>
        <p:spPr>
          <a:xfrm>
            <a:off x="457200" y="2194560"/>
            <a:ext cx="35762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700"/>
              <a:buFont typeface="Cambria"/>
              <a:buNone/>
            </a:pPr>
            <a:r>
              <a:rPr b="1" i="0" lang="en-US" sz="2700" u="none" cap="none" strike="noStrike">
                <a:solidFill>
                  <a:srgbClr val="C9A227"/>
                </a:solidFill>
                <a:latin typeface="Cambria"/>
                <a:ea typeface="Cambria"/>
                <a:cs typeface="Cambria"/>
                <a:sym typeface="Cambria"/>
              </a:rPr>
              <a:t>40% → 58%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5"/>
          <p:cNvSpPr/>
          <p:nvPr/>
        </p:nvSpPr>
        <p:spPr>
          <a:xfrm>
            <a:off x="640080" y="2926080"/>
            <a:ext cx="321045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Recall@3, Chroma-only → + BGE reranking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5"/>
          <p:cNvSpPr/>
          <p:nvPr/>
        </p:nvSpPr>
        <p:spPr>
          <a:xfrm>
            <a:off x="4307738" y="2011680"/>
            <a:ext cx="3576218" cy="1554480"/>
          </a:xfrm>
          <a:prstGeom prst="roundRect">
            <a:avLst>
              <a:gd fmla="val 4706" name="adj"/>
            </a:avLst>
          </a:prstGeom>
          <a:solidFill>
            <a:srgbClr val="141B45"/>
          </a:solidFill>
          <a:ln cap="flat" cmpd="sng" w="12700">
            <a:solidFill>
              <a:srgbClr val="3A4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5"/>
          <p:cNvSpPr/>
          <p:nvPr/>
        </p:nvSpPr>
        <p:spPr>
          <a:xfrm>
            <a:off x="4307738" y="2194560"/>
            <a:ext cx="35762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700"/>
              <a:buFont typeface="Cambria"/>
              <a:buNone/>
            </a:pPr>
            <a:r>
              <a:rPr b="1" i="0" lang="en-US" sz="2700" u="none" cap="none" strike="noStrike">
                <a:solidFill>
                  <a:srgbClr val="C9A227"/>
                </a:solidFill>
                <a:latin typeface="Cambria"/>
                <a:ea typeface="Cambria"/>
                <a:cs typeface="Cambria"/>
                <a:sym typeface="Cambria"/>
              </a:rPr>
              <a:t>6.3 → 245 sec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5"/>
          <p:cNvSpPr/>
          <p:nvPr/>
        </p:nvSpPr>
        <p:spPr>
          <a:xfrm>
            <a:off x="4490618" y="2926080"/>
            <a:ext cx="321045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Average latency, same comparison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5"/>
          <p:cNvSpPr/>
          <p:nvPr/>
        </p:nvSpPr>
        <p:spPr>
          <a:xfrm>
            <a:off x="8158277" y="2011680"/>
            <a:ext cx="3576218" cy="1554480"/>
          </a:xfrm>
          <a:prstGeom prst="roundRect">
            <a:avLst>
              <a:gd fmla="val 4706" name="adj"/>
            </a:avLst>
          </a:prstGeom>
          <a:solidFill>
            <a:srgbClr val="141B45"/>
          </a:solidFill>
          <a:ln cap="flat" cmpd="sng" w="12700">
            <a:solidFill>
              <a:srgbClr val="3A4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5"/>
          <p:cNvSpPr/>
          <p:nvPr/>
        </p:nvSpPr>
        <p:spPr>
          <a:xfrm>
            <a:off x="8158277" y="2194560"/>
            <a:ext cx="35762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700"/>
              <a:buFont typeface="Cambria"/>
              <a:buNone/>
            </a:pPr>
            <a:r>
              <a:rPr b="1" i="0" lang="en-US" sz="2700" u="none" cap="none" strike="noStrike">
                <a:solidFill>
                  <a:srgbClr val="C9A227"/>
                </a:solidFill>
                <a:latin typeface="Cambria"/>
                <a:ea typeface="Cambria"/>
                <a:cs typeface="Cambria"/>
                <a:sym typeface="Cambria"/>
              </a:rPr>
              <a:t>50/50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5"/>
          <p:cNvSpPr/>
          <p:nvPr/>
        </p:nvSpPr>
        <p:spPr>
          <a:xfrm>
            <a:off x="8341157" y="2926080"/>
            <a:ext cx="321045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Benchmark questions, zero failures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5"/>
          <p:cNvSpPr/>
          <p:nvPr/>
        </p:nvSpPr>
        <p:spPr>
          <a:xfrm>
            <a:off x="457200" y="3977640"/>
            <a:ext cx="1127729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FinQuery uses frozen pretrained models throughout — no weights were trained. Generalization and stability came from clean preprocessing, metadata enrichment, structure-aware chunking, grounded prompting, and reranking. Next steps: smaller table-aware chunks, hybrid BM25 + dense retrieval, richer metadata, and a lighter reranker for top-5 context at interactive latency.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5"/>
          <p:cNvSpPr/>
          <p:nvPr/>
        </p:nvSpPr>
        <p:spPr>
          <a:xfrm>
            <a:off x="457200" y="6172200"/>
            <a:ext cx="112772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9A227"/>
                </a:solidFill>
                <a:latin typeface="Calibri"/>
                <a:ea typeface="Calibri"/>
                <a:cs typeface="Calibri"/>
                <a:sym typeface="Calibri"/>
              </a:rPr>
              <a:t>Team 06  ·  IIT Madras  ·  FinQuery Milestone 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2026-07-30T18:41:21Z</dcterms:created>
  <dc:creator>PptxGenJS</dc:creator>
</cp:coreProperties>
</file>