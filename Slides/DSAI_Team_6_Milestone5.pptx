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customooxmlschemas.google.com/" autoCompressPictures="0" strictFirstAndLastChars="0" saveSubsetFonts="1">
  <ns0:sldMasterIdLst>
    <ns0:sldMasterId id="2147483648" ns1:id="rId4"/>
  </ns0:sldMasterIdLst>
  <ns0:notesMasterIdLst>
    <ns0:notesMasterId ns1:id="rId5"/>
  </ns0:notesMasterIdLst>
  <ns0:sldIdLst>
    <ns0:sldId id="256" ns1:id="rId6"/>
    <ns0:sldId id="257" ns1:id="rId7"/>
    <ns0:sldId id="258" ns1:id="rId8"/>
    <ns0:sldId id="259" ns1:id="rId9"/>
    <ns0:sldId id="260" ns1:id="rId10"/>
    <ns0:sldId id="261" ns1:id="rId11"/>
    <ns0:sldId id="262" ns1:id="rId12"/>
    <ns0:sldId id="263" ns1:id="rId13"/>
    <ns0:sldId id="264" ns1:id="rId14"/>
    <ns0:sldId id="265" ns1:id="rId15"/>
    <ns0:sldId id="266" ns1:id="rId16"/>
    <ns0:sldId id="267" ns1:id="rId17"/>
    <ns0:sldId id="268" ns1:id="rId18"/>
    <ns0:sldId id="269" ns1:id="rId19"/>
    <ns0:sldId id="270" ns1:id="rId20"/>
  </ns0:sldIdLst>
  <ns0:sldSz cy="6858000" cx="12191675"/>
  <ns0:notesSz cx="6858000" cy="12191675"/>
  <ns0:defaultTextStyle>
    <ns2:defPPr lvl="0" marR="0" rtl="0" algn="l">
      <ns2:lnSpc>
        <ns2:spcPct val="100000"/>
      </ns2:lnSpc>
      <ns2:spcBef>
        <ns2:spcPts val="0"/>
      </ns2:spcBef>
      <ns2:spcAft>
        <ns2:spcPts val="0"/>
      </ns2:spcAft>
    </ns2:defPPr>
    <ns2:lvl1pPr lvl="0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pc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1pPr>
    <ns2:lvl2pPr lvl="1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pc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2pPr>
    <ns2:lvl3pPr lvl="2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pc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3pPr>
    <ns2:lvl4pPr lvl="3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pc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4pPr>
    <ns2:lvl5pPr lvl="4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pc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5pPr>
    <ns2:lvl6pPr lvl="5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pc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6pPr>
    <ns2:lvl7pPr lvl="6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pc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7pPr>
    <ns2:lvl8pPr lvl="7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pc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8pPr>
    <ns2:lvl9pPr lvl="8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pc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9pPr>
  </ns0:defaultTextStyle>
  <ns0:extLst>
    <ns0:ext uri="GoogleSlidesCustomDataVersion2">
      <ns3:slidesCustomData ns1:id="rId24" roundtripDataSignature="AMtx7mjcIdOdLNcDIyANw8NTgjaBC14HAg=="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B21B74-D8FC-48D4-869A-1F738B3A4953}">
  <a:tblStyle styleId="{25B21B74-D8FC-48D4-869A-1F738B3A495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1609649-03A6-4475-90FF-E06B5FD767E6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theme" Target="theme/theme2.xml"/>
<Relationship Id="rId2" Type="http://schemas.openxmlformats.org/officeDocument/2006/relationships/presProps" Target="presProps.xml"/>
<Relationship Id="rId3" Type="http://schemas.openxmlformats.org/officeDocument/2006/relationships/tableStyles" Target="tableStyles.xml"/>
<Relationship Id="rId4" Type="http://schemas.openxmlformats.org/officeDocument/2006/relationships/slideMaster" Target="slideMasters/slideMaster1.xml"/>
<Relationship Id="rId5" Type="http://schemas.openxmlformats.org/officeDocument/2006/relationships/notesMaster" Target="notesMasters/notesMaster1.xml"/>
<Relationship Id="rId6" Type="http://schemas.openxmlformats.org/officeDocument/2006/relationships/slide" Target="slides/slide1.xml"/>
<Relationship Id="rId7" Type="http://schemas.openxmlformats.org/officeDocument/2006/relationships/slide" Target="slides/slide2.xml"/>
<Relationship Id="rId8" Type="http://schemas.openxmlformats.org/officeDocument/2006/relationships/slide" Target="slides/slide3.xml"/>
<Relationship Id="rId9" Type="http://schemas.openxmlformats.org/officeDocument/2006/relationships/slide" Target="slides/slide4.xml"/>
<Relationship Id="rId10" Type="http://schemas.openxmlformats.org/officeDocument/2006/relationships/slide" Target="slides/slide5.xml"/>
<Relationship Id="rId11" Type="http://schemas.openxmlformats.org/officeDocument/2006/relationships/slide" Target="slides/slide6.xml"/>
<Relationship Id="rId12" Type="http://schemas.openxmlformats.org/officeDocument/2006/relationships/slide" Target="slides/slide7.xml"/>
<Relationship Id="rId13" Type="http://schemas.openxmlformats.org/officeDocument/2006/relationships/slide" Target="slides/slide8.xml"/>
<Relationship Id="rId14" Type="http://schemas.openxmlformats.org/officeDocument/2006/relationships/slide" Target="slides/slide9.xml"/>
<Relationship Id="rId15" Type="http://schemas.openxmlformats.org/officeDocument/2006/relationships/slide" Target="slides/slide10.xml"/>
<Relationship Id="rId16" Type="http://schemas.openxmlformats.org/officeDocument/2006/relationships/slide" Target="slides/slide11.xml"/>
<Relationship Id="rId17" Type="http://schemas.openxmlformats.org/officeDocument/2006/relationships/slide" Target="slides/slide12.xml"/>
<Relationship Id="rId18" Type="http://schemas.openxmlformats.org/officeDocument/2006/relationships/slide" Target="slides/slide13.xml"/>
<Relationship Id="rId19" Type="http://schemas.openxmlformats.org/officeDocument/2006/relationships/slide" Target="slides/slide14.xml"/>
<Relationship Id="rId20" Type="http://schemas.openxmlformats.org/officeDocument/2006/relationships/slide" Target="slides/slide15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60f63ba8d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f60f63ba8d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g3f60f63ba8d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60f63ba8d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f60f63ba8d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g3f60f63ba8d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60f63ba8d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f60f63ba8d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g3f60f63ba8d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602db4028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f602db4028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f602db4028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602db4028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f602db4028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f602db4028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60f63ba8d_0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f60f63ba8d_0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g3f60f63ba8d_0_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60f63ba8d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f60f63ba8d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75" cy="16459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" name="Kicker 4"/>
          <p:cNvSpPr txBox="1"/>
          <p:nvPr/>
        </p:nvSpPr>
        <p:spPr>
          <a:xfrm>
            <a:off x="685800" y="98755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400"/>
            <a:r>
              <a:rPr lang="en-US" sz="140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MILESTONE 5 - RAG EVALUATION &amp; OPTIMIZATION</a:t>
            </a:r>
          </a:p>
        </p:txBody>
      </p:sp>
      <p:sp>
        <p:nvSpPr>
          <p:cNvPr id="5" name="MainTitle 5"/>
          <p:cNvSpPr txBox="1"/>
          <p:nvPr/>
        </p:nvSpPr>
        <p:spPr>
          <a:xfrm>
            <a:off x="685800" y="1481328"/>
            <a:ext cx="56692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4400"/>
            <a:r>
              <a:rPr lang="en-US" sz="4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FinQuery</a:t>
            </a:r>
          </a:p>
        </p:txBody>
      </p:sp>
      <p:sp>
        <p:nvSpPr>
          <p:cNvPr id="6" name="Subtitle 6"/>
          <p:cNvSpPr txBox="1"/>
          <p:nvPr/>
        </p:nvSpPr>
        <p:spPr>
          <a:xfrm>
            <a:off x="685800" y="2148840"/>
            <a:ext cx="7589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2000"/>
            <a:r>
              <a:rPr lang="en-US" sz="2000">
                <a:solidFill>
                  <a:srgbClr val="CADCFC"/>
                </a:solidFill>
                <a:latin typeface="Arial"/>
                <a:ea typeface="Arial"/>
                <a:cs typeface="Arial"/>
              </a:rPr>
              <a:t>Metadata-aware retrieval, reranking, and answer-quality evaluation</a:t>
            </a:r>
          </a:p>
        </p:txBody>
      </p:sp>
      <p:sp>
        <p:nvSpPr>
          <p:cNvPr id="7" name="Team 7"/>
          <p:cNvSpPr txBox="1"/>
          <p:nvPr/>
        </p:nvSpPr>
        <p:spPr>
          <a:xfrm>
            <a:off x="685800" y="2788920"/>
            <a:ext cx="72237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600"/>
            <a:r>
              <a:rPr lang="en-US"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06 - IIT Madras</a:t>
            </a:r>
          </a:p>
        </p:txBody>
      </p:sp>
      <p:sp>
        <p:nvSpPr>
          <p:cNvPr id="8" name="Names 8"/>
          <p:cNvSpPr txBox="1"/>
          <p:nvPr/>
        </p:nvSpPr>
        <p:spPr>
          <a:xfrm>
            <a:off x="685800" y="3310128"/>
            <a:ext cx="5669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250"/>
            <a:r>
              <a:rPr lang="en-US" sz="1250">
                <a:solidFill>
                  <a:srgbClr val="CADCFC"/>
                </a:solidFill>
                <a:latin typeface="Arial"/>
                <a:ea typeface="Arial"/>
                <a:cs typeface="Arial"/>
              </a:rPr>
              <a:t>Akbar Ali - 23f1002997</a:t>
            </a:r>
          </a:p>
          <a:p>
            <a:pPr algn="l"/>
            <a:endParaRPr lang="en-US" sz="1250"/>
            <a:r>
              <a:rPr lang="en-US" sz="1250">
                <a:solidFill>
                  <a:srgbClr val="CADCFC"/>
                </a:solidFill>
                <a:latin typeface="Arial"/>
                <a:ea typeface="Arial"/>
                <a:cs typeface="Arial"/>
              </a:rPr>
              <a:t>Gurram Sai Sri Ram Hruthik - 22f3001648</a:t>
            </a:r>
          </a:p>
          <a:p>
            <a:pPr algn="l"/>
            <a:endParaRPr lang="en-US" sz="1250"/>
            <a:r>
              <a:rPr lang="en-US" sz="1250">
                <a:solidFill>
                  <a:srgbClr val="CADCFC"/>
                </a:solidFill>
                <a:latin typeface="Arial"/>
                <a:ea typeface="Arial"/>
                <a:cs typeface="Arial"/>
              </a:rPr>
              <a:t>NandanReddy Parnapalli - 22f3002857</a:t>
            </a:r>
          </a:p>
          <a:p>
            <a:pPr algn="l"/>
            <a:endParaRPr lang="en-US" sz="1250"/>
            <a:r>
              <a:rPr lang="en-US" sz="1250">
                <a:solidFill>
                  <a:srgbClr val="CADCFC"/>
                </a:solidFill>
                <a:latin typeface="Arial"/>
                <a:ea typeface="Arial"/>
                <a:cs typeface="Arial"/>
              </a:rPr>
              <a:t>Shubham Gattani - 21f3002082</a:t>
            </a:r>
          </a:p>
          <a:p>
            <a:pPr algn="l"/>
            <a:endParaRPr lang="en-US" sz="1250"/>
            <a:r>
              <a:rPr lang="en-US" sz="1250">
                <a:solidFill>
                  <a:srgbClr val="CADCFC"/>
                </a:solidFill>
                <a:latin typeface="Arial"/>
                <a:ea typeface="Arial"/>
                <a:cs typeface="Arial"/>
              </a:rPr>
              <a:t>Shubhashish Biswas - 21f1001460</a:t>
            </a:r>
          </a:p>
        </p:txBody>
      </p:sp>
      <p:sp>
        <p:nvSpPr>
          <p:cNvPr id="9" name="Shape 9"/>
          <p:cNvSpPr/>
          <p:nvPr/>
        </p:nvSpPr>
        <p:spPr>
          <a:xfrm>
            <a:off x="7680960" y="1234440"/>
            <a:ext cx="3429000" cy="3474720"/>
          </a:xfrm>
          <a:prstGeom prst="roundRect">
            <a:avLst/>
          </a:prstGeom>
          <a:solidFill>
            <a:srgbClr val="141B45"/>
          </a:solidFill>
          <a:ln w="12700">
            <a:solidFill>
              <a:srgbClr val="C9A227"/>
            </a:solidFill>
          </a:ln>
        </p:spPr>
      </p:sp>
      <p:sp>
        <p:nvSpPr>
          <p:cNvPr id="10" name="KeyResult 10"/>
          <p:cNvSpPr txBox="1"/>
          <p:nvPr/>
        </p:nvSpPr>
        <p:spPr>
          <a:xfrm>
            <a:off x="7909560" y="1572768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2000"/>
            <a:r>
              <a:rPr lang="en-US" sz="200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Key Result</a:t>
            </a:r>
          </a:p>
        </p:txBody>
      </p:sp>
      <p:sp>
        <p:nvSpPr>
          <p:cNvPr id="11" name="Metric 11"/>
          <p:cNvSpPr txBox="1"/>
          <p:nvPr/>
        </p:nvSpPr>
        <p:spPr>
          <a:xfrm>
            <a:off x="7955279" y="2148840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4200"/>
            <a:r>
              <a:rPr lang="en-US"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88%</a:t>
            </a:r>
          </a:p>
        </p:txBody>
      </p:sp>
      <p:sp>
        <p:nvSpPr>
          <p:cNvPr id="12" name="MetricText 12"/>
          <p:cNvSpPr txBox="1"/>
          <p:nvPr/>
        </p:nvSpPr>
        <p:spPr>
          <a:xfrm>
            <a:off x="7936992" y="278892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600"/>
            <a:r>
              <a:rPr lang="en-US" sz="1600">
                <a:solidFill>
                  <a:srgbClr val="CADCFC"/>
                </a:solidFill>
                <a:latin typeface="Arial"/>
                <a:ea typeface="Arial"/>
                <a:cs typeface="Arial"/>
              </a:rPr>
              <a:t>Recall@7 with metadata-only retrieval + reranking</a:t>
            </a:r>
          </a:p>
        </p:txBody>
      </p:sp>
      <p:sp>
        <p:nvSpPr>
          <p:cNvPr id="13" name="Latency 13"/>
          <p:cNvSpPr txBox="1"/>
          <p:nvPr/>
        </p:nvSpPr>
        <p:spPr>
          <a:xfrm>
            <a:off x="7955279" y="365760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800"/>
            <a:r>
              <a:rPr lang="en-US"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3.173 s average latency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75" cy="713232"/>
          </a:xfrm>
          <a:prstGeom prst="rect">
            <a:avLst/>
          </a:prstGeom>
          <a:solidFill>
            <a:srgbClr val="141B4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713232"/>
            <a:ext cx="12191675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" name="Kicker 4"/>
          <p:cNvSpPr txBox="1"/>
          <p:nvPr/>
        </p:nvSpPr>
        <p:spPr>
          <a:xfrm>
            <a:off x="411480" y="10972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950"/>
            <a:r>
              <a:rPr lang="en-US" sz="95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PROJECT SCOPE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411480" y="283464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900"/>
            <a:r>
              <a:rPr lang="en-US"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changed in Milestone 5</a:t>
            </a:r>
          </a:p>
        </p:txBody>
      </p:sp>
      <p:sp>
        <p:nvSpPr>
          <p:cNvPr id="6" name="FooterTop 6"/>
          <p:cNvSpPr txBox="1"/>
          <p:nvPr/>
        </p:nvSpPr>
        <p:spPr>
          <a:xfrm>
            <a:off x="9144000" y="22860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endParaRPr lang="en-US" sz="1000"/>
            <a:r>
              <a:rPr lang="en-US" sz="1000">
                <a:solidFill>
                  <a:srgbClr val="CADCFC"/>
                </a:solidFill>
                <a:latin typeface="Arial"/>
                <a:ea typeface="Arial"/>
                <a:cs typeface="Arial"/>
              </a:rPr>
              <a:t>FinQuery - Milestone 5</a:t>
            </a:r>
          </a:p>
        </p:txBody>
      </p:sp>
      <p:sp>
        <p:nvSpPr>
          <p:cNvPr id="7" name="SlideNo 7"/>
          <p:cNvSpPr txBox="1"/>
          <p:nvPr/>
        </p:nvSpPr>
        <p:spPr>
          <a:xfrm>
            <a:off x="11109960" y="63550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endParaRPr lang="en-US" sz="900"/>
            <a:r>
              <a:rPr lang="en-US" sz="900">
                <a:solidFill>
                  <a:srgbClr val="5B647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Bullet Box 14"/>
          <p:cNvSpPr txBox="1"/>
          <p:nvPr/>
        </p:nvSpPr>
        <p:spPr>
          <a:xfrm>
            <a:off x="502920" y="987552"/>
            <a:ext cx="5394960" cy="201168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  <p:txBody>
          <a:bodyPr wrap="square" lIns="120000" tIns="100000" rIns="120000" bIns="100000" anchor="t"/>
          <a:lstStyle/>
          <a:p>
            <a:pPr marL="260000" indent="-160000">
              <a:buChar char="-"/>
            </a:pPr>
            <a:r>
              <a:rPr lang="en-US" sz="1700">
                <a:solidFill>
                  <a:srgbClr val="1A1A2E"/>
                </a:solidFill>
                <a:latin typeface="Arial"/>
                <a:ea typeface="Arial"/>
                <a:cs typeface="Arial"/>
              </a:rPr>
              <a:t>Section-aware chunking for long NSE and Infosys IR documents.</a:t>
            </a:r>
          </a:p>
          <a:p>
            <a:pPr marL="260000" indent="-160000">
              <a:buChar char="-"/>
            </a:pPr>
            <a:r>
              <a:rPr lang="en-US" sz="1700">
                <a:solidFill>
                  <a:srgbClr val="1A1A2E"/>
                </a:solidFill>
                <a:latin typeface="Arial"/>
                <a:ea typeface="Arial"/>
                <a:cs typeface="Arial"/>
              </a:rPr>
              <a:t>New section cleaning prompt with stronger table summarization.</a:t>
            </a:r>
          </a:p>
          <a:p>
            <a:pPr marL="260000" indent="-160000">
              <a:buChar char="-"/>
            </a:pPr>
            <a:r>
              <a:rPr lang="en-US" sz="1700">
                <a:solidFill>
                  <a:srgbClr val="1A1A2E"/>
                </a:solidFill>
                <a:latin typeface="Arial"/>
                <a:ea typeface="Arial"/>
                <a:cs typeface="Arial"/>
              </a:rPr>
              <a:t>Full corpus re-embedding after YAML fixes: 1,877 Markdown docs.</a:t>
            </a:r>
          </a:p>
          <a:p>
            <a:pPr marL="260000" indent="-160000">
              <a:buChar char="-"/>
            </a:pPr>
            <a:r>
              <a:rPr lang="en-US" sz="1700">
                <a:solidFill>
                  <a:srgbClr val="1A1A2E"/>
                </a:solidFill>
                <a:latin typeface="Arial"/>
                <a:ea typeface="Arial"/>
                <a:cs typeface="Arial"/>
              </a:rPr>
              <a:t>Metadata-only retrieval pipeline over generated YAML metadata.</a:t>
            </a:r>
          </a:p>
        </p:txBody>
      </p:sp>
      <p:sp>
        <p:nvSpPr>
          <p:cNvPr id="15" name="Shape 15"/>
          <p:cNvSpPr/>
          <p:nvPr/>
        </p:nvSpPr>
        <p:spPr>
          <a:xfrm>
            <a:off x="6217920" y="1005840"/>
            <a:ext cx="2377440" cy="100584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16" name="Shape 16"/>
          <p:cNvSpPr/>
          <p:nvPr/>
        </p:nvSpPr>
        <p:spPr>
          <a:xfrm>
            <a:off x="6217920" y="1005840"/>
            <a:ext cx="100584" cy="1005840"/>
          </a:xfrm>
          <a:prstGeom prst="rect">
            <a:avLst/>
          </a:prstGeom>
          <a:solidFill>
            <a:srgbClr val="3767B1"/>
          </a:solidFill>
          <a:ln>
            <a:noFill/>
          </a:ln>
        </p:spPr>
      </p:sp>
      <p:sp>
        <p:nvSpPr>
          <p:cNvPr id="17" name="StatNumber 17"/>
          <p:cNvSpPr txBox="1"/>
          <p:nvPr/>
        </p:nvSpPr>
        <p:spPr>
          <a:xfrm>
            <a:off x="6382512" y="1115568"/>
            <a:ext cx="212140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2400"/>
            <a:r>
              <a:rPr lang="en-US" sz="2400" b="1">
                <a:solidFill>
                  <a:srgbClr val="3767B1"/>
                </a:solidFill>
                <a:latin typeface="Arial"/>
                <a:ea typeface="Arial"/>
                <a:cs typeface="Arial"/>
              </a:rPr>
              <a:t>1,500-2,500</a:t>
            </a:r>
          </a:p>
        </p:txBody>
      </p:sp>
      <p:sp>
        <p:nvSpPr>
          <p:cNvPr id="18" name="StatLabel 18"/>
          <p:cNvSpPr txBox="1"/>
          <p:nvPr/>
        </p:nvSpPr>
        <p:spPr>
          <a:xfrm>
            <a:off x="6382512" y="1536192"/>
            <a:ext cx="21214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150"/>
            <a:r>
              <a:rPr lang="en-US" sz="1150">
                <a:solidFill>
                  <a:srgbClr val="5B6478"/>
                </a:solidFill>
                <a:latin typeface="Arial"/>
                <a:ea typeface="Arial"/>
                <a:cs typeface="Arial"/>
              </a:rPr>
              <a:t>preferred chunk token range</a:t>
            </a:r>
          </a:p>
        </p:txBody>
      </p:sp>
      <p:sp>
        <p:nvSpPr>
          <p:cNvPr id="19" name="Shape 19"/>
          <p:cNvSpPr/>
          <p:nvPr/>
        </p:nvSpPr>
        <p:spPr>
          <a:xfrm>
            <a:off x="8823960" y="1005840"/>
            <a:ext cx="2377440" cy="100584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20" name="Shape 20"/>
          <p:cNvSpPr/>
          <p:nvPr/>
        </p:nvSpPr>
        <p:spPr>
          <a:xfrm>
            <a:off x="8823960" y="1005840"/>
            <a:ext cx="100584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1" name="StatNumber 21"/>
          <p:cNvSpPr txBox="1"/>
          <p:nvPr/>
        </p:nvSpPr>
        <p:spPr>
          <a:xfrm>
            <a:off x="8988552" y="1115568"/>
            <a:ext cx="212140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2400"/>
            <a:r>
              <a:rPr lang="en-US" sz="24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3,000</a:t>
            </a:r>
          </a:p>
        </p:txBody>
      </p:sp>
      <p:sp>
        <p:nvSpPr>
          <p:cNvPr id="22" name="StatLabel 22"/>
          <p:cNvSpPr txBox="1"/>
          <p:nvPr/>
        </p:nvSpPr>
        <p:spPr>
          <a:xfrm>
            <a:off x="8988552" y="1536192"/>
            <a:ext cx="21214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150"/>
            <a:r>
              <a:rPr lang="en-US" sz="1150">
                <a:solidFill>
                  <a:srgbClr val="5B6478"/>
                </a:solidFill>
                <a:latin typeface="Arial"/>
                <a:ea typeface="Arial"/>
                <a:cs typeface="Arial"/>
              </a:rPr>
              <a:t>hard max tokens per chunk</a:t>
            </a:r>
          </a:p>
        </p:txBody>
      </p:sp>
      <p:sp>
        <p:nvSpPr>
          <p:cNvPr id="23" name="Shape 23"/>
          <p:cNvSpPr/>
          <p:nvPr/>
        </p:nvSpPr>
        <p:spPr>
          <a:xfrm>
            <a:off x="6217920" y="2331720"/>
            <a:ext cx="2377440" cy="100584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24" name="Shape 24"/>
          <p:cNvSpPr/>
          <p:nvPr/>
        </p:nvSpPr>
        <p:spPr>
          <a:xfrm>
            <a:off x="6217920" y="2331720"/>
            <a:ext cx="100584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25" name="StatNumber 25"/>
          <p:cNvSpPr txBox="1"/>
          <p:nvPr/>
        </p:nvSpPr>
        <p:spPr>
          <a:xfrm>
            <a:off x="6382512" y="2441448"/>
            <a:ext cx="212140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2400"/>
            <a:r>
              <a:rPr lang="en-US" sz="240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1,877</a:t>
            </a:r>
          </a:p>
        </p:txBody>
      </p:sp>
      <p:sp>
        <p:nvSpPr>
          <p:cNvPr id="26" name="StatLabel 26"/>
          <p:cNvSpPr txBox="1"/>
          <p:nvPr/>
        </p:nvSpPr>
        <p:spPr>
          <a:xfrm>
            <a:off x="6382512" y="2862072"/>
            <a:ext cx="21214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150"/>
            <a:r>
              <a:rPr lang="en-US" sz="1150">
                <a:solidFill>
                  <a:srgbClr val="5B6478"/>
                </a:solidFill>
                <a:latin typeface="Arial"/>
                <a:ea typeface="Arial"/>
                <a:cs typeface="Arial"/>
              </a:rPr>
              <a:t>documents re-embedded</a:t>
            </a:r>
          </a:p>
        </p:txBody>
      </p:sp>
      <p:sp>
        <p:nvSpPr>
          <p:cNvPr id="27" name="Shape 27"/>
          <p:cNvSpPr/>
          <p:nvPr/>
        </p:nvSpPr>
        <p:spPr>
          <a:xfrm>
            <a:off x="8823960" y="2331720"/>
            <a:ext cx="2377440" cy="100584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28" name="Shape 28"/>
          <p:cNvSpPr/>
          <p:nvPr/>
        </p:nvSpPr>
        <p:spPr>
          <a:xfrm>
            <a:off x="8823960" y="2331720"/>
            <a:ext cx="100584" cy="1005840"/>
          </a:xfrm>
          <a:prstGeom prst="rect">
            <a:avLst/>
          </a:prstGeom>
          <a:solidFill>
            <a:srgbClr val="6D5BD0"/>
          </a:solidFill>
          <a:ln>
            <a:noFill/>
          </a:ln>
        </p:spPr>
      </p:sp>
      <p:sp>
        <p:nvSpPr>
          <p:cNvPr id="29" name="StatNumber 29"/>
          <p:cNvSpPr txBox="1"/>
          <p:nvPr/>
        </p:nvSpPr>
        <p:spPr>
          <a:xfrm>
            <a:off x="8988552" y="2441448"/>
            <a:ext cx="212140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2400"/>
            <a:r>
              <a:rPr lang="en-US" sz="240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1,875</a:t>
            </a:r>
          </a:p>
        </p:txBody>
      </p:sp>
      <p:sp>
        <p:nvSpPr>
          <p:cNvPr id="30" name="StatLabel 30"/>
          <p:cNvSpPr txBox="1"/>
          <p:nvPr/>
        </p:nvSpPr>
        <p:spPr>
          <a:xfrm>
            <a:off x="8988552" y="2862072"/>
            <a:ext cx="21214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150"/>
            <a:r>
              <a:rPr lang="en-US" sz="1150">
                <a:solidFill>
                  <a:srgbClr val="5B6478"/>
                </a:solidFill>
                <a:latin typeface="Arial"/>
                <a:ea typeface="Arial"/>
                <a:cs typeface="Arial"/>
              </a:rPr>
              <a:t>metadata docs embedded</a:t>
            </a:r>
          </a:p>
        </p:txBody>
      </p:sp>
      <p:sp>
        <p:nvSpPr>
          <p:cNvPr id="31" name="Goal 31"/>
          <p:cNvSpPr txBox="1"/>
          <p:nvPr/>
        </p:nvSpPr>
        <p:spPr>
          <a:xfrm>
            <a:off x="594360" y="4251960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2000"/>
            <a:r>
              <a:rPr lang="en-US" sz="20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Goal: improve retrieval quality and keep latency practical for interactive investor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75" cy="713232"/>
          </a:xfrm>
          <a:prstGeom prst="rect">
            <a:avLst/>
          </a:prstGeom>
          <a:solidFill>
            <a:srgbClr val="141B4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713232"/>
            <a:ext cx="12191675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" name="Kicker 4"/>
          <p:cNvSpPr txBox="1"/>
          <p:nvPr/>
        </p:nvSpPr>
        <p:spPr>
          <a:xfrm>
            <a:off x="411480" y="10972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950"/>
            <a:r>
              <a:rPr lang="en-US" sz="95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EVALUATION DATASET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411480" y="283464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900"/>
            <a:r>
              <a:rPr lang="en-US"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Single 50-question benchmark</a:t>
            </a:r>
          </a:p>
        </p:txBody>
      </p:sp>
      <p:sp>
        <p:nvSpPr>
          <p:cNvPr id="6" name="FooterTop 6"/>
          <p:cNvSpPr txBox="1"/>
          <p:nvPr/>
        </p:nvSpPr>
        <p:spPr>
          <a:xfrm>
            <a:off x="9144000" y="22860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endParaRPr lang="en-US" sz="1000"/>
            <a:r>
              <a:rPr lang="en-US" sz="1000">
                <a:solidFill>
                  <a:srgbClr val="CADCFC"/>
                </a:solidFill>
                <a:latin typeface="Arial"/>
                <a:ea typeface="Arial"/>
                <a:cs typeface="Arial"/>
              </a:rPr>
              <a:t>FinQuery - Milestone 5</a:t>
            </a:r>
          </a:p>
        </p:txBody>
      </p:sp>
      <p:sp>
        <p:nvSpPr>
          <p:cNvPr id="7" name="SlideNo 7"/>
          <p:cNvSpPr txBox="1"/>
          <p:nvPr/>
        </p:nvSpPr>
        <p:spPr>
          <a:xfrm>
            <a:off x="11109960" y="63550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endParaRPr lang="en-US" sz="900"/>
            <a:r>
              <a:rPr lang="en-US" sz="900">
                <a:solidFill>
                  <a:srgbClr val="5B647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Shape 8"/>
          <p:cNvSpPr/>
          <p:nvPr/>
        </p:nvSpPr>
        <p:spPr>
          <a:xfrm>
            <a:off x="594360" y="1078992"/>
            <a:ext cx="4937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9" name="Shape 9"/>
          <p:cNvSpPr/>
          <p:nvPr/>
        </p:nvSpPr>
        <p:spPr>
          <a:xfrm>
            <a:off x="594360" y="1078992"/>
            <a:ext cx="3555187" cy="470262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</p:sp>
      <p:sp>
        <p:nvSpPr>
          <p:cNvPr id="10" name="Head 10"/>
          <p:cNvSpPr txBox="1"/>
          <p:nvPr/>
        </p:nvSpPr>
        <p:spPr>
          <a:xfrm>
            <a:off x="630936" y="1115568"/>
            <a:ext cx="3482035" cy="397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200"/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category</a:t>
            </a:r>
          </a:p>
        </p:txBody>
      </p:sp>
      <p:sp>
        <p:nvSpPr>
          <p:cNvPr id="11" name="Shape 11"/>
          <p:cNvSpPr/>
          <p:nvPr/>
        </p:nvSpPr>
        <p:spPr>
          <a:xfrm>
            <a:off x="4149547" y="1078992"/>
            <a:ext cx="1382572" cy="470262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</p:sp>
      <p:sp>
        <p:nvSpPr>
          <p:cNvPr id="12" name="Head 12"/>
          <p:cNvSpPr txBox="1"/>
          <p:nvPr/>
        </p:nvSpPr>
        <p:spPr>
          <a:xfrm>
            <a:off x="4186123" y="1115568"/>
            <a:ext cx="1309420" cy="397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200"/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13" name="Shape 13"/>
          <p:cNvSpPr/>
          <p:nvPr/>
        </p:nvSpPr>
        <p:spPr>
          <a:xfrm>
            <a:off x="594360" y="1549254"/>
            <a:ext cx="3555187" cy="470262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14" name="Cell 14"/>
          <p:cNvSpPr txBox="1"/>
          <p:nvPr/>
        </p:nvSpPr>
        <p:spPr>
          <a:xfrm>
            <a:off x="630936" y="1585830"/>
            <a:ext cx="3482035" cy="397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200"/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</a:rPr>
              <a:t>NSE docs &lt;=10 pages</a:t>
            </a:r>
          </a:p>
        </p:txBody>
      </p:sp>
      <p:sp>
        <p:nvSpPr>
          <p:cNvPr id="15" name="Shape 15"/>
          <p:cNvSpPr/>
          <p:nvPr/>
        </p:nvSpPr>
        <p:spPr>
          <a:xfrm>
            <a:off x="4149547" y="1549254"/>
            <a:ext cx="1382572" cy="470262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16" name="Cell 16"/>
          <p:cNvSpPr txBox="1"/>
          <p:nvPr/>
        </p:nvSpPr>
        <p:spPr>
          <a:xfrm>
            <a:off x="4186123" y="1585830"/>
            <a:ext cx="1309420" cy="397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200"/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7" name="Shape 17"/>
          <p:cNvSpPr/>
          <p:nvPr/>
        </p:nvSpPr>
        <p:spPr>
          <a:xfrm>
            <a:off x="594360" y="2019517"/>
            <a:ext cx="3555187" cy="47026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18" name="Cell 18"/>
          <p:cNvSpPr txBox="1"/>
          <p:nvPr/>
        </p:nvSpPr>
        <p:spPr>
          <a:xfrm>
            <a:off x="630936" y="2056093"/>
            <a:ext cx="3482035" cy="397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200"/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</a:rPr>
              <a:t>NSE docs &gt;10 pages</a:t>
            </a:r>
          </a:p>
        </p:txBody>
      </p:sp>
      <p:sp>
        <p:nvSpPr>
          <p:cNvPr id="19" name="Shape 19"/>
          <p:cNvSpPr/>
          <p:nvPr/>
        </p:nvSpPr>
        <p:spPr>
          <a:xfrm>
            <a:off x="4149547" y="2019517"/>
            <a:ext cx="1382572" cy="47026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20" name="Cell 20"/>
          <p:cNvSpPr txBox="1"/>
          <p:nvPr/>
        </p:nvSpPr>
        <p:spPr>
          <a:xfrm>
            <a:off x="4186123" y="2056093"/>
            <a:ext cx="1309420" cy="397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200"/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1" name="Shape 21"/>
          <p:cNvSpPr/>
          <p:nvPr/>
        </p:nvSpPr>
        <p:spPr>
          <a:xfrm>
            <a:off x="594360" y="2489780"/>
            <a:ext cx="3555187" cy="470262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22" name="Cell 22"/>
          <p:cNvSpPr txBox="1"/>
          <p:nvPr/>
        </p:nvSpPr>
        <p:spPr>
          <a:xfrm>
            <a:off x="630936" y="2526356"/>
            <a:ext cx="3482035" cy="397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200"/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</a:rPr>
              <a:t>Infosys IR</a:t>
            </a:r>
          </a:p>
        </p:txBody>
      </p:sp>
      <p:sp>
        <p:nvSpPr>
          <p:cNvPr id="23" name="Shape 23"/>
          <p:cNvSpPr/>
          <p:nvPr/>
        </p:nvSpPr>
        <p:spPr>
          <a:xfrm>
            <a:off x="4149547" y="2489780"/>
            <a:ext cx="1382572" cy="470262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24" name="Cell 24"/>
          <p:cNvSpPr txBox="1"/>
          <p:nvPr/>
        </p:nvSpPr>
        <p:spPr>
          <a:xfrm>
            <a:off x="4186123" y="2526356"/>
            <a:ext cx="1309420" cy="397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200"/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5" name="Shape 25"/>
          <p:cNvSpPr/>
          <p:nvPr/>
        </p:nvSpPr>
        <p:spPr>
          <a:xfrm>
            <a:off x="594360" y="2960043"/>
            <a:ext cx="3555187" cy="47026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26" name="Cell 26"/>
          <p:cNvSpPr txBox="1"/>
          <p:nvPr/>
        </p:nvSpPr>
        <p:spPr>
          <a:xfrm>
            <a:off x="630936" y="2996619"/>
            <a:ext cx="3482035" cy="397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200"/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</a:rPr>
              <a:t>Trendlyne</a:t>
            </a:r>
          </a:p>
        </p:txBody>
      </p:sp>
      <p:sp>
        <p:nvSpPr>
          <p:cNvPr id="27" name="Shape 27"/>
          <p:cNvSpPr/>
          <p:nvPr/>
        </p:nvSpPr>
        <p:spPr>
          <a:xfrm>
            <a:off x="4149547" y="2960043"/>
            <a:ext cx="1382572" cy="47026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28" name="Cell 28"/>
          <p:cNvSpPr txBox="1"/>
          <p:nvPr/>
        </p:nvSpPr>
        <p:spPr>
          <a:xfrm>
            <a:off x="4186123" y="2996619"/>
            <a:ext cx="1309420" cy="397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200"/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9" name="Shape 29"/>
          <p:cNvSpPr/>
          <p:nvPr/>
        </p:nvSpPr>
        <p:spPr>
          <a:xfrm>
            <a:off x="594360" y="3430306"/>
            <a:ext cx="3555187" cy="470262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30" name="Cell 30"/>
          <p:cNvSpPr txBox="1"/>
          <p:nvPr/>
        </p:nvSpPr>
        <p:spPr>
          <a:xfrm>
            <a:off x="630936" y="3466882"/>
            <a:ext cx="3482035" cy="397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200"/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</a:rPr>
              <a:t>Yahoo Finance</a:t>
            </a:r>
          </a:p>
        </p:txBody>
      </p:sp>
      <p:sp>
        <p:nvSpPr>
          <p:cNvPr id="31" name="Shape 31"/>
          <p:cNvSpPr/>
          <p:nvPr/>
        </p:nvSpPr>
        <p:spPr>
          <a:xfrm>
            <a:off x="4149547" y="3430306"/>
            <a:ext cx="1382572" cy="470262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32" name="Cell 32"/>
          <p:cNvSpPr txBox="1"/>
          <p:nvPr/>
        </p:nvSpPr>
        <p:spPr>
          <a:xfrm>
            <a:off x="4186123" y="3466882"/>
            <a:ext cx="1309420" cy="397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200"/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3" name="Shape 33"/>
          <p:cNvSpPr/>
          <p:nvPr/>
        </p:nvSpPr>
        <p:spPr>
          <a:xfrm>
            <a:off x="594360" y="3900569"/>
            <a:ext cx="3555187" cy="47026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34" name="Cell 34"/>
          <p:cNvSpPr txBox="1"/>
          <p:nvPr/>
        </p:nvSpPr>
        <p:spPr>
          <a:xfrm>
            <a:off x="630936" y="3937145"/>
            <a:ext cx="3482035" cy="397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200"/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</a:rPr>
              <a:t>Total</a:t>
            </a:r>
          </a:p>
        </p:txBody>
      </p:sp>
      <p:sp>
        <p:nvSpPr>
          <p:cNvPr id="35" name="Shape 35"/>
          <p:cNvSpPr/>
          <p:nvPr/>
        </p:nvSpPr>
        <p:spPr>
          <a:xfrm>
            <a:off x="4149547" y="3900569"/>
            <a:ext cx="1382572" cy="47026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36" name="Cell 36"/>
          <p:cNvSpPr txBox="1"/>
          <p:nvPr/>
        </p:nvSpPr>
        <p:spPr>
          <a:xfrm>
            <a:off x="4186123" y="3937145"/>
            <a:ext cx="1309420" cy="397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200"/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7" name="Bullet Box 37"/>
          <p:cNvSpPr txBox="1"/>
          <p:nvPr/>
        </p:nvSpPr>
        <p:spPr>
          <a:xfrm>
            <a:off x="5897880" y="1078992"/>
            <a:ext cx="4983480" cy="224028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  <p:txBody>
          <a:bodyPr wrap="square" lIns="120000" tIns="100000" rIns="120000" bIns="100000" anchor="t"/>
          <a:lstStyle/>
          <a:p>
            <a:pPr marL="260000" indent="-160000">
              <a:buChar char="-"/>
            </a:pPr>
            <a:r>
              <a:rPr lang="en-US" sz="1700">
                <a:solidFill>
                  <a:srgbClr val="1A1A2E"/>
                </a:solidFill>
                <a:latin typeface="Arial"/>
                <a:ea typeface="Arial"/>
                <a:cs typeface="Arial"/>
              </a:rPr>
              <a:t>Every question maps to an expected source document path.</a:t>
            </a:r>
          </a:p>
          <a:p>
            <a:pPr marL="260000" indent="-160000">
              <a:buChar char="-"/>
            </a:pPr>
            <a:r>
              <a:rPr lang="en-US" sz="1700">
                <a:solidFill>
                  <a:srgbClr val="1A1A2E"/>
                </a:solidFill>
                <a:latin typeface="Arial"/>
                <a:ea typeface="Arial"/>
                <a:cs typeface="Arial"/>
              </a:rPr>
              <a:t>Full relative paths avoid ambiguity between repeated chunk names.</a:t>
            </a:r>
          </a:p>
          <a:p>
            <a:pPr marL="260000" indent="-160000">
              <a:buChar char="-"/>
            </a:pPr>
            <a:r>
              <a:rPr lang="en-US" sz="1700">
                <a:solidFill>
                  <a:srgbClr val="1A1A2E"/>
                </a:solidFill>
                <a:latin typeface="Arial"/>
                <a:ea typeface="Arial"/>
                <a:cs typeface="Arial"/>
              </a:rPr>
              <a:t>Recall@k checks whether the expected source appears in the top k results.</a:t>
            </a:r>
          </a:p>
        </p:txBody>
      </p:sp>
      <p:sp>
        <p:nvSpPr>
          <p:cNvPr id="38" name="Focus 38"/>
          <p:cNvSpPr txBox="1"/>
          <p:nvPr/>
        </p:nvSpPr>
        <p:spPr>
          <a:xfrm>
            <a:off x="6053328" y="3703320"/>
            <a:ext cx="4663440" cy="502920"/>
          </a:xfrm>
          <a:prstGeom prst="rect">
            <a:avLst/>
          </a:prstGeom>
          <a:solidFill>
            <a:srgbClr val="EEF3FC"/>
          </a:solidFill>
          <a:ln w="12700">
            <a:solidFill>
              <a:srgbClr val="D9E2F3"/>
            </a:solidFill>
          </a:ln>
        </p:spPr>
        <p:txBody>
          <a:bodyPr wrap="square" lIns="91440" tIns="91440" rIns="91440" bIns="91440" anchor="t"/>
          <a:lstStyle/>
          <a:p>
            <a:pPr algn="c"/>
            <a:endParaRPr lang="en-US" sz="1800"/>
            <a:r>
              <a:rPr lang="en-US" sz="18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Benchmark focus: retrieval correctness first, then answer quality through RAGAS.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75" cy="713232"/>
          </a:xfrm>
          <a:prstGeom prst="rect">
            <a:avLst/>
          </a:prstGeom>
          <a:solidFill>
            <a:srgbClr val="141B4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713232"/>
            <a:ext cx="12191675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" name="Kicker 4"/>
          <p:cNvSpPr txBox="1"/>
          <p:nvPr/>
        </p:nvSpPr>
        <p:spPr>
          <a:xfrm>
            <a:off x="411480" y="10972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950"/>
            <a:r>
              <a:rPr lang="en-US" sz="95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PIPELINE ARCHITECTURE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411480" y="283464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900"/>
            <a:r>
              <a:rPr lang="en-US"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Full-text and metadata retrieval flows</a:t>
            </a:r>
          </a:p>
        </p:txBody>
      </p:sp>
      <p:sp>
        <p:nvSpPr>
          <p:cNvPr id="6" name="FooterTop 6"/>
          <p:cNvSpPr txBox="1"/>
          <p:nvPr/>
        </p:nvSpPr>
        <p:spPr>
          <a:xfrm>
            <a:off x="9144000" y="22860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endParaRPr lang="en-US" sz="1000"/>
            <a:r>
              <a:rPr lang="en-US" sz="1000">
                <a:solidFill>
                  <a:srgbClr val="CADCFC"/>
                </a:solidFill>
                <a:latin typeface="Arial"/>
                <a:ea typeface="Arial"/>
                <a:cs typeface="Arial"/>
              </a:rPr>
              <a:t>FinQuery - Milestone 5</a:t>
            </a:r>
          </a:p>
        </p:txBody>
      </p:sp>
      <p:sp>
        <p:nvSpPr>
          <p:cNvPr id="7" name="SlideNo 7"/>
          <p:cNvSpPr txBox="1"/>
          <p:nvPr/>
        </p:nvSpPr>
        <p:spPr>
          <a:xfrm>
            <a:off x="11109960" y="63550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endParaRPr lang="en-US" sz="900"/>
            <a:r>
              <a:rPr lang="en-US" sz="900">
                <a:solidFill>
                  <a:srgbClr val="5B647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Shape 8"/>
          <p:cNvSpPr/>
          <p:nvPr/>
        </p:nvSpPr>
        <p:spPr>
          <a:xfrm>
            <a:off x="640080" y="1005840"/>
            <a:ext cx="4937760" cy="388620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9" name="A 9"/>
          <p:cNvSpPr txBox="1"/>
          <p:nvPr/>
        </p:nvSpPr>
        <p:spPr>
          <a:xfrm>
            <a:off x="868680" y="1207008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800"/>
            <a:r>
              <a:rPr lang="en-US" sz="18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Full-text pipeline</a:t>
            </a:r>
          </a:p>
        </p:txBody>
      </p:sp>
      <p:sp>
        <p:nvSpPr>
          <p:cNvPr id="10" name="Bullet Box 10"/>
          <p:cNvSpPr txBox="1"/>
          <p:nvPr/>
        </p:nvSpPr>
        <p:spPr>
          <a:xfrm>
            <a:off x="960120" y="1691640"/>
            <a:ext cx="42519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  <p:txBody>
          <a:bodyPr wrap="square" lIns="120000" tIns="100000" rIns="120000" bIns="100000" anchor="t"/>
          <a:lstStyle/>
          <a:p>
            <a:pPr marL="260000" indent="-160000">
              <a:buChar char="-"/>
            </a:pPr>
            <a:r>
              <a:rPr lang="en-US" sz="1550">
                <a:solidFill>
                  <a:srgbClr val="1A1A2E"/>
                </a:solidFill>
                <a:latin typeface="Arial"/>
                <a:ea typeface="Arial"/>
                <a:cs typeface="Arial"/>
              </a:rPr>
              <a:t>Clean Markdown chunks</a:t>
            </a:r>
          </a:p>
          <a:p>
            <a:pPr marL="260000" indent="-160000">
              <a:buChar char="-"/>
            </a:pPr>
            <a:r>
              <a:rPr lang="en-US" sz="1550">
                <a:solidFill>
                  <a:srgbClr val="1A1A2E"/>
                </a:solidFill>
                <a:latin typeface="Arial"/>
                <a:ea typeface="Arial"/>
                <a:cs typeface="Arial"/>
              </a:rPr>
              <a:t>Embed full document bodies</a:t>
            </a:r>
          </a:p>
          <a:p>
            <a:pPr marL="260000" indent="-160000">
              <a:buChar char="-"/>
            </a:pPr>
            <a:r>
              <a:rPr lang="en-US" sz="1550">
                <a:solidFill>
                  <a:srgbClr val="1A1A2E"/>
                </a:solidFill>
                <a:latin typeface="Arial"/>
                <a:ea typeface="Arial"/>
                <a:cs typeface="Arial"/>
              </a:rPr>
              <a:t>Chroma retrieval</a:t>
            </a:r>
          </a:p>
          <a:p>
            <a:pPr marL="260000" indent="-160000">
              <a:buChar char="-"/>
            </a:pPr>
            <a:r>
              <a:rPr lang="en-US" sz="1550">
                <a:solidFill>
                  <a:srgbClr val="1A1A2E"/>
                </a:solidFill>
                <a:latin typeface="Arial"/>
                <a:ea typeface="Arial"/>
                <a:cs typeface="Arial"/>
              </a:rPr>
              <a:t>BGE reranking over candidates</a:t>
            </a:r>
          </a:p>
          <a:p>
            <a:pPr marL="260000" indent="-160000">
              <a:buChar char="-"/>
            </a:pPr>
            <a:r>
              <a:rPr lang="en-US" sz="1550">
                <a:solidFill>
                  <a:srgbClr val="1A1A2E"/>
                </a:solidFill>
                <a:latin typeface="Arial"/>
                <a:ea typeface="Arial"/>
                <a:cs typeface="Arial"/>
              </a:rPr>
              <a:t>Top contexts to answer model</a:t>
            </a:r>
          </a:p>
        </p:txBody>
      </p:sp>
      <p:sp>
        <p:nvSpPr>
          <p:cNvPr id="11" name="Shape 11"/>
          <p:cNvSpPr/>
          <p:nvPr/>
        </p:nvSpPr>
        <p:spPr>
          <a:xfrm>
            <a:off x="5989320" y="1005840"/>
            <a:ext cx="4937760" cy="388620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12" name="B 12"/>
          <p:cNvSpPr txBox="1"/>
          <p:nvPr/>
        </p:nvSpPr>
        <p:spPr>
          <a:xfrm>
            <a:off x="6217920" y="1207008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800"/>
            <a:r>
              <a:rPr lang="en-US" sz="18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Metadata-only pipeline</a:t>
            </a:r>
          </a:p>
        </p:txBody>
      </p:sp>
      <p:sp>
        <p:nvSpPr>
          <p:cNvPr id="13" name="Bullet Box 13"/>
          <p:cNvSpPr txBox="1"/>
          <p:nvPr/>
        </p:nvSpPr>
        <p:spPr>
          <a:xfrm>
            <a:off x="6309360" y="1691640"/>
            <a:ext cx="42519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  <p:txBody>
          <a:bodyPr wrap="square" lIns="120000" tIns="100000" rIns="120000" bIns="100000" anchor="t"/>
          <a:lstStyle/>
          <a:p>
            <a:pPr marL="260000" indent="-160000">
              <a:buChar char="-"/>
            </a:pPr>
            <a:r>
              <a:rPr lang="en-US" sz="1550">
                <a:solidFill>
                  <a:srgbClr val="1A1A2E"/>
                </a:solidFill>
                <a:latin typeface="Arial"/>
                <a:ea typeface="Arial"/>
                <a:cs typeface="Arial"/>
              </a:rPr>
              <a:t>Parse semantic YAML metadata</a:t>
            </a:r>
          </a:p>
          <a:p>
            <a:pPr marL="260000" indent="-160000">
              <a:buChar char="-"/>
            </a:pPr>
            <a:r>
              <a:rPr lang="en-US" sz="1550">
                <a:solidFill>
                  <a:srgbClr val="1A1A2E"/>
                </a:solidFill>
                <a:latin typeface="Arial"/>
                <a:ea typeface="Arial"/>
                <a:cs typeface="Arial"/>
              </a:rPr>
              <a:t>Embed section title, description, topics, sample queries</a:t>
            </a:r>
          </a:p>
          <a:p>
            <a:pPr marL="260000" indent="-160000">
              <a:buChar char="-"/>
            </a:pPr>
            <a:r>
              <a:rPr lang="en-US" sz="1550">
                <a:solidFill>
                  <a:srgbClr val="1A1A2E"/>
                </a:solidFill>
                <a:latin typeface="Arial"/>
                <a:ea typeface="Arial"/>
                <a:cs typeface="Arial"/>
              </a:rPr>
              <a:t>Chroma metadata retrieval</a:t>
            </a:r>
          </a:p>
          <a:p>
            <a:pPr marL="260000" indent="-160000">
              <a:buChar char="-"/>
            </a:pPr>
            <a:r>
              <a:rPr lang="en-US" sz="1550">
                <a:solidFill>
                  <a:srgbClr val="1A1A2E"/>
                </a:solidFill>
                <a:latin typeface="Arial"/>
                <a:ea typeface="Arial"/>
                <a:cs typeface="Arial"/>
              </a:rPr>
              <a:t>Lightweight cross-encoder reranking</a:t>
            </a:r>
          </a:p>
          <a:p>
            <a:pPr marL="260000" indent="-160000">
              <a:buChar char="-"/>
            </a:pPr>
            <a:r>
              <a:rPr lang="en-US" sz="1550">
                <a:solidFill>
                  <a:srgbClr val="1A1A2E"/>
                </a:solidFill>
                <a:latin typeface="Arial"/>
                <a:ea typeface="Arial"/>
                <a:cs typeface="Arial"/>
              </a:rPr>
              <a:t>Top contexts to answer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75" cy="713232"/>
          </a:xfrm>
          <a:prstGeom prst="rect">
            <a:avLst/>
          </a:prstGeom>
          <a:solidFill>
            <a:srgbClr val="141B4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713232"/>
            <a:ext cx="12191675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" name="Kicker 4"/>
          <p:cNvSpPr txBox="1"/>
          <p:nvPr/>
        </p:nvSpPr>
        <p:spPr>
          <a:xfrm>
            <a:off x="411480" y="10972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950"/>
            <a:r>
              <a:rPr lang="en-US" sz="95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MODELS AND RUNTIME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411480" y="283464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900"/>
            <a:r>
              <a:rPr lang="en-US"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Configuration used for Milestone 5</a:t>
            </a:r>
          </a:p>
        </p:txBody>
      </p:sp>
      <p:sp>
        <p:nvSpPr>
          <p:cNvPr id="6" name="FooterTop 6"/>
          <p:cNvSpPr txBox="1"/>
          <p:nvPr/>
        </p:nvSpPr>
        <p:spPr>
          <a:xfrm>
            <a:off x="9144000" y="22860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endParaRPr lang="en-US" sz="1000"/>
            <a:r>
              <a:rPr lang="en-US" sz="1000">
                <a:solidFill>
                  <a:srgbClr val="CADCFC"/>
                </a:solidFill>
                <a:latin typeface="Arial"/>
                <a:ea typeface="Arial"/>
                <a:cs typeface="Arial"/>
              </a:rPr>
              <a:t>FinQuery - Milestone 5</a:t>
            </a:r>
          </a:p>
        </p:txBody>
      </p:sp>
      <p:sp>
        <p:nvSpPr>
          <p:cNvPr id="7" name="SlideNo 7"/>
          <p:cNvSpPr txBox="1"/>
          <p:nvPr/>
        </p:nvSpPr>
        <p:spPr>
          <a:xfrm>
            <a:off x="11109960" y="63550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endParaRPr lang="en-US" sz="900"/>
            <a:r>
              <a:rPr lang="en-US" sz="900">
                <a:solidFill>
                  <a:srgbClr val="5B647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Shape 8"/>
          <p:cNvSpPr/>
          <p:nvPr/>
        </p:nvSpPr>
        <p:spPr>
          <a:xfrm>
            <a:off x="594360" y="987552"/>
            <a:ext cx="1028700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9" name="Shape 9"/>
          <p:cNvSpPr/>
          <p:nvPr/>
        </p:nvSpPr>
        <p:spPr>
          <a:xfrm>
            <a:off x="594360" y="987552"/>
            <a:ext cx="3909060" cy="531495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</p:sp>
      <p:sp>
        <p:nvSpPr>
          <p:cNvPr id="10" name="Head 10"/>
          <p:cNvSpPr txBox="1"/>
          <p:nvPr/>
        </p:nvSpPr>
        <p:spPr>
          <a:xfrm>
            <a:off x="630936" y="1024128"/>
            <a:ext cx="3835908" cy="4583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220"/>
            <a:r>
              <a:rPr lang="en-US" sz="12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Component</a:t>
            </a:r>
          </a:p>
        </p:txBody>
      </p:sp>
      <p:sp>
        <p:nvSpPr>
          <p:cNvPr id="11" name="Shape 11"/>
          <p:cNvSpPr/>
          <p:nvPr/>
        </p:nvSpPr>
        <p:spPr>
          <a:xfrm>
            <a:off x="4503420" y="987552"/>
            <a:ext cx="6377940" cy="531495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</p:sp>
      <p:sp>
        <p:nvSpPr>
          <p:cNvPr id="12" name="Head 12"/>
          <p:cNvSpPr txBox="1"/>
          <p:nvPr/>
        </p:nvSpPr>
        <p:spPr>
          <a:xfrm>
            <a:off x="4539996" y="1024128"/>
            <a:ext cx="6304788" cy="4583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220"/>
            <a:r>
              <a:rPr lang="en-US" sz="12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Configuration</a:t>
            </a:r>
          </a:p>
        </p:txBody>
      </p:sp>
      <p:sp>
        <p:nvSpPr>
          <p:cNvPr id="13" name="Shape 13"/>
          <p:cNvSpPr/>
          <p:nvPr/>
        </p:nvSpPr>
        <p:spPr>
          <a:xfrm>
            <a:off x="594360" y="1519047"/>
            <a:ext cx="3909060" cy="531495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14" name="Cell 14"/>
          <p:cNvSpPr txBox="1"/>
          <p:nvPr/>
        </p:nvSpPr>
        <p:spPr>
          <a:xfrm>
            <a:off x="630936" y="1555623"/>
            <a:ext cx="3835908" cy="4583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220"/>
            <a:r>
              <a:rPr lang="en-US" sz="1220">
                <a:solidFill>
                  <a:srgbClr val="1A1A2E"/>
                </a:solidFill>
                <a:latin typeface="Arial"/>
                <a:ea typeface="Arial"/>
                <a:cs typeface="Arial"/>
              </a:rPr>
              <a:t>Embedding model</a:t>
            </a:r>
          </a:p>
        </p:txBody>
      </p:sp>
      <p:sp>
        <p:nvSpPr>
          <p:cNvPr id="15" name="Shape 15"/>
          <p:cNvSpPr/>
          <p:nvPr/>
        </p:nvSpPr>
        <p:spPr>
          <a:xfrm>
            <a:off x="4503420" y="1519047"/>
            <a:ext cx="6377940" cy="531495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16" name="Cell 16"/>
          <p:cNvSpPr txBox="1"/>
          <p:nvPr/>
        </p:nvSpPr>
        <p:spPr>
          <a:xfrm>
            <a:off x="4539996" y="1555623"/>
            <a:ext cx="6304788" cy="4583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220"/>
            <a:r>
              <a:rPr lang="en-US" sz="1220">
                <a:solidFill>
                  <a:srgbClr val="1A1A2E"/>
                </a:solidFill>
                <a:latin typeface="Arial"/>
                <a:ea typeface="Arial"/>
                <a:cs typeface="Arial"/>
              </a:rPr>
              <a:t>OpenAI text-embedding-3-small</a:t>
            </a:r>
          </a:p>
        </p:txBody>
      </p:sp>
      <p:sp>
        <p:nvSpPr>
          <p:cNvPr id="17" name="Shape 17"/>
          <p:cNvSpPr/>
          <p:nvPr/>
        </p:nvSpPr>
        <p:spPr>
          <a:xfrm>
            <a:off x="594360" y="2050542"/>
            <a:ext cx="3909060" cy="531495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18" name="Cell 18"/>
          <p:cNvSpPr txBox="1"/>
          <p:nvPr/>
        </p:nvSpPr>
        <p:spPr>
          <a:xfrm>
            <a:off x="630936" y="2087118"/>
            <a:ext cx="3835908" cy="4583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220"/>
            <a:r>
              <a:rPr lang="en-US" sz="1220">
                <a:solidFill>
                  <a:srgbClr val="1A1A2E"/>
                </a:solidFill>
                <a:latin typeface="Arial"/>
                <a:ea typeface="Arial"/>
                <a:cs typeface="Arial"/>
              </a:rPr>
              <a:t>Answer-generation model</a:t>
            </a:r>
          </a:p>
        </p:txBody>
      </p:sp>
      <p:sp>
        <p:nvSpPr>
          <p:cNvPr id="19" name="Shape 19"/>
          <p:cNvSpPr/>
          <p:nvPr/>
        </p:nvSpPr>
        <p:spPr>
          <a:xfrm>
            <a:off x="4503420" y="2050542"/>
            <a:ext cx="6377940" cy="531495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20" name="Cell 20"/>
          <p:cNvSpPr txBox="1"/>
          <p:nvPr/>
        </p:nvSpPr>
        <p:spPr>
          <a:xfrm>
            <a:off x="4539996" y="2087118"/>
            <a:ext cx="6304788" cy="4583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220"/>
            <a:r>
              <a:rPr lang="en-US" sz="1220">
                <a:solidFill>
                  <a:srgbClr val="1A1A2E"/>
                </a:solidFill>
                <a:latin typeface="Arial"/>
                <a:ea typeface="Arial"/>
                <a:cs typeface="Arial"/>
              </a:rPr>
              <a:t>OpenAI gpt-4o-mini</a:t>
            </a:r>
          </a:p>
        </p:txBody>
      </p:sp>
      <p:sp>
        <p:nvSpPr>
          <p:cNvPr id="21" name="Shape 21"/>
          <p:cNvSpPr/>
          <p:nvPr/>
        </p:nvSpPr>
        <p:spPr>
          <a:xfrm>
            <a:off x="594360" y="2582037"/>
            <a:ext cx="3909060" cy="531495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22" name="Cell 22"/>
          <p:cNvSpPr txBox="1"/>
          <p:nvPr/>
        </p:nvSpPr>
        <p:spPr>
          <a:xfrm>
            <a:off x="630936" y="2618613"/>
            <a:ext cx="3835908" cy="4583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220"/>
            <a:r>
              <a:rPr lang="en-US" sz="1220">
                <a:solidFill>
                  <a:srgbClr val="1A1A2E"/>
                </a:solidFill>
                <a:latin typeface="Arial"/>
                <a:ea typeface="Arial"/>
                <a:cs typeface="Arial"/>
              </a:rPr>
              <a:t>RAGAS evaluator model</a:t>
            </a:r>
          </a:p>
        </p:txBody>
      </p:sp>
      <p:sp>
        <p:nvSpPr>
          <p:cNvPr id="23" name="Shape 23"/>
          <p:cNvSpPr/>
          <p:nvPr/>
        </p:nvSpPr>
        <p:spPr>
          <a:xfrm>
            <a:off x="4503420" y="2582037"/>
            <a:ext cx="6377940" cy="531495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24" name="Cell 24"/>
          <p:cNvSpPr txBox="1"/>
          <p:nvPr/>
        </p:nvSpPr>
        <p:spPr>
          <a:xfrm>
            <a:off x="4539996" y="2618613"/>
            <a:ext cx="6304788" cy="4583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220"/>
            <a:r>
              <a:rPr lang="en-US" sz="1220">
                <a:solidFill>
                  <a:srgbClr val="1A1A2E"/>
                </a:solidFill>
                <a:latin typeface="Arial"/>
                <a:ea typeface="Arial"/>
                <a:cs typeface="Arial"/>
              </a:rPr>
              <a:t>gpt-5.6-luna</a:t>
            </a:r>
          </a:p>
        </p:txBody>
      </p:sp>
      <p:sp>
        <p:nvSpPr>
          <p:cNvPr id="25" name="Shape 25"/>
          <p:cNvSpPr/>
          <p:nvPr/>
        </p:nvSpPr>
        <p:spPr>
          <a:xfrm>
            <a:off x="594360" y="3113532"/>
            <a:ext cx="3909060" cy="531495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26" name="Cell 26"/>
          <p:cNvSpPr txBox="1"/>
          <p:nvPr/>
        </p:nvSpPr>
        <p:spPr>
          <a:xfrm>
            <a:off x="630936" y="3150108"/>
            <a:ext cx="3835908" cy="4583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220"/>
            <a:r>
              <a:rPr lang="en-US" sz="1220">
                <a:solidFill>
                  <a:srgbClr val="1A1A2E"/>
                </a:solidFill>
                <a:latin typeface="Arial"/>
                <a:ea typeface="Arial"/>
                <a:cs typeface="Arial"/>
              </a:rPr>
              <a:t>Full-text BGE reranker</a:t>
            </a:r>
          </a:p>
        </p:txBody>
      </p:sp>
      <p:sp>
        <p:nvSpPr>
          <p:cNvPr id="27" name="Shape 27"/>
          <p:cNvSpPr/>
          <p:nvPr/>
        </p:nvSpPr>
        <p:spPr>
          <a:xfrm>
            <a:off x="4503420" y="3113532"/>
            <a:ext cx="6377940" cy="531495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28" name="Cell 28"/>
          <p:cNvSpPr txBox="1"/>
          <p:nvPr/>
        </p:nvSpPr>
        <p:spPr>
          <a:xfrm>
            <a:off x="4539996" y="3150108"/>
            <a:ext cx="6304788" cy="4583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220"/>
            <a:r>
              <a:rPr lang="en-US" sz="1220">
                <a:solidFill>
                  <a:srgbClr val="1A1A2E"/>
                </a:solidFill>
                <a:latin typeface="Arial"/>
                <a:ea typeface="Arial"/>
                <a:cs typeface="Arial"/>
              </a:rPr>
              <a:t>BAAI/bge-reranker-v2-m3</a:t>
            </a:r>
          </a:p>
        </p:txBody>
      </p:sp>
      <p:sp>
        <p:nvSpPr>
          <p:cNvPr id="29" name="Shape 29"/>
          <p:cNvSpPr/>
          <p:nvPr/>
        </p:nvSpPr>
        <p:spPr>
          <a:xfrm>
            <a:off x="594360" y="3645027"/>
            <a:ext cx="3909060" cy="531495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30" name="Cell 30"/>
          <p:cNvSpPr txBox="1"/>
          <p:nvPr/>
        </p:nvSpPr>
        <p:spPr>
          <a:xfrm>
            <a:off x="630936" y="3681603"/>
            <a:ext cx="3835908" cy="4583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220"/>
            <a:r>
              <a:rPr lang="en-US" sz="1220">
                <a:solidFill>
                  <a:srgbClr val="1A1A2E"/>
                </a:solidFill>
                <a:latin typeface="Arial"/>
                <a:ea typeface="Arial"/>
                <a:cs typeface="Arial"/>
              </a:rPr>
              <a:t>Metadata cross-encoder</a:t>
            </a:r>
          </a:p>
        </p:txBody>
      </p:sp>
      <p:sp>
        <p:nvSpPr>
          <p:cNvPr id="31" name="Shape 31"/>
          <p:cNvSpPr/>
          <p:nvPr/>
        </p:nvSpPr>
        <p:spPr>
          <a:xfrm>
            <a:off x="4503420" y="3645027"/>
            <a:ext cx="6377940" cy="531495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32" name="Cell 32"/>
          <p:cNvSpPr txBox="1"/>
          <p:nvPr/>
        </p:nvSpPr>
        <p:spPr>
          <a:xfrm>
            <a:off x="4539996" y="3681603"/>
            <a:ext cx="6304788" cy="4583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220"/>
            <a:r>
              <a:rPr lang="en-US" sz="1220">
                <a:solidFill>
                  <a:srgbClr val="1A1A2E"/>
                </a:solidFill>
                <a:latin typeface="Arial"/>
                <a:ea typeface="Arial"/>
                <a:cs typeface="Arial"/>
              </a:rPr>
              <a:t>cross-encoder/ms-marco-MiniLM-L-6-v2</a:t>
            </a:r>
          </a:p>
        </p:txBody>
      </p:sp>
      <p:sp>
        <p:nvSpPr>
          <p:cNvPr id="33" name="Shape 33"/>
          <p:cNvSpPr/>
          <p:nvPr/>
        </p:nvSpPr>
        <p:spPr>
          <a:xfrm>
            <a:off x="594360" y="4176522"/>
            <a:ext cx="3909060" cy="531495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34" name="Cell 34"/>
          <p:cNvSpPr txBox="1"/>
          <p:nvPr/>
        </p:nvSpPr>
        <p:spPr>
          <a:xfrm>
            <a:off x="630936" y="4213098"/>
            <a:ext cx="3835908" cy="4583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220"/>
            <a:r>
              <a:rPr lang="en-US" sz="1220">
                <a:solidFill>
                  <a:srgbClr val="1A1A2E"/>
                </a:solidFill>
                <a:latin typeface="Arial"/>
                <a:ea typeface="Arial"/>
                <a:cs typeface="Arial"/>
              </a:rPr>
              <a:t>Vector database</a:t>
            </a:r>
          </a:p>
        </p:txBody>
      </p:sp>
      <p:sp>
        <p:nvSpPr>
          <p:cNvPr id="35" name="Shape 35"/>
          <p:cNvSpPr/>
          <p:nvPr/>
        </p:nvSpPr>
        <p:spPr>
          <a:xfrm>
            <a:off x="4503420" y="4176522"/>
            <a:ext cx="6377940" cy="531495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36" name="Cell 36"/>
          <p:cNvSpPr txBox="1"/>
          <p:nvPr/>
        </p:nvSpPr>
        <p:spPr>
          <a:xfrm>
            <a:off x="4539996" y="4213098"/>
            <a:ext cx="6304788" cy="4583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220"/>
            <a:r>
              <a:rPr lang="en-US" sz="1220">
                <a:solidFill>
                  <a:srgbClr val="1A1A2E"/>
                </a:solidFill>
                <a:latin typeface="Arial"/>
                <a:ea typeface="Arial"/>
                <a:cs typeface="Arial"/>
              </a:rPr>
              <a:t>ChromaDB persistent collections</a:t>
            </a:r>
          </a:p>
        </p:txBody>
      </p:sp>
      <p:sp>
        <p:nvSpPr>
          <p:cNvPr id="37" name="Shape 37"/>
          <p:cNvSpPr/>
          <p:nvPr/>
        </p:nvSpPr>
        <p:spPr>
          <a:xfrm>
            <a:off x="594360" y="4708017"/>
            <a:ext cx="3909060" cy="531495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38" name="Cell 38"/>
          <p:cNvSpPr txBox="1"/>
          <p:nvPr/>
        </p:nvSpPr>
        <p:spPr>
          <a:xfrm>
            <a:off x="630936" y="4744593"/>
            <a:ext cx="3835908" cy="4583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220"/>
            <a:r>
              <a:rPr lang="en-US" sz="1220">
                <a:solidFill>
                  <a:srgbClr val="1A1A2E"/>
                </a:solidFill>
                <a:latin typeface="Arial"/>
                <a:ea typeface="Arial"/>
                <a:cs typeface="Arial"/>
              </a:rPr>
              <a:t>GPU runtime</a:t>
            </a:r>
          </a:p>
        </p:txBody>
      </p:sp>
      <p:sp>
        <p:nvSpPr>
          <p:cNvPr id="39" name="Shape 39"/>
          <p:cNvSpPr/>
          <p:nvPr/>
        </p:nvSpPr>
        <p:spPr>
          <a:xfrm>
            <a:off x="4503420" y="4708017"/>
            <a:ext cx="6377940" cy="531495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40" name="Cell 40"/>
          <p:cNvSpPr txBox="1"/>
          <p:nvPr/>
        </p:nvSpPr>
        <p:spPr>
          <a:xfrm>
            <a:off x="4539996" y="4744593"/>
            <a:ext cx="6304788" cy="4583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220"/>
            <a:r>
              <a:rPr lang="en-US" sz="1220">
                <a:solidFill>
                  <a:srgbClr val="1A1A2E"/>
                </a:solidFill>
                <a:latin typeface="Arial"/>
                <a:ea typeface="Arial"/>
                <a:cs typeface="Arial"/>
              </a:rPr>
              <a:t>Google Colab T4 GPU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75" cy="713232"/>
          </a:xfrm>
          <a:prstGeom prst="rect">
            <a:avLst/>
          </a:prstGeom>
          <a:solidFill>
            <a:srgbClr val="141B4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713232"/>
            <a:ext cx="12191675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" name="Kicker 4"/>
          <p:cNvSpPr txBox="1"/>
          <p:nvPr/>
        </p:nvSpPr>
        <p:spPr>
          <a:xfrm>
            <a:off x="411480" y="10972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950"/>
            <a:r>
              <a:rPr lang="en-US" sz="95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FULL-TEXT RETRIEVAL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411480" y="283464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900"/>
            <a:r>
              <a:rPr lang="en-US"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Chroma-only vs BGE reranking</a:t>
            </a:r>
          </a:p>
        </p:txBody>
      </p:sp>
      <p:sp>
        <p:nvSpPr>
          <p:cNvPr id="6" name="FooterTop 6"/>
          <p:cNvSpPr txBox="1"/>
          <p:nvPr/>
        </p:nvSpPr>
        <p:spPr>
          <a:xfrm>
            <a:off x="9144000" y="22860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endParaRPr lang="en-US" sz="1000"/>
            <a:r>
              <a:rPr lang="en-US" sz="1000">
                <a:solidFill>
                  <a:srgbClr val="CADCFC"/>
                </a:solidFill>
                <a:latin typeface="Arial"/>
                <a:ea typeface="Arial"/>
                <a:cs typeface="Arial"/>
              </a:rPr>
              <a:t>FinQuery - Milestone 5</a:t>
            </a:r>
          </a:p>
        </p:txBody>
      </p:sp>
      <p:sp>
        <p:nvSpPr>
          <p:cNvPr id="7" name="SlideNo 7"/>
          <p:cNvSpPr txBox="1"/>
          <p:nvPr/>
        </p:nvSpPr>
        <p:spPr>
          <a:xfrm>
            <a:off x="11109960" y="63550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endParaRPr lang="en-US" sz="900"/>
            <a:r>
              <a:rPr lang="en-US" sz="900">
                <a:solidFill>
                  <a:srgbClr val="5B647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" name="Shape 8"/>
          <p:cNvSpPr/>
          <p:nvPr/>
        </p:nvSpPr>
        <p:spPr>
          <a:xfrm>
            <a:off x="594360" y="960120"/>
            <a:ext cx="5486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9" name="Shape 9"/>
          <p:cNvSpPr/>
          <p:nvPr/>
        </p:nvSpPr>
        <p:spPr>
          <a:xfrm>
            <a:off x="594360" y="960120"/>
            <a:ext cx="153619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</p:sp>
      <p:sp>
        <p:nvSpPr>
          <p:cNvPr id="10" name="Head 10"/>
          <p:cNvSpPr txBox="1"/>
          <p:nvPr/>
        </p:nvSpPr>
        <p:spPr>
          <a:xfrm>
            <a:off x="630936" y="996696"/>
            <a:ext cx="146304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Pipeline</a:t>
            </a:r>
          </a:p>
        </p:txBody>
      </p:sp>
      <p:sp>
        <p:nvSpPr>
          <p:cNvPr id="11" name="Shape 11"/>
          <p:cNvSpPr/>
          <p:nvPr/>
        </p:nvSpPr>
        <p:spPr>
          <a:xfrm>
            <a:off x="2130552" y="960120"/>
            <a:ext cx="658368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</p:sp>
      <p:sp>
        <p:nvSpPr>
          <p:cNvPr id="12" name="Head 12"/>
          <p:cNvSpPr txBox="1"/>
          <p:nvPr/>
        </p:nvSpPr>
        <p:spPr>
          <a:xfrm>
            <a:off x="2167128" y="996696"/>
            <a:ext cx="58521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Pool</a:t>
            </a:r>
          </a:p>
        </p:txBody>
      </p:sp>
      <p:sp>
        <p:nvSpPr>
          <p:cNvPr id="13" name="Shape 13"/>
          <p:cNvSpPr/>
          <p:nvPr/>
        </p:nvSpPr>
        <p:spPr>
          <a:xfrm>
            <a:off x="2788920" y="960120"/>
            <a:ext cx="8229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</p:sp>
      <p:sp>
        <p:nvSpPr>
          <p:cNvPr id="14" name="Head 14"/>
          <p:cNvSpPr txBox="1"/>
          <p:nvPr/>
        </p:nvSpPr>
        <p:spPr>
          <a:xfrm>
            <a:off x="2825496" y="996696"/>
            <a:ext cx="749808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R@3</a:t>
            </a:r>
          </a:p>
        </p:txBody>
      </p:sp>
      <p:sp>
        <p:nvSpPr>
          <p:cNvPr id="15" name="Shape 15"/>
          <p:cNvSpPr/>
          <p:nvPr/>
        </p:nvSpPr>
        <p:spPr>
          <a:xfrm>
            <a:off x="3611880" y="960120"/>
            <a:ext cx="8229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</p:sp>
      <p:sp>
        <p:nvSpPr>
          <p:cNvPr id="16" name="Head 16"/>
          <p:cNvSpPr txBox="1"/>
          <p:nvPr/>
        </p:nvSpPr>
        <p:spPr>
          <a:xfrm>
            <a:off x="3648456" y="996696"/>
            <a:ext cx="749808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R@5</a:t>
            </a:r>
          </a:p>
        </p:txBody>
      </p:sp>
      <p:sp>
        <p:nvSpPr>
          <p:cNvPr id="17" name="Shape 17"/>
          <p:cNvSpPr/>
          <p:nvPr/>
        </p:nvSpPr>
        <p:spPr>
          <a:xfrm>
            <a:off x="4434840" y="960120"/>
            <a:ext cx="8229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</p:sp>
      <p:sp>
        <p:nvSpPr>
          <p:cNvPr id="18" name="Head 18"/>
          <p:cNvSpPr txBox="1"/>
          <p:nvPr/>
        </p:nvSpPr>
        <p:spPr>
          <a:xfrm>
            <a:off x="4471416" y="996696"/>
            <a:ext cx="749808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R@7</a:t>
            </a:r>
          </a:p>
        </p:txBody>
      </p:sp>
      <p:sp>
        <p:nvSpPr>
          <p:cNvPr id="19" name="Shape 19"/>
          <p:cNvSpPr/>
          <p:nvPr/>
        </p:nvSpPr>
        <p:spPr>
          <a:xfrm>
            <a:off x="5257800" y="960120"/>
            <a:ext cx="8229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</p:sp>
      <p:sp>
        <p:nvSpPr>
          <p:cNvPr id="20" name="Head 20"/>
          <p:cNvSpPr txBox="1"/>
          <p:nvPr/>
        </p:nvSpPr>
        <p:spPr>
          <a:xfrm>
            <a:off x="5294376" y="996696"/>
            <a:ext cx="749808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R@9</a:t>
            </a:r>
          </a:p>
        </p:txBody>
      </p:sp>
      <p:sp>
        <p:nvSpPr>
          <p:cNvPr id="21" name="Shape 21"/>
          <p:cNvSpPr/>
          <p:nvPr/>
        </p:nvSpPr>
        <p:spPr>
          <a:xfrm>
            <a:off x="594360" y="1463040"/>
            <a:ext cx="1536192" cy="502920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22" name="Cell 22"/>
          <p:cNvSpPr txBox="1"/>
          <p:nvPr/>
        </p:nvSpPr>
        <p:spPr>
          <a:xfrm>
            <a:off x="630936" y="1499616"/>
            <a:ext cx="146304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050"/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</a:rPr>
              <a:t>Chroma-only</a:t>
            </a:r>
          </a:p>
        </p:txBody>
      </p:sp>
      <p:sp>
        <p:nvSpPr>
          <p:cNvPr id="23" name="Shape 23"/>
          <p:cNvSpPr/>
          <p:nvPr/>
        </p:nvSpPr>
        <p:spPr>
          <a:xfrm>
            <a:off x="2130552" y="1463040"/>
            <a:ext cx="658368" cy="502920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24" name="Cell 24"/>
          <p:cNvSpPr txBox="1"/>
          <p:nvPr/>
        </p:nvSpPr>
        <p:spPr>
          <a:xfrm>
            <a:off x="2167128" y="1499616"/>
            <a:ext cx="58521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5" name="Shape 25"/>
          <p:cNvSpPr/>
          <p:nvPr/>
        </p:nvSpPr>
        <p:spPr>
          <a:xfrm>
            <a:off x="2788920" y="1463040"/>
            <a:ext cx="822960" cy="502920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26" name="Cell 26"/>
          <p:cNvSpPr txBox="1"/>
          <p:nvPr/>
        </p:nvSpPr>
        <p:spPr>
          <a:xfrm>
            <a:off x="2825496" y="1499616"/>
            <a:ext cx="749808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</a:rPr>
              <a:t>34%</a:t>
            </a:r>
          </a:p>
        </p:txBody>
      </p:sp>
      <p:sp>
        <p:nvSpPr>
          <p:cNvPr id="27" name="Shape 27"/>
          <p:cNvSpPr/>
          <p:nvPr/>
        </p:nvSpPr>
        <p:spPr>
          <a:xfrm>
            <a:off x="3611880" y="1463040"/>
            <a:ext cx="822960" cy="502920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28" name="Cell 28"/>
          <p:cNvSpPr txBox="1"/>
          <p:nvPr/>
        </p:nvSpPr>
        <p:spPr>
          <a:xfrm>
            <a:off x="3648456" y="1499616"/>
            <a:ext cx="749808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</a:rPr>
              <a:t>38%</a:t>
            </a:r>
          </a:p>
        </p:txBody>
      </p:sp>
      <p:sp>
        <p:nvSpPr>
          <p:cNvPr id="29" name="Shape 29"/>
          <p:cNvSpPr/>
          <p:nvPr/>
        </p:nvSpPr>
        <p:spPr>
          <a:xfrm>
            <a:off x="4434840" y="1463040"/>
            <a:ext cx="822960" cy="502920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30" name="Cell 30"/>
          <p:cNvSpPr txBox="1"/>
          <p:nvPr/>
        </p:nvSpPr>
        <p:spPr>
          <a:xfrm>
            <a:off x="4471416" y="1499616"/>
            <a:ext cx="749808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</a:rPr>
              <a:t>40%</a:t>
            </a:r>
          </a:p>
        </p:txBody>
      </p:sp>
      <p:sp>
        <p:nvSpPr>
          <p:cNvPr id="31" name="Shape 31"/>
          <p:cNvSpPr/>
          <p:nvPr/>
        </p:nvSpPr>
        <p:spPr>
          <a:xfrm>
            <a:off x="5257800" y="1463040"/>
            <a:ext cx="822960" cy="502920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32" name="Cell 32"/>
          <p:cNvSpPr txBox="1"/>
          <p:nvPr/>
        </p:nvSpPr>
        <p:spPr>
          <a:xfrm>
            <a:off x="5294376" y="1499616"/>
            <a:ext cx="749808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</a:rPr>
              <a:t>40%</a:t>
            </a:r>
          </a:p>
        </p:txBody>
      </p:sp>
      <p:sp>
        <p:nvSpPr>
          <p:cNvPr id="33" name="Shape 33"/>
          <p:cNvSpPr/>
          <p:nvPr/>
        </p:nvSpPr>
        <p:spPr>
          <a:xfrm>
            <a:off x="594360" y="1965960"/>
            <a:ext cx="153619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34" name="Cell 34"/>
          <p:cNvSpPr txBox="1"/>
          <p:nvPr/>
        </p:nvSpPr>
        <p:spPr>
          <a:xfrm>
            <a:off x="630936" y="2002536"/>
            <a:ext cx="146304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050"/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</a:rPr>
              <a:t>BGE rerank</a:t>
            </a:r>
          </a:p>
        </p:txBody>
      </p:sp>
      <p:sp>
        <p:nvSpPr>
          <p:cNvPr id="35" name="Shape 35"/>
          <p:cNvSpPr/>
          <p:nvPr/>
        </p:nvSpPr>
        <p:spPr>
          <a:xfrm>
            <a:off x="2130552" y="1965960"/>
            <a:ext cx="6583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36" name="Cell 36"/>
          <p:cNvSpPr txBox="1"/>
          <p:nvPr/>
        </p:nvSpPr>
        <p:spPr>
          <a:xfrm>
            <a:off x="2167128" y="2002536"/>
            <a:ext cx="58521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37" name="Shape 37"/>
          <p:cNvSpPr/>
          <p:nvPr/>
        </p:nvSpPr>
        <p:spPr>
          <a:xfrm>
            <a:off x="2788920" y="196596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38" name="Cell 38"/>
          <p:cNvSpPr txBox="1"/>
          <p:nvPr/>
        </p:nvSpPr>
        <p:spPr>
          <a:xfrm>
            <a:off x="2825496" y="2002536"/>
            <a:ext cx="749808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</a:rPr>
              <a:t>40%</a:t>
            </a:r>
          </a:p>
        </p:txBody>
      </p:sp>
      <p:sp>
        <p:nvSpPr>
          <p:cNvPr id="39" name="Shape 39"/>
          <p:cNvSpPr/>
          <p:nvPr/>
        </p:nvSpPr>
        <p:spPr>
          <a:xfrm>
            <a:off x="3611880" y="196596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40" name="Cell 40"/>
          <p:cNvSpPr txBox="1"/>
          <p:nvPr/>
        </p:nvSpPr>
        <p:spPr>
          <a:xfrm>
            <a:off x="3648456" y="2002536"/>
            <a:ext cx="749808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</a:rPr>
              <a:t>46%</a:t>
            </a:r>
          </a:p>
        </p:txBody>
      </p:sp>
      <p:sp>
        <p:nvSpPr>
          <p:cNvPr id="41" name="Shape 41"/>
          <p:cNvSpPr/>
          <p:nvPr/>
        </p:nvSpPr>
        <p:spPr>
          <a:xfrm>
            <a:off x="4434840" y="196596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42" name="Cell 42"/>
          <p:cNvSpPr txBox="1"/>
          <p:nvPr/>
        </p:nvSpPr>
        <p:spPr>
          <a:xfrm>
            <a:off x="4471416" y="2002536"/>
            <a:ext cx="749808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43" name="Shape 43"/>
          <p:cNvSpPr/>
          <p:nvPr/>
        </p:nvSpPr>
        <p:spPr>
          <a:xfrm>
            <a:off x="5257800" y="196596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44" name="Cell 44"/>
          <p:cNvSpPr txBox="1"/>
          <p:nvPr/>
        </p:nvSpPr>
        <p:spPr>
          <a:xfrm>
            <a:off x="5294376" y="2002536"/>
            <a:ext cx="749808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</a:rPr>
              <a:t>56%</a:t>
            </a:r>
          </a:p>
        </p:txBody>
      </p:sp>
      <p:sp>
        <p:nvSpPr>
          <p:cNvPr id="45" name="Shape 45"/>
          <p:cNvSpPr/>
          <p:nvPr/>
        </p:nvSpPr>
        <p:spPr>
          <a:xfrm>
            <a:off x="6355080" y="914400"/>
            <a:ext cx="4526280" cy="320040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46" name="ChartTitle 46"/>
          <p:cNvSpPr txBox="1"/>
          <p:nvPr/>
        </p:nvSpPr>
        <p:spPr>
          <a:xfrm>
            <a:off x="6492240" y="1005840"/>
            <a:ext cx="42519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300"/>
            <a:r>
              <a:rPr lang="en-US" sz="13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Full-text recall</a:t>
            </a:r>
          </a:p>
        </p:txBody>
      </p:sp>
      <p:sp>
        <p:nvSpPr>
          <p:cNvPr id="47" name="Shape 47"/>
          <p:cNvSpPr/>
          <p:nvPr/>
        </p:nvSpPr>
        <p:spPr>
          <a:xfrm>
            <a:off x="6766560" y="3520440"/>
            <a:ext cx="3840480" cy="9144"/>
          </a:xfrm>
          <a:prstGeom prst="rect">
            <a:avLst/>
          </a:prstGeom>
          <a:solidFill>
            <a:srgbClr val="9CA3AF"/>
          </a:solidFill>
          <a:ln>
            <a:noFill/>
          </a:ln>
        </p:spPr>
      </p:sp>
      <p:sp>
        <p:nvSpPr>
          <p:cNvPr id="48" name="Shape 48"/>
          <p:cNvSpPr/>
          <p:nvPr/>
        </p:nvSpPr>
        <p:spPr>
          <a:xfrm>
            <a:off x="7006590" y="2820924"/>
            <a:ext cx="219456" cy="699516"/>
          </a:xfrm>
          <a:prstGeom prst="rect">
            <a:avLst/>
          </a:prstGeom>
          <a:solidFill>
            <a:srgbClr val="3767B1"/>
          </a:solidFill>
          <a:ln>
            <a:noFill/>
          </a:ln>
        </p:spPr>
      </p:sp>
      <p:sp>
        <p:nvSpPr>
          <p:cNvPr id="49" name="BarVal 49"/>
          <p:cNvSpPr txBox="1"/>
          <p:nvPr/>
        </p:nvSpPr>
        <p:spPr>
          <a:xfrm>
            <a:off x="6960870" y="2638044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50" name="Shape 50"/>
          <p:cNvSpPr/>
          <p:nvPr/>
        </p:nvSpPr>
        <p:spPr>
          <a:xfrm>
            <a:off x="7267194" y="2697480"/>
            <a:ext cx="219456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51" name="BarVal 51"/>
          <p:cNvSpPr txBox="1"/>
          <p:nvPr/>
        </p:nvSpPr>
        <p:spPr>
          <a:xfrm>
            <a:off x="7221474" y="2514600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52" name="XLabel 52"/>
          <p:cNvSpPr txBox="1"/>
          <p:nvPr/>
        </p:nvSpPr>
        <p:spPr>
          <a:xfrm>
            <a:off x="6926580" y="359359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830"/>
            <a:r>
              <a:rPr lang="en-US" sz="830">
                <a:solidFill>
                  <a:srgbClr val="5B6478"/>
                </a:solidFill>
                <a:latin typeface="Arial"/>
                <a:ea typeface="Arial"/>
                <a:cs typeface="Arial"/>
              </a:rPr>
              <a:t>R@3</a:t>
            </a:r>
          </a:p>
        </p:txBody>
      </p:sp>
      <p:sp>
        <p:nvSpPr>
          <p:cNvPr id="53" name="Shape 53"/>
          <p:cNvSpPr/>
          <p:nvPr/>
        </p:nvSpPr>
        <p:spPr>
          <a:xfrm>
            <a:off x="7966710" y="2738628"/>
            <a:ext cx="219456" cy="781812"/>
          </a:xfrm>
          <a:prstGeom prst="rect">
            <a:avLst/>
          </a:prstGeom>
          <a:solidFill>
            <a:srgbClr val="3767B1"/>
          </a:solidFill>
          <a:ln>
            <a:noFill/>
          </a:ln>
        </p:spPr>
      </p:sp>
      <p:sp>
        <p:nvSpPr>
          <p:cNvPr id="54" name="BarVal 54"/>
          <p:cNvSpPr txBox="1"/>
          <p:nvPr/>
        </p:nvSpPr>
        <p:spPr>
          <a:xfrm>
            <a:off x="7920990" y="2555748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55" name="Shape 55"/>
          <p:cNvSpPr/>
          <p:nvPr/>
        </p:nvSpPr>
        <p:spPr>
          <a:xfrm>
            <a:off x="8227314" y="2574036"/>
            <a:ext cx="219456" cy="94640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56" name="BarVal 56"/>
          <p:cNvSpPr txBox="1"/>
          <p:nvPr/>
        </p:nvSpPr>
        <p:spPr>
          <a:xfrm>
            <a:off x="8181594" y="2391156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  <p:sp>
        <p:nvSpPr>
          <p:cNvPr id="57" name="XLabel 57"/>
          <p:cNvSpPr txBox="1"/>
          <p:nvPr/>
        </p:nvSpPr>
        <p:spPr>
          <a:xfrm>
            <a:off x="7886700" y="359359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830"/>
            <a:r>
              <a:rPr lang="en-US" sz="830">
                <a:solidFill>
                  <a:srgbClr val="5B6478"/>
                </a:solidFill>
                <a:latin typeface="Arial"/>
                <a:ea typeface="Arial"/>
                <a:cs typeface="Arial"/>
              </a:rPr>
              <a:t>R@5</a:t>
            </a:r>
          </a:p>
        </p:txBody>
      </p:sp>
      <p:sp>
        <p:nvSpPr>
          <p:cNvPr id="58" name="Shape 58"/>
          <p:cNvSpPr/>
          <p:nvPr/>
        </p:nvSpPr>
        <p:spPr>
          <a:xfrm>
            <a:off x="8926830" y="2697480"/>
            <a:ext cx="219456" cy="822960"/>
          </a:xfrm>
          <a:prstGeom prst="rect">
            <a:avLst/>
          </a:prstGeom>
          <a:solidFill>
            <a:srgbClr val="3767B1"/>
          </a:solidFill>
          <a:ln>
            <a:noFill/>
          </a:ln>
        </p:spPr>
      </p:sp>
      <p:sp>
        <p:nvSpPr>
          <p:cNvPr id="59" name="BarVal 59"/>
          <p:cNvSpPr txBox="1"/>
          <p:nvPr/>
        </p:nvSpPr>
        <p:spPr>
          <a:xfrm>
            <a:off x="8881110" y="2514600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60" name="Shape 60"/>
          <p:cNvSpPr/>
          <p:nvPr/>
        </p:nvSpPr>
        <p:spPr>
          <a:xfrm>
            <a:off x="9187434" y="2491740"/>
            <a:ext cx="219456" cy="102870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61" name="BarVal 61"/>
          <p:cNvSpPr txBox="1"/>
          <p:nvPr/>
        </p:nvSpPr>
        <p:spPr>
          <a:xfrm>
            <a:off x="9141714" y="2308860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62" name="XLabel 62"/>
          <p:cNvSpPr txBox="1"/>
          <p:nvPr/>
        </p:nvSpPr>
        <p:spPr>
          <a:xfrm>
            <a:off x="8846820" y="359359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830"/>
            <a:r>
              <a:rPr lang="en-US" sz="830">
                <a:solidFill>
                  <a:srgbClr val="5B6478"/>
                </a:solidFill>
                <a:latin typeface="Arial"/>
                <a:ea typeface="Arial"/>
                <a:cs typeface="Arial"/>
              </a:rPr>
              <a:t>R@7</a:t>
            </a:r>
          </a:p>
        </p:txBody>
      </p:sp>
      <p:sp>
        <p:nvSpPr>
          <p:cNvPr id="63" name="Shape 63"/>
          <p:cNvSpPr/>
          <p:nvPr/>
        </p:nvSpPr>
        <p:spPr>
          <a:xfrm>
            <a:off x="9886950" y="2697480"/>
            <a:ext cx="219456" cy="822960"/>
          </a:xfrm>
          <a:prstGeom prst="rect">
            <a:avLst/>
          </a:prstGeom>
          <a:solidFill>
            <a:srgbClr val="3767B1"/>
          </a:solidFill>
          <a:ln>
            <a:noFill/>
          </a:ln>
        </p:spPr>
      </p:sp>
      <p:sp>
        <p:nvSpPr>
          <p:cNvPr id="64" name="BarVal 64"/>
          <p:cNvSpPr txBox="1"/>
          <p:nvPr/>
        </p:nvSpPr>
        <p:spPr>
          <a:xfrm>
            <a:off x="9841230" y="2514600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65" name="Shape 65"/>
          <p:cNvSpPr/>
          <p:nvPr/>
        </p:nvSpPr>
        <p:spPr>
          <a:xfrm>
            <a:off x="10147554" y="2368296"/>
            <a:ext cx="219456" cy="1152144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66" name="BarVal 66"/>
          <p:cNvSpPr txBox="1"/>
          <p:nvPr/>
        </p:nvSpPr>
        <p:spPr>
          <a:xfrm>
            <a:off x="10101834" y="2185416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56</a:t>
            </a:r>
          </a:p>
        </p:txBody>
      </p:sp>
      <p:sp>
        <p:nvSpPr>
          <p:cNvPr id="67" name="XLabel 67"/>
          <p:cNvSpPr txBox="1"/>
          <p:nvPr/>
        </p:nvSpPr>
        <p:spPr>
          <a:xfrm>
            <a:off x="9806940" y="359359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830"/>
            <a:r>
              <a:rPr lang="en-US" sz="830">
                <a:solidFill>
                  <a:srgbClr val="5B6478"/>
                </a:solidFill>
                <a:latin typeface="Arial"/>
                <a:ea typeface="Arial"/>
                <a:cs typeface="Arial"/>
              </a:rPr>
              <a:t>R@9</a:t>
            </a:r>
          </a:p>
        </p:txBody>
      </p:sp>
      <p:sp>
        <p:nvSpPr>
          <p:cNvPr id="68" name="Shape 68"/>
          <p:cNvSpPr/>
          <p:nvPr/>
        </p:nvSpPr>
        <p:spPr>
          <a:xfrm>
            <a:off x="6583680" y="3822192"/>
            <a:ext cx="109728" cy="109728"/>
          </a:xfrm>
          <a:prstGeom prst="rect">
            <a:avLst/>
          </a:prstGeom>
          <a:solidFill>
            <a:srgbClr val="3767B1"/>
          </a:solidFill>
          <a:ln>
            <a:noFill/>
          </a:ln>
        </p:spPr>
      </p:sp>
      <p:sp>
        <p:nvSpPr>
          <p:cNvPr id="69" name="Legend 69"/>
          <p:cNvSpPr txBox="1"/>
          <p:nvPr/>
        </p:nvSpPr>
        <p:spPr>
          <a:xfrm>
            <a:off x="6739128" y="3803904"/>
            <a:ext cx="15544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880"/>
            <a:r>
              <a:rPr lang="en-US" sz="880">
                <a:solidFill>
                  <a:srgbClr val="5B6478"/>
                </a:solidFill>
                <a:latin typeface="Arial"/>
                <a:ea typeface="Arial"/>
                <a:cs typeface="Arial"/>
              </a:rPr>
              <a:t>Chroma</a:t>
            </a:r>
          </a:p>
        </p:txBody>
      </p:sp>
      <p:sp>
        <p:nvSpPr>
          <p:cNvPr id="70" name="Shape 70"/>
          <p:cNvSpPr/>
          <p:nvPr/>
        </p:nvSpPr>
        <p:spPr>
          <a:xfrm>
            <a:off x="8412480" y="3822192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71" name="Legend 71"/>
          <p:cNvSpPr txBox="1"/>
          <p:nvPr/>
        </p:nvSpPr>
        <p:spPr>
          <a:xfrm>
            <a:off x="8567928" y="3803904"/>
            <a:ext cx="15544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880"/>
            <a:r>
              <a:rPr lang="en-US" sz="880">
                <a:solidFill>
                  <a:srgbClr val="5B6478"/>
                </a:solidFill>
                <a:latin typeface="Arial"/>
                <a:ea typeface="Arial"/>
                <a:cs typeface="Arial"/>
              </a:rPr>
              <a:t>BGE</a:t>
            </a:r>
          </a:p>
        </p:txBody>
      </p:sp>
      <p:sp>
        <p:nvSpPr>
          <p:cNvPr id="72" name="Bullet Box 72"/>
          <p:cNvSpPr txBox="1"/>
          <p:nvPr/>
        </p:nvSpPr>
        <p:spPr>
          <a:xfrm>
            <a:off x="685800" y="3063240"/>
            <a:ext cx="5303520" cy="150876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  <p:txBody>
          <a:bodyPr wrap="square" lIns="120000" tIns="100000" rIns="120000" bIns="100000" anchor="t"/>
          <a:lstStyle/>
          <a:p>
            <a:pPr marL="260000" indent="-160000">
              <a:buChar char="-"/>
            </a:pPr>
            <a:r>
              <a:rPr lang="en-US" sz="1550">
                <a:solidFill>
                  <a:srgbClr val="1A1A2E"/>
                </a:solidFill>
                <a:latin typeface="Arial"/>
                <a:ea typeface="Arial"/>
                <a:cs typeface="Arial"/>
              </a:rPr>
              <a:t>BGE improves every measured cutoff.</a:t>
            </a:r>
          </a:p>
          <a:p>
            <a:pPr marL="260000" indent="-160000">
              <a:buChar char="-"/>
            </a:pPr>
            <a:r>
              <a:rPr lang="en-US" sz="1550">
                <a:solidFill>
                  <a:srgbClr val="1A1A2E"/>
                </a:solidFill>
                <a:latin typeface="Arial"/>
                <a:ea typeface="Arial"/>
                <a:cs typeface="Arial"/>
              </a:rPr>
              <a:t>Largest gain is Recall@9: +16 percentage points.</a:t>
            </a:r>
          </a:p>
          <a:p>
            <a:pPr marL="260000" indent="-160000">
              <a:buChar char="-"/>
            </a:pPr>
            <a:r>
              <a:rPr lang="en-US" sz="1550">
                <a:solidFill>
                  <a:srgbClr val="1A1A2E"/>
                </a:solidFill>
                <a:latin typeface="Arial"/>
                <a:ea typeface="Arial"/>
                <a:cs typeface="Arial"/>
              </a:rPr>
              <a:t>CPU reranking is impractical: 486.439 s average per question.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75" cy="713232"/>
          </a:xfrm>
          <a:prstGeom prst="rect">
            <a:avLst/>
          </a:prstGeom>
          <a:solidFill>
            <a:srgbClr val="141B4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713232"/>
            <a:ext cx="12191675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" name="Kicker 4"/>
          <p:cNvSpPr txBox="1"/>
          <p:nvPr/>
        </p:nvSpPr>
        <p:spPr>
          <a:xfrm>
            <a:off x="411480" y="10972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950"/>
            <a:r>
              <a:rPr lang="en-US" sz="95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METADATA RETRIEVAL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411480" y="283464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900"/>
            <a:r>
              <a:rPr lang="en-US"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Best speed-quality tradeoff</a:t>
            </a:r>
          </a:p>
        </p:txBody>
      </p:sp>
      <p:sp>
        <p:nvSpPr>
          <p:cNvPr id="6" name="FooterTop 6"/>
          <p:cNvSpPr txBox="1"/>
          <p:nvPr/>
        </p:nvSpPr>
        <p:spPr>
          <a:xfrm>
            <a:off x="9144000" y="22860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endParaRPr lang="en-US" sz="1000"/>
            <a:r>
              <a:rPr lang="en-US" sz="1000">
                <a:solidFill>
                  <a:srgbClr val="CADCFC"/>
                </a:solidFill>
                <a:latin typeface="Arial"/>
                <a:ea typeface="Arial"/>
                <a:cs typeface="Arial"/>
              </a:rPr>
              <a:t>FinQuery - Milestone 5</a:t>
            </a:r>
          </a:p>
        </p:txBody>
      </p:sp>
      <p:sp>
        <p:nvSpPr>
          <p:cNvPr id="7" name="SlideNo 7"/>
          <p:cNvSpPr txBox="1"/>
          <p:nvPr/>
        </p:nvSpPr>
        <p:spPr>
          <a:xfrm>
            <a:off x="11109960" y="63550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endParaRPr lang="en-US" sz="900"/>
            <a:r>
              <a:rPr lang="en-US" sz="900">
                <a:solidFill>
                  <a:srgbClr val="5B647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8" name="Shape 8"/>
          <p:cNvSpPr/>
          <p:nvPr/>
        </p:nvSpPr>
        <p:spPr>
          <a:xfrm>
            <a:off x="594360" y="960120"/>
            <a:ext cx="56235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9" name="Shape 9"/>
          <p:cNvSpPr/>
          <p:nvPr/>
        </p:nvSpPr>
        <p:spPr>
          <a:xfrm>
            <a:off x="594360" y="960120"/>
            <a:ext cx="1743303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</p:sp>
      <p:sp>
        <p:nvSpPr>
          <p:cNvPr id="10" name="Head 10"/>
          <p:cNvSpPr txBox="1"/>
          <p:nvPr/>
        </p:nvSpPr>
        <p:spPr>
          <a:xfrm>
            <a:off x="630936" y="996696"/>
            <a:ext cx="1670151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Pipeline</a:t>
            </a:r>
          </a:p>
        </p:txBody>
      </p:sp>
      <p:sp>
        <p:nvSpPr>
          <p:cNvPr id="11" name="Shape 11"/>
          <p:cNvSpPr/>
          <p:nvPr/>
        </p:nvSpPr>
        <p:spPr>
          <a:xfrm>
            <a:off x="2337663" y="960120"/>
            <a:ext cx="562356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</p:sp>
      <p:sp>
        <p:nvSpPr>
          <p:cNvPr id="12" name="Head 12"/>
          <p:cNvSpPr txBox="1"/>
          <p:nvPr/>
        </p:nvSpPr>
        <p:spPr>
          <a:xfrm>
            <a:off x="2374239" y="996696"/>
            <a:ext cx="489204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Pool</a:t>
            </a:r>
          </a:p>
        </p:txBody>
      </p:sp>
      <p:sp>
        <p:nvSpPr>
          <p:cNvPr id="13" name="Shape 13"/>
          <p:cNvSpPr/>
          <p:nvPr/>
        </p:nvSpPr>
        <p:spPr>
          <a:xfrm>
            <a:off x="2900019" y="960120"/>
            <a:ext cx="73106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</p:sp>
      <p:sp>
        <p:nvSpPr>
          <p:cNvPr id="14" name="Head 14"/>
          <p:cNvSpPr txBox="1"/>
          <p:nvPr/>
        </p:nvSpPr>
        <p:spPr>
          <a:xfrm>
            <a:off x="2936595" y="996696"/>
            <a:ext cx="65791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R@3</a:t>
            </a:r>
          </a:p>
        </p:txBody>
      </p:sp>
      <p:sp>
        <p:nvSpPr>
          <p:cNvPr id="15" name="Shape 15"/>
          <p:cNvSpPr/>
          <p:nvPr/>
        </p:nvSpPr>
        <p:spPr>
          <a:xfrm>
            <a:off x="3631082" y="960120"/>
            <a:ext cx="73106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</p:sp>
      <p:sp>
        <p:nvSpPr>
          <p:cNvPr id="16" name="Head 16"/>
          <p:cNvSpPr txBox="1"/>
          <p:nvPr/>
        </p:nvSpPr>
        <p:spPr>
          <a:xfrm>
            <a:off x="3667658" y="996696"/>
            <a:ext cx="65791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R@5</a:t>
            </a:r>
          </a:p>
        </p:txBody>
      </p:sp>
      <p:sp>
        <p:nvSpPr>
          <p:cNvPr id="17" name="Shape 17"/>
          <p:cNvSpPr/>
          <p:nvPr/>
        </p:nvSpPr>
        <p:spPr>
          <a:xfrm>
            <a:off x="4362145" y="960120"/>
            <a:ext cx="73106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</p:sp>
      <p:sp>
        <p:nvSpPr>
          <p:cNvPr id="18" name="Head 18"/>
          <p:cNvSpPr txBox="1"/>
          <p:nvPr/>
        </p:nvSpPr>
        <p:spPr>
          <a:xfrm>
            <a:off x="4398721" y="996696"/>
            <a:ext cx="65791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R@7</a:t>
            </a:r>
          </a:p>
        </p:txBody>
      </p:sp>
      <p:sp>
        <p:nvSpPr>
          <p:cNvPr id="19" name="Shape 19"/>
          <p:cNvSpPr/>
          <p:nvPr/>
        </p:nvSpPr>
        <p:spPr>
          <a:xfrm>
            <a:off x="5093208" y="960120"/>
            <a:ext cx="112471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</p:sp>
      <p:sp>
        <p:nvSpPr>
          <p:cNvPr id="20" name="Head 20"/>
          <p:cNvSpPr txBox="1"/>
          <p:nvPr/>
        </p:nvSpPr>
        <p:spPr>
          <a:xfrm>
            <a:off x="5129784" y="996696"/>
            <a:ext cx="105156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Latency</a:t>
            </a:r>
          </a:p>
        </p:txBody>
      </p:sp>
      <p:sp>
        <p:nvSpPr>
          <p:cNvPr id="21" name="Shape 21"/>
          <p:cNvSpPr/>
          <p:nvPr/>
        </p:nvSpPr>
        <p:spPr>
          <a:xfrm>
            <a:off x="594360" y="1463040"/>
            <a:ext cx="1743303" cy="502920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22" name="Cell 22"/>
          <p:cNvSpPr txBox="1"/>
          <p:nvPr/>
        </p:nvSpPr>
        <p:spPr>
          <a:xfrm>
            <a:off x="630936" y="1499616"/>
            <a:ext cx="1670151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050"/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</a:rPr>
              <a:t>Metadata only</a:t>
            </a:r>
          </a:p>
        </p:txBody>
      </p:sp>
      <p:sp>
        <p:nvSpPr>
          <p:cNvPr id="23" name="Shape 23"/>
          <p:cNvSpPr/>
          <p:nvPr/>
        </p:nvSpPr>
        <p:spPr>
          <a:xfrm>
            <a:off x="2337663" y="1463040"/>
            <a:ext cx="562356" cy="502920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24" name="Cell 24"/>
          <p:cNvSpPr txBox="1"/>
          <p:nvPr/>
        </p:nvSpPr>
        <p:spPr>
          <a:xfrm>
            <a:off x="2374239" y="1499616"/>
            <a:ext cx="489204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5" name="Shape 25"/>
          <p:cNvSpPr/>
          <p:nvPr/>
        </p:nvSpPr>
        <p:spPr>
          <a:xfrm>
            <a:off x="2900019" y="1463040"/>
            <a:ext cx="731062" cy="502920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26" name="Cell 26"/>
          <p:cNvSpPr txBox="1"/>
          <p:nvPr/>
        </p:nvSpPr>
        <p:spPr>
          <a:xfrm>
            <a:off x="2936595" y="1499616"/>
            <a:ext cx="65791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</a:rPr>
              <a:t>74%</a:t>
            </a:r>
          </a:p>
        </p:txBody>
      </p:sp>
      <p:sp>
        <p:nvSpPr>
          <p:cNvPr id="27" name="Shape 27"/>
          <p:cNvSpPr/>
          <p:nvPr/>
        </p:nvSpPr>
        <p:spPr>
          <a:xfrm>
            <a:off x="3631082" y="1463040"/>
            <a:ext cx="731062" cy="502920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28" name="Cell 28"/>
          <p:cNvSpPr txBox="1"/>
          <p:nvPr/>
        </p:nvSpPr>
        <p:spPr>
          <a:xfrm>
            <a:off x="3667658" y="1499616"/>
            <a:ext cx="65791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</a:rPr>
              <a:t>78%</a:t>
            </a:r>
          </a:p>
        </p:txBody>
      </p:sp>
      <p:sp>
        <p:nvSpPr>
          <p:cNvPr id="29" name="Shape 29"/>
          <p:cNvSpPr/>
          <p:nvPr/>
        </p:nvSpPr>
        <p:spPr>
          <a:xfrm>
            <a:off x="4362145" y="1463040"/>
            <a:ext cx="731062" cy="502920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30" name="Cell 30"/>
          <p:cNvSpPr txBox="1"/>
          <p:nvPr/>
        </p:nvSpPr>
        <p:spPr>
          <a:xfrm>
            <a:off x="4398721" y="1499616"/>
            <a:ext cx="65791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</a:rPr>
              <a:t>82%</a:t>
            </a:r>
          </a:p>
        </p:txBody>
      </p:sp>
      <p:sp>
        <p:nvSpPr>
          <p:cNvPr id="31" name="Shape 31"/>
          <p:cNvSpPr/>
          <p:nvPr/>
        </p:nvSpPr>
        <p:spPr>
          <a:xfrm>
            <a:off x="5093208" y="1463040"/>
            <a:ext cx="1124712" cy="502920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32" name="Cell 32"/>
          <p:cNvSpPr txBox="1"/>
          <p:nvPr/>
        </p:nvSpPr>
        <p:spPr>
          <a:xfrm>
            <a:off x="5129784" y="1499616"/>
            <a:ext cx="105156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</a:rPr>
              <a:t>0.478 s</a:t>
            </a:r>
          </a:p>
        </p:txBody>
      </p:sp>
      <p:sp>
        <p:nvSpPr>
          <p:cNvPr id="33" name="Shape 33"/>
          <p:cNvSpPr/>
          <p:nvPr/>
        </p:nvSpPr>
        <p:spPr>
          <a:xfrm>
            <a:off x="594360" y="1965960"/>
            <a:ext cx="1743303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34" name="Cell 34"/>
          <p:cNvSpPr txBox="1"/>
          <p:nvPr/>
        </p:nvSpPr>
        <p:spPr>
          <a:xfrm>
            <a:off x="630936" y="2002536"/>
            <a:ext cx="1670151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050"/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</a:rPr>
              <a:t>Metadata + rerank</a:t>
            </a:r>
          </a:p>
        </p:txBody>
      </p:sp>
      <p:sp>
        <p:nvSpPr>
          <p:cNvPr id="35" name="Shape 35"/>
          <p:cNvSpPr/>
          <p:nvPr/>
        </p:nvSpPr>
        <p:spPr>
          <a:xfrm>
            <a:off x="2337663" y="1965960"/>
            <a:ext cx="562356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36" name="Cell 36"/>
          <p:cNvSpPr txBox="1"/>
          <p:nvPr/>
        </p:nvSpPr>
        <p:spPr>
          <a:xfrm>
            <a:off x="2374239" y="2002536"/>
            <a:ext cx="489204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7" name="Shape 37"/>
          <p:cNvSpPr/>
          <p:nvPr/>
        </p:nvSpPr>
        <p:spPr>
          <a:xfrm>
            <a:off x="2900019" y="1965960"/>
            <a:ext cx="73106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38" name="Cell 38"/>
          <p:cNvSpPr txBox="1"/>
          <p:nvPr/>
        </p:nvSpPr>
        <p:spPr>
          <a:xfrm>
            <a:off x="2936595" y="2002536"/>
            <a:ext cx="65791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</a:rPr>
              <a:t>74%</a:t>
            </a:r>
          </a:p>
        </p:txBody>
      </p:sp>
      <p:sp>
        <p:nvSpPr>
          <p:cNvPr id="39" name="Shape 39"/>
          <p:cNvSpPr/>
          <p:nvPr/>
        </p:nvSpPr>
        <p:spPr>
          <a:xfrm>
            <a:off x="3631082" y="1965960"/>
            <a:ext cx="73106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40" name="Cell 40"/>
          <p:cNvSpPr txBox="1"/>
          <p:nvPr/>
        </p:nvSpPr>
        <p:spPr>
          <a:xfrm>
            <a:off x="3667658" y="2002536"/>
            <a:ext cx="65791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</a:rPr>
              <a:t>82%</a:t>
            </a:r>
          </a:p>
        </p:txBody>
      </p:sp>
      <p:sp>
        <p:nvSpPr>
          <p:cNvPr id="41" name="Shape 41"/>
          <p:cNvSpPr/>
          <p:nvPr/>
        </p:nvSpPr>
        <p:spPr>
          <a:xfrm>
            <a:off x="4362145" y="1965960"/>
            <a:ext cx="73106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42" name="Cell 42"/>
          <p:cNvSpPr txBox="1"/>
          <p:nvPr/>
        </p:nvSpPr>
        <p:spPr>
          <a:xfrm>
            <a:off x="4398721" y="2002536"/>
            <a:ext cx="65791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</a:rPr>
              <a:t>88%</a:t>
            </a:r>
          </a:p>
        </p:txBody>
      </p:sp>
      <p:sp>
        <p:nvSpPr>
          <p:cNvPr id="43" name="Shape 43"/>
          <p:cNvSpPr/>
          <p:nvPr/>
        </p:nvSpPr>
        <p:spPr>
          <a:xfrm>
            <a:off x="5093208" y="1965960"/>
            <a:ext cx="11247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44" name="Cell 44"/>
          <p:cNvSpPr txBox="1"/>
          <p:nvPr/>
        </p:nvSpPr>
        <p:spPr>
          <a:xfrm>
            <a:off x="5129784" y="2002536"/>
            <a:ext cx="1051560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50"/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</a:rPr>
              <a:t>3.173 s</a:t>
            </a:r>
          </a:p>
        </p:txBody>
      </p:sp>
      <p:sp>
        <p:nvSpPr>
          <p:cNvPr id="45" name="Shape 45"/>
          <p:cNvSpPr/>
          <p:nvPr/>
        </p:nvSpPr>
        <p:spPr>
          <a:xfrm>
            <a:off x="6400800" y="914400"/>
            <a:ext cx="4480560" cy="324612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46" name="ChartTitle 46"/>
          <p:cNvSpPr txBox="1"/>
          <p:nvPr/>
        </p:nvSpPr>
        <p:spPr>
          <a:xfrm>
            <a:off x="6537960" y="100584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300"/>
            <a:r>
              <a:rPr lang="en-US" sz="13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Metadata recall</a:t>
            </a:r>
          </a:p>
        </p:txBody>
      </p:sp>
      <p:sp>
        <p:nvSpPr>
          <p:cNvPr id="47" name="Shape 47"/>
          <p:cNvSpPr/>
          <p:nvPr/>
        </p:nvSpPr>
        <p:spPr>
          <a:xfrm>
            <a:off x="6812280" y="3566160"/>
            <a:ext cx="3794760" cy="9144"/>
          </a:xfrm>
          <a:prstGeom prst="rect">
            <a:avLst/>
          </a:prstGeom>
          <a:solidFill>
            <a:srgbClr val="9CA3AF"/>
          </a:solidFill>
          <a:ln>
            <a:noFill/>
          </a:ln>
        </p:spPr>
      </p:sp>
      <p:sp>
        <p:nvSpPr>
          <p:cNvPr id="48" name="Shape 48"/>
          <p:cNvSpPr/>
          <p:nvPr/>
        </p:nvSpPr>
        <p:spPr>
          <a:xfrm>
            <a:off x="7204710" y="2009852"/>
            <a:ext cx="219456" cy="1556308"/>
          </a:xfrm>
          <a:prstGeom prst="rect">
            <a:avLst/>
          </a:prstGeom>
          <a:solidFill>
            <a:srgbClr val="3767B1"/>
          </a:solidFill>
          <a:ln>
            <a:noFill/>
          </a:ln>
        </p:spPr>
      </p:sp>
      <p:sp>
        <p:nvSpPr>
          <p:cNvPr id="49" name="BarVal 49"/>
          <p:cNvSpPr txBox="1"/>
          <p:nvPr/>
        </p:nvSpPr>
        <p:spPr>
          <a:xfrm>
            <a:off x="7158990" y="1826972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74</a:t>
            </a:r>
          </a:p>
        </p:txBody>
      </p:sp>
      <p:sp>
        <p:nvSpPr>
          <p:cNvPr id="50" name="Shape 50"/>
          <p:cNvSpPr/>
          <p:nvPr/>
        </p:nvSpPr>
        <p:spPr>
          <a:xfrm>
            <a:off x="7465314" y="2009852"/>
            <a:ext cx="219456" cy="1556308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51" name="BarVal 51"/>
          <p:cNvSpPr txBox="1"/>
          <p:nvPr/>
        </p:nvSpPr>
        <p:spPr>
          <a:xfrm>
            <a:off x="7419594" y="1826972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74</a:t>
            </a:r>
          </a:p>
        </p:txBody>
      </p:sp>
      <p:sp>
        <p:nvSpPr>
          <p:cNvPr id="52" name="XLabel 52"/>
          <p:cNvSpPr txBox="1"/>
          <p:nvPr/>
        </p:nvSpPr>
        <p:spPr>
          <a:xfrm>
            <a:off x="7124700" y="363931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830"/>
            <a:r>
              <a:rPr lang="en-US" sz="830">
                <a:solidFill>
                  <a:srgbClr val="5B6478"/>
                </a:solidFill>
                <a:latin typeface="Arial"/>
                <a:ea typeface="Arial"/>
                <a:cs typeface="Arial"/>
              </a:rPr>
              <a:t>R@3</a:t>
            </a:r>
          </a:p>
        </p:txBody>
      </p:sp>
      <p:sp>
        <p:nvSpPr>
          <p:cNvPr id="53" name="Shape 53"/>
          <p:cNvSpPr/>
          <p:nvPr/>
        </p:nvSpPr>
        <p:spPr>
          <a:xfrm>
            <a:off x="8469630" y="1925727"/>
            <a:ext cx="219456" cy="1640433"/>
          </a:xfrm>
          <a:prstGeom prst="rect">
            <a:avLst/>
          </a:prstGeom>
          <a:solidFill>
            <a:srgbClr val="3767B1"/>
          </a:solidFill>
          <a:ln>
            <a:noFill/>
          </a:ln>
        </p:spPr>
      </p:sp>
      <p:sp>
        <p:nvSpPr>
          <p:cNvPr id="54" name="BarVal 54"/>
          <p:cNvSpPr txBox="1"/>
          <p:nvPr/>
        </p:nvSpPr>
        <p:spPr>
          <a:xfrm>
            <a:off x="8423910" y="1742847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78</a:t>
            </a:r>
          </a:p>
        </p:txBody>
      </p:sp>
      <p:sp>
        <p:nvSpPr>
          <p:cNvPr id="55" name="Shape 55"/>
          <p:cNvSpPr/>
          <p:nvPr/>
        </p:nvSpPr>
        <p:spPr>
          <a:xfrm>
            <a:off x="8730234" y="1841602"/>
            <a:ext cx="219456" cy="1724558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56" name="BarVal 56"/>
          <p:cNvSpPr txBox="1"/>
          <p:nvPr/>
        </p:nvSpPr>
        <p:spPr>
          <a:xfrm>
            <a:off x="8684514" y="1658722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82</a:t>
            </a:r>
          </a:p>
        </p:txBody>
      </p:sp>
      <p:sp>
        <p:nvSpPr>
          <p:cNvPr id="57" name="XLabel 57"/>
          <p:cNvSpPr txBox="1"/>
          <p:nvPr/>
        </p:nvSpPr>
        <p:spPr>
          <a:xfrm>
            <a:off x="8389620" y="363931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830"/>
            <a:r>
              <a:rPr lang="en-US" sz="830">
                <a:solidFill>
                  <a:srgbClr val="5B6478"/>
                </a:solidFill>
                <a:latin typeface="Arial"/>
                <a:ea typeface="Arial"/>
                <a:cs typeface="Arial"/>
              </a:rPr>
              <a:t>R@5</a:t>
            </a:r>
          </a:p>
        </p:txBody>
      </p:sp>
      <p:sp>
        <p:nvSpPr>
          <p:cNvPr id="58" name="Shape 58"/>
          <p:cNvSpPr/>
          <p:nvPr/>
        </p:nvSpPr>
        <p:spPr>
          <a:xfrm>
            <a:off x="9734550" y="1841602"/>
            <a:ext cx="219456" cy="1724558"/>
          </a:xfrm>
          <a:prstGeom prst="rect">
            <a:avLst/>
          </a:prstGeom>
          <a:solidFill>
            <a:srgbClr val="3767B1"/>
          </a:solidFill>
          <a:ln>
            <a:noFill/>
          </a:ln>
        </p:spPr>
      </p:sp>
      <p:sp>
        <p:nvSpPr>
          <p:cNvPr id="59" name="BarVal 59"/>
          <p:cNvSpPr txBox="1"/>
          <p:nvPr/>
        </p:nvSpPr>
        <p:spPr>
          <a:xfrm>
            <a:off x="9688830" y="1658722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82</a:t>
            </a:r>
          </a:p>
        </p:txBody>
      </p:sp>
      <p:sp>
        <p:nvSpPr>
          <p:cNvPr id="60" name="Shape 60"/>
          <p:cNvSpPr/>
          <p:nvPr/>
        </p:nvSpPr>
        <p:spPr>
          <a:xfrm>
            <a:off x="9995154" y="1715415"/>
            <a:ext cx="219456" cy="1850745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61" name="BarVal 61"/>
          <p:cNvSpPr txBox="1"/>
          <p:nvPr/>
        </p:nvSpPr>
        <p:spPr>
          <a:xfrm>
            <a:off x="9949434" y="1532535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88</a:t>
            </a:r>
          </a:p>
        </p:txBody>
      </p:sp>
      <p:sp>
        <p:nvSpPr>
          <p:cNvPr id="62" name="XLabel 62"/>
          <p:cNvSpPr txBox="1"/>
          <p:nvPr/>
        </p:nvSpPr>
        <p:spPr>
          <a:xfrm>
            <a:off x="9654540" y="363931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830"/>
            <a:r>
              <a:rPr lang="en-US" sz="830">
                <a:solidFill>
                  <a:srgbClr val="5B6478"/>
                </a:solidFill>
                <a:latin typeface="Arial"/>
                <a:ea typeface="Arial"/>
                <a:cs typeface="Arial"/>
              </a:rPr>
              <a:t>R@7</a:t>
            </a:r>
          </a:p>
        </p:txBody>
      </p:sp>
      <p:sp>
        <p:nvSpPr>
          <p:cNvPr id="63" name="Shape 63"/>
          <p:cNvSpPr/>
          <p:nvPr/>
        </p:nvSpPr>
        <p:spPr>
          <a:xfrm>
            <a:off x="6629400" y="3867912"/>
            <a:ext cx="109728" cy="109728"/>
          </a:xfrm>
          <a:prstGeom prst="rect">
            <a:avLst/>
          </a:prstGeom>
          <a:solidFill>
            <a:srgbClr val="3767B1"/>
          </a:solidFill>
          <a:ln>
            <a:noFill/>
          </a:ln>
        </p:spPr>
      </p:sp>
      <p:sp>
        <p:nvSpPr>
          <p:cNvPr id="64" name="Legend 64"/>
          <p:cNvSpPr txBox="1"/>
          <p:nvPr/>
        </p:nvSpPr>
        <p:spPr>
          <a:xfrm>
            <a:off x="6784848" y="3849624"/>
            <a:ext cx="15544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880"/>
            <a:r>
              <a:rPr lang="en-US" sz="880">
                <a:solidFill>
                  <a:srgbClr val="5B6478"/>
                </a:solidFill>
                <a:latin typeface="Arial"/>
                <a:ea typeface="Arial"/>
                <a:cs typeface="Arial"/>
              </a:rPr>
              <a:t>Metadata</a:t>
            </a:r>
          </a:p>
        </p:txBody>
      </p:sp>
      <p:sp>
        <p:nvSpPr>
          <p:cNvPr id="65" name="Shape 65"/>
          <p:cNvSpPr/>
          <p:nvPr/>
        </p:nvSpPr>
        <p:spPr>
          <a:xfrm>
            <a:off x="8458200" y="3867912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66" name="Legend 66"/>
          <p:cNvSpPr txBox="1"/>
          <p:nvPr/>
        </p:nvSpPr>
        <p:spPr>
          <a:xfrm>
            <a:off x="8613648" y="3849624"/>
            <a:ext cx="15544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880"/>
            <a:r>
              <a:rPr lang="en-US" sz="880">
                <a:solidFill>
                  <a:srgbClr val="5B6478"/>
                </a:solidFill>
                <a:latin typeface="Arial"/>
                <a:ea typeface="Arial"/>
                <a:cs typeface="Arial"/>
              </a:rPr>
              <a:t>Rerank</a:t>
            </a:r>
          </a:p>
        </p:txBody>
      </p:sp>
      <p:sp>
        <p:nvSpPr>
          <p:cNvPr id="67" name="Shape 67"/>
          <p:cNvSpPr/>
          <p:nvPr/>
        </p:nvSpPr>
        <p:spPr>
          <a:xfrm>
            <a:off x="731520" y="3246120"/>
            <a:ext cx="1417320" cy="96012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68" name="Shape 68"/>
          <p:cNvSpPr/>
          <p:nvPr/>
        </p:nvSpPr>
        <p:spPr>
          <a:xfrm>
            <a:off x="731520" y="3246120"/>
            <a:ext cx="100584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69" name="StatNumber 69"/>
          <p:cNvSpPr txBox="1"/>
          <p:nvPr/>
        </p:nvSpPr>
        <p:spPr>
          <a:xfrm>
            <a:off x="896112" y="3355848"/>
            <a:ext cx="116128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2400"/>
            <a:r>
              <a:rPr lang="en-US" sz="240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88%</a:t>
            </a:r>
          </a:p>
        </p:txBody>
      </p:sp>
      <p:sp>
        <p:nvSpPr>
          <p:cNvPr id="70" name="StatLabel 70"/>
          <p:cNvSpPr txBox="1"/>
          <p:nvPr/>
        </p:nvSpPr>
        <p:spPr>
          <a:xfrm>
            <a:off x="896112" y="3776472"/>
            <a:ext cx="1161288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150"/>
            <a:r>
              <a:rPr lang="en-US" sz="1150">
                <a:solidFill>
                  <a:srgbClr val="5B6478"/>
                </a:solidFill>
                <a:latin typeface="Arial"/>
                <a:ea typeface="Arial"/>
                <a:cs typeface="Arial"/>
              </a:rPr>
              <a:t>best Recall@7</a:t>
            </a:r>
          </a:p>
        </p:txBody>
      </p:sp>
      <p:sp>
        <p:nvSpPr>
          <p:cNvPr id="71" name="Shape 71"/>
          <p:cNvSpPr/>
          <p:nvPr/>
        </p:nvSpPr>
        <p:spPr>
          <a:xfrm>
            <a:off x="2359152" y="3246120"/>
            <a:ext cx="1417320" cy="96012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72" name="Shape 72"/>
          <p:cNvSpPr/>
          <p:nvPr/>
        </p:nvSpPr>
        <p:spPr>
          <a:xfrm>
            <a:off x="2359152" y="3246120"/>
            <a:ext cx="100584" cy="960120"/>
          </a:xfrm>
          <a:prstGeom prst="rect">
            <a:avLst/>
          </a:prstGeom>
          <a:solidFill>
            <a:srgbClr val="3767B1"/>
          </a:solidFill>
          <a:ln>
            <a:noFill/>
          </a:ln>
        </p:spPr>
      </p:sp>
      <p:sp>
        <p:nvSpPr>
          <p:cNvPr id="73" name="StatNumber 73"/>
          <p:cNvSpPr txBox="1"/>
          <p:nvPr/>
        </p:nvSpPr>
        <p:spPr>
          <a:xfrm>
            <a:off x="2523744" y="3355848"/>
            <a:ext cx="116128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2400"/>
            <a:r>
              <a:rPr lang="en-US" sz="2400" b="1">
                <a:solidFill>
                  <a:srgbClr val="3767B1"/>
                </a:solidFill>
                <a:latin typeface="Arial"/>
                <a:ea typeface="Arial"/>
                <a:cs typeface="Arial"/>
              </a:rPr>
              <a:t>3.173s</a:t>
            </a:r>
          </a:p>
        </p:txBody>
      </p:sp>
      <p:sp>
        <p:nvSpPr>
          <p:cNvPr id="74" name="StatLabel 74"/>
          <p:cNvSpPr txBox="1"/>
          <p:nvPr/>
        </p:nvSpPr>
        <p:spPr>
          <a:xfrm>
            <a:off x="2523744" y="3776472"/>
            <a:ext cx="1161288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150"/>
            <a:r>
              <a:rPr lang="en-US" sz="1150">
                <a:solidFill>
                  <a:srgbClr val="5B6478"/>
                </a:solidFill>
                <a:latin typeface="Arial"/>
                <a:ea typeface="Arial"/>
                <a:cs typeface="Arial"/>
              </a:rPr>
              <a:t>avg latency</a:t>
            </a:r>
          </a:p>
        </p:txBody>
      </p:sp>
      <p:sp>
        <p:nvSpPr>
          <p:cNvPr id="75" name="Shape 75"/>
          <p:cNvSpPr/>
          <p:nvPr/>
        </p:nvSpPr>
        <p:spPr>
          <a:xfrm>
            <a:off x="3986784" y="3246120"/>
            <a:ext cx="1417320" cy="96012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76" name="Shape 76"/>
          <p:cNvSpPr/>
          <p:nvPr/>
        </p:nvSpPr>
        <p:spPr>
          <a:xfrm>
            <a:off x="3986784" y="3246120"/>
            <a:ext cx="100584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77" name="StatNumber 77"/>
          <p:cNvSpPr txBox="1"/>
          <p:nvPr/>
        </p:nvSpPr>
        <p:spPr>
          <a:xfrm>
            <a:off x="4151376" y="3355848"/>
            <a:ext cx="116128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2400"/>
            <a:r>
              <a:rPr lang="en-US" sz="24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+6pp</a:t>
            </a:r>
          </a:p>
        </p:txBody>
      </p:sp>
      <p:sp>
        <p:nvSpPr>
          <p:cNvPr id="78" name="StatLabel 78"/>
          <p:cNvSpPr txBox="1"/>
          <p:nvPr/>
        </p:nvSpPr>
        <p:spPr>
          <a:xfrm>
            <a:off x="4151376" y="3776472"/>
            <a:ext cx="1161288" cy="356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150"/>
            <a:r>
              <a:rPr lang="en-US" sz="1150">
                <a:solidFill>
                  <a:srgbClr val="5B6478"/>
                </a:solidFill>
                <a:latin typeface="Arial"/>
                <a:ea typeface="Arial"/>
                <a:cs typeface="Arial"/>
              </a:rPr>
              <a:t>Recall@7 gain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75" cy="713232"/>
          </a:xfrm>
          <a:prstGeom prst="rect">
            <a:avLst/>
          </a:prstGeom>
          <a:solidFill>
            <a:srgbClr val="141B4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713232"/>
            <a:ext cx="12191675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" name="Kicker 4"/>
          <p:cNvSpPr txBox="1"/>
          <p:nvPr/>
        </p:nvSpPr>
        <p:spPr>
          <a:xfrm>
            <a:off x="411480" y="10972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950"/>
            <a:r>
              <a:rPr lang="en-US" sz="95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CATEGORY RESULTS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411480" y="283464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900"/>
            <a:r>
              <a:rPr lang="en-US"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Where metadata reranking works best</a:t>
            </a:r>
          </a:p>
        </p:txBody>
      </p:sp>
      <p:sp>
        <p:nvSpPr>
          <p:cNvPr id="6" name="FooterTop 6"/>
          <p:cNvSpPr txBox="1"/>
          <p:nvPr/>
        </p:nvSpPr>
        <p:spPr>
          <a:xfrm>
            <a:off x="9144000" y="22860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endParaRPr lang="en-US" sz="1000"/>
            <a:r>
              <a:rPr lang="en-US" sz="1000">
                <a:solidFill>
                  <a:srgbClr val="CADCFC"/>
                </a:solidFill>
                <a:latin typeface="Arial"/>
                <a:ea typeface="Arial"/>
                <a:cs typeface="Arial"/>
              </a:rPr>
              <a:t>FinQuery - Milestone 5</a:t>
            </a:r>
          </a:p>
        </p:txBody>
      </p:sp>
      <p:sp>
        <p:nvSpPr>
          <p:cNvPr id="7" name="SlideNo 7"/>
          <p:cNvSpPr txBox="1"/>
          <p:nvPr/>
        </p:nvSpPr>
        <p:spPr>
          <a:xfrm>
            <a:off x="11109960" y="63550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endParaRPr lang="en-US" sz="900"/>
            <a:r>
              <a:rPr lang="en-US" sz="900">
                <a:solidFill>
                  <a:srgbClr val="5B647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8" name="Shape 8"/>
          <p:cNvSpPr/>
          <p:nvPr/>
        </p:nvSpPr>
        <p:spPr>
          <a:xfrm>
            <a:off x="594360" y="914400"/>
            <a:ext cx="5897880" cy="438912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9" name="ChartTitle 9"/>
          <p:cNvSpPr txBox="1"/>
          <p:nvPr/>
        </p:nvSpPr>
        <p:spPr>
          <a:xfrm>
            <a:off x="731520" y="1005840"/>
            <a:ext cx="5623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300"/>
            <a:r>
              <a:rPr lang="en-US" sz="13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Metadata + rerank by category</a:t>
            </a:r>
          </a:p>
        </p:txBody>
      </p:sp>
      <p:sp>
        <p:nvSpPr>
          <p:cNvPr id="10" name="Shape 10"/>
          <p:cNvSpPr/>
          <p:nvPr/>
        </p:nvSpPr>
        <p:spPr>
          <a:xfrm>
            <a:off x="1005840" y="4709160"/>
            <a:ext cx="5212080" cy="9144"/>
          </a:xfrm>
          <a:prstGeom prst="rect">
            <a:avLst/>
          </a:prstGeom>
          <a:solidFill>
            <a:srgbClr val="9CA3AF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1156716" y="1463040"/>
            <a:ext cx="219456" cy="3246120"/>
          </a:xfrm>
          <a:prstGeom prst="rect">
            <a:avLst/>
          </a:prstGeom>
          <a:solidFill>
            <a:srgbClr val="3767B1"/>
          </a:solidFill>
          <a:ln>
            <a:noFill/>
          </a:ln>
        </p:spPr>
      </p:sp>
      <p:sp>
        <p:nvSpPr>
          <p:cNvPr id="12" name="BarVal 12"/>
          <p:cNvSpPr txBox="1"/>
          <p:nvPr/>
        </p:nvSpPr>
        <p:spPr>
          <a:xfrm>
            <a:off x="1110996" y="1280160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" name="Shape 13"/>
          <p:cNvSpPr/>
          <p:nvPr/>
        </p:nvSpPr>
        <p:spPr>
          <a:xfrm>
            <a:off x="1417320" y="1463040"/>
            <a:ext cx="219456" cy="324612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4" name="BarVal 14"/>
          <p:cNvSpPr txBox="1"/>
          <p:nvPr/>
        </p:nvSpPr>
        <p:spPr>
          <a:xfrm>
            <a:off x="1371600" y="1280160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5" name="Shape 15"/>
          <p:cNvSpPr/>
          <p:nvPr/>
        </p:nvSpPr>
        <p:spPr>
          <a:xfrm>
            <a:off x="1677924" y="1463040"/>
            <a:ext cx="219456" cy="324612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6" name="BarVal 16"/>
          <p:cNvSpPr txBox="1"/>
          <p:nvPr/>
        </p:nvSpPr>
        <p:spPr>
          <a:xfrm>
            <a:off x="1632204" y="1280160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" name="XLabel 17"/>
          <p:cNvSpPr txBox="1"/>
          <p:nvPr/>
        </p:nvSpPr>
        <p:spPr>
          <a:xfrm>
            <a:off x="1207008" y="478231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830"/>
            <a:r>
              <a:rPr lang="en-US" sz="830">
                <a:solidFill>
                  <a:srgbClr val="5B6478"/>
                </a:solidFill>
                <a:latin typeface="Arial"/>
                <a:ea typeface="Arial"/>
                <a:cs typeface="Arial"/>
              </a:rPr>
              <a:t>NSE&lt;=10</a:t>
            </a:r>
          </a:p>
        </p:txBody>
      </p:sp>
      <p:sp>
        <p:nvSpPr>
          <p:cNvPr id="18" name="Shape 18"/>
          <p:cNvSpPr/>
          <p:nvPr/>
        </p:nvSpPr>
        <p:spPr>
          <a:xfrm>
            <a:off x="2199132" y="2436876"/>
            <a:ext cx="219456" cy="2272284"/>
          </a:xfrm>
          <a:prstGeom prst="rect">
            <a:avLst/>
          </a:prstGeom>
          <a:solidFill>
            <a:srgbClr val="3767B1"/>
          </a:solidFill>
          <a:ln>
            <a:noFill/>
          </a:ln>
        </p:spPr>
      </p:sp>
      <p:sp>
        <p:nvSpPr>
          <p:cNvPr id="19" name="BarVal 19"/>
          <p:cNvSpPr txBox="1"/>
          <p:nvPr/>
        </p:nvSpPr>
        <p:spPr>
          <a:xfrm>
            <a:off x="2153412" y="2253996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70</a:t>
            </a:r>
          </a:p>
        </p:txBody>
      </p:sp>
      <p:sp>
        <p:nvSpPr>
          <p:cNvPr id="20" name="Shape 20"/>
          <p:cNvSpPr/>
          <p:nvPr/>
        </p:nvSpPr>
        <p:spPr>
          <a:xfrm>
            <a:off x="2459736" y="2112264"/>
            <a:ext cx="219456" cy="2596896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1" name="BarVal 21"/>
          <p:cNvSpPr txBox="1"/>
          <p:nvPr/>
        </p:nvSpPr>
        <p:spPr>
          <a:xfrm>
            <a:off x="2414016" y="1929384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2" name="Shape 22"/>
          <p:cNvSpPr/>
          <p:nvPr/>
        </p:nvSpPr>
        <p:spPr>
          <a:xfrm>
            <a:off x="2720340" y="1463040"/>
            <a:ext cx="219456" cy="324612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23" name="BarVal 23"/>
          <p:cNvSpPr txBox="1"/>
          <p:nvPr/>
        </p:nvSpPr>
        <p:spPr>
          <a:xfrm>
            <a:off x="2674620" y="1280160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4" name="XLabel 24"/>
          <p:cNvSpPr txBox="1"/>
          <p:nvPr/>
        </p:nvSpPr>
        <p:spPr>
          <a:xfrm>
            <a:off x="2249424" y="478231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830"/>
            <a:r>
              <a:rPr lang="en-US" sz="830">
                <a:solidFill>
                  <a:srgbClr val="5B6478"/>
                </a:solidFill>
                <a:latin typeface="Arial"/>
                <a:ea typeface="Arial"/>
                <a:cs typeface="Arial"/>
              </a:rPr>
              <a:t>NSE&gt;10</a:t>
            </a:r>
          </a:p>
        </p:txBody>
      </p:sp>
      <p:sp>
        <p:nvSpPr>
          <p:cNvPr id="25" name="Shape 25"/>
          <p:cNvSpPr/>
          <p:nvPr/>
        </p:nvSpPr>
        <p:spPr>
          <a:xfrm>
            <a:off x="3241548" y="4384548"/>
            <a:ext cx="219456" cy="324612"/>
          </a:xfrm>
          <a:prstGeom prst="rect">
            <a:avLst/>
          </a:prstGeom>
          <a:solidFill>
            <a:srgbClr val="3767B1"/>
          </a:solidFill>
          <a:ln>
            <a:noFill/>
          </a:ln>
        </p:spPr>
      </p:sp>
      <p:sp>
        <p:nvSpPr>
          <p:cNvPr id="26" name="BarVal 26"/>
          <p:cNvSpPr txBox="1"/>
          <p:nvPr/>
        </p:nvSpPr>
        <p:spPr>
          <a:xfrm>
            <a:off x="3195828" y="4201668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7" name="Shape 27"/>
          <p:cNvSpPr/>
          <p:nvPr/>
        </p:nvSpPr>
        <p:spPr>
          <a:xfrm>
            <a:off x="3502152" y="3410712"/>
            <a:ext cx="219456" cy="1298448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8" name="BarVal 28"/>
          <p:cNvSpPr txBox="1"/>
          <p:nvPr/>
        </p:nvSpPr>
        <p:spPr>
          <a:xfrm>
            <a:off x="3456432" y="3227832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9" name="Shape 29"/>
          <p:cNvSpPr/>
          <p:nvPr/>
        </p:nvSpPr>
        <p:spPr>
          <a:xfrm>
            <a:off x="3762756" y="3086100"/>
            <a:ext cx="219456" cy="162306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30" name="BarVal 30"/>
          <p:cNvSpPr txBox="1"/>
          <p:nvPr/>
        </p:nvSpPr>
        <p:spPr>
          <a:xfrm>
            <a:off x="3717036" y="2903220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1" name="XLabel 31"/>
          <p:cNvSpPr txBox="1"/>
          <p:nvPr/>
        </p:nvSpPr>
        <p:spPr>
          <a:xfrm>
            <a:off x="3291840" y="478231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830"/>
            <a:r>
              <a:rPr lang="en-US" sz="830">
                <a:solidFill>
                  <a:srgbClr val="5B6478"/>
                </a:solidFill>
                <a:latin typeface="Arial"/>
                <a:ea typeface="Arial"/>
                <a:cs typeface="Arial"/>
              </a:rPr>
              <a:t>IR</a:t>
            </a:r>
          </a:p>
        </p:txBody>
      </p:sp>
      <p:sp>
        <p:nvSpPr>
          <p:cNvPr id="32" name="Shape 32"/>
          <p:cNvSpPr/>
          <p:nvPr/>
        </p:nvSpPr>
        <p:spPr>
          <a:xfrm>
            <a:off x="4283964" y="2534260"/>
            <a:ext cx="219456" cy="2174900"/>
          </a:xfrm>
          <a:prstGeom prst="rect">
            <a:avLst/>
          </a:prstGeom>
          <a:solidFill>
            <a:srgbClr val="3767B1"/>
          </a:solidFill>
          <a:ln>
            <a:noFill/>
          </a:ln>
        </p:spPr>
      </p:sp>
      <p:sp>
        <p:nvSpPr>
          <p:cNvPr id="33" name="BarVal 33"/>
          <p:cNvSpPr txBox="1"/>
          <p:nvPr/>
        </p:nvSpPr>
        <p:spPr>
          <a:xfrm>
            <a:off x="4238244" y="2351380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34" name="Shape 34"/>
          <p:cNvSpPr/>
          <p:nvPr/>
        </p:nvSpPr>
        <p:spPr>
          <a:xfrm>
            <a:off x="4544568" y="2534260"/>
            <a:ext cx="219456" cy="21749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5" name="BarVal 35"/>
          <p:cNvSpPr txBox="1"/>
          <p:nvPr/>
        </p:nvSpPr>
        <p:spPr>
          <a:xfrm>
            <a:off x="4498848" y="2351380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36" name="Shape 36"/>
          <p:cNvSpPr/>
          <p:nvPr/>
        </p:nvSpPr>
        <p:spPr>
          <a:xfrm>
            <a:off x="4805172" y="2534260"/>
            <a:ext cx="219456" cy="217490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37" name="BarVal 37"/>
          <p:cNvSpPr txBox="1"/>
          <p:nvPr/>
        </p:nvSpPr>
        <p:spPr>
          <a:xfrm>
            <a:off x="4759452" y="2351380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38" name="XLabel 38"/>
          <p:cNvSpPr txBox="1"/>
          <p:nvPr/>
        </p:nvSpPr>
        <p:spPr>
          <a:xfrm>
            <a:off x="4334256" y="478231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830"/>
            <a:r>
              <a:rPr lang="en-US" sz="830">
                <a:solidFill>
                  <a:srgbClr val="5B6478"/>
                </a:solidFill>
                <a:latin typeface="Arial"/>
                <a:ea typeface="Arial"/>
                <a:cs typeface="Arial"/>
              </a:rPr>
              <a:t>Trend</a:t>
            </a:r>
          </a:p>
        </p:txBody>
      </p:sp>
      <p:sp>
        <p:nvSpPr>
          <p:cNvPr id="39" name="Shape 39"/>
          <p:cNvSpPr/>
          <p:nvPr/>
        </p:nvSpPr>
        <p:spPr>
          <a:xfrm>
            <a:off x="5326380" y="1463040"/>
            <a:ext cx="219456" cy="3246120"/>
          </a:xfrm>
          <a:prstGeom prst="rect">
            <a:avLst/>
          </a:prstGeom>
          <a:solidFill>
            <a:srgbClr val="3767B1"/>
          </a:solidFill>
          <a:ln>
            <a:noFill/>
          </a:ln>
        </p:spPr>
      </p:sp>
      <p:sp>
        <p:nvSpPr>
          <p:cNvPr id="40" name="BarVal 40"/>
          <p:cNvSpPr txBox="1"/>
          <p:nvPr/>
        </p:nvSpPr>
        <p:spPr>
          <a:xfrm>
            <a:off x="5280660" y="1280160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1" name="Shape 41"/>
          <p:cNvSpPr/>
          <p:nvPr/>
        </p:nvSpPr>
        <p:spPr>
          <a:xfrm>
            <a:off x="5586984" y="1463040"/>
            <a:ext cx="219456" cy="324612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2" name="BarVal 42"/>
          <p:cNvSpPr txBox="1"/>
          <p:nvPr/>
        </p:nvSpPr>
        <p:spPr>
          <a:xfrm>
            <a:off x="5541264" y="1280160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3" name="Shape 43"/>
          <p:cNvSpPr/>
          <p:nvPr/>
        </p:nvSpPr>
        <p:spPr>
          <a:xfrm>
            <a:off x="5847588" y="1463040"/>
            <a:ext cx="219456" cy="324612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44" name="BarVal 44"/>
          <p:cNvSpPr txBox="1"/>
          <p:nvPr/>
        </p:nvSpPr>
        <p:spPr>
          <a:xfrm>
            <a:off x="5801868" y="1280160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5" name="XLabel 45"/>
          <p:cNvSpPr txBox="1"/>
          <p:nvPr/>
        </p:nvSpPr>
        <p:spPr>
          <a:xfrm>
            <a:off x="5376672" y="478231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830"/>
            <a:r>
              <a:rPr lang="en-US" sz="830">
                <a:solidFill>
                  <a:srgbClr val="5B6478"/>
                </a:solidFill>
                <a:latin typeface="Arial"/>
                <a:ea typeface="Arial"/>
                <a:cs typeface="Arial"/>
              </a:rPr>
              <a:t>Yahoo</a:t>
            </a:r>
          </a:p>
        </p:txBody>
      </p:sp>
      <p:sp>
        <p:nvSpPr>
          <p:cNvPr id="46" name="Shape 46"/>
          <p:cNvSpPr/>
          <p:nvPr/>
        </p:nvSpPr>
        <p:spPr>
          <a:xfrm>
            <a:off x="822960" y="5010912"/>
            <a:ext cx="109728" cy="109728"/>
          </a:xfrm>
          <a:prstGeom prst="rect">
            <a:avLst/>
          </a:prstGeom>
          <a:solidFill>
            <a:srgbClr val="3767B1"/>
          </a:solidFill>
          <a:ln>
            <a:noFill/>
          </a:ln>
        </p:spPr>
      </p:sp>
      <p:sp>
        <p:nvSpPr>
          <p:cNvPr id="47" name="Legend 47"/>
          <p:cNvSpPr txBox="1"/>
          <p:nvPr/>
        </p:nvSpPr>
        <p:spPr>
          <a:xfrm>
            <a:off x="978408" y="4992624"/>
            <a:ext cx="15544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880"/>
            <a:r>
              <a:rPr lang="en-US" sz="880">
                <a:solidFill>
                  <a:srgbClr val="5B6478"/>
                </a:solidFill>
                <a:latin typeface="Arial"/>
                <a:ea typeface="Arial"/>
                <a:cs typeface="Arial"/>
              </a:rPr>
              <a:t>R@3</a:t>
            </a:r>
          </a:p>
        </p:txBody>
      </p:sp>
      <p:sp>
        <p:nvSpPr>
          <p:cNvPr id="48" name="Shape 48"/>
          <p:cNvSpPr/>
          <p:nvPr/>
        </p:nvSpPr>
        <p:spPr>
          <a:xfrm>
            <a:off x="2651760" y="5010912"/>
            <a:ext cx="109728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9" name="Legend 49"/>
          <p:cNvSpPr txBox="1"/>
          <p:nvPr/>
        </p:nvSpPr>
        <p:spPr>
          <a:xfrm>
            <a:off x="2807208" y="4992624"/>
            <a:ext cx="15544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880"/>
            <a:r>
              <a:rPr lang="en-US" sz="880">
                <a:solidFill>
                  <a:srgbClr val="5B6478"/>
                </a:solidFill>
                <a:latin typeface="Arial"/>
                <a:ea typeface="Arial"/>
                <a:cs typeface="Arial"/>
              </a:rPr>
              <a:t>R@5</a:t>
            </a:r>
          </a:p>
        </p:txBody>
      </p:sp>
      <p:sp>
        <p:nvSpPr>
          <p:cNvPr id="50" name="Shape 50"/>
          <p:cNvSpPr/>
          <p:nvPr/>
        </p:nvSpPr>
        <p:spPr>
          <a:xfrm>
            <a:off x="4480560" y="5010912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51" name="Legend 51"/>
          <p:cNvSpPr txBox="1"/>
          <p:nvPr/>
        </p:nvSpPr>
        <p:spPr>
          <a:xfrm>
            <a:off x="4636008" y="4992624"/>
            <a:ext cx="15544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880"/>
            <a:r>
              <a:rPr lang="en-US" sz="880">
                <a:solidFill>
                  <a:srgbClr val="5B6478"/>
                </a:solidFill>
                <a:latin typeface="Arial"/>
                <a:ea typeface="Arial"/>
                <a:cs typeface="Arial"/>
              </a:rPr>
              <a:t>R@7</a:t>
            </a:r>
          </a:p>
        </p:txBody>
      </p:sp>
      <p:sp>
        <p:nvSpPr>
          <p:cNvPr id="52" name="Bullet Box 52"/>
          <p:cNvSpPr txBox="1"/>
          <p:nvPr/>
        </p:nvSpPr>
        <p:spPr>
          <a:xfrm>
            <a:off x="6812280" y="1051560"/>
            <a:ext cx="3977639" cy="338328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  <p:txBody>
          <a:bodyPr wrap="square" lIns="120000" tIns="100000" rIns="120000" bIns="100000" anchor="t"/>
          <a:lstStyle/>
          <a:p>
            <a:pPr marL="260000" indent="-160000">
              <a:buChar char="-"/>
            </a:pPr>
            <a:r>
              <a:rPr lang="en-US" sz="1600">
                <a:solidFill>
                  <a:srgbClr val="1A1A2E"/>
                </a:solidFill>
                <a:latin typeface="Arial"/>
                <a:ea typeface="Arial"/>
                <a:cs typeface="Arial"/>
              </a:rPr>
              <a:t>NSE &lt;=10 and Yahoo are strongest because metadata contains distinctive names/events.</a:t>
            </a:r>
          </a:p>
          <a:p>
            <a:pPr marL="260000" indent="-160000">
              <a:buChar char="-"/>
            </a:pPr>
            <a:r>
              <a:rPr lang="en-US" sz="1600">
                <a:solidFill>
                  <a:srgbClr val="1A1A2E"/>
                </a:solidFill>
                <a:latin typeface="Arial"/>
                <a:ea typeface="Arial"/>
                <a:cs typeface="Arial"/>
              </a:rPr>
              <a:t>Long NSE sections recover fully by Recall@7.</a:t>
            </a:r>
          </a:p>
          <a:p>
            <a:pPr marL="260000" indent="-160000">
              <a:buChar char="-"/>
            </a:pPr>
            <a:r>
              <a:rPr lang="en-US" sz="1600">
                <a:solidFill>
                  <a:srgbClr val="1A1A2E"/>
                </a:solidFill>
                <a:latin typeface="Arial"/>
                <a:ea typeface="Arial"/>
                <a:cs typeface="Arial"/>
              </a:rPr>
              <a:t>Infosys IR remains difficult because quarterly documents share near-identical vocabulary.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75" cy="713232"/>
          </a:xfrm>
          <a:prstGeom prst="rect">
            <a:avLst/>
          </a:prstGeom>
          <a:solidFill>
            <a:srgbClr val="141B4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713232"/>
            <a:ext cx="12191675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" name="Kicker 4"/>
          <p:cNvSpPr txBox="1"/>
          <p:nvPr/>
        </p:nvSpPr>
        <p:spPr>
          <a:xfrm>
            <a:off x="411480" y="10972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950"/>
            <a:r>
              <a:rPr lang="en-US" sz="95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T4 GPU EXPERIMENT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411480" y="283464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900"/>
            <a:r>
              <a:rPr lang="en-US"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Full-text BGE score-weight sweep</a:t>
            </a:r>
          </a:p>
        </p:txBody>
      </p:sp>
      <p:sp>
        <p:nvSpPr>
          <p:cNvPr id="6" name="FooterTop 6"/>
          <p:cNvSpPr txBox="1"/>
          <p:nvPr/>
        </p:nvSpPr>
        <p:spPr>
          <a:xfrm>
            <a:off x="9144000" y="22860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endParaRPr lang="en-US" sz="1000"/>
            <a:r>
              <a:rPr lang="en-US" sz="1000">
                <a:solidFill>
                  <a:srgbClr val="CADCFC"/>
                </a:solidFill>
                <a:latin typeface="Arial"/>
                <a:ea typeface="Arial"/>
                <a:cs typeface="Arial"/>
              </a:rPr>
              <a:t>FinQuery - Milestone 5</a:t>
            </a:r>
          </a:p>
        </p:txBody>
      </p:sp>
      <p:sp>
        <p:nvSpPr>
          <p:cNvPr id="7" name="SlideNo 7"/>
          <p:cNvSpPr txBox="1"/>
          <p:nvPr/>
        </p:nvSpPr>
        <p:spPr>
          <a:xfrm>
            <a:off x="11109960" y="63550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endParaRPr lang="en-US" sz="900"/>
            <a:r>
              <a:rPr lang="en-US" sz="900">
                <a:solidFill>
                  <a:srgbClr val="5B647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8" name="Shape 8"/>
          <p:cNvSpPr/>
          <p:nvPr/>
        </p:nvSpPr>
        <p:spPr>
          <a:xfrm>
            <a:off x="594360" y="914400"/>
            <a:ext cx="6400800" cy="416052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9" name="LineTitle 9"/>
          <p:cNvSpPr txBox="1"/>
          <p:nvPr/>
        </p:nvSpPr>
        <p:spPr>
          <a:xfrm>
            <a:off x="731520" y="1005840"/>
            <a:ext cx="6126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250"/>
            <a:r>
              <a:rPr lang="en-US" sz="125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Recall by body score weight</a:t>
            </a:r>
          </a:p>
        </p:txBody>
      </p:sp>
      <p:sp>
        <p:nvSpPr>
          <p:cNvPr id="10" name="Shape 10"/>
          <p:cNvSpPr/>
          <p:nvPr/>
        </p:nvSpPr>
        <p:spPr>
          <a:xfrm>
            <a:off x="1005840" y="4462272"/>
            <a:ext cx="5650992" cy="9144"/>
          </a:xfrm>
          <a:prstGeom prst="rect">
            <a:avLst/>
          </a:prstGeom>
          <a:solidFill>
            <a:srgbClr val="9CA3AF"/>
          </a:solidFill>
          <a:ln>
            <a:noFill/>
          </a:ln>
        </p:spPr>
      </p:sp>
      <p:sp>
        <p:nvSpPr>
          <p:cNvPr id="11" name="Oval 11"/>
          <p:cNvSpPr/>
          <p:nvPr/>
        </p:nvSpPr>
        <p:spPr>
          <a:xfrm>
            <a:off x="973836" y="2318004"/>
            <a:ext cx="64008" cy="64008"/>
          </a:xfrm>
          <a:prstGeom prst="ellipse">
            <a:avLst/>
          </a:prstGeom>
          <a:solidFill>
            <a:srgbClr val="3767B1"/>
          </a:solidFill>
          <a:ln>
            <a:noFill/>
          </a:ln>
        </p:spPr>
      </p:sp>
      <p:cxnSp>
        <p:nvCxnSpPr>
          <p:cNvPr id="12" name="Line 12"/>
          <p:cNvCxnSpPr/>
          <p:nvPr/>
        </p:nvCxnSpPr>
        <p:spPr>
          <a:xfrm>
            <a:off x="1005840" y="2350008"/>
            <a:ext cx="565099" cy="301752"/>
          </a:xfrm>
          <a:prstGeom prst="line">
            <a:avLst/>
          </a:prstGeom>
          <a:ln w="22000">
            <a:solidFill>
              <a:srgbClr val="3767B1"/>
            </a:solidFill>
          </a:ln>
        </p:spPr>
        <p:style/>
      </p:cxnSp>
      <p:sp>
        <p:nvSpPr>
          <p:cNvPr id="13" name="Oval 13"/>
          <p:cNvSpPr/>
          <p:nvPr/>
        </p:nvSpPr>
        <p:spPr>
          <a:xfrm>
            <a:off x="1538935" y="2619756"/>
            <a:ext cx="64008" cy="64008"/>
          </a:xfrm>
          <a:prstGeom prst="ellipse">
            <a:avLst/>
          </a:prstGeom>
          <a:solidFill>
            <a:srgbClr val="3767B1"/>
          </a:solidFill>
          <a:ln>
            <a:noFill/>
          </a:ln>
        </p:spPr>
      </p:sp>
      <p:cxnSp>
        <p:nvCxnSpPr>
          <p:cNvPr id="14" name="Line 14"/>
          <p:cNvCxnSpPr/>
          <p:nvPr/>
        </p:nvCxnSpPr>
        <p:spPr>
          <a:xfrm>
            <a:off x="1570939" y="2651760"/>
            <a:ext cx="565099" cy="0"/>
          </a:xfrm>
          <a:prstGeom prst="line">
            <a:avLst/>
          </a:prstGeom>
          <a:ln w="22000">
            <a:solidFill>
              <a:srgbClr val="3767B1"/>
            </a:solidFill>
          </a:ln>
        </p:spPr>
        <p:style/>
      </p:cxnSp>
      <p:sp>
        <p:nvSpPr>
          <p:cNvPr id="15" name="Oval 15"/>
          <p:cNvSpPr/>
          <p:nvPr/>
        </p:nvSpPr>
        <p:spPr>
          <a:xfrm>
            <a:off x="2104034" y="2619756"/>
            <a:ext cx="64008" cy="64008"/>
          </a:xfrm>
          <a:prstGeom prst="ellipse">
            <a:avLst/>
          </a:prstGeom>
          <a:solidFill>
            <a:srgbClr val="3767B1"/>
          </a:solidFill>
          <a:ln>
            <a:noFill/>
          </a:ln>
        </p:spPr>
      </p:sp>
      <p:cxnSp>
        <p:nvCxnSpPr>
          <p:cNvPr id="16" name="Line 16"/>
          <p:cNvCxnSpPr/>
          <p:nvPr/>
        </p:nvCxnSpPr>
        <p:spPr>
          <a:xfrm>
            <a:off x="2136038" y="2551176"/>
            <a:ext cx="565099" cy="100584"/>
          </a:xfrm>
          <a:prstGeom prst="line">
            <a:avLst/>
          </a:prstGeom>
          <a:ln w="22000">
            <a:solidFill>
              <a:srgbClr val="3767B1"/>
            </a:solidFill>
          </a:ln>
        </p:spPr>
        <p:style/>
      </p:cxnSp>
      <p:sp>
        <p:nvSpPr>
          <p:cNvPr id="17" name="Oval 17"/>
          <p:cNvSpPr/>
          <p:nvPr/>
        </p:nvSpPr>
        <p:spPr>
          <a:xfrm>
            <a:off x="2669133" y="2519172"/>
            <a:ext cx="64008" cy="64008"/>
          </a:xfrm>
          <a:prstGeom prst="ellipse">
            <a:avLst/>
          </a:prstGeom>
          <a:solidFill>
            <a:srgbClr val="3767B1"/>
          </a:solidFill>
          <a:ln>
            <a:noFill/>
          </a:ln>
        </p:spPr>
      </p:sp>
      <p:cxnSp>
        <p:nvCxnSpPr>
          <p:cNvPr id="18" name="Line 18"/>
          <p:cNvCxnSpPr/>
          <p:nvPr/>
        </p:nvCxnSpPr>
        <p:spPr>
          <a:xfrm>
            <a:off x="2701137" y="2551176"/>
            <a:ext cx="565099" cy="100584"/>
          </a:xfrm>
          <a:prstGeom prst="line">
            <a:avLst/>
          </a:prstGeom>
          <a:ln w="22000">
            <a:solidFill>
              <a:srgbClr val="3767B1"/>
            </a:solidFill>
          </a:ln>
        </p:spPr>
        <p:style/>
      </p:cxnSp>
      <p:sp>
        <p:nvSpPr>
          <p:cNvPr id="19" name="Oval 19"/>
          <p:cNvSpPr/>
          <p:nvPr/>
        </p:nvSpPr>
        <p:spPr>
          <a:xfrm>
            <a:off x="3234232" y="2619756"/>
            <a:ext cx="64008" cy="64008"/>
          </a:xfrm>
          <a:prstGeom prst="ellipse">
            <a:avLst/>
          </a:prstGeom>
          <a:solidFill>
            <a:srgbClr val="3767B1"/>
          </a:solidFill>
          <a:ln>
            <a:noFill/>
          </a:ln>
        </p:spPr>
      </p:sp>
      <p:cxnSp>
        <p:nvCxnSpPr>
          <p:cNvPr id="20" name="Line 20"/>
          <p:cNvCxnSpPr/>
          <p:nvPr/>
        </p:nvCxnSpPr>
        <p:spPr>
          <a:xfrm>
            <a:off x="3266236" y="2651760"/>
            <a:ext cx="565100" cy="0"/>
          </a:xfrm>
          <a:prstGeom prst="line">
            <a:avLst/>
          </a:prstGeom>
          <a:ln w="22000">
            <a:solidFill>
              <a:srgbClr val="3767B1"/>
            </a:solidFill>
          </a:ln>
        </p:spPr>
        <p:style/>
      </p:cxnSp>
      <p:sp>
        <p:nvSpPr>
          <p:cNvPr id="21" name="Oval 21"/>
          <p:cNvSpPr/>
          <p:nvPr/>
        </p:nvSpPr>
        <p:spPr>
          <a:xfrm>
            <a:off x="3799332" y="2619756"/>
            <a:ext cx="64008" cy="64008"/>
          </a:xfrm>
          <a:prstGeom prst="ellipse">
            <a:avLst/>
          </a:prstGeom>
          <a:solidFill>
            <a:srgbClr val="3767B1"/>
          </a:solidFill>
          <a:ln>
            <a:noFill/>
          </a:ln>
        </p:spPr>
      </p:sp>
      <p:cxnSp>
        <p:nvCxnSpPr>
          <p:cNvPr id="22" name="Line 22"/>
          <p:cNvCxnSpPr/>
          <p:nvPr/>
        </p:nvCxnSpPr>
        <p:spPr>
          <a:xfrm>
            <a:off x="3831336" y="2651760"/>
            <a:ext cx="565099" cy="0"/>
          </a:xfrm>
          <a:prstGeom prst="line">
            <a:avLst/>
          </a:prstGeom>
          <a:ln w="22000">
            <a:solidFill>
              <a:srgbClr val="3767B1"/>
            </a:solidFill>
          </a:ln>
        </p:spPr>
        <p:style/>
      </p:cxnSp>
      <p:sp>
        <p:nvSpPr>
          <p:cNvPr id="23" name="Oval 23"/>
          <p:cNvSpPr/>
          <p:nvPr/>
        </p:nvSpPr>
        <p:spPr>
          <a:xfrm>
            <a:off x="4364431" y="2619756"/>
            <a:ext cx="64008" cy="64008"/>
          </a:xfrm>
          <a:prstGeom prst="ellipse">
            <a:avLst/>
          </a:prstGeom>
          <a:solidFill>
            <a:srgbClr val="3767B1"/>
          </a:solidFill>
          <a:ln>
            <a:noFill/>
          </a:ln>
        </p:spPr>
      </p:sp>
      <p:cxnSp>
        <p:nvCxnSpPr>
          <p:cNvPr id="24" name="Line 24"/>
          <p:cNvCxnSpPr/>
          <p:nvPr/>
        </p:nvCxnSpPr>
        <p:spPr>
          <a:xfrm>
            <a:off x="4396435" y="2551176"/>
            <a:ext cx="565099" cy="100584"/>
          </a:xfrm>
          <a:prstGeom prst="line">
            <a:avLst/>
          </a:prstGeom>
          <a:ln w="22000">
            <a:solidFill>
              <a:srgbClr val="3767B1"/>
            </a:solidFill>
          </a:ln>
        </p:spPr>
        <p:style/>
      </p:cxnSp>
      <p:sp>
        <p:nvSpPr>
          <p:cNvPr id="25" name="Oval 25"/>
          <p:cNvSpPr/>
          <p:nvPr/>
        </p:nvSpPr>
        <p:spPr>
          <a:xfrm>
            <a:off x="4929530" y="2519172"/>
            <a:ext cx="64008" cy="64008"/>
          </a:xfrm>
          <a:prstGeom prst="ellipse">
            <a:avLst/>
          </a:prstGeom>
          <a:solidFill>
            <a:srgbClr val="3767B1"/>
          </a:solidFill>
          <a:ln>
            <a:noFill/>
          </a:ln>
        </p:spPr>
      </p:sp>
      <p:cxnSp>
        <p:nvCxnSpPr>
          <p:cNvPr id="26" name="Line 26"/>
          <p:cNvCxnSpPr/>
          <p:nvPr/>
        </p:nvCxnSpPr>
        <p:spPr>
          <a:xfrm>
            <a:off x="4961534" y="2551176"/>
            <a:ext cx="565099" cy="0"/>
          </a:xfrm>
          <a:prstGeom prst="line">
            <a:avLst/>
          </a:prstGeom>
          <a:ln w="22000">
            <a:solidFill>
              <a:srgbClr val="3767B1"/>
            </a:solidFill>
          </a:ln>
        </p:spPr>
        <p:style/>
      </p:cxnSp>
      <p:sp>
        <p:nvSpPr>
          <p:cNvPr id="27" name="Oval 27"/>
          <p:cNvSpPr/>
          <p:nvPr/>
        </p:nvSpPr>
        <p:spPr>
          <a:xfrm>
            <a:off x="5494629" y="2519172"/>
            <a:ext cx="64008" cy="64008"/>
          </a:xfrm>
          <a:prstGeom prst="ellipse">
            <a:avLst/>
          </a:prstGeom>
          <a:solidFill>
            <a:srgbClr val="3767B1"/>
          </a:solidFill>
          <a:ln>
            <a:noFill/>
          </a:ln>
        </p:spPr>
      </p:sp>
      <p:cxnSp>
        <p:nvCxnSpPr>
          <p:cNvPr id="28" name="Line 28"/>
          <p:cNvCxnSpPr/>
          <p:nvPr/>
        </p:nvCxnSpPr>
        <p:spPr>
          <a:xfrm>
            <a:off x="5526633" y="2551176"/>
            <a:ext cx="565099" cy="100584"/>
          </a:xfrm>
          <a:prstGeom prst="line">
            <a:avLst/>
          </a:prstGeom>
          <a:ln w="22000">
            <a:solidFill>
              <a:srgbClr val="3767B1"/>
            </a:solidFill>
          </a:ln>
        </p:spPr>
        <p:style/>
      </p:cxnSp>
      <p:sp>
        <p:nvSpPr>
          <p:cNvPr id="29" name="Oval 29"/>
          <p:cNvSpPr/>
          <p:nvPr/>
        </p:nvSpPr>
        <p:spPr>
          <a:xfrm>
            <a:off x="6059728" y="2619756"/>
            <a:ext cx="64008" cy="64008"/>
          </a:xfrm>
          <a:prstGeom prst="ellipse">
            <a:avLst/>
          </a:prstGeom>
          <a:solidFill>
            <a:srgbClr val="3767B1"/>
          </a:solidFill>
          <a:ln>
            <a:noFill/>
          </a:ln>
        </p:spPr>
      </p:sp>
      <p:cxnSp>
        <p:nvCxnSpPr>
          <p:cNvPr id="30" name="Line 30"/>
          <p:cNvCxnSpPr/>
          <p:nvPr/>
        </p:nvCxnSpPr>
        <p:spPr>
          <a:xfrm>
            <a:off x="6091732" y="2651760"/>
            <a:ext cx="565100" cy="201168"/>
          </a:xfrm>
          <a:prstGeom prst="line">
            <a:avLst/>
          </a:prstGeom>
          <a:ln w="22000">
            <a:solidFill>
              <a:srgbClr val="3767B1"/>
            </a:solidFill>
          </a:ln>
        </p:spPr>
        <p:style/>
      </p:cxnSp>
      <p:sp>
        <p:nvSpPr>
          <p:cNvPr id="31" name="Oval 31"/>
          <p:cNvSpPr/>
          <p:nvPr/>
        </p:nvSpPr>
        <p:spPr>
          <a:xfrm>
            <a:off x="6624828" y="2820924"/>
            <a:ext cx="64008" cy="64008"/>
          </a:xfrm>
          <a:prstGeom prst="ellipse">
            <a:avLst/>
          </a:prstGeom>
          <a:solidFill>
            <a:srgbClr val="3767B1"/>
          </a:solidFill>
          <a:ln>
            <a:noFill/>
          </a:ln>
        </p:spPr>
      </p:sp>
      <p:sp>
        <p:nvSpPr>
          <p:cNvPr id="32" name="Oval 32"/>
          <p:cNvSpPr/>
          <p:nvPr/>
        </p:nvSpPr>
        <p:spPr>
          <a:xfrm>
            <a:off x="973836" y="2217420"/>
            <a:ext cx="64008" cy="6400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cxnSp>
        <p:nvCxnSpPr>
          <p:cNvPr id="33" name="Line 33"/>
          <p:cNvCxnSpPr/>
          <p:nvPr/>
        </p:nvCxnSpPr>
        <p:spPr>
          <a:xfrm>
            <a:off x="1005840" y="2048256"/>
            <a:ext cx="565099" cy="201168"/>
          </a:xfrm>
          <a:prstGeom prst="line">
            <a:avLst/>
          </a:prstGeom>
          <a:ln w="22000">
            <a:solidFill>
              <a:srgbClr val="2E7D32"/>
            </a:solidFill>
          </a:ln>
        </p:spPr>
        <p:style/>
      </p:cxnSp>
      <p:sp>
        <p:nvSpPr>
          <p:cNvPr id="34" name="Oval 34"/>
          <p:cNvSpPr/>
          <p:nvPr/>
        </p:nvSpPr>
        <p:spPr>
          <a:xfrm>
            <a:off x="1538935" y="2016252"/>
            <a:ext cx="64008" cy="6400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cxnSp>
        <p:nvCxnSpPr>
          <p:cNvPr id="35" name="Line 35"/>
          <p:cNvCxnSpPr/>
          <p:nvPr/>
        </p:nvCxnSpPr>
        <p:spPr>
          <a:xfrm>
            <a:off x="1570939" y="2048256"/>
            <a:ext cx="565099" cy="301752"/>
          </a:xfrm>
          <a:prstGeom prst="line">
            <a:avLst/>
          </a:prstGeom>
          <a:ln w="22000">
            <a:solidFill>
              <a:srgbClr val="2E7D32"/>
            </a:solidFill>
          </a:ln>
        </p:spPr>
        <p:style/>
      </p:cxnSp>
      <p:sp>
        <p:nvSpPr>
          <p:cNvPr id="36" name="Oval 36"/>
          <p:cNvSpPr/>
          <p:nvPr/>
        </p:nvSpPr>
        <p:spPr>
          <a:xfrm>
            <a:off x="2104034" y="2318004"/>
            <a:ext cx="64008" cy="6400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cxnSp>
        <p:nvCxnSpPr>
          <p:cNvPr id="37" name="Line 37"/>
          <p:cNvCxnSpPr/>
          <p:nvPr/>
        </p:nvCxnSpPr>
        <p:spPr>
          <a:xfrm>
            <a:off x="2136038" y="2350008"/>
            <a:ext cx="565099" cy="0"/>
          </a:xfrm>
          <a:prstGeom prst="line">
            <a:avLst/>
          </a:prstGeom>
          <a:ln w="22000">
            <a:solidFill>
              <a:srgbClr val="2E7D32"/>
            </a:solidFill>
          </a:ln>
        </p:spPr>
        <p:style/>
      </p:cxnSp>
      <p:sp>
        <p:nvSpPr>
          <p:cNvPr id="38" name="Oval 38"/>
          <p:cNvSpPr/>
          <p:nvPr/>
        </p:nvSpPr>
        <p:spPr>
          <a:xfrm>
            <a:off x="2669133" y="2318004"/>
            <a:ext cx="64008" cy="6400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cxnSp>
        <p:nvCxnSpPr>
          <p:cNvPr id="39" name="Line 39"/>
          <p:cNvCxnSpPr/>
          <p:nvPr/>
        </p:nvCxnSpPr>
        <p:spPr>
          <a:xfrm>
            <a:off x="2701137" y="2350008"/>
            <a:ext cx="565099" cy="100584"/>
          </a:xfrm>
          <a:prstGeom prst="line">
            <a:avLst/>
          </a:prstGeom>
          <a:ln w="22000">
            <a:solidFill>
              <a:srgbClr val="2E7D32"/>
            </a:solidFill>
          </a:ln>
        </p:spPr>
        <p:style/>
      </p:cxnSp>
      <p:sp>
        <p:nvSpPr>
          <p:cNvPr id="40" name="Oval 40"/>
          <p:cNvSpPr/>
          <p:nvPr/>
        </p:nvSpPr>
        <p:spPr>
          <a:xfrm>
            <a:off x="3234232" y="2418588"/>
            <a:ext cx="64008" cy="6400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cxnSp>
        <p:nvCxnSpPr>
          <p:cNvPr id="41" name="Line 41"/>
          <p:cNvCxnSpPr/>
          <p:nvPr/>
        </p:nvCxnSpPr>
        <p:spPr>
          <a:xfrm>
            <a:off x="3266236" y="2350008"/>
            <a:ext cx="565100" cy="100584"/>
          </a:xfrm>
          <a:prstGeom prst="line">
            <a:avLst/>
          </a:prstGeom>
          <a:ln w="22000">
            <a:solidFill>
              <a:srgbClr val="2E7D32"/>
            </a:solidFill>
          </a:ln>
        </p:spPr>
        <p:style/>
      </p:cxnSp>
      <p:sp>
        <p:nvSpPr>
          <p:cNvPr id="42" name="Oval 42"/>
          <p:cNvSpPr/>
          <p:nvPr/>
        </p:nvSpPr>
        <p:spPr>
          <a:xfrm>
            <a:off x="3799332" y="2318004"/>
            <a:ext cx="64008" cy="6400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cxnSp>
        <p:nvCxnSpPr>
          <p:cNvPr id="43" name="Line 43"/>
          <p:cNvCxnSpPr/>
          <p:nvPr/>
        </p:nvCxnSpPr>
        <p:spPr>
          <a:xfrm>
            <a:off x="3831336" y="2350008"/>
            <a:ext cx="565099" cy="100584"/>
          </a:xfrm>
          <a:prstGeom prst="line">
            <a:avLst/>
          </a:prstGeom>
          <a:ln w="22000">
            <a:solidFill>
              <a:srgbClr val="2E7D32"/>
            </a:solidFill>
          </a:ln>
        </p:spPr>
        <p:style/>
      </p:cxnSp>
      <p:sp>
        <p:nvSpPr>
          <p:cNvPr id="44" name="Oval 44"/>
          <p:cNvSpPr/>
          <p:nvPr/>
        </p:nvSpPr>
        <p:spPr>
          <a:xfrm>
            <a:off x="4364431" y="2418588"/>
            <a:ext cx="64008" cy="6400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cxnSp>
        <p:nvCxnSpPr>
          <p:cNvPr id="45" name="Line 45"/>
          <p:cNvCxnSpPr/>
          <p:nvPr/>
        </p:nvCxnSpPr>
        <p:spPr>
          <a:xfrm>
            <a:off x="4396435" y="2450592"/>
            <a:ext cx="565099" cy="0"/>
          </a:xfrm>
          <a:prstGeom prst="line">
            <a:avLst/>
          </a:prstGeom>
          <a:ln w="22000">
            <a:solidFill>
              <a:srgbClr val="2E7D32"/>
            </a:solidFill>
          </a:ln>
        </p:spPr>
        <p:style/>
      </p:cxnSp>
      <p:sp>
        <p:nvSpPr>
          <p:cNvPr id="46" name="Oval 46"/>
          <p:cNvSpPr/>
          <p:nvPr/>
        </p:nvSpPr>
        <p:spPr>
          <a:xfrm>
            <a:off x="4929530" y="2418588"/>
            <a:ext cx="64008" cy="6400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cxnSp>
        <p:nvCxnSpPr>
          <p:cNvPr id="47" name="Line 47"/>
          <p:cNvCxnSpPr/>
          <p:nvPr/>
        </p:nvCxnSpPr>
        <p:spPr>
          <a:xfrm>
            <a:off x="4961534" y="2450592"/>
            <a:ext cx="565099" cy="0"/>
          </a:xfrm>
          <a:prstGeom prst="line">
            <a:avLst/>
          </a:prstGeom>
          <a:ln w="22000">
            <a:solidFill>
              <a:srgbClr val="2E7D32"/>
            </a:solidFill>
          </a:ln>
        </p:spPr>
        <p:style/>
      </p:cxnSp>
      <p:sp>
        <p:nvSpPr>
          <p:cNvPr id="48" name="Oval 48"/>
          <p:cNvSpPr/>
          <p:nvPr/>
        </p:nvSpPr>
        <p:spPr>
          <a:xfrm>
            <a:off x="5494629" y="2418588"/>
            <a:ext cx="64008" cy="6400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cxnSp>
        <p:nvCxnSpPr>
          <p:cNvPr id="49" name="Line 49"/>
          <p:cNvCxnSpPr/>
          <p:nvPr/>
        </p:nvCxnSpPr>
        <p:spPr>
          <a:xfrm>
            <a:off x="5526633" y="2450592"/>
            <a:ext cx="565099" cy="0"/>
          </a:xfrm>
          <a:prstGeom prst="line">
            <a:avLst/>
          </a:prstGeom>
          <a:ln w="22000">
            <a:solidFill>
              <a:srgbClr val="2E7D32"/>
            </a:solidFill>
          </a:ln>
        </p:spPr>
        <p:style/>
      </p:cxnSp>
      <p:sp>
        <p:nvSpPr>
          <p:cNvPr id="50" name="Oval 50"/>
          <p:cNvSpPr/>
          <p:nvPr/>
        </p:nvSpPr>
        <p:spPr>
          <a:xfrm>
            <a:off x="6059728" y="2418588"/>
            <a:ext cx="64008" cy="6400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cxnSp>
        <p:nvCxnSpPr>
          <p:cNvPr id="51" name="Line 51"/>
          <p:cNvCxnSpPr/>
          <p:nvPr/>
        </p:nvCxnSpPr>
        <p:spPr>
          <a:xfrm>
            <a:off x="6091732" y="2450592"/>
            <a:ext cx="565100" cy="100584"/>
          </a:xfrm>
          <a:prstGeom prst="line">
            <a:avLst/>
          </a:prstGeom>
          <a:ln w="22000">
            <a:solidFill>
              <a:srgbClr val="2E7D32"/>
            </a:solidFill>
          </a:ln>
        </p:spPr>
        <p:style/>
      </p:cxnSp>
      <p:sp>
        <p:nvSpPr>
          <p:cNvPr id="52" name="Oval 52"/>
          <p:cNvSpPr/>
          <p:nvPr/>
        </p:nvSpPr>
        <p:spPr>
          <a:xfrm>
            <a:off x="6624828" y="2519172"/>
            <a:ext cx="64008" cy="6400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53" name="Oval 53"/>
          <p:cNvSpPr/>
          <p:nvPr/>
        </p:nvSpPr>
        <p:spPr>
          <a:xfrm>
            <a:off x="973836" y="1915668"/>
            <a:ext cx="64008" cy="6400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cxnSp>
        <p:nvCxnSpPr>
          <p:cNvPr id="54" name="Line 54"/>
          <p:cNvCxnSpPr/>
          <p:nvPr/>
        </p:nvCxnSpPr>
        <p:spPr>
          <a:xfrm>
            <a:off x="1005840" y="1947672"/>
            <a:ext cx="565099" cy="100584"/>
          </a:xfrm>
          <a:prstGeom prst="line">
            <a:avLst/>
          </a:prstGeom>
          <a:ln w="22000">
            <a:solidFill>
              <a:srgbClr val="D97706"/>
            </a:solidFill>
          </a:ln>
        </p:spPr>
        <p:style/>
      </p:cxnSp>
      <p:sp>
        <p:nvSpPr>
          <p:cNvPr id="55" name="Oval 55"/>
          <p:cNvSpPr/>
          <p:nvPr/>
        </p:nvSpPr>
        <p:spPr>
          <a:xfrm>
            <a:off x="1538935" y="2016252"/>
            <a:ext cx="64008" cy="6400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cxnSp>
        <p:nvCxnSpPr>
          <p:cNvPr id="56" name="Line 56"/>
          <p:cNvCxnSpPr/>
          <p:nvPr/>
        </p:nvCxnSpPr>
        <p:spPr>
          <a:xfrm>
            <a:off x="1570939" y="1947672"/>
            <a:ext cx="565099" cy="100584"/>
          </a:xfrm>
          <a:prstGeom prst="line">
            <a:avLst/>
          </a:prstGeom>
          <a:ln w="22000">
            <a:solidFill>
              <a:srgbClr val="D97706"/>
            </a:solidFill>
          </a:ln>
        </p:spPr>
        <p:style/>
      </p:cxnSp>
      <p:sp>
        <p:nvSpPr>
          <p:cNvPr id="57" name="Oval 57"/>
          <p:cNvSpPr/>
          <p:nvPr/>
        </p:nvSpPr>
        <p:spPr>
          <a:xfrm>
            <a:off x="2104034" y="1915668"/>
            <a:ext cx="64008" cy="6400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cxnSp>
        <p:nvCxnSpPr>
          <p:cNvPr id="58" name="Line 58"/>
          <p:cNvCxnSpPr/>
          <p:nvPr/>
        </p:nvCxnSpPr>
        <p:spPr>
          <a:xfrm>
            <a:off x="2136038" y="1947672"/>
            <a:ext cx="565099" cy="100584"/>
          </a:xfrm>
          <a:prstGeom prst="line">
            <a:avLst/>
          </a:prstGeom>
          <a:ln w="22000">
            <a:solidFill>
              <a:srgbClr val="D97706"/>
            </a:solidFill>
          </a:ln>
        </p:spPr>
        <p:style/>
      </p:cxnSp>
      <p:sp>
        <p:nvSpPr>
          <p:cNvPr id="59" name="Oval 59"/>
          <p:cNvSpPr/>
          <p:nvPr/>
        </p:nvSpPr>
        <p:spPr>
          <a:xfrm>
            <a:off x="2669133" y="2016252"/>
            <a:ext cx="64008" cy="6400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cxnSp>
        <p:nvCxnSpPr>
          <p:cNvPr id="60" name="Line 60"/>
          <p:cNvCxnSpPr/>
          <p:nvPr/>
        </p:nvCxnSpPr>
        <p:spPr>
          <a:xfrm>
            <a:off x="2701137" y="2048256"/>
            <a:ext cx="565099" cy="301752"/>
          </a:xfrm>
          <a:prstGeom prst="line">
            <a:avLst/>
          </a:prstGeom>
          <a:ln w="22000">
            <a:solidFill>
              <a:srgbClr val="D97706"/>
            </a:solidFill>
          </a:ln>
        </p:spPr>
        <p:style/>
      </p:cxnSp>
      <p:sp>
        <p:nvSpPr>
          <p:cNvPr id="61" name="Oval 61"/>
          <p:cNvSpPr/>
          <p:nvPr/>
        </p:nvSpPr>
        <p:spPr>
          <a:xfrm>
            <a:off x="3234232" y="2318004"/>
            <a:ext cx="64008" cy="6400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cxnSp>
        <p:nvCxnSpPr>
          <p:cNvPr id="62" name="Line 62"/>
          <p:cNvCxnSpPr/>
          <p:nvPr/>
        </p:nvCxnSpPr>
        <p:spPr>
          <a:xfrm>
            <a:off x="3266236" y="2350008"/>
            <a:ext cx="565100" cy="0"/>
          </a:xfrm>
          <a:prstGeom prst="line">
            <a:avLst/>
          </a:prstGeom>
          <a:ln w="22000">
            <a:solidFill>
              <a:srgbClr val="D97706"/>
            </a:solidFill>
          </a:ln>
        </p:spPr>
        <p:style/>
      </p:cxnSp>
      <p:sp>
        <p:nvSpPr>
          <p:cNvPr id="63" name="Oval 63"/>
          <p:cNvSpPr/>
          <p:nvPr/>
        </p:nvSpPr>
        <p:spPr>
          <a:xfrm>
            <a:off x="3799332" y="2318004"/>
            <a:ext cx="64008" cy="6400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cxnSp>
        <p:nvCxnSpPr>
          <p:cNvPr id="64" name="Line 64"/>
          <p:cNvCxnSpPr/>
          <p:nvPr/>
        </p:nvCxnSpPr>
        <p:spPr>
          <a:xfrm>
            <a:off x="3831336" y="2350008"/>
            <a:ext cx="565099" cy="0"/>
          </a:xfrm>
          <a:prstGeom prst="line">
            <a:avLst/>
          </a:prstGeom>
          <a:ln w="22000">
            <a:solidFill>
              <a:srgbClr val="D97706"/>
            </a:solidFill>
          </a:ln>
        </p:spPr>
        <p:style/>
      </p:cxnSp>
      <p:sp>
        <p:nvSpPr>
          <p:cNvPr id="65" name="Oval 65"/>
          <p:cNvSpPr/>
          <p:nvPr/>
        </p:nvSpPr>
        <p:spPr>
          <a:xfrm>
            <a:off x="4364431" y="2318004"/>
            <a:ext cx="64008" cy="6400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cxnSp>
        <p:nvCxnSpPr>
          <p:cNvPr id="66" name="Line 66"/>
          <p:cNvCxnSpPr/>
          <p:nvPr/>
        </p:nvCxnSpPr>
        <p:spPr>
          <a:xfrm>
            <a:off x="4396435" y="2350008"/>
            <a:ext cx="565099" cy="100584"/>
          </a:xfrm>
          <a:prstGeom prst="line">
            <a:avLst/>
          </a:prstGeom>
          <a:ln w="22000">
            <a:solidFill>
              <a:srgbClr val="D97706"/>
            </a:solidFill>
          </a:ln>
        </p:spPr>
        <p:style/>
      </p:cxnSp>
      <p:sp>
        <p:nvSpPr>
          <p:cNvPr id="67" name="Oval 67"/>
          <p:cNvSpPr/>
          <p:nvPr/>
        </p:nvSpPr>
        <p:spPr>
          <a:xfrm>
            <a:off x="4929530" y="2418588"/>
            <a:ext cx="64008" cy="6400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cxnSp>
        <p:nvCxnSpPr>
          <p:cNvPr id="68" name="Line 68"/>
          <p:cNvCxnSpPr/>
          <p:nvPr/>
        </p:nvCxnSpPr>
        <p:spPr>
          <a:xfrm>
            <a:off x="4961534" y="2450592"/>
            <a:ext cx="565099" cy="0"/>
          </a:xfrm>
          <a:prstGeom prst="line">
            <a:avLst/>
          </a:prstGeom>
          <a:ln w="22000">
            <a:solidFill>
              <a:srgbClr val="D97706"/>
            </a:solidFill>
          </a:ln>
        </p:spPr>
        <p:style/>
      </p:cxnSp>
      <p:sp>
        <p:nvSpPr>
          <p:cNvPr id="69" name="Oval 69"/>
          <p:cNvSpPr/>
          <p:nvPr/>
        </p:nvSpPr>
        <p:spPr>
          <a:xfrm>
            <a:off x="5494629" y="2418588"/>
            <a:ext cx="64008" cy="6400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cxnSp>
        <p:nvCxnSpPr>
          <p:cNvPr id="70" name="Line 70"/>
          <p:cNvCxnSpPr/>
          <p:nvPr/>
        </p:nvCxnSpPr>
        <p:spPr>
          <a:xfrm>
            <a:off x="5526633" y="2450592"/>
            <a:ext cx="565099" cy="0"/>
          </a:xfrm>
          <a:prstGeom prst="line">
            <a:avLst/>
          </a:prstGeom>
          <a:ln w="22000">
            <a:solidFill>
              <a:srgbClr val="D97706"/>
            </a:solidFill>
          </a:ln>
        </p:spPr>
        <p:style/>
      </p:cxnSp>
      <p:sp>
        <p:nvSpPr>
          <p:cNvPr id="71" name="Oval 71"/>
          <p:cNvSpPr/>
          <p:nvPr/>
        </p:nvSpPr>
        <p:spPr>
          <a:xfrm>
            <a:off x="6059728" y="2418588"/>
            <a:ext cx="64008" cy="6400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cxnSp>
        <p:nvCxnSpPr>
          <p:cNvPr id="72" name="Line 72"/>
          <p:cNvCxnSpPr/>
          <p:nvPr/>
        </p:nvCxnSpPr>
        <p:spPr>
          <a:xfrm>
            <a:off x="6091732" y="2450592"/>
            <a:ext cx="565100" cy="0"/>
          </a:xfrm>
          <a:prstGeom prst="line">
            <a:avLst/>
          </a:prstGeom>
          <a:ln w="22000">
            <a:solidFill>
              <a:srgbClr val="D97706"/>
            </a:solidFill>
          </a:ln>
        </p:spPr>
        <p:style/>
      </p:cxnSp>
      <p:sp>
        <p:nvSpPr>
          <p:cNvPr id="73" name="Oval 73"/>
          <p:cNvSpPr/>
          <p:nvPr/>
        </p:nvSpPr>
        <p:spPr>
          <a:xfrm>
            <a:off x="6624828" y="2418588"/>
            <a:ext cx="64008" cy="6400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74" name="Oval 74"/>
          <p:cNvSpPr/>
          <p:nvPr/>
        </p:nvSpPr>
        <p:spPr>
          <a:xfrm>
            <a:off x="973836" y="1714500"/>
            <a:ext cx="64008" cy="64008"/>
          </a:xfrm>
          <a:prstGeom prst="ellipse">
            <a:avLst/>
          </a:prstGeom>
          <a:solidFill>
            <a:srgbClr val="6D5BD0"/>
          </a:solidFill>
          <a:ln>
            <a:noFill/>
          </a:ln>
        </p:spPr>
      </p:sp>
      <p:cxnSp>
        <p:nvCxnSpPr>
          <p:cNvPr id="75" name="Line 75"/>
          <p:cNvCxnSpPr/>
          <p:nvPr/>
        </p:nvCxnSpPr>
        <p:spPr>
          <a:xfrm>
            <a:off x="1005840" y="1746504"/>
            <a:ext cx="565099" cy="0"/>
          </a:xfrm>
          <a:prstGeom prst="line">
            <a:avLst/>
          </a:prstGeom>
          <a:ln w="22000">
            <a:solidFill>
              <a:srgbClr val="6D5BD0"/>
            </a:solidFill>
          </a:ln>
        </p:spPr>
        <p:style/>
      </p:cxnSp>
      <p:sp>
        <p:nvSpPr>
          <p:cNvPr id="76" name="Oval 76"/>
          <p:cNvSpPr/>
          <p:nvPr/>
        </p:nvSpPr>
        <p:spPr>
          <a:xfrm>
            <a:off x="1538935" y="1714500"/>
            <a:ext cx="64008" cy="64008"/>
          </a:xfrm>
          <a:prstGeom prst="ellipse">
            <a:avLst/>
          </a:prstGeom>
          <a:solidFill>
            <a:srgbClr val="6D5BD0"/>
          </a:solidFill>
          <a:ln>
            <a:noFill/>
          </a:ln>
        </p:spPr>
      </p:sp>
      <p:cxnSp>
        <p:nvCxnSpPr>
          <p:cNvPr id="77" name="Line 77"/>
          <p:cNvCxnSpPr/>
          <p:nvPr/>
        </p:nvCxnSpPr>
        <p:spPr>
          <a:xfrm>
            <a:off x="1570939" y="1746504"/>
            <a:ext cx="565099" cy="0"/>
          </a:xfrm>
          <a:prstGeom prst="line">
            <a:avLst/>
          </a:prstGeom>
          <a:ln w="22000">
            <a:solidFill>
              <a:srgbClr val="6D5BD0"/>
            </a:solidFill>
          </a:ln>
        </p:spPr>
        <p:style/>
      </p:cxnSp>
      <p:sp>
        <p:nvSpPr>
          <p:cNvPr id="78" name="Oval 78"/>
          <p:cNvSpPr/>
          <p:nvPr/>
        </p:nvSpPr>
        <p:spPr>
          <a:xfrm>
            <a:off x="2104034" y="1714500"/>
            <a:ext cx="64008" cy="64008"/>
          </a:xfrm>
          <a:prstGeom prst="ellipse">
            <a:avLst/>
          </a:prstGeom>
          <a:solidFill>
            <a:srgbClr val="6D5BD0"/>
          </a:solidFill>
          <a:ln>
            <a:noFill/>
          </a:ln>
        </p:spPr>
      </p:sp>
      <p:cxnSp>
        <p:nvCxnSpPr>
          <p:cNvPr id="79" name="Line 79"/>
          <p:cNvCxnSpPr/>
          <p:nvPr/>
        </p:nvCxnSpPr>
        <p:spPr>
          <a:xfrm>
            <a:off x="2136038" y="1746504"/>
            <a:ext cx="565099" cy="201168"/>
          </a:xfrm>
          <a:prstGeom prst="line">
            <a:avLst/>
          </a:prstGeom>
          <a:ln w="22000">
            <a:solidFill>
              <a:srgbClr val="6D5BD0"/>
            </a:solidFill>
          </a:ln>
        </p:spPr>
        <p:style/>
      </p:cxnSp>
      <p:sp>
        <p:nvSpPr>
          <p:cNvPr id="80" name="Oval 80"/>
          <p:cNvSpPr/>
          <p:nvPr/>
        </p:nvSpPr>
        <p:spPr>
          <a:xfrm>
            <a:off x="2669133" y="1915668"/>
            <a:ext cx="64008" cy="64008"/>
          </a:xfrm>
          <a:prstGeom prst="ellipse">
            <a:avLst/>
          </a:prstGeom>
          <a:solidFill>
            <a:srgbClr val="6D5BD0"/>
          </a:solidFill>
          <a:ln>
            <a:noFill/>
          </a:ln>
        </p:spPr>
      </p:sp>
      <p:cxnSp>
        <p:nvCxnSpPr>
          <p:cNvPr id="81" name="Line 81"/>
          <p:cNvCxnSpPr/>
          <p:nvPr/>
        </p:nvCxnSpPr>
        <p:spPr>
          <a:xfrm>
            <a:off x="2701137" y="1947672"/>
            <a:ext cx="565099" cy="100584"/>
          </a:xfrm>
          <a:prstGeom prst="line">
            <a:avLst/>
          </a:prstGeom>
          <a:ln w="22000">
            <a:solidFill>
              <a:srgbClr val="6D5BD0"/>
            </a:solidFill>
          </a:ln>
        </p:spPr>
        <p:style/>
      </p:cxnSp>
      <p:sp>
        <p:nvSpPr>
          <p:cNvPr id="82" name="Oval 82"/>
          <p:cNvSpPr/>
          <p:nvPr/>
        </p:nvSpPr>
        <p:spPr>
          <a:xfrm>
            <a:off x="3234232" y="2016252"/>
            <a:ext cx="64008" cy="64008"/>
          </a:xfrm>
          <a:prstGeom prst="ellipse">
            <a:avLst/>
          </a:prstGeom>
          <a:solidFill>
            <a:srgbClr val="6D5BD0"/>
          </a:solidFill>
          <a:ln>
            <a:noFill/>
          </a:ln>
        </p:spPr>
      </p:sp>
      <p:cxnSp>
        <p:nvCxnSpPr>
          <p:cNvPr id="83" name="Line 83"/>
          <p:cNvCxnSpPr/>
          <p:nvPr/>
        </p:nvCxnSpPr>
        <p:spPr>
          <a:xfrm>
            <a:off x="3266236" y="2048256"/>
            <a:ext cx="565100" cy="201168"/>
          </a:xfrm>
          <a:prstGeom prst="line">
            <a:avLst/>
          </a:prstGeom>
          <a:ln w="22000">
            <a:solidFill>
              <a:srgbClr val="6D5BD0"/>
            </a:solidFill>
          </a:ln>
        </p:spPr>
        <p:style/>
      </p:cxnSp>
      <p:sp>
        <p:nvSpPr>
          <p:cNvPr id="84" name="Oval 84"/>
          <p:cNvSpPr/>
          <p:nvPr/>
        </p:nvSpPr>
        <p:spPr>
          <a:xfrm>
            <a:off x="3799332" y="2217420"/>
            <a:ext cx="64008" cy="64008"/>
          </a:xfrm>
          <a:prstGeom prst="ellipse">
            <a:avLst/>
          </a:prstGeom>
          <a:solidFill>
            <a:srgbClr val="6D5BD0"/>
          </a:solidFill>
          <a:ln>
            <a:noFill/>
          </a:ln>
        </p:spPr>
      </p:sp>
      <p:cxnSp>
        <p:nvCxnSpPr>
          <p:cNvPr id="85" name="Line 85"/>
          <p:cNvCxnSpPr/>
          <p:nvPr/>
        </p:nvCxnSpPr>
        <p:spPr>
          <a:xfrm>
            <a:off x="3831336" y="2249424"/>
            <a:ext cx="565099" cy="100584"/>
          </a:xfrm>
          <a:prstGeom prst="line">
            <a:avLst/>
          </a:prstGeom>
          <a:ln w="22000">
            <a:solidFill>
              <a:srgbClr val="6D5BD0"/>
            </a:solidFill>
          </a:ln>
        </p:spPr>
        <p:style/>
      </p:cxnSp>
      <p:sp>
        <p:nvSpPr>
          <p:cNvPr id="86" name="Oval 86"/>
          <p:cNvSpPr/>
          <p:nvPr/>
        </p:nvSpPr>
        <p:spPr>
          <a:xfrm>
            <a:off x="4364431" y="2318004"/>
            <a:ext cx="64008" cy="64008"/>
          </a:xfrm>
          <a:prstGeom prst="ellipse">
            <a:avLst/>
          </a:prstGeom>
          <a:solidFill>
            <a:srgbClr val="6D5BD0"/>
          </a:solidFill>
          <a:ln>
            <a:noFill/>
          </a:ln>
        </p:spPr>
      </p:sp>
      <p:cxnSp>
        <p:nvCxnSpPr>
          <p:cNvPr id="87" name="Line 87"/>
          <p:cNvCxnSpPr/>
          <p:nvPr/>
        </p:nvCxnSpPr>
        <p:spPr>
          <a:xfrm>
            <a:off x="4396435" y="2350008"/>
            <a:ext cx="565099" cy="0"/>
          </a:xfrm>
          <a:prstGeom prst="line">
            <a:avLst/>
          </a:prstGeom>
          <a:ln w="22000">
            <a:solidFill>
              <a:srgbClr val="6D5BD0"/>
            </a:solidFill>
          </a:ln>
        </p:spPr>
        <p:style/>
      </p:cxnSp>
      <p:sp>
        <p:nvSpPr>
          <p:cNvPr id="88" name="Oval 88"/>
          <p:cNvSpPr/>
          <p:nvPr/>
        </p:nvSpPr>
        <p:spPr>
          <a:xfrm>
            <a:off x="4929530" y="2318004"/>
            <a:ext cx="64008" cy="64008"/>
          </a:xfrm>
          <a:prstGeom prst="ellipse">
            <a:avLst/>
          </a:prstGeom>
          <a:solidFill>
            <a:srgbClr val="6D5BD0"/>
          </a:solidFill>
          <a:ln>
            <a:noFill/>
          </a:ln>
        </p:spPr>
      </p:sp>
      <p:cxnSp>
        <p:nvCxnSpPr>
          <p:cNvPr id="89" name="Line 89"/>
          <p:cNvCxnSpPr/>
          <p:nvPr/>
        </p:nvCxnSpPr>
        <p:spPr>
          <a:xfrm>
            <a:off x="4961534" y="2350008"/>
            <a:ext cx="565099" cy="0"/>
          </a:xfrm>
          <a:prstGeom prst="line">
            <a:avLst/>
          </a:prstGeom>
          <a:ln w="22000">
            <a:solidFill>
              <a:srgbClr val="6D5BD0"/>
            </a:solidFill>
          </a:ln>
        </p:spPr>
        <p:style/>
      </p:cxnSp>
      <p:sp>
        <p:nvSpPr>
          <p:cNvPr id="90" name="Oval 90"/>
          <p:cNvSpPr/>
          <p:nvPr/>
        </p:nvSpPr>
        <p:spPr>
          <a:xfrm>
            <a:off x="5494629" y="2318004"/>
            <a:ext cx="64008" cy="64008"/>
          </a:xfrm>
          <a:prstGeom prst="ellipse">
            <a:avLst/>
          </a:prstGeom>
          <a:solidFill>
            <a:srgbClr val="6D5BD0"/>
          </a:solidFill>
          <a:ln>
            <a:noFill/>
          </a:ln>
        </p:spPr>
      </p:sp>
      <p:cxnSp>
        <p:nvCxnSpPr>
          <p:cNvPr id="91" name="Line 91"/>
          <p:cNvCxnSpPr/>
          <p:nvPr/>
        </p:nvCxnSpPr>
        <p:spPr>
          <a:xfrm>
            <a:off x="5526633" y="2350008"/>
            <a:ext cx="565099" cy="0"/>
          </a:xfrm>
          <a:prstGeom prst="line">
            <a:avLst/>
          </a:prstGeom>
          <a:ln w="22000">
            <a:solidFill>
              <a:srgbClr val="6D5BD0"/>
            </a:solidFill>
          </a:ln>
        </p:spPr>
        <p:style/>
      </p:cxnSp>
      <p:sp>
        <p:nvSpPr>
          <p:cNvPr id="92" name="Oval 92"/>
          <p:cNvSpPr/>
          <p:nvPr/>
        </p:nvSpPr>
        <p:spPr>
          <a:xfrm>
            <a:off x="6059728" y="2318004"/>
            <a:ext cx="64008" cy="64008"/>
          </a:xfrm>
          <a:prstGeom prst="ellipse">
            <a:avLst/>
          </a:prstGeom>
          <a:solidFill>
            <a:srgbClr val="6D5BD0"/>
          </a:solidFill>
          <a:ln>
            <a:noFill/>
          </a:ln>
        </p:spPr>
      </p:sp>
      <p:cxnSp>
        <p:nvCxnSpPr>
          <p:cNvPr id="93" name="Line 93"/>
          <p:cNvCxnSpPr/>
          <p:nvPr/>
        </p:nvCxnSpPr>
        <p:spPr>
          <a:xfrm>
            <a:off x="6091732" y="2350008"/>
            <a:ext cx="565100" cy="0"/>
          </a:xfrm>
          <a:prstGeom prst="line">
            <a:avLst/>
          </a:prstGeom>
          <a:ln w="22000">
            <a:solidFill>
              <a:srgbClr val="6D5BD0"/>
            </a:solidFill>
          </a:ln>
        </p:spPr>
        <p:style/>
      </p:cxnSp>
      <p:sp>
        <p:nvSpPr>
          <p:cNvPr id="94" name="Oval 94"/>
          <p:cNvSpPr/>
          <p:nvPr/>
        </p:nvSpPr>
        <p:spPr>
          <a:xfrm>
            <a:off x="6624828" y="2318004"/>
            <a:ext cx="64008" cy="64008"/>
          </a:xfrm>
          <a:prstGeom prst="ellipse">
            <a:avLst/>
          </a:prstGeom>
          <a:solidFill>
            <a:srgbClr val="6D5BD0"/>
          </a:solidFill>
          <a:ln>
            <a:noFill/>
          </a:ln>
        </p:spPr>
      </p:sp>
      <p:sp>
        <p:nvSpPr>
          <p:cNvPr id="95" name="Tick 95"/>
          <p:cNvSpPr txBox="1"/>
          <p:nvPr/>
        </p:nvSpPr>
        <p:spPr>
          <a:xfrm>
            <a:off x="841248" y="4535424"/>
            <a:ext cx="32918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5B6478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96" name="Tick 96"/>
          <p:cNvSpPr txBox="1"/>
          <p:nvPr/>
        </p:nvSpPr>
        <p:spPr>
          <a:xfrm>
            <a:off x="1971446" y="4535424"/>
            <a:ext cx="32918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5B6478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97" name="Tick 97"/>
          <p:cNvSpPr txBox="1"/>
          <p:nvPr/>
        </p:nvSpPr>
        <p:spPr>
          <a:xfrm>
            <a:off x="3101644" y="4535424"/>
            <a:ext cx="32918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5B6478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98" name="Tick 98"/>
          <p:cNvSpPr txBox="1"/>
          <p:nvPr/>
        </p:nvSpPr>
        <p:spPr>
          <a:xfrm>
            <a:off x="4231843" y="4535424"/>
            <a:ext cx="32918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5B6478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99" name="Tick 99"/>
          <p:cNvSpPr txBox="1"/>
          <p:nvPr/>
        </p:nvSpPr>
        <p:spPr>
          <a:xfrm>
            <a:off x="5362041" y="4535424"/>
            <a:ext cx="32918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5B6478"/>
                </a:solidFill>
                <a:latin typeface="Arial"/>
                <a:ea typeface="Arial"/>
                <a:cs typeface="Arial"/>
              </a:rPr>
              <a:t>0.8</a:t>
            </a:r>
          </a:p>
        </p:txBody>
      </p:sp>
      <p:sp>
        <p:nvSpPr>
          <p:cNvPr id="100" name="Tick 100"/>
          <p:cNvSpPr txBox="1"/>
          <p:nvPr/>
        </p:nvSpPr>
        <p:spPr>
          <a:xfrm>
            <a:off x="6492240" y="4535424"/>
            <a:ext cx="32918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5B6478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101" name="Shape 101"/>
          <p:cNvSpPr/>
          <p:nvPr/>
        </p:nvSpPr>
        <p:spPr>
          <a:xfrm>
            <a:off x="850392" y="4782312"/>
            <a:ext cx="109728" cy="109728"/>
          </a:xfrm>
          <a:prstGeom prst="rect">
            <a:avLst/>
          </a:prstGeom>
          <a:solidFill>
            <a:srgbClr val="3767B1"/>
          </a:solidFill>
          <a:ln>
            <a:noFill/>
          </a:ln>
        </p:spPr>
      </p:sp>
      <p:sp>
        <p:nvSpPr>
          <p:cNvPr id="102" name="Legend 102"/>
          <p:cNvSpPr txBox="1"/>
          <p:nvPr/>
        </p:nvSpPr>
        <p:spPr>
          <a:xfrm>
            <a:off x="1005840" y="4764024"/>
            <a:ext cx="749808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800"/>
            <a:r>
              <a:rPr lang="en-US" sz="800">
                <a:solidFill>
                  <a:srgbClr val="5B6478"/>
                </a:solidFill>
                <a:latin typeface="Arial"/>
                <a:ea typeface="Arial"/>
                <a:cs typeface="Arial"/>
              </a:rPr>
              <a:t>R@3</a:t>
            </a:r>
          </a:p>
        </p:txBody>
      </p:sp>
      <p:sp>
        <p:nvSpPr>
          <p:cNvPr id="103" name="Shape 103"/>
          <p:cNvSpPr/>
          <p:nvPr/>
        </p:nvSpPr>
        <p:spPr>
          <a:xfrm>
            <a:off x="1993392" y="4782312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04" name="Legend 104"/>
          <p:cNvSpPr txBox="1"/>
          <p:nvPr/>
        </p:nvSpPr>
        <p:spPr>
          <a:xfrm>
            <a:off x="2148840" y="4764024"/>
            <a:ext cx="749808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800"/>
            <a:r>
              <a:rPr lang="en-US" sz="800">
                <a:solidFill>
                  <a:srgbClr val="5B6478"/>
                </a:solidFill>
                <a:latin typeface="Arial"/>
                <a:ea typeface="Arial"/>
                <a:cs typeface="Arial"/>
              </a:rPr>
              <a:t>R@5</a:t>
            </a:r>
          </a:p>
        </p:txBody>
      </p:sp>
      <p:sp>
        <p:nvSpPr>
          <p:cNvPr id="105" name="Shape 105"/>
          <p:cNvSpPr/>
          <p:nvPr/>
        </p:nvSpPr>
        <p:spPr>
          <a:xfrm>
            <a:off x="3136392" y="4782312"/>
            <a:ext cx="109728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06" name="Legend 106"/>
          <p:cNvSpPr txBox="1"/>
          <p:nvPr/>
        </p:nvSpPr>
        <p:spPr>
          <a:xfrm>
            <a:off x="3291840" y="4764024"/>
            <a:ext cx="749808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800"/>
            <a:r>
              <a:rPr lang="en-US" sz="800">
                <a:solidFill>
                  <a:srgbClr val="5B6478"/>
                </a:solidFill>
                <a:latin typeface="Arial"/>
                <a:ea typeface="Arial"/>
                <a:cs typeface="Arial"/>
              </a:rPr>
              <a:t>R@7</a:t>
            </a:r>
          </a:p>
        </p:txBody>
      </p:sp>
      <p:sp>
        <p:nvSpPr>
          <p:cNvPr id="107" name="Shape 107"/>
          <p:cNvSpPr/>
          <p:nvPr/>
        </p:nvSpPr>
        <p:spPr>
          <a:xfrm>
            <a:off x="4279392" y="4782312"/>
            <a:ext cx="109728" cy="109728"/>
          </a:xfrm>
          <a:prstGeom prst="rect">
            <a:avLst/>
          </a:prstGeom>
          <a:solidFill>
            <a:srgbClr val="6D5BD0"/>
          </a:solidFill>
          <a:ln>
            <a:noFill/>
          </a:ln>
        </p:spPr>
      </p:sp>
      <p:sp>
        <p:nvSpPr>
          <p:cNvPr id="108" name="Legend 108"/>
          <p:cNvSpPr txBox="1"/>
          <p:nvPr/>
        </p:nvSpPr>
        <p:spPr>
          <a:xfrm>
            <a:off x="4434840" y="4764024"/>
            <a:ext cx="749808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800"/>
            <a:r>
              <a:rPr lang="en-US" sz="800">
                <a:solidFill>
                  <a:srgbClr val="5B6478"/>
                </a:solidFill>
                <a:latin typeface="Arial"/>
                <a:ea typeface="Arial"/>
                <a:cs typeface="Arial"/>
              </a:rPr>
              <a:t>R@9</a:t>
            </a:r>
          </a:p>
        </p:txBody>
      </p:sp>
      <p:sp>
        <p:nvSpPr>
          <p:cNvPr id="109" name="Bullet Box 109"/>
          <p:cNvSpPr txBox="1"/>
          <p:nvPr/>
        </p:nvSpPr>
        <p:spPr>
          <a:xfrm>
            <a:off x="7223760" y="1051560"/>
            <a:ext cx="3611880" cy="237744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  <p:txBody>
          <a:bodyPr wrap="square" lIns="120000" tIns="100000" rIns="120000" bIns="100000" anchor="t"/>
          <a:lstStyle/>
          <a:p>
            <a:pPr marL="260000" indent="-160000">
              <a:buChar char="-"/>
            </a:pPr>
            <a:r>
              <a:rPr lang="en-US" sz="1550">
                <a:solidFill>
                  <a:srgbClr val="1A1A2E"/>
                </a:solidFill>
                <a:latin typeface="Arial"/>
                <a:ea typeface="Arial"/>
                <a:cs typeface="Arial"/>
              </a:rPr>
              <a:t>Best R@3: metadata-only score, 42%.</a:t>
            </a:r>
          </a:p>
          <a:p>
            <a:pPr marL="260000" indent="-160000">
              <a:buChar char="-"/>
            </a:pPr>
            <a:r>
              <a:rPr lang="en-US" sz="1550">
                <a:solidFill>
                  <a:srgbClr val="1A1A2E"/>
                </a:solidFill>
                <a:latin typeface="Arial"/>
                <a:ea typeface="Arial"/>
                <a:cs typeface="Arial"/>
              </a:rPr>
              <a:t>Best R@5: body 0.1 + metadata 0.9, 48%.</a:t>
            </a:r>
          </a:p>
          <a:p>
            <a:pPr marL="260000" indent="-160000">
              <a:buChar char="-"/>
            </a:pPr>
            <a:r>
              <a:rPr lang="en-US" sz="1550">
                <a:solidFill>
                  <a:srgbClr val="1A1A2E"/>
                </a:solidFill>
                <a:latin typeface="Arial"/>
                <a:ea typeface="Arial"/>
                <a:cs typeface="Arial"/>
              </a:rPr>
              <a:t>Best R@9: metadata-heavy settings, 54%.</a:t>
            </a:r>
          </a:p>
        </p:txBody>
      </p:sp>
      <p:sp>
        <p:nvSpPr>
          <p:cNvPr id="110" name="Shape 110"/>
          <p:cNvSpPr/>
          <p:nvPr/>
        </p:nvSpPr>
        <p:spPr>
          <a:xfrm>
            <a:off x="7315200" y="3749039"/>
            <a:ext cx="1600200" cy="82296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111" name="Shape 111"/>
          <p:cNvSpPr/>
          <p:nvPr/>
        </p:nvSpPr>
        <p:spPr>
          <a:xfrm>
            <a:off x="7315200" y="3749039"/>
            <a:ext cx="100584" cy="822960"/>
          </a:xfrm>
          <a:prstGeom prst="rect">
            <a:avLst/>
          </a:prstGeom>
          <a:solidFill>
            <a:srgbClr val="3767B1"/>
          </a:solidFill>
          <a:ln>
            <a:noFill/>
          </a:ln>
        </p:spPr>
      </p:sp>
      <p:sp>
        <p:nvSpPr>
          <p:cNvPr id="112" name="StatNumber 112"/>
          <p:cNvSpPr txBox="1"/>
          <p:nvPr/>
        </p:nvSpPr>
        <p:spPr>
          <a:xfrm>
            <a:off x="7479792" y="3858767"/>
            <a:ext cx="134416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2400"/>
            <a:r>
              <a:rPr lang="en-US" sz="2400" b="1">
                <a:solidFill>
                  <a:srgbClr val="3767B1"/>
                </a:solidFill>
                <a:latin typeface="Arial"/>
                <a:ea typeface="Arial"/>
                <a:cs typeface="Arial"/>
              </a:rPr>
              <a:t>3.278s</a:t>
            </a:r>
          </a:p>
        </p:txBody>
      </p:sp>
      <p:sp>
        <p:nvSpPr>
          <p:cNvPr id="113" name="StatLabel 113"/>
          <p:cNvSpPr txBox="1"/>
          <p:nvPr/>
        </p:nvSpPr>
        <p:spPr>
          <a:xfrm>
            <a:off x="7479792" y="4279391"/>
            <a:ext cx="134416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150"/>
            <a:r>
              <a:rPr lang="en-US" sz="1150">
                <a:solidFill>
                  <a:srgbClr val="5B6478"/>
                </a:solidFill>
                <a:latin typeface="Arial"/>
                <a:ea typeface="Arial"/>
                <a:cs typeface="Arial"/>
              </a:rPr>
              <a:t>mean rerank time</a:t>
            </a:r>
          </a:p>
        </p:txBody>
      </p:sp>
      <p:sp>
        <p:nvSpPr>
          <p:cNvPr id="114" name="Shape 114"/>
          <p:cNvSpPr/>
          <p:nvPr/>
        </p:nvSpPr>
        <p:spPr>
          <a:xfrm>
            <a:off x="9098280" y="3749039"/>
            <a:ext cx="1600200" cy="82296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115" name="Shape 115"/>
          <p:cNvSpPr/>
          <p:nvPr/>
        </p:nvSpPr>
        <p:spPr>
          <a:xfrm>
            <a:off x="9098280" y="3749039"/>
            <a:ext cx="100584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16" name="StatNumber 116"/>
          <p:cNvSpPr txBox="1"/>
          <p:nvPr/>
        </p:nvSpPr>
        <p:spPr>
          <a:xfrm>
            <a:off x="9262872" y="3858767"/>
            <a:ext cx="134416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2400"/>
            <a:r>
              <a:rPr lang="en-US" sz="240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3.695s</a:t>
            </a:r>
          </a:p>
        </p:txBody>
      </p:sp>
      <p:sp>
        <p:nvSpPr>
          <p:cNvPr id="117" name="StatLabel 117"/>
          <p:cNvSpPr txBox="1"/>
          <p:nvPr/>
        </p:nvSpPr>
        <p:spPr>
          <a:xfrm>
            <a:off x="9262872" y="4279391"/>
            <a:ext cx="134416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150"/>
            <a:r>
              <a:rPr lang="en-US" sz="1150">
                <a:solidFill>
                  <a:srgbClr val="5B6478"/>
                </a:solidFill>
                <a:latin typeface="Arial"/>
                <a:ea typeface="Arial"/>
                <a:cs typeface="Arial"/>
              </a:rPr>
              <a:t>mean end-to-end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75" cy="713232"/>
          </a:xfrm>
          <a:prstGeom prst="rect">
            <a:avLst/>
          </a:prstGeom>
          <a:solidFill>
            <a:srgbClr val="141B4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713232"/>
            <a:ext cx="12191675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" name="Kicker 4"/>
          <p:cNvSpPr txBox="1"/>
          <p:nvPr/>
        </p:nvSpPr>
        <p:spPr>
          <a:xfrm>
            <a:off x="411480" y="10972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950"/>
            <a:r>
              <a:rPr lang="en-US" sz="95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ANSWER QUALITY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411480" y="283464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900"/>
            <a:r>
              <a:rPr lang="en-US"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RAGAS evaluation of Pipeline A</a:t>
            </a:r>
          </a:p>
        </p:txBody>
      </p:sp>
      <p:sp>
        <p:nvSpPr>
          <p:cNvPr id="6" name="FooterTop 6"/>
          <p:cNvSpPr txBox="1"/>
          <p:nvPr/>
        </p:nvSpPr>
        <p:spPr>
          <a:xfrm>
            <a:off x="9144000" y="22860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endParaRPr lang="en-US" sz="1000"/>
            <a:r>
              <a:rPr lang="en-US" sz="1000">
                <a:solidFill>
                  <a:srgbClr val="CADCFC"/>
                </a:solidFill>
                <a:latin typeface="Arial"/>
                <a:ea typeface="Arial"/>
                <a:cs typeface="Arial"/>
              </a:rPr>
              <a:t>FinQuery - Milestone 5</a:t>
            </a:r>
          </a:p>
        </p:txBody>
      </p:sp>
      <p:sp>
        <p:nvSpPr>
          <p:cNvPr id="7" name="SlideNo 7"/>
          <p:cNvSpPr txBox="1"/>
          <p:nvPr/>
        </p:nvSpPr>
        <p:spPr>
          <a:xfrm>
            <a:off x="11109960" y="63550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endParaRPr lang="en-US" sz="900"/>
            <a:r>
              <a:rPr lang="en-US" sz="900">
                <a:solidFill>
                  <a:srgbClr val="5B647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Shape 8"/>
          <p:cNvSpPr/>
          <p:nvPr/>
        </p:nvSpPr>
        <p:spPr>
          <a:xfrm>
            <a:off x="594360" y="914400"/>
            <a:ext cx="5577840" cy="393192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9" name="ChartTitle 9"/>
          <p:cNvSpPr txBox="1"/>
          <p:nvPr/>
        </p:nvSpPr>
        <p:spPr>
          <a:xfrm>
            <a:off x="731520" y="1005840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300"/>
            <a:r>
              <a:rPr lang="en-US" sz="13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RAGAS scores</a:t>
            </a:r>
          </a:p>
        </p:txBody>
      </p:sp>
      <p:sp>
        <p:nvSpPr>
          <p:cNvPr id="10" name="Shape 10"/>
          <p:cNvSpPr/>
          <p:nvPr/>
        </p:nvSpPr>
        <p:spPr>
          <a:xfrm>
            <a:off x="1005840" y="4251960"/>
            <a:ext cx="4892040" cy="9144"/>
          </a:xfrm>
          <a:prstGeom prst="rect">
            <a:avLst/>
          </a:prstGeom>
          <a:solidFill>
            <a:srgbClr val="9CA3AF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1507617" y="1769822"/>
            <a:ext cx="219456" cy="2482138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2" name="BarVal 12"/>
          <p:cNvSpPr txBox="1"/>
          <p:nvPr/>
        </p:nvSpPr>
        <p:spPr>
          <a:xfrm>
            <a:off x="1461897" y="1586942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89</a:t>
            </a:r>
          </a:p>
        </p:txBody>
      </p:sp>
      <p:sp>
        <p:nvSpPr>
          <p:cNvPr id="13" name="XLabel 13"/>
          <p:cNvSpPr txBox="1"/>
          <p:nvPr/>
        </p:nvSpPr>
        <p:spPr>
          <a:xfrm>
            <a:off x="1297305" y="432511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830"/>
            <a:r>
              <a:rPr lang="en-US" sz="830">
                <a:solidFill>
                  <a:srgbClr val="5B6478"/>
                </a:solidFill>
                <a:latin typeface="Arial"/>
                <a:ea typeface="Arial"/>
                <a:cs typeface="Arial"/>
              </a:rPr>
              <a:t>Faith</a:t>
            </a:r>
          </a:p>
        </p:txBody>
      </p:sp>
      <p:sp>
        <p:nvSpPr>
          <p:cNvPr id="14" name="Shape 14"/>
          <p:cNvSpPr/>
          <p:nvPr/>
        </p:nvSpPr>
        <p:spPr>
          <a:xfrm>
            <a:off x="2730627" y="1909268"/>
            <a:ext cx="219456" cy="2342692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5" name="BarVal 15"/>
          <p:cNvSpPr txBox="1"/>
          <p:nvPr/>
        </p:nvSpPr>
        <p:spPr>
          <a:xfrm>
            <a:off x="2684907" y="1726388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84</a:t>
            </a:r>
          </a:p>
        </p:txBody>
      </p:sp>
      <p:sp>
        <p:nvSpPr>
          <p:cNvPr id="16" name="XLabel 16"/>
          <p:cNvSpPr txBox="1"/>
          <p:nvPr/>
        </p:nvSpPr>
        <p:spPr>
          <a:xfrm>
            <a:off x="2520315" y="432511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830"/>
            <a:r>
              <a:rPr lang="en-US" sz="830">
                <a:solidFill>
                  <a:srgbClr val="5B6478"/>
                </a:solidFill>
                <a:latin typeface="Arial"/>
                <a:ea typeface="Arial"/>
                <a:cs typeface="Arial"/>
              </a:rPr>
              <a:t>Rel</a:t>
            </a:r>
          </a:p>
        </p:txBody>
      </p:sp>
      <p:sp>
        <p:nvSpPr>
          <p:cNvPr id="17" name="Shape 17"/>
          <p:cNvSpPr/>
          <p:nvPr/>
        </p:nvSpPr>
        <p:spPr>
          <a:xfrm>
            <a:off x="3953637" y="1546708"/>
            <a:ext cx="219456" cy="2705252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8" name="BarVal 18"/>
          <p:cNvSpPr txBox="1"/>
          <p:nvPr/>
        </p:nvSpPr>
        <p:spPr>
          <a:xfrm>
            <a:off x="3907917" y="1363828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97</a:t>
            </a:r>
          </a:p>
        </p:txBody>
      </p:sp>
      <p:sp>
        <p:nvSpPr>
          <p:cNvPr id="19" name="XLabel 19"/>
          <p:cNvSpPr txBox="1"/>
          <p:nvPr/>
        </p:nvSpPr>
        <p:spPr>
          <a:xfrm>
            <a:off x="3743325" y="432511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830"/>
            <a:r>
              <a:rPr lang="en-US" sz="830">
                <a:solidFill>
                  <a:srgbClr val="5B6478"/>
                </a:solidFill>
                <a:latin typeface="Arial"/>
                <a:ea typeface="Arial"/>
                <a:cs typeface="Arial"/>
              </a:rPr>
              <a:t>Prec</a:t>
            </a:r>
          </a:p>
        </p:txBody>
      </p:sp>
      <p:sp>
        <p:nvSpPr>
          <p:cNvPr id="20" name="Shape 20"/>
          <p:cNvSpPr/>
          <p:nvPr/>
        </p:nvSpPr>
        <p:spPr>
          <a:xfrm>
            <a:off x="5176647" y="1825600"/>
            <a:ext cx="219456" cy="242636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21" name="BarVal 21"/>
          <p:cNvSpPr txBox="1"/>
          <p:nvPr/>
        </p:nvSpPr>
        <p:spPr>
          <a:xfrm>
            <a:off x="5130927" y="1642720"/>
            <a:ext cx="31089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750"/>
            <a:r>
              <a:rPr lang="en-US" sz="750">
                <a:solidFill>
                  <a:srgbClr val="1A1A2E"/>
                </a:solidFill>
                <a:latin typeface="Arial"/>
                <a:ea typeface="Arial"/>
                <a:cs typeface="Arial"/>
              </a:rPr>
              <a:t>87</a:t>
            </a:r>
          </a:p>
        </p:txBody>
      </p:sp>
      <p:sp>
        <p:nvSpPr>
          <p:cNvPr id="22" name="XLabel 22"/>
          <p:cNvSpPr txBox="1"/>
          <p:nvPr/>
        </p:nvSpPr>
        <p:spPr>
          <a:xfrm>
            <a:off x="4966335" y="4325112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830"/>
            <a:r>
              <a:rPr lang="en-US" sz="830">
                <a:solidFill>
                  <a:srgbClr val="5B6478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23" name="Shape 23"/>
          <p:cNvSpPr/>
          <p:nvPr/>
        </p:nvSpPr>
        <p:spPr>
          <a:xfrm>
            <a:off x="822960" y="4553712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24" name="Legend 24"/>
          <p:cNvSpPr txBox="1"/>
          <p:nvPr/>
        </p:nvSpPr>
        <p:spPr>
          <a:xfrm>
            <a:off x="978408" y="4535424"/>
            <a:ext cx="15544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880"/>
            <a:r>
              <a:rPr lang="en-US" sz="880">
                <a:solidFill>
                  <a:srgbClr val="5B6478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25" name="Shape 25"/>
          <p:cNvSpPr/>
          <p:nvPr/>
        </p:nvSpPr>
        <p:spPr>
          <a:xfrm>
            <a:off x="6446520" y="1051560"/>
            <a:ext cx="44348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26" name="Shape 26"/>
          <p:cNvSpPr/>
          <p:nvPr/>
        </p:nvSpPr>
        <p:spPr>
          <a:xfrm>
            <a:off x="6446520" y="1051560"/>
            <a:ext cx="2749600" cy="466344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</p:sp>
      <p:sp>
        <p:nvSpPr>
          <p:cNvPr id="27" name="Head 27"/>
          <p:cNvSpPr txBox="1"/>
          <p:nvPr/>
        </p:nvSpPr>
        <p:spPr>
          <a:xfrm>
            <a:off x="6483096" y="1088136"/>
            <a:ext cx="2676448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200"/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28" name="Shape 28"/>
          <p:cNvSpPr/>
          <p:nvPr/>
        </p:nvSpPr>
        <p:spPr>
          <a:xfrm>
            <a:off x="9196120" y="1051560"/>
            <a:ext cx="1685239" cy="466344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</p:sp>
      <p:sp>
        <p:nvSpPr>
          <p:cNvPr id="29" name="Head 29"/>
          <p:cNvSpPr txBox="1"/>
          <p:nvPr/>
        </p:nvSpPr>
        <p:spPr>
          <a:xfrm>
            <a:off x="9232696" y="1088136"/>
            <a:ext cx="1612087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200"/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30" name="Shape 30"/>
          <p:cNvSpPr/>
          <p:nvPr/>
        </p:nvSpPr>
        <p:spPr>
          <a:xfrm>
            <a:off x="6446520" y="1517904"/>
            <a:ext cx="2749600" cy="466344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31" name="Cell 31"/>
          <p:cNvSpPr txBox="1"/>
          <p:nvPr/>
        </p:nvSpPr>
        <p:spPr>
          <a:xfrm>
            <a:off x="6483096" y="1554480"/>
            <a:ext cx="2676448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200"/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</a:rPr>
              <a:t>Faithfulness</a:t>
            </a:r>
          </a:p>
        </p:txBody>
      </p:sp>
      <p:sp>
        <p:nvSpPr>
          <p:cNvPr id="32" name="Shape 32"/>
          <p:cNvSpPr/>
          <p:nvPr/>
        </p:nvSpPr>
        <p:spPr>
          <a:xfrm>
            <a:off x="9196120" y="1517904"/>
            <a:ext cx="1685239" cy="466344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33" name="Cell 33"/>
          <p:cNvSpPr txBox="1"/>
          <p:nvPr/>
        </p:nvSpPr>
        <p:spPr>
          <a:xfrm>
            <a:off x="9232696" y="1554480"/>
            <a:ext cx="1612087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200"/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</a:rPr>
              <a:t>0.8929</a:t>
            </a:r>
          </a:p>
        </p:txBody>
      </p:sp>
      <p:sp>
        <p:nvSpPr>
          <p:cNvPr id="34" name="Shape 34"/>
          <p:cNvSpPr/>
          <p:nvPr/>
        </p:nvSpPr>
        <p:spPr>
          <a:xfrm>
            <a:off x="6446520" y="1984248"/>
            <a:ext cx="274960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35" name="Cell 35"/>
          <p:cNvSpPr txBox="1"/>
          <p:nvPr/>
        </p:nvSpPr>
        <p:spPr>
          <a:xfrm>
            <a:off x="6483096" y="2020824"/>
            <a:ext cx="2676448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200"/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</a:rPr>
              <a:t>Answer relevancy</a:t>
            </a:r>
          </a:p>
        </p:txBody>
      </p:sp>
      <p:sp>
        <p:nvSpPr>
          <p:cNvPr id="36" name="Shape 36"/>
          <p:cNvSpPr/>
          <p:nvPr/>
        </p:nvSpPr>
        <p:spPr>
          <a:xfrm>
            <a:off x="9196120" y="1984248"/>
            <a:ext cx="1685239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37" name="Cell 37"/>
          <p:cNvSpPr txBox="1"/>
          <p:nvPr/>
        </p:nvSpPr>
        <p:spPr>
          <a:xfrm>
            <a:off x="9232696" y="2020824"/>
            <a:ext cx="1612087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200"/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</a:rPr>
              <a:t>0.8439</a:t>
            </a:r>
          </a:p>
        </p:txBody>
      </p:sp>
      <p:sp>
        <p:nvSpPr>
          <p:cNvPr id="38" name="Shape 38"/>
          <p:cNvSpPr/>
          <p:nvPr/>
        </p:nvSpPr>
        <p:spPr>
          <a:xfrm>
            <a:off x="6446520" y="2450592"/>
            <a:ext cx="2749600" cy="466344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39" name="Cell 39"/>
          <p:cNvSpPr txBox="1"/>
          <p:nvPr/>
        </p:nvSpPr>
        <p:spPr>
          <a:xfrm>
            <a:off x="6483096" y="2487168"/>
            <a:ext cx="2676448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200"/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</a:rPr>
              <a:t>Context precision</a:t>
            </a:r>
          </a:p>
        </p:txBody>
      </p:sp>
      <p:sp>
        <p:nvSpPr>
          <p:cNvPr id="40" name="Shape 40"/>
          <p:cNvSpPr/>
          <p:nvPr/>
        </p:nvSpPr>
        <p:spPr>
          <a:xfrm>
            <a:off x="9196120" y="2450592"/>
            <a:ext cx="1685239" cy="466344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41" name="Cell 41"/>
          <p:cNvSpPr txBox="1"/>
          <p:nvPr/>
        </p:nvSpPr>
        <p:spPr>
          <a:xfrm>
            <a:off x="9232696" y="2487168"/>
            <a:ext cx="1612087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200"/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</a:rPr>
              <a:t>0.9683</a:t>
            </a:r>
          </a:p>
        </p:txBody>
      </p:sp>
      <p:sp>
        <p:nvSpPr>
          <p:cNvPr id="42" name="Shape 42"/>
          <p:cNvSpPr/>
          <p:nvPr/>
        </p:nvSpPr>
        <p:spPr>
          <a:xfrm>
            <a:off x="6446520" y="2916936"/>
            <a:ext cx="274960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43" name="Cell 43"/>
          <p:cNvSpPr txBox="1"/>
          <p:nvPr/>
        </p:nvSpPr>
        <p:spPr>
          <a:xfrm>
            <a:off x="6483096" y="2953512"/>
            <a:ext cx="2676448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200"/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</a:rPr>
              <a:t>Context recall</a:t>
            </a:r>
          </a:p>
        </p:txBody>
      </p:sp>
      <p:sp>
        <p:nvSpPr>
          <p:cNvPr id="44" name="Shape 44"/>
          <p:cNvSpPr/>
          <p:nvPr/>
        </p:nvSpPr>
        <p:spPr>
          <a:xfrm>
            <a:off x="9196120" y="2916936"/>
            <a:ext cx="1685239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45" name="Cell 45"/>
          <p:cNvSpPr txBox="1"/>
          <p:nvPr/>
        </p:nvSpPr>
        <p:spPr>
          <a:xfrm>
            <a:off x="9232696" y="2953512"/>
            <a:ext cx="1612087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200"/>
            <a:r>
              <a:rPr lang="en-US" sz="1200">
                <a:solidFill>
                  <a:srgbClr val="1A1A2E"/>
                </a:solidFill>
                <a:latin typeface="Arial"/>
                <a:ea typeface="Arial"/>
                <a:cs typeface="Arial"/>
              </a:rPr>
              <a:t>0.8725</a:t>
            </a:r>
          </a:p>
        </p:txBody>
      </p:sp>
      <p:sp>
        <p:nvSpPr>
          <p:cNvPr id="46" name="ModelNote 46"/>
          <p:cNvSpPr txBox="1"/>
          <p:nvPr/>
        </p:nvSpPr>
        <p:spPr>
          <a:xfrm>
            <a:off x="6629400" y="3749039"/>
            <a:ext cx="4069080" cy="640080"/>
          </a:xfrm>
          <a:prstGeom prst="rect">
            <a:avLst/>
          </a:prstGeom>
          <a:solidFill>
            <a:srgbClr val="EEF3FC"/>
          </a:solidFill>
          <a:ln w="12700">
            <a:solidFill>
              <a:srgbClr val="D9E2F3"/>
            </a:solidFill>
          </a:ln>
        </p:spPr>
        <p:txBody>
          <a:bodyPr wrap="square" lIns="73152" tIns="73152" rIns="73152" bIns="73152" anchor="t"/>
          <a:lstStyle/>
          <a:p>
            <a:pPr algn="c"/>
            <a:endParaRPr lang="en-US" sz="1600"/>
            <a:r>
              <a:rPr lang="en-US" sz="16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Answers were generated with gpt-4o-mini and evaluated with gpt-5.6-luna.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75" cy="713232"/>
          </a:xfrm>
          <a:prstGeom prst="rect">
            <a:avLst/>
          </a:prstGeom>
          <a:solidFill>
            <a:srgbClr val="141B4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713232"/>
            <a:ext cx="12191675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" name="Kicker 4"/>
          <p:cNvSpPr txBox="1"/>
          <p:nvPr/>
        </p:nvSpPr>
        <p:spPr>
          <a:xfrm>
            <a:off x="411480" y="10972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950"/>
            <a:r>
              <a:rPr lang="en-US" sz="95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QUALITATIVE RESULTS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411480" y="283464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900"/>
            <a:r>
              <a:rPr lang="en-US"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Representative success cases</a:t>
            </a:r>
          </a:p>
        </p:txBody>
      </p:sp>
      <p:sp>
        <p:nvSpPr>
          <p:cNvPr id="6" name="FooterTop 6"/>
          <p:cNvSpPr txBox="1"/>
          <p:nvPr/>
        </p:nvSpPr>
        <p:spPr>
          <a:xfrm>
            <a:off x="9144000" y="22860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endParaRPr lang="en-US" sz="1000"/>
            <a:r>
              <a:rPr lang="en-US" sz="1000">
                <a:solidFill>
                  <a:srgbClr val="CADCFC"/>
                </a:solidFill>
                <a:latin typeface="Arial"/>
                <a:ea typeface="Arial"/>
                <a:cs typeface="Arial"/>
              </a:rPr>
              <a:t>FinQuery - Milestone 5</a:t>
            </a:r>
          </a:p>
        </p:txBody>
      </p:sp>
      <p:sp>
        <p:nvSpPr>
          <p:cNvPr id="7" name="SlideNo 7"/>
          <p:cNvSpPr txBox="1"/>
          <p:nvPr/>
        </p:nvSpPr>
        <p:spPr>
          <a:xfrm>
            <a:off x="11109960" y="63550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endParaRPr lang="en-US" sz="900"/>
            <a:r>
              <a:rPr lang="en-US" sz="900">
                <a:solidFill>
                  <a:srgbClr val="5B647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Shape 8"/>
          <p:cNvSpPr/>
          <p:nvPr/>
        </p:nvSpPr>
        <p:spPr>
          <a:xfrm>
            <a:off x="502920" y="914400"/>
            <a:ext cx="10378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9" name="Shape 9"/>
          <p:cNvSpPr/>
          <p:nvPr/>
        </p:nvSpPr>
        <p:spPr>
          <a:xfrm>
            <a:off x="502920" y="914400"/>
            <a:ext cx="726490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</p:sp>
      <p:sp>
        <p:nvSpPr>
          <p:cNvPr id="10" name="Head 10"/>
          <p:cNvSpPr txBox="1"/>
          <p:nvPr/>
        </p:nvSpPr>
        <p:spPr>
          <a:xfrm>
            <a:off x="539496" y="950976"/>
            <a:ext cx="65333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969"/>
            <a:r>
              <a:rPr lang="en-US" sz="969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11" name="Shape 11"/>
          <p:cNvSpPr/>
          <p:nvPr/>
        </p:nvSpPr>
        <p:spPr>
          <a:xfrm>
            <a:off x="1229410" y="914400"/>
            <a:ext cx="2594610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</p:sp>
      <p:sp>
        <p:nvSpPr>
          <p:cNvPr id="12" name="Head 12"/>
          <p:cNvSpPr txBox="1"/>
          <p:nvPr/>
        </p:nvSpPr>
        <p:spPr>
          <a:xfrm>
            <a:off x="1265986" y="950976"/>
            <a:ext cx="252145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969"/>
            <a:r>
              <a:rPr lang="en-US" sz="969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3" name="Shape 13"/>
          <p:cNvSpPr/>
          <p:nvPr/>
        </p:nvSpPr>
        <p:spPr>
          <a:xfrm>
            <a:off x="3824020" y="914400"/>
            <a:ext cx="3736238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</p:sp>
      <p:sp>
        <p:nvSpPr>
          <p:cNvPr id="14" name="Head 14"/>
          <p:cNvSpPr txBox="1"/>
          <p:nvPr/>
        </p:nvSpPr>
        <p:spPr>
          <a:xfrm>
            <a:off x="3860596" y="950976"/>
            <a:ext cx="3663086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969"/>
            <a:r>
              <a:rPr lang="en-US" sz="969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it worked</a:t>
            </a:r>
          </a:p>
        </p:txBody>
      </p:sp>
      <p:sp>
        <p:nvSpPr>
          <p:cNvPr id="15" name="Shape 15"/>
          <p:cNvSpPr/>
          <p:nvPr/>
        </p:nvSpPr>
        <p:spPr>
          <a:xfrm>
            <a:off x="7560259" y="914400"/>
            <a:ext cx="3321100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</p:sp>
      <p:sp>
        <p:nvSpPr>
          <p:cNvPr id="16" name="Head 16"/>
          <p:cNvSpPr txBox="1"/>
          <p:nvPr/>
        </p:nvSpPr>
        <p:spPr>
          <a:xfrm>
            <a:off x="7596835" y="950976"/>
            <a:ext cx="324794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969"/>
            <a:r>
              <a:rPr lang="en-US" sz="969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17" name="Shape 17"/>
          <p:cNvSpPr/>
          <p:nvPr/>
        </p:nvSpPr>
        <p:spPr>
          <a:xfrm>
            <a:off x="502920" y="1517904"/>
            <a:ext cx="726490" cy="603504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18" name="Cell 18"/>
          <p:cNvSpPr txBox="1"/>
          <p:nvPr/>
        </p:nvSpPr>
        <p:spPr>
          <a:xfrm>
            <a:off x="539496" y="1554480"/>
            <a:ext cx="65333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969"/>
            <a:r>
              <a:rPr lang="en-US" sz="969">
                <a:solidFill>
                  <a:srgbClr val="1A1A2E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9" name="Shape 19"/>
          <p:cNvSpPr/>
          <p:nvPr/>
        </p:nvSpPr>
        <p:spPr>
          <a:xfrm>
            <a:off x="1229410" y="1517904"/>
            <a:ext cx="2594610" cy="603504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20" name="Cell 20"/>
          <p:cNvSpPr txBox="1"/>
          <p:nvPr/>
        </p:nvSpPr>
        <p:spPr>
          <a:xfrm>
            <a:off x="1265986" y="1554480"/>
            <a:ext cx="252145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969"/>
            <a:r>
              <a:rPr lang="en-US" sz="969">
                <a:solidFill>
                  <a:srgbClr val="1A1A2E"/>
                </a:solidFill>
                <a:latin typeface="Arial"/>
                <a:ea typeface="Arial"/>
                <a:cs typeface="Arial"/>
              </a:rPr>
              <a:t>IR Q3 FY26 earnings call</a:t>
            </a:r>
          </a:p>
        </p:txBody>
      </p:sp>
      <p:sp>
        <p:nvSpPr>
          <p:cNvPr id="21" name="Shape 21"/>
          <p:cNvSpPr/>
          <p:nvPr/>
        </p:nvSpPr>
        <p:spPr>
          <a:xfrm>
            <a:off x="3824020" y="1517904"/>
            <a:ext cx="3736238" cy="603504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22" name="Cell 22"/>
          <p:cNvSpPr txBox="1"/>
          <p:nvPr/>
        </p:nvSpPr>
        <p:spPr>
          <a:xfrm>
            <a:off x="3860596" y="1554480"/>
            <a:ext cx="3663086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969"/>
            <a:r>
              <a:rPr lang="en-US" sz="969">
                <a:solidFill>
                  <a:srgbClr val="1A1A2E"/>
                </a:solidFill>
                <a:latin typeface="Arial"/>
                <a:ea typeface="Arial"/>
                <a:cs typeface="Arial"/>
              </a:rPr>
              <a:t>Single factual query with exact metadata match</a:t>
            </a:r>
          </a:p>
        </p:txBody>
      </p:sp>
      <p:sp>
        <p:nvSpPr>
          <p:cNvPr id="23" name="Shape 23"/>
          <p:cNvSpPr/>
          <p:nvPr/>
        </p:nvSpPr>
        <p:spPr>
          <a:xfrm>
            <a:off x="7560259" y="1517904"/>
            <a:ext cx="3321100" cy="603504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24" name="Cell 24"/>
          <p:cNvSpPr txBox="1"/>
          <p:nvPr/>
        </p:nvSpPr>
        <p:spPr>
          <a:xfrm>
            <a:off x="7596835" y="1554480"/>
            <a:ext cx="324794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969"/>
            <a:r>
              <a:rPr lang="en-US" sz="969">
                <a:solidFill>
                  <a:srgbClr val="1A1A2E"/>
                </a:solidFill>
                <a:latin typeface="Arial"/>
                <a:ea typeface="Arial"/>
                <a:cs typeface="Arial"/>
              </a:rPr>
              <a:t>$4.8B TCV and 57% net-new returned</a:t>
            </a:r>
          </a:p>
        </p:txBody>
      </p:sp>
      <p:sp>
        <p:nvSpPr>
          <p:cNvPr id="25" name="Shape 25"/>
          <p:cNvSpPr/>
          <p:nvPr/>
        </p:nvSpPr>
        <p:spPr>
          <a:xfrm>
            <a:off x="502920" y="2121408"/>
            <a:ext cx="72649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26" name="Cell 26"/>
          <p:cNvSpPr txBox="1"/>
          <p:nvPr/>
        </p:nvSpPr>
        <p:spPr>
          <a:xfrm>
            <a:off x="539496" y="2157984"/>
            <a:ext cx="65333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969"/>
            <a:r>
              <a:rPr lang="en-US" sz="969">
                <a:solidFill>
                  <a:srgbClr val="1A1A2E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27" name="Shape 27"/>
          <p:cNvSpPr/>
          <p:nvPr/>
        </p:nvSpPr>
        <p:spPr>
          <a:xfrm>
            <a:off x="1229410" y="2121408"/>
            <a:ext cx="259461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28" name="Cell 28"/>
          <p:cNvSpPr txBox="1"/>
          <p:nvPr/>
        </p:nvSpPr>
        <p:spPr>
          <a:xfrm>
            <a:off x="1265986" y="2157984"/>
            <a:ext cx="252145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969"/>
            <a:r>
              <a:rPr lang="en-US" sz="969">
                <a:solidFill>
                  <a:srgbClr val="1A1A2E"/>
                </a:solidFill>
                <a:latin typeface="Arial"/>
                <a:ea typeface="Arial"/>
                <a:cs typeface="Arial"/>
              </a:rPr>
              <a:t>Infosys-Intel PR</a:t>
            </a:r>
          </a:p>
        </p:txBody>
      </p:sp>
      <p:sp>
        <p:nvSpPr>
          <p:cNvPr id="29" name="Shape 29"/>
          <p:cNvSpPr/>
          <p:nvPr/>
        </p:nvSpPr>
        <p:spPr>
          <a:xfrm>
            <a:off x="3824020" y="2121408"/>
            <a:ext cx="373623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30" name="Cell 30"/>
          <p:cNvSpPr txBox="1"/>
          <p:nvPr/>
        </p:nvSpPr>
        <p:spPr>
          <a:xfrm>
            <a:off x="3860596" y="2157984"/>
            <a:ext cx="3663086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969"/>
            <a:r>
              <a:rPr lang="en-US" sz="969">
                <a:solidFill>
                  <a:srgbClr val="1A1A2E"/>
                </a:solidFill>
                <a:latin typeface="Arial"/>
                <a:ea typeface="Arial"/>
                <a:cs typeface="Arial"/>
              </a:rPr>
              <a:t>Distinctive partner and product context</a:t>
            </a:r>
          </a:p>
        </p:txBody>
      </p:sp>
      <p:sp>
        <p:nvSpPr>
          <p:cNvPr id="31" name="Shape 31"/>
          <p:cNvSpPr/>
          <p:nvPr/>
        </p:nvSpPr>
        <p:spPr>
          <a:xfrm>
            <a:off x="7560259" y="2121408"/>
            <a:ext cx="33211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32" name="Cell 32"/>
          <p:cNvSpPr txBox="1"/>
          <p:nvPr/>
        </p:nvSpPr>
        <p:spPr>
          <a:xfrm>
            <a:off x="7596835" y="2157984"/>
            <a:ext cx="324794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969"/>
            <a:r>
              <a:rPr lang="en-US" sz="969">
                <a:solidFill>
                  <a:srgbClr val="1A1A2E"/>
                </a:solidFill>
                <a:latin typeface="Arial"/>
                <a:ea typeface="Arial"/>
                <a:cs typeface="Arial"/>
              </a:rPr>
              <a:t>Grounded strategic rationale</a:t>
            </a:r>
          </a:p>
        </p:txBody>
      </p:sp>
      <p:sp>
        <p:nvSpPr>
          <p:cNvPr id="33" name="Shape 33"/>
          <p:cNvSpPr/>
          <p:nvPr/>
        </p:nvSpPr>
        <p:spPr>
          <a:xfrm>
            <a:off x="502920" y="2724912"/>
            <a:ext cx="726490" cy="603504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34" name="Cell 34"/>
          <p:cNvSpPr txBox="1"/>
          <p:nvPr/>
        </p:nvSpPr>
        <p:spPr>
          <a:xfrm>
            <a:off x="539496" y="2761488"/>
            <a:ext cx="65333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969"/>
            <a:r>
              <a:rPr lang="en-US" sz="969">
                <a:solidFill>
                  <a:srgbClr val="1A1A2E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5" name="Shape 35"/>
          <p:cNvSpPr/>
          <p:nvPr/>
        </p:nvSpPr>
        <p:spPr>
          <a:xfrm>
            <a:off x="1229410" y="2724912"/>
            <a:ext cx="2594610" cy="603504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36" name="Cell 36"/>
          <p:cNvSpPr txBox="1"/>
          <p:nvPr/>
        </p:nvSpPr>
        <p:spPr>
          <a:xfrm>
            <a:off x="1265986" y="2761488"/>
            <a:ext cx="252145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969"/>
            <a:r>
              <a:rPr lang="en-US" sz="969">
                <a:solidFill>
                  <a:srgbClr val="1A1A2E"/>
                </a:solidFill>
                <a:latin typeface="Arial"/>
                <a:ea typeface="Arial"/>
                <a:cs typeface="Arial"/>
              </a:rPr>
              <a:t>Buyback filing</a:t>
            </a:r>
          </a:p>
        </p:txBody>
      </p:sp>
      <p:sp>
        <p:nvSpPr>
          <p:cNvPr id="37" name="Shape 37"/>
          <p:cNvSpPr/>
          <p:nvPr/>
        </p:nvSpPr>
        <p:spPr>
          <a:xfrm>
            <a:off x="3824020" y="2724912"/>
            <a:ext cx="3736238" cy="603504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38" name="Cell 38"/>
          <p:cNvSpPr txBox="1"/>
          <p:nvPr/>
        </p:nvSpPr>
        <p:spPr>
          <a:xfrm>
            <a:off x="3860596" y="2761488"/>
            <a:ext cx="3663086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969"/>
            <a:r>
              <a:rPr lang="en-US" sz="969">
                <a:solidFill>
                  <a:srgbClr val="1A1A2E"/>
                </a:solidFill>
                <a:latin typeface="Arial"/>
                <a:ea typeface="Arial"/>
                <a:cs typeface="Arial"/>
              </a:rPr>
              <a:t>Unique regulatory numbers</a:t>
            </a:r>
          </a:p>
        </p:txBody>
      </p:sp>
      <p:sp>
        <p:nvSpPr>
          <p:cNvPr id="39" name="Shape 39"/>
          <p:cNvSpPr/>
          <p:nvPr/>
        </p:nvSpPr>
        <p:spPr>
          <a:xfrm>
            <a:off x="7560259" y="2724912"/>
            <a:ext cx="3321100" cy="603504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40" name="Cell 40"/>
          <p:cNvSpPr txBox="1"/>
          <p:nvPr/>
        </p:nvSpPr>
        <p:spPr>
          <a:xfrm>
            <a:off x="7596835" y="2761488"/>
            <a:ext cx="324794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969"/>
            <a:r>
              <a:rPr lang="en-US" sz="969">
                <a:solidFill>
                  <a:srgbClr val="1A1A2E"/>
                </a:solidFill>
                <a:latin typeface="Arial"/>
                <a:ea typeface="Arial"/>
                <a:cs typeface="Arial"/>
              </a:rPr>
              <a:t>Buyback size, price, and share count correct</a:t>
            </a:r>
          </a:p>
        </p:txBody>
      </p:sp>
      <p:sp>
        <p:nvSpPr>
          <p:cNvPr id="41" name="Shape 41"/>
          <p:cNvSpPr/>
          <p:nvPr/>
        </p:nvSpPr>
        <p:spPr>
          <a:xfrm>
            <a:off x="502920" y="3328416"/>
            <a:ext cx="72649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42" name="Cell 42"/>
          <p:cNvSpPr txBox="1"/>
          <p:nvPr/>
        </p:nvSpPr>
        <p:spPr>
          <a:xfrm>
            <a:off x="539496" y="3364992"/>
            <a:ext cx="65333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969"/>
            <a:r>
              <a:rPr lang="en-US" sz="969">
                <a:solidFill>
                  <a:srgbClr val="1A1A2E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3" name="Shape 43"/>
          <p:cNvSpPr/>
          <p:nvPr/>
        </p:nvSpPr>
        <p:spPr>
          <a:xfrm>
            <a:off x="1229410" y="3328416"/>
            <a:ext cx="259461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44" name="Cell 44"/>
          <p:cNvSpPr txBox="1"/>
          <p:nvPr/>
        </p:nvSpPr>
        <p:spPr>
          <a:xfrm>
            <a:off x="1265986" y="3364992"/>
            <a:ext cx="252145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969"/>
            <a:r>
              <a:rPr lang="en-US" sz="969">
                <a:solidFill>
                  <a:srgbClr val="1A1A2E"/>
                </a:solidFill>
                <a:latin typeface="Arial"/>
                <a:ea typeface="Arial"/>
                <a:cs typeface="Arial"/>
              </a:rPr>
              <a:t>Finacle PR</a:t>
            </a:r>
          </a:p>
        </p:txBody>
      </p:sp>
      <p:sp>
        <p:nvSpPr>
          <p:cNvPr id="45" name="Shape 45"/>
          <p:cNvSpPr/>
          <p:nvPr/>
        </p:nvSpPr>
        <p:spPr>
          <a:xfrm>
            <a:off x="3824020" y="3328416"/>
            <a:ext cx="373623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46" name="Cell 46"/>
          <p:cNvSpPr txBox="1"/>
          <p:nvPr/>
        </p:nvSpPr>
        <p:spPr>
          <a:xfrm>
            <a:off x="3860596" y="3364992"/>
            <a:ext cx="3663086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969"/>
            <a:r>
              <a:rPr lang="en-US" sz="969">
                <a:solidFill>
                  <a:srgbClr val="1A1A2E"/>
                </a:solidFill>
                <a:latin typeface="Arial"/>
                <a:ea typeface="Arial"/>
                <a:cs typeface="Arial"/>
              </a:rPr>
              <a:t>Unique bank name and product context</a:t>
            </a:r>
          </a:p>
        </p:txBody>
      </p:sp>
      <p:sp>
        <p:nvSpPr>
          <p:cNvPr id="47" name="Shape 47"/>
          <p:cNvSpPr/>
          <p:nvPr/>
        </p:nvSpPr>
        <p:spPr>
          <a:xfrm>
            <a:off x="7560259" y="3328416"/>
            <a:ext cx="33211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48" name="Cell 48"/>
          <p:cNvSpPr txBox="1"/>
          <p:nvPr/>
        </p:nvSpPr>
        <p:spPr>
          <a:xfrm>
            <a:off x="7596835" y="3364992"/>
            <a:ext cx="3247948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969"/>
            <a:r>
              <a:rPr lang="en-US" sz="969">
                <a:solidFill>
                  <a:srgbClr val="1A1A2E"/>
                </a:solidFill>
                <a:latin typeface="Arial"/>
                <a:ea typeface="Arial"/>
                <a:cs typeface="Arial"/>
              </a:rPr>
              <a:t>Business benefits summarized correctly</a:t>
            </a:r>
          </a:p>
        </p:txBody>
      </p:sp>
      <p:sp>
        <p:nvSpPr>
          <p:cNvPr id="49" name="Pattern 49"/>
          <p:cNvSpPr txBox="1"/>
          <p:nvPr/>
        </p:nvSpPr>
        <p:spPr>
          <a:xfrm>
            <a:off x="685800" y="4315968"/>
            <a:ext cx="9875520" cy="475488"/>
          </a:xfrm>
          <a:prstGeom prst="rect">
            <a:avLst/>
          </a:prstGeom>
          <a:solidFill>
            <a:srgbClr val="EEF3FC"/>
          </a:solidFill>
          <a:ln w="12700">
            <a:solidFill>
              <a:srgbClr val="D9E2F3"/>
            </a:solidFill>
          </a:ln>
        </p:spPr>
        <p:txBody>
          <a:bodyPr wrap="square" lIns="73152" tIns="73152" rIns="73152" bIns="73152" anchor="t"/>
          <a:lstStyle/>
          <a:p>
            <a:pPr algn="c"/>
            <a:endParaRPr lang="en-US" sz="1800"/>
            <a:r>
              <a:rPr lang="en-US" sz="1800" b="1">
                <a:solidFill>
                  <a:srgbClr val="1E2761"/>
                </a:solidFill>
                <a:latin typeface="Arial"/>
                <a:ea typeface="Arial"/>
                <a:cs typeface="Arial"/>
              </a:rPr>
              <a:t>Pattern: metadata works best when the source contains distinctive entities, events, and numerical anchors.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75" cy="713232"/>
          </a:xfrm>
          <a:prstGeom prst="rect">
            <a:avLst/>
          </a:prstGeom>
          <a:solidFill>
            <a:srgbClr val="141B4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713232"/>
            <a:ext cx="12191675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" name="Kicker 4"/>
          <p:cNvSpPr txBox="1"/>
          <p:nvPr/>
        </p:nvSpPr>
        <p:spPr>
          <a:xfrm>
            <a:off x="411480" y="10972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950"/>
            <a:r>
              <a:rPr lang="en-US" sz="95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ERROR ANALYSIS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411480" y="283464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900"/>
            <a:r>
              <a:rPr lang="en-US"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Where the pipeline still fails</a:t>
            </a:r>
          </a:p>
        </p:txBody>
      </p:sp>
      <p:sp>
        <p:nvSpPr>
          <p:cNvPr id="6" name="FooterTop 6"/>
          <p:cNvSpPr txBox="1"/>
          <p:nvPr/>
        </p:nvSpPr>
        <p:spPr>
          <a:xfrm>
            <a:off x="9144000" y="22860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endParaRPr lang="en-US" sz="1000"/>
            <a:r>
              <a:rPr lang="en-US" sz="1000">
                <a:solidFill>
                  <a:srgbClr val="CADCFC"/>
                </a:solidFill>
                <a:latin typeface="Arial"/>
                <a:ea typeface="Arial"/>
                <a:cs typeface="Arial"/>
              </a:rPr>
              <a:t>FinQuery - Milestone 5</a:t>
            </a:r>
          </a:p>
        </p:txBody>
      </p:sp>
      <p:sp>
        <p:nvSpPr>
          <p:cNvPr id="7" name="SlideNo 7"/>
          <p:cNvSpPr txBox="1"/>
          <p:nvPr/>
        </p:nvSpPr>
        <p:spPr>
          <a:xfrm>
            <a:off x="11109960" y="63550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endParaRPr lang="en-US" sz="900"/>
            <a:r>
              <a:rPr lang="en-US" sz="900">
                <a:solidFill>
                  <a:srgbClr val="5B647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" name="Shape 8"/>
          <p:cNvSpPr/>
          <p:nvPr/>
        </p:nvSpPr>
        <p:spPr>
          <a:xfrm>
            <a:off x="502920" y="914400"/>
            <a:ext cx="103784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9" name="Shape 9"/>
          <p:cNvSpPr/>
          <p:nvPr/>
        </p:nvSpPr>
        <p:spPr>
          <a:xfrm>
            <a:off x="502920" y="914400"/>
            <a:ext cx="830275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</p:sp>
      <p:sp>
        <p:nvSpPr>
          <p:cNvPr id="10" name="Head 10"/>
          <p:cNvSpPr txBox="1"/>
          <p:nvPr/>
        </p:nvSpPr>
        <p:spPr>
          <a:xfrm>
            <a:off x="539496" y="950976"/>
            <a:ext cx="757123" cy="612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19"/>
            <a:r>
              <a:rPr lang="en-US" sz="1019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11" name="Shape 11"/>
          <p:cNvSpPr/>
          <p:nvPr/>
        </p:nvSpPr>
        <p:spPr>
          <a:xfrm>
            <a:off x="1333195" y="914400"/>
            <a:ext cx="3528669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</p:sp>
      <p:sp>
        <p:nvSpPr>
          <p:cNvPr id="12" name="Head 12"/>
          <p:cNvSpPr txBox="1"/>
          <p:nvPr/>
        </p:nvSpPr>
        <p:spPr>
          <a:xfrm>
            <a:off x="1369771" y="950976"/>
            <a:ext cx="3455517" cy="612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19"/>
            <a:r>
              <a:rPr lang="en-US" sz="1019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Failure pattern</a:t>
            </a:r>
          </a:p>
        </p:txBody>
      </p:sp>
      <p:sp>
        <p:nvSpPr>
          <p:cNvPr id="13" name="Shape 13"/>
          <p:cNvSpPr/>
          <p:nvPr/>
        </p:nvSpPr>
        <p:spPr>
          <a:xfrm>
            <a:off x="4861864" y="914400"/>
            <a:ext cx="6019495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</p:sp>
      <p:sp>
        <p:nvSpPr>
          <p:cNvPr id="14" name="Head 14"/>
          <p:cNvSpPr txBox="1"/>
          <p:nvPr/>
        </p:nvSpPr>
        <p:spPr>
          <a:xfrm>
            <a:off x="4898440" y="950976"/>
            <a:ext cx="5946343" cy="612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19"/>
            <a:r>
              <a:rPr lang="en-US" sz="1019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Observed issue</a:t>
            </a:r>
          </a:p>
        </p:txBody>
      </p:sp>
      <p:sp>
        <p:nvSpPr>
          <p:cNvPr id="15" name="Shape 15"/>
          <p:cNvSpPr/>
          <p:nvPr/>
        </p:nvSpPr>
        <p:spPr>
          <a:xfrm>
            <a:off x="502920" y="1600200"/>
            <a:ext cx="830275" cy="685800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16" name="Cell 16"/>
          <p:cNvSpPr txBox="1"/>
          <p:nvPr/>
        </p:nvSpPr>
        <p:spPr>
          <a:xfrm>
            <a:off x="539496" y="1636776"/>
            <a:ext cx="757123" cy="612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019"/>
            <a:r>
              <a:rPr lang="en-US" sz="1019">
                <a:solidFill>
                  <a:srgbClr val="1A1A2E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  <p:sp>
        <p:nvSpPr>
          <p:cNvPr id="17" name="Shape 17"/>
          <p:cNvSpPr/>
          <p:nvPr/>
        </p:nvSpPr>
        <p:spPr>
          <a:xfrm>
            <a:off x="1333195" y="1600200"/>
            <a:ext cx="3528669" cy="685800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18" name="Cell 18"/>
          <p:cNvSpPr txBox="1"/>
          <p:nvPr/>
        </p:nvSpPr>
        <p:spPr>
          <a:xfrm>
            <a:off x="1369771" y="1636776"/>
            <a:ext cx="3455517" cy="612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19"/>
            <a:r>
              <a:rPr lang="en-US" sz="1019">
                <a:solidFill>
                  <a:srgbClr val="1A1A2E"/>
                </a:solidFill>
                <a:latin typeface="Arial"/>
                <a:ea typeface="Arial"/>
                <a:cs typeface="Arial"/>
              </a:rPr>
              <a:t>Wrong year / wrong document</a:t>
            </a:r>
          </a:p>
        </p:txBody>
      </p:sp>
      <p:sp>
        <p:nvSpPr>
          <p:cNvPr id="19" name="Shape 19"/>
          <p:cNvSpPr/>
          <p:nvPr/>
        </p:nvSpPr>
        <p:spPr>
          <a:xfrm>
            <a:off x="4861864" y="1600200"/>
            <a:ext cx="6019495" cy="685800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20" name="Cell 20"/>
          <p:cNvSpPr txBox="1"/>
          <p:nvPr/>
        </p:nvSpPr>
        <p:spPr>
          <a:xfrm>
            <a:off x="4898440" y="1636776"/>
            <a:ext cx="5946343" cy="612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19"/>
            <a:r>
              <a:rPr lang="en-US" sz="1019">
                <a:solidFill>
                  <a:srgbClr val="1A1A2E"/>
                </a:solidFill>
                <a:latin typeface="Arial"/>
                <a:ea typeface="Arial"/>
                <a:cs typeface="Arial"/>
              </a:rPr>
              <a:t>Used FY26 large-deal value instead of FY24-25 value</a:t>
            </a:r>
          </a:p>
        </p:txBody>
      </p:sp>
      <p:sp>
        <p:nvSpPr>
          <p:cNvPr id="21" name="Shape 21"/>
          <p:cNvSpPr/>
          <p:nvPr/>
        </p:nvSpPr>
        <p:spPr>
          <a:xfrm>
            <a:off x="502920" y="2286000"/>
            <a:ext cx="83027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22" name="Cell 22"/>
          <p:cNvSpPr txBox="1"/>
          <p:nvPr/>
        </p:nvSpPr>
        <p:spPr>
          <a:xfrm>
            <a:off x="539496" y="2322576"/>
            <a:ext cx="757123" cy="612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019"/>
            <a:r>
              <a:rPr lang="en-US" sz="1019">
                <a:solidFill>
                  <a:srgbClr val="1A1A2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3" name="Shape 23"/>
          <p:cNvSpPr/>
          <p:nvPr/>
        </p:nvSpPr>
        <p:spPr>
          <a:xfrm>
            <a:off x="1333195" y="2286000"/>
            <a:ext cx="3528669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24" name="Cell 24"/>
          <p:cNvSpPr txBox="1"/>
          <p:nvPr/>
        </p:nvSpPr>
        <p:spPr>
          <a:xfrm>
            <a:off x="1369771" y="2322576"/>
            <a:ext cx="3455517" cy="612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19"/>
            <a:r>
              <a:rPr lang="en-US" sz="1019">
                <a:solidFill>
                  <a:srgbClr val="1A1A2E"/>
                </a:solidFill>
                <a:latin typeface="Arial"/>
                <a:ea typeface="Arial"/>
                <a:cs typeface="Arial"/>
              </a:rPr>
              <a:t>Multi-chunk fragmentation</a:t>
            </a:r>
          </a:p>
        </p:txBody>
      </p:sp>
      <p:sp>
        <p:nvSpPr>
          <p:cNvPr id="25" name="Shape 25"/>
          <p:cNvSpPr/>
          <p:nvPr/>
        </p:nvSpPr>
        <p:spPr>
          <a:xfrm>
            <a:off x="4861864" y="2286000"/>
            <a:ext cx="601949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26" name="Cell 26"/>
          <p:cNvSpPr txBox="1"/>
          <p:nvPr/>
        </p:nvSpPr>
        <p:spPr>
          <a:xfrm>
            <a:off x="4898440" y="2322576"/>
            <a:ext cx="5946343" cy="612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19"/>
            <a:r>
              <a:rPr lang="en-US" sz="1019">
                <a:solidFill>
                  <a:srgbClr val="1A1A2E"/>
                </a:solidFill>
                <a:latin typeface="Arial"/>
                <a:ea typeface="Arial"/>
                <a:cs typeface="Arial"/>
              </a:rPr>
              <a:t>Only 3 recognitions returned when 8 were expected</a:t>
            </a:r>
          </a:p>
        </p:txBody>
      </p:sp>
      <p:sp>
        <p:nvSpPr>
          <p:cNvPr id="27" name="Shape 27"/>
          <p:cNvSpPr/>
          <p:nvPr/>
        </p:nvSpPr>
        <p:spPr>
          <a:xfrm>
            <a:off x="502920" y="2971800"/>
            <a:ext cx="830275" cy="685800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28" name="Cell 28"/>
          <p:cNvSpPr txBox="1"/>
          <p:nvPr/>
        </p:nvSpPr>
        <p:spPr>
          <a:xfrm>
            <a:off x="539496" y="3008376"/>
            <a:ext cx="757123" cy="612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019"/>
            <a:r>
              <a:rPr lang="en-US" sz="1019">
                <a:solidFill>
                  <a:srgbClr val="1A1A2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9" name="Shape 29"/>
          <p:cNvSpPr/>
          <p:nvPr/>
        </p:nvSpPr>
        <p:spPr>
          <a:xfrm>
            <a:off x="1333195" y="2971800"/>
            <a:ext cx="3528669" cy="685800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30" name="Cell 30"/>
          <p:cNvSpPr txBox="1"/>
          <p:nvPr/>
        </p:nvSpPr>
        <p:spPr>
          <a:xfrm>
            <a:off x="1369771" y="3008376"/>
            <a:ext cx="3455517" cy="612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19"/>
            <a:r>
              <a:rPr lang="en-US" sz="1019">
                <a:solidFill>
                  <a:srgbClr val="1A1A2E"/>
                </a:solidFill>
                <a:latin typeface="Arial"/>
                <a:ea typeface="Arial"/>
                <a:cs typeface="Arial"/>
              </a:rPr>
              <a:t>LLM over-elaboration</a:t>
            </a:r>
          </a:p>
        </p:txBody>
      </p:sp>
      <p:sp>
        <p:nvSpPr>
          <p:cNvPr id="31" name="Shape 31"/>
          <p:cNvSpPr/>
          <p:nvPr/>
        </p:nvSpPr>
        <p:spPr>
          <a:xfrm>
            <a:off x="4861864" y="2971800"/>
            <a:ext cx="6019495" cy="685800"/>
          </a:xfrm>
          <a:prstGeom prst="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</p:sp>
      <p:sp>
        <p:nvSpPr>
          <p:cNvPr id="32" name="Cell 32"/>
          <p:cNvSpPr txBox="1"/>
          <p:nvPr/>
        </p:nvSpPr>
        <p:spPr>
          <a:xfrm>
            <a:off x="4898440" y="3008376"/>
            <a:ext cx="5946343" cy="612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19"/>
            <a:r>
              <a:rPr lang="en-US" sz="1019">
                <a:solidFill>
                  <a:srgbClr val="1A1A2E"/>
                </a:solidFill>
                <a:latin typeface="Arial"/>
                <a:ea typeface="Arial"/>
                <a:cs typeface="Arial"/>
              </a:rPr>
              <a:t>Added unsupported rationale despite correct context</a:t>
            </a:r>
          </a:p>
        </p:txBody>
      </p:sp>
      <p:sp>
        <p:nvSpPr>
          <p:cNvPr id="33" name="Shape 33"/>
          <p:cNvSpPr/>
          <p:nvPr/>
        </p:nvSpPr>
        <p:spPr>
          <a:xfrm>
            <a:off x="502920" y="3657600"/>
            <a:ext cx="83027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34" name="Cell 34"/>
          <p:cNvSpPr txBox="1"/>
          <p:nvPr/>
        </p:nvSpPr>
        <p:spPr>
          <a:xfrm>
            <a:off x="539496" y="3694176"/>
            <a:ext cx="757123" cy="612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019"/>
            <a:r>
              <a:rPr lang="en-US" sz="1019">
                <a:solidFill>
                  <a:srgbClr val="1A1A2E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35" name="Shape 35"/>
          <p:cNvSpPr/>
          <p:nvPr/>
        </p:nvSpPr>
        <p:spPr>
          <a:xfrm>
            <a:off x="1333195" y="3657600"/>
            <a:ext cx="3528669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36" name="Cell 36"/>
          <p:cNvSpPr txBox="1"/>
          <p:nvPr/>
        </p:nvSpPr>
        <p:spPr>
          <a:xfrm>
            <a:off x="1369771" y="3694176"/>
            <a:ext cx="3455517" cy="612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19"/>
            <a:r>
              <a:rPr lang="en-US" sz="1019">
                <a:solidFill>
                  <a:srgbClr val="1A1A2E"/>
                </a:solidFill>
                <a:latin typeface="Arial"/>
                <a:ea typeface="Arial"/>
                <a:cs typeface="Arial"/>
              </a:rPr>
              <a:t>Vocabulary collision</a:t>
            </a:r>
          </a:p>
        </p:txBody>
      </p:sp>
      <p:sp>
        <p:nvSpPr>
          <p:cNvPr id="37" name="Shape 37"/>
          <p:cNvSpPr/>
          <p:nvPr/>
        </p:nvSpPr>
        <p:spPr>
          <a:xfrm>
            <a:off x="4861864" y="3657600"/>
            <a:ext cx="601949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</p:sp>
      <p:sp>
        <p:nvSpPr>
          <p:cNvPr id="38" name="Cell 38"/>
          <p:cNvSpPr txBox="1"/>
          <p:nvPr/>
        </p:nvSpPr>
        <p:spPr>
          <a:xfrm>
            <a:off x="4898440" y="3694176"/>
            <a:ext cx="5946343" cy="612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019"/>
            <a:r>
              <a:rPr lang="en-US" sz="1019">
                <a:solidFill>
                  <a:srgbClr val="1A1A2E"/>
                </a:solidFill>
                <a:latin typeface="Arial"/>
                <a:ea typeface="Arial"/>
                <a:cs typeface="Arial"/>
              </a:rPr>
              <a:t>Retrieved generic AI risk filings instead of the specific PR</a:t>
            </a:r>
          </a:p>
        </p:txBody>
      </p:sp>
      <p:sp>
        <p:nvSpPr>
          <p:cNvPr id="39" name="Bullet Box 39"/>
          <p:cNvSpPr txBox="1"/>
          <p:nvPr/>
        </p:nvSpPr>
        <p:spPr>
          <a:xfrm>
            <a:off x="685800" y="4572000"/>
            <a:ext cx="9875520" cy="868680"/>
          </a:xfrm>
          <a:prstGeom prst="roundRect">
            <a:avLst/>
          </a:prstGeom>
          <a:solidFill>
            <a:srgbClr val="EEF3FC"/>
          </a:solidFill>
          <a:ln w="12700">
            <a:solidFill>
              <a:srgbClr val="D9E2F3"/>
            </a:solidFill>
          </a:ln>
        </p:spPr>
        <p:txBody>
          <a:bodyPr wrap="square" lIns="120000" tIns="100000" rIns="120000" bIns="100000" anchor="t"/>
          <a:lstStyle/>
          <a:p>
            <a:pPr marL="260000" indent="-160000">
              <a:buChar char="-"/>
            </a:pPr>
            <a:r>
              <a:rPr lang="en-US" sz="1520">
                <a:solidFill>
                  <a:srgbClr val="1A1A2E"/>
                </a:solidFill>
                <a:latin typeface="Arial"/>
                <a:ea typeface="Arial"/>
                <a:cs typeface="Arial"/>
              </a:rPr>
              <a:t>Main fixes: add quarter/year-specific metadata, retrieve adjacent chunks from the same document, and tighten answer-generation grounding instructions.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75" cy="713232"/>
          </a:xfrm>
          <a:prstGeom prst="rect">
            <a:avLst/>
          </a:prstGeom>
          <a:solidFill>
            <a:srgbClr val="141B4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713232"/>
            <a:ext cx="12191675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" name="Kicker 4"/>
          <p:cNvSpPr txBox="1"/>
          <p:nvPr/>
        </p:nvSpPr>
        <p:spPr>
          <a:xfrm>
            <a:off x="411480" y="10972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950"/>
            <a:r>
              <a:rPr lang="en-US" sz="95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DEMO PLACEHOLDER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411480" y="283464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900"/>
            <a:r>
              <a:rPr lang="en-US"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 image 1</a:t>
            </a:r>
          </a:p>
        </p:txBody>
      </p:sp>
      <p:sp>
        <p:nvSpPr>
          <p:cNvPr id="6" name="FooterTop 6"/>
          <p:cNvSpPr txBox="1"/>
          <p:nvPr/>
        </p:nvSpPr>
        <p:spPr>
          <a:xfrm>
            <a:off x="9144000" y="22860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endParaRPr lang="en-US" sz="1000"/>
            <a:r>
              <a:rPr lang="en-US" sz="1000">
                <a:solidFill>
                  <a:srgbClr val="CADCFC"/>
                </a:solidFill>
                <a:latin typeface="Arial"/>
                <a:ea typeface="Arial"/>
                <a:cs typeface="Arial"/>
              </a:rPr>
              <a:t>FinQuery - Milestone 5</a:t>
            </a:r>
          </a:p>
        </p:txBody>
      </p:sp>
      <p:sp>
        <p:nvSpPr>
          <p:cNvPr id="7" name="SlideNo 7"/>
          <p:cNvSpPr txBox="1"/>
          <p:nvPr/>
        </p:nvSpPr>
        <p:spPr>
          <a:xfrm>
            <a:off x="11109960" y="63550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endParaRPr lang="en-US" sz="900"/>
            <a:r>
              <a:rPr lang="en-US" sz="900">
                <a:solidFill>
                  <a:srgbClr val="5B647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" name="Shape 8"/>
          <p:cNvSpPr/>
          <p:nvPr/>
        </p:nvSpPr>
        <p:spPr>
          <a:xfrm>
            <a:off x="822960" y="1143000"/>
            <a:ext cx="9966960" cy="443484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C9A227"/>
            </a:solidFill>
          </a:ln>
        </p:spPr>
      </p:sp>
      <p:sp>
        <p:nvSpPr>
          <p:cNvPr id="9" name="Placeholder 9"/>
          <p:cNvSpPr txBox="1"/>
          <p:nvPr/>
        </p:nvSpPr>
        <p:spPr>
          <a:xfrm>
            <a:off x="1051560" y="2971800"/>
            <a:ext cx="9509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2800"/>
            <a:r>
              <a:rPr lang="en-US" sz="2800" b="1">
                <a:solidFill>
                  <a:srgbClr val="5B6478"/>
                </a:solidFill>
                <a:latin typeface="Arial"/>
                <a:ea typeface="Arial"/>
                <a:cs typeface="Arial"/>
              </a:rPr>
              <a:t>Reserved for demo image / screenshot</a:t>
            </a:r>
          </a:p>
        </p:txBody>
      </p:sp>
      <p:sp>
        <p:nvSpPr>
          <p:cNvPr id="10" name="PlaceholderText 10"/>
          <p:cNvSpPr txBox="1"/>
          <p:nvPr/>
        </p:nvSpPr>
        <p:spPr>
          <a:xfrm>
            <a:off x="1280160" y="3566160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600"/>
            <a:r>
              <a:rPr lang="en-US" sz="1600">
                <a:solidFill>
                  <a:srgbClr val="5B6478"/>
                </a:solidFill>
                <a:latin typeface="Arial"/>
                <a:ea typeface="Arial"/>
                <a:cs typeface="Arial"/>
              </a:rPr>
              <a:t>Add the first product or notebook demo screenshot here.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75" cy="713232"/>
          </a:xfrm>
          <a:prstGeom prst="rect">
            <a:avLst/>
          </a:prstGeom>
          <a:solidFill>
            <a:srgbClr val="141B4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713232"/>
            <a:ext cx="12191675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" name="Kicker 4"/>
          <p:cNvSpPr txBox="1"/>
          <p:nvPr/>
        </p:nvSpPr>
        <p:spPr>
          <a:xfrm>
            <a:off x="411480" y="10972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950"/>
            <a:r>
              <a:rPr lang="en-US" sz="95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DEMO PLACEHOLDER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411480" y="283464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900"/>
            <a:r>
              <a:rPr lang="en-US"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 image 2</a:t>
            </a:r>
          </a:p>
        </p:txBody>
      </p:sp>
      <p:sp>
        <p:nvSpPr>
          <p:cNvPr id="6" name="FooterTop 6"/>
          <p:cNvSpPr txBox="1"/>
          <p:nvPr/>
        </p:nvSpPr>
        <p:spPr>
          <a:xfrm>
            <a:off x="9144000" y="22860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endParaRPr lang="en-US" sz="1000"/>
            <a:r>
              <a:rPr lang="en-US" sz="1000">
                <a:solidFill>
                  <a:srgbClr val="CADCFC"/>
                </a:solidFill>
                <a:latin typeface="Arial"/>
                <a:ea typeface="Arial"/>
                <a:cs typeface="Arial"/>
              </a:rPr>
              <a:t>FinQuery - Milestone 5</a:t>
            </a:r>
          </a:p>
        </p:txBody>
      </p:sp>
      <p:sp>
        <p:nvSpPr>
          <p:cNvPr id="7" name="SlideNo 7"/>
          <p:cNvSpPr txBox="1"/>
          <p:nvPr/>
        </p:nvSpPr>
        <p:spPr>
          <a:xfrm>
            <a:off x="11109960" y="63550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endParaRPr lang="en-US" sz="900"/>
            <a:r>
              <a:rPr lang="en-US" sz="900">
                <a:solidFill>
                  <a:srgbClr val="5B647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8" name="Shape 8"/>
          <p:cNvSpPr/>
          <p:nvPr/>
        </p:nvSpPr>
        <p:spPr>
          <a:xfrm>
            <a:off x="822960" y="1143000"/>
            <a:ext cx="9966960" cy="443484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C9A227"/>
            </a:solidFill>
          </a:ln>
        </p:spPr>
      </p:sp>
      <p:sp>
        <p:nvSpPr>
          <p:cNvPr id="9" name="Placeholder 9"/>
          <p:cNvSpPr txBox="1"/>
          <p:nvPr/>
        </p:nvSpPr>
        <p:spPr>
          <a:xfrm>
            <a:off x="1051560" y="2971800"/>
            <a:ext cx="9509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2800"/>
            <a:r>
              <a:rPr lang="en-US" sz="2800" b="1">
                <a:solidFill>
                  <a:srgbClr val="5B6478"/>
                </a:solidFill>
                <a:latin typeface="Arial"/>
                <a:ea typeface="Arial"/>
                <a:cs typeface="Arial"/>
              </a:rPr>
              <a:t>Reserved for demo image / screenshot</a:t>
            </a:r>
          </a:p>
        </p:txBody>
      </p:sp>
      <p:sp>
        <p:nvSpPr>
          <p:cNvPr id="10" name="PlaceholderText 10"/>
          <p:cNvSpPr txBox="1"/>
          <p:nvPr/>
        </p:nvSpPr>
        <p:spPr>
          <a:xfrm>
            <a:off x="1280160" y="3566160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/>
            <a:endParaRPr lang="en-US" sz="1600"/>
            <a:r>
              <a:rPr lang="en-US" sz="1600">
                <a:solidFill>
                  <a:srgbClr val="5B6478"/>
                </a:solidFill>
                <a:latin typeface="Arial"/>
                <a:ea typeface="Arial"/>
                <a:cs typeface="Arial"/>
              </a:rPr>
              <a:t>Add the second product or retrieval demo screenshot here.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75" cy="713232"/>
          </a:xfrm>
          <a:prstGeom prst="rect">
            <a:avLst/>
          </a:prstGeom>
          <a:solidFill>
            <a:srgbClr val="141B4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713232"/>
            <a:ext cx="12191675" cy="5029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4" name="Kicker 4"/>
          <p:cNvSpPr txBox="1"/>
          <p:nvPr/>
        </p:nvSpPr>
        <p:spPr>
          <a:xfrm>
            <a:off x="411480" y="10972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950"/>
            <a:r>
              <a:rPr lang="en-US" sz="950" b="1">
                <a:solidFill>
                  <a:srgbClr val="C9A22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411480" y="283464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endParaRPr lang="en-US" sz="1900"/>
            <a:r>
              <a:rPr lang="en-US"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Recommended direction</a:t>
            </a:r>
          </a:p>
        </p:txBody>
      </p:sp>
      <p:sp>
        <p:nvSpPr>
          <p:cNvPr id="6" name="FooterTop 6"/>
          <p:cNvSpPr txBox="1"/>
          <p:nvPr/>
        </p:nvSpPr>
        <p:spPr>
          <a:xfrm>
            <a:off x="9144000" y="22860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endParaRPr lang="en-US" sz="1000"/>
            <a:r>
              <a:rPr lang="en-US" sz="1000">
                <a:solidFill>
                  <a:srgbClr val="CADCFC"/>
                </a:solidFill>
                <a:latin typeface="Arial"/>
                <a:ea typeface="Arial"/>
                <a:cs typeface="Arial"/>
              </a:rPr>
              <a:t>FinQuery - Milestone 5</a:t>
            </a:r>
          </a:p>
        </p:txBody>
      </p:sp>
      <p:sp>
        <p:nvSpPr>
          <p:cNvPr id="7" name="SlideNo 7"/>
          <p:cNvSpPr txBox="1"/>
          <p:nvPr/>
        </p:nvSpPr>
        <p:spPr>
          <a:xfrm>
            <a:off x="11109960" y="63550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endParaRPr lang="en-US" sz="900"/>
            <a:r>
              <a:rPr lang="en-US" sz="900">
                <a:solidFill>
                  <a:srgbClr val="5B647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8" name="Bullet Box 8"/>
          <p:cNvSpPr txBox="1"/>
          <p:nvPr/>
        </p:nvSpPr>
        <p:spPr>
          <a:xfrm>
            <a:off x="594360" y="960120"/>
            <a:ext cx="5120640" cy="3063240"/>
          </a:xfrm>
          <a:prstGeom prst="roundRect">
            <a:avLst/>
          </a:prstGeom>
          <a:solidFill>
            <a:srgbClr val="F7F9FE"/>
          </a:solidFill>
          <a:ln w="12700">
            <a:solidFill>
              <a:srgbClr val="D9E2F3"/>
            </a:solidFill>
          </a:ln>
        </p:spPr>
        <p:txBody>
          <a:bodyPr wrap="square" lIns="120000" tIns="100000" rIns="120000" bIns="100000" anchor="t"/>
          <a:lstStyle/>
          <a:p>
            <a:pPr marL="260000" indent="-160000">
              <a:buChar char="-"/>
            </a:pPr>
            <a:r>
              <a:rPr lang="en-US" sz="1700">
                <a:solidFill>
                  <a:srgbClr val="1A1A2E"/>
                </a:solidFill>
                <a:latin typeface="Arial"/>
                <a:ea typeface="Arial"/>
                <a:cs typeface="Arial"/>
              </a:rPr>
              <a:t>Metadata-only retrieval with lightweight reranking is the best speed-quality tradeoff.</a:t>
            </a:r>
          </a:p>
          <a:p>
            <a:pPr marL="260000" indent="-160000">
              <a:buChar char="-"/>
            </a:pPr>
            <a:r>
              <a:rPr lang="en-US" sz="1700">
                <a:solidFill>
                  <a:srgbClr val="1A1A2E"/>
                </a:solidFill>
                <a:latin typeface="Arial"/>
                <a:ea typeface="Arial"/>
                <a:cs typeface="Arial"/>
              </a:rPr>
              <a:t>T4 GPU makes full-text BGE reranking usable for experiments, but metadata reranking remains simpler and faster.</a:t>
            </a:r>
          </a:p>
          <a:p>
            <a:pPr marL="260000" indent="-160000">
              <a:buChar char="-"/>
            </a:pPr>
            <a:r>
              <a:rPr lang="en-US" sz="1700">
                <a:solidFill>
                  <a:srgbClr val="1A1A2E"/>
                </a:solidFill>
                <a:latin typeface="Arial"/>
                <a:ea typeface="Arial"/>
                <a:cs typeface="Arial"/>
              </a:rPr>
              <a:t>RAGAS shows strong faithfulness and context precision for the answer pipeline.</a:t>
            </a:r>
          </a:p>
        </p:txBody>
      </p:sp>
      <p:sp>
        <p:nvSpPr>
          <p:cNvPr id="9" name="Bullet Box 9"/>
          <p:cNvSpPr txBox="1"/>
          <p:nvPr/>
        </p:nvSpPr>
        <p:spPr>
          <a:xfrm>
            <a:off x="6080760" y="960120"/>
            <a:ext cx="4800600" cy="3063240"/>
          </a:xfrm>
          <a:prstGeom prst="roundRect">
            <a:avLst/>
          </a:prstGeom>
          <a:solidFill>
            <a:srgbClr val="EEF3FC"/>
          </a:solidFill>
          <a:ln w="12700">
            <a:solidFill>
              <a:srgbClr val="D9E2F3"/>
            </a:solidFill>
          </a:ln>
        </p:spPr>
        <p:txBody>
          <a:bodyPr wrap="square" lIns="120000" tIns="100000" rIns="120000" bIns="100000" anchor="t"/>
          <a:lstStyle/>
          <a:p>
            <a:pPr marL="260000" indent="-160000">
              <a:buChar char="-"/>
            </a:pPr>
            <a:r>
              <a:rPr lang="en-US" sz="1700">
                <a:solidFill>
                  <a:srgbClr val="1A1A2E"/>
                </a:solidFill>
                <a:latin typeface="Arial"/>
                <a:ea typeface="Arial"/>
                <a:cs typeface="Arial"/>
              </a:rPr>
              <a:t>Next: improve Infosys IR disambiguation with quarter/year and exact financial values.</a:t>
            </a:r>
          </a:p>
          <a:p>
            <a:pPr marL="260000" indent="-160000">
              <a:buChar char="-"/>
            </a:pPr>
            <a:r>
              <a:rPr lang="en-US" sz="1700">
                <a:solidFill>
                  <a:srgbClr val="1A1A2E"/>
                </a:solidFill>
                <a:latin typeface="Arial"/>
                <a:ea typeface="Arial"/>
                <a:cs typeface="Arial"/>
              </a:rPr>
              <a:t>Add same-document adjacent chunk retrieval for list-style answers.</a:t>
            </a:r>
          </a:p>
          <a:p>
            <a:pPr marL="260000" indent="-160000">
              <a:buChar char="-"/>
            </a:pPr>
            <a:r>
              <a:rPr lang="en-US" sz="1700">
                <a:solidFill>
                  <a:srgbClr val="1A1A2E"/>
                </a:solidFill>
                <a:latin typeface="Arial"/>
                <a:ea typeface="Arial"/>
                <a:cs typeface="Arial"/>
              </a:rPr>
              <a:t>Complete Pipeline B RAGAS evaluation after retrieval settings are finalized.</a:t>
            </a:r>
          </a:p>
        </p:txBody>
      </p:sp>
      <p:sp>
        <p:nvSpPr>
          <p:cNvPr id="10" name="Close 10"/>
          <p:cNvSpPr txBox="1"/>
          <p:nvPr/>
        </p:nvSpPr>
        <p:spPr>
          <a:xfrm>
            <a:off x="822960" y="4663440"/>
            <a:ext cx="987552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wrap="square" lIns="73152" tIns="73152" rIns="73152" bIns="73152" anchor="t"/>
          <a:lstStyle/>
          <a:p>
            <a:pPr algn="c"/>
            <a:endParaRPr lang="en-US" sz="1800"/>
            <a:r>
              <a:rPr lang="en-US"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Milestone 5 moved FinQuery from full-text-only retrieval toward a faster metadata-aware RAG architecture.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60f63ba8d_0_100"/>
          <p:cNvSpPr/>
          <p:nvPr/>
        </p:nvSpPr>
        <p:spPr>
          <a:xfrm>
            <a:off x="457200" y="320040"/>
            <a:ext cx="1127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EVALUATION FRAMEWORK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f60f63ba8d_0_100"/>
          <p:cNvSpPr/>
          <p:nvPr/>
        </p:nvSpPr>
        <p:spPr>
          <a:xfrm>
            <a:off x="457200" y="566928"/>
            <a:ext cx="1127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RAGAS Results: No-Reranking Baseline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f60f63ba8d_0_100"/>
          <p:cNvSpPr/>
          <p:nvPr/>
        </p:nvSpPr>
        <p:spPr>
          <a:xfrm>
            <a:off x="457200" y="6510528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FinQuery —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f60f63ba8d_0_100"/>
          <p:cNvSpPr/>
          <p:nvPr/>
        </p:nvSpPr>
        <p:spPr>
          <a:xfrm>
            <a:off x="11185855" y="6510528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f60f63ba8d_0_100"/>
          <p:cNvSpPr/>
          <p:nvPr/>
        </p:nvSpPr>
        <p:spPr>
          <a:xfrm>
            <a:off x="457200" y="1325880"/>
            <a:ext cx="11277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Evaluated on the no-reranking baseline: 50 Infosys questions, each scoring the saved answer against its saved top-3 retrieved contexts and a manually prepared reference answer. Evaluator: gpt-4o-mini. Embedding: text-embedding-3-small. All 50 rows completed successfully — 0 failures.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3" name="Google Shape;293;g3f60f63ba8d_0_100"/>
          <p:cNvGraphicFramePr/>
          <p:nvPr/>
        </p:nvGraphicFramePr>
        <p:xfrm>
          <a:off x="457200" y="20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{D1609649-03A6-4475-90FF-E06B5FD767E6}</a:tableStyleId>
              </a:tblPr>
              <a:tblGrid>
                <a:gridCol w="2377450"/>
                <a:gridCol w="1554475"/>
                <a:gridCol w="734537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Avg. Score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Measures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Faithfulness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0.8101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Whether the answer is supported by the retrieved context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Answer relevancy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0.6655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Whether the answer addresses the question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Context precision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0.9117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Whether the retrieved context is useful and focused for the reference answer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Context recall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0.7769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Whether the retrieved context contains the facts needed for the reference answer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4" name="Google Shape;294;g3f60f63ba8d_0_100"/>
          <p:cNvSpPr/>
          <p:nvPr/>
        </p:nvSpPr>
        <p:spPr>
          <a:xfrm>
            <a:off x="457200" y="4800600"/>
            <a:ext cx="11277300" cy="1417200"/>
          </a:xfrm>
          <a:prstGeom prst="roundRect">
            <a:avLst>
              <a:gd fmla="val 5161" name="adj"/>
            </a:avLst>
          </a:prstGeom>
          <a:solidFill>
            <a:srgbClr val="EEF3FC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492A6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f60f63ba8d_0_100"/>
          <p:cNvSpPr/>
          <p:nvPr/>
        </p:nvSpPr>
        <p:spPr>
          <a:xfrm>
            <a:off x="731520" y="4800600"/>
            <a:ext cx="107286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RAGAS scores range from 0 to 1, where a higher score indicates better performance. Retrieved context was generally precise and answers were mostly grounded in the available evidence. Answer relevancy was the weakest average metric — some answers didn’t address the question as directly as expected — and the lower context recall suggests the top-3 context limit can exclude information needed for some questions.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457200" y="56692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Bottlenecks &amp; Improvement Plan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FinQuery —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900">
              <a:solidFill>
                <a:srgbClr val="5B64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457200" y="1417320"/>
            <a:ext cx="54557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Main Bottlenecks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6" name="Google Shape;306;p14"/>
          <p:cNvGraphicFramePr/>
          <p:nvPr/>
        </p:nvGraphicFramePr>
        <p:xfrm>
          <a:off x="457200" y="17556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{25B21B74-D8FC-48D4-869A-1F738B3A4953}</a:tableStyleId>
              </a:tblPr>
              <a:tblGrid>
                <a:gridCol w="2194550"/>
                <a:gridCol w="3200400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Bottleneck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Why It Matters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Chunk size too large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Dilutes relevant span; less precise embedding/reranking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Table-heavy documents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rows get buried without structure-aware handling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Reranking latency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~245 sec/question, impractical for real-time use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Semantic</a:t>
                      </a: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-only retrieval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 miss exact company/deal names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Top-3 context limit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Correct docs at ranks 4–5 never seen by the LLM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307" name="Google Shape;307;p14"/>
          <p:cNvSpPr/>
          <p:nvPr/>
        </p:nvSpPr>
        <p:spPr>
          <a:xfrm>
            <a:off x="6278728" y="1417320"/>
            <a:ext cx="54557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Improvement Plan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8" name="Google Shape;308;p14"/>
          <p:cNvGraphicFramePr/>
          <p:nvPr/>
        </p:nvGraphicFramePr>
        <p:xfrm>
          <a:off x="6278728" y="17556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{25B21B74-D8FC-48D4-869A-1F738B3A4953}</a:tableStyleId>
              </a:tblPr>
              <a:tblGrid>
                <a:gridCol w="2103125"/>
                <a:gridCol w="3291850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Improvement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Expected Benefit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Reduce chunk size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Lower noise-to-signal ratio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Table-aware chunking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Preserve financial tables as queryable units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3 → Top 5 context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Recovers near-miss documents at ranks 4–5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Hybrid dense + BM25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Catches exact keyword/entity matches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Lighter reranker + richer metadata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Lower latency; better title/date matching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-1280160" y="-1463040"/>
            <a:ext cx="3657600" cy="3657600"/>
          </a:xfrm>
          <a:prstGeom prst="ellipse">
            <a:avLst/>
          </a:prstGeom>
          <a:solidFill>
            <a:srgbClr val="141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10241280" y="4937760"/>
            <a:ext cx="3108960" cy="3108960"/>
          </a:xfrm>
          <a:prstGeom prst="ellipse">
            <a:avLst/>
          </a:prstGeom>
          <a:solidFill>
            <a:srgbClr val="141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5"/>
          <p:cNvSpPr/>
          <p:nvPr/>
        </p:nvSpPr>
        <p:spPr>
          <a:xfrm>
            <a:off x="457200" y="64008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457200" y="1005840"/>
            <a:ext cx="112772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BGE Reranking Was the Headline Result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457200" y="2011680"/>
            <a:ext cx="3576218" cy="1554480"/>
          </a:xfrm>
          <a:prstGeom prst="roundRect">
            <a:avLst>
              <a:gd fmla="val 4706" name="adj"/>
            </a:avLst>
          </a:prstGeom>
          <a:solidFill>
            <a:srgbClr val="141B45"/>
          </a:solidFill>
          <a:ln cap="flat" cmpd="sng" w="12700">
            <a:solidFill>
              <a:srgbClr val="3A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5"/>
          <p:cNvSpPr/>
          <p:nvPr/>
        </p:nvSpPr>
        <p:spPr>
          <a:xfrm>
            <a:off x="457200" y="2194560"/>
            <a:ext cx="35762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40% → 58%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640080" y="2926080"/>
            <a:ext cx="321045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Recall@3, Chroma-only → + BGE reranking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5"/>
          <p:cNvSpPr/>
          <p:nvPr/>
        </p:nvSpPr>
        <p:spPr>
          <a:xfrm>
            <a:off x="4307738" y="2011680"/>
            <a:ext cx="3576218" cy="1554480"/>
          </a:xfrm>
          <a:prstGeom prst="roundRect">
            <a:avLst>
              <a:gd fmla="val 4706" name="adj"/>
            </a:avLst>
          </a:prstGeom>
          <a:solidFill>
            <a:srgbClr val="141B45"/>
          </a:solidFill>
          <a:ln cap="flat" cmpd="sng" w="12700">
            <a:solidFill>
              <a:srgbClr val="3A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5"/>
          <p:cNvSpPr/>
          <p:nvPr/>
        </p:nvSpPr>
        <p:spPr>
          <a:xfrm>
            <a:off x="4307738" y="2194560"/>
            <a:ext cx="35762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6.3 → 245 sec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4490618" y="2926080"/>
            <a:ext cx="321045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Average latency, same comparison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8158277" y="2011680"/>
            <a:ext cx="3576218" cy="1554480"/>
          </a:xfrm>
          <a:prstGeom prst="roundRect">
            <a:avLst>
              <a:gd fmla="val 4706" name="adj"/>
            </a:avLst>
          </a:prstGeom>
          <a:solidFill>
            <a:srgbClr val="141B45"/>
          </a:solidFill>
          <a:ln cap="flat" cmpd="sng" w="12700">
            <a:solidFill>
              <a:srgbClr val="3A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5"/>
          <p:cNvSpPr/>
          <p:nvPr/>
        </p:nvSpPr>
        <p:spPr>
          <a:xfrm>
            <a:off x="8158277" y="2194560"/>
            <a:ext cx="35762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50/50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8341157" y="2926080"/>
            <a:ext cx="321045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Benchmark questions, zero failures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457200" y="3977640"/>
            <a:ext cx="11277295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FinQuery uses frozen pretrained models throughout</a:t>
            </a:r>
            <a:r>
              <a:rPr lang="en-US" sz="13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0" lang="en-US" sz="13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Generalization and stability came from clean preprocessing, metadata enrichment, structure-aware chunking, grounded prompting, and reranking. Next steps: smaller table-aware chunks, hybrid BM25 + dense retrieval, richer metadata, and a lighter reranker for top-5 context at interactive latency.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Team 06  ·  IIT Madras  ·  FinQuery Milestone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2026-07-30T18:41:21Z</dcterms:created>
  <dc:creator>PptxGenJS</dc:creator>
</cp:coreProperties>
</file>