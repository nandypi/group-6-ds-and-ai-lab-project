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jUwwGkIjKvUTr2prkNG4+7Hrev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24E421F-3505-4ED9-8378-81507E205D74}">
  <a:tblStyle styleId="{324E421F-3505-4ED9-8378-81507E205D7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24" Type="http://customschemas.google.com/relationships/presentationmetadata" Target="metadata"/><Relationship Id="rId12" Type="http://schemas.openxmlformats.org/officeDocument/2006/relationships/slide" Target="slides/slide6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57200" y="13716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MILESTONE 5 — RAG EVALUATION &amp; OPTIMIZATION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457200" y="594360"/>
            <a:ext cx="6858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FinQuery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457200" y="1737360"/>
            <a:ext cx="6858000" cy="6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libri"/>
              <a:buNone/>
            </a:pPr>
            <a:r>
              <a:rPr i="1" lang="en-US" sz="18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An AI-Powered, Stock-Specific Public Update Analyzer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800"/>
              <a:buFont typeface="Calibri"/>
              <a:buNone/>
            </a:pPr>
            <a:r>
              <a:rPr i="1" lang="en-US" sz="18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for Indian Capital Markets</a:t>
            </a:r>
            <a:endParaRPr sz="17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457200" y="3915455"/>
            <a:ext cx="6400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Team 06 — IIT Madras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408475" y="4326930"/>
            <a:ext cx="6400800" cy="9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Akbar Ali — 23f1002997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Gurram Sai Sri Ram Hruthik — 22f3001648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NandanReddy Parnapalli — 22f3002857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Shubham Gattani — 21f3002082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Shubhashish Biswas — 21f1001460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PROJECT SCOPE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Changed in Milestone 5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365760" y="1325880"/>
            <a:ext cx="5486400" cy="320040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365760" y="1325880"/>
            <a:ext cx="64008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548640" y="1417320"/>
            <a:ext cx="521208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Section-aware chunking for long NSE and Infosys IR documents into 1,500–2,500 token chunks.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New section cleaning prompt with stronger table summarization and semantic YAML metadata.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Full corpus re-embedding after YAML quoting fixes: 1,877 Markdown documents re-indexed.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Metadata-only retrieval pipeline embedding only generated YAML metadata (section_title, section_description, topics, sample_queries).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Lightweight cross-encoder reranking stage added on top of metadata retrieval.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36576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65760" y="4754880"/>
            <a:ext cx="64008" cy="100584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50292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1,500–2,500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50292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preferred chunk token range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320040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3200400" y="4754880"/>
            <a:ext cx="64008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333756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3,000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333756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hard max tokens per chunk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603504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6035040" y="475488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617220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1,877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617220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documents re-embedded</a:t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886968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8869680" y="4754880"/>
            <a:ext cx="64008" cy="1005840"/>
          </a:xfrm>
          <a:prstGeom prst="rect">
            <a:avLst/>
          </a:prstGeom>
          <a:solidFill>
            <a:srgbClr val="6D5BD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900684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5BD0"/>
                </a:solidFill>
                <a:latin typeface="Arial"/>
                <a:ea typeface="Arial"/>
                <a:cs typeface="Arial"/>
                <a:sym typeface="Arial"/>
              </a:rPr>
              <a:t>1,875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900684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metadata docs embedded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129" name="Google Shape;129;p3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130" name="Google Shape;130;p3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  <a:endParaRPr/>
          </a:p>
        </p:txBody>
      </p:sp>
      <p:sp>
        <p:nvSpPr>
          <p:cNvPr id="131" name="Google Shape;131;p3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Previous-Milestone Pipeline</a:t>
            </a:r>
            <a:endParaRPr/>
          </a:p>
        </p:txBody>
      </p:sp>
      <p:sp>
        <p:nvSpPr>
          <p:cNvPr id="132" name="Google Shape;132;p3"/>
          <p:cNvSpPr/>
          <p:nvPr/>
        </p:nvSpPr>
        <p:spPr>
          <a:xfrm>
            <a:off x="365760" y="1325880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365760" y="132588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 txBox="1"/>
          <p:nvPr/>
        </p:nvSpPr>
        <p:spPr>
          <a:xfrm>
            <a:off x="384048" y="139903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135" name="Google Shape;135;p3"/>
          <p:cNvSpPr txBox="1"/>
          <p:nvPr/>
        </p:nvSpPr>
        <p:spPr>
          <a:xfrm>
            <a:off x="749808" y="141732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Clean source financial documents into Markdown</a:t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365760" y="1874519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365760" y="1874519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384048" y="194767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749808" y="196596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Embed each document using OpenAI text-embedding-3-small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365760" y="2423160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365760" y="242316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384048" y="249631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749808" y="251460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Store embeddings, text and filenames in ChromaDB</a:t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365760" y="2971800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65760" y="297180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384048" y="304495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147" name="Google Shape;147;p3"/>
          <p:cNvSpPr txBox="1"/>
          <p:nvPr/>
        </p:nvSpPr>
        <p:spPr>
          <a:xfrm>
            <a:off x="749808" y="306324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Embed the user question and retrieve nearest documents</a:t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365760" y="3520439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365760" y="3520439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384048" y="3593591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151" name="Google Shape;151;p3"/>
          <p:cNvSpPr txBox="1"/>
          <p:nvPr/>
        </p:nvSpPr>
        <p:spPr>
          <a:xfrm>
            <a:off x="749808" y="3611879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Optionally apply HyDE or cross-encoder reranking</a:t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365760" y="4069080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365760" y="406908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"/>
          <p:cNvSpPr txBox="1"/>
          <p:nvPr/>
        </p:nvSpPr>
        <p:spPr>
          <a:xfrm>
            <a:off x="384048" y="414223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155" name="Google Shape;155;p3"/>
          <p:cNvSpPr txBox="1"/>
          <p:nvPr/>
        </p:nvSpPr>
        <p:spPr>
          <a:xfrm>
            <a:off x="749808" y="416052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Send top-3 contexts to gpt-4o-mini for grounded answer</a:t>
            </a:r>
            <a:endParaRPr/>
          </a:p>
        </p:txBody>
      </p:sp>
      <p:sp>
        <p:nvSpPr>
          <p:cNvPr id="156" name="Google Shape;156;p3"/>
          <p:cNvSpPr txBox="1"/>
          <p:nvPr/>
        </p:nvSpPr>
        <p:spPr>
          <a:xfrm>
            <a:off x="6035040" y="1325880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Milestone 4 Baseline Results</a:t>
            </a:r>
            <a:endParaRPr/>
          </a:p>
        </p:txBody>
      </p:sp>
      <p:graphicFrame>
        <p:nvGraphicFramePr>
          <p:cNvPr id="157" name="Google Shape;157;p3"/>
          <p:cNvGraphicFramePr/>
          <p:nvPr/>
        </p:nvGraphicFramePr>
        <p:xfrm>
          <a:off x="6035040" y="1600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{324E421F-3505-4ED9-8378-81507E205D74}</a:tableStyleId>
              </a:tblPr>
              <a:tblGrid>
                <a:gridCol w="1828800"/>
                <a:gridCol w="822950"/>
                <a:gridCol w="685800"/>
                <a:gridCol w="685800"/>
                <a:gridCol w="685800"/>
                <a:gridCol w="96012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Pool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Latency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Chroma-only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10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54%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6.251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HyDE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10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9.320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BGE reranking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25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58%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64%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245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8" name="Google Shape;158;p3"/>
          <p:cNvSpPr/>
          <p:nvPr/>
        </p:nvSpPr>
        <p:spPr>
          <a:xfrm>
            <a:off x="6035040" y="3749039"/>
            <a:ext cx="5943600" cy="7315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6172200" y="3822191"/>
            <a:ext cx="56692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Milestone 5 extends this baseline with section-aware chunking and metadata-only retrieval, achieving 88% Recall@7 at 3.173 s — 78× faster than BGE reranking on CPU.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168" name="Google Shape;168;p4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169" name="Google Shape;169;p4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BENCHMARK</a:t>
            </a:r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Single 50-Question Evaluation Dataset</a:t>
            </a:r>
            <a:endParaRPr/>
          </a:p>
        </p:txBody>
      </p:sp>
      <p:graphicFrame>
        <p:nvGraphicFramePr>
          <p:cNvPr id="171" name="Google Shape;171;p4"/>
          <p:cNvGraphicFramePr/>
          <p:nvPr/>
        </p:nvGraphicFramePr>
        <p:xfrm>
          <a:off x="365760" y="1325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{324E421F-3505-4ED9-8378-81507E205D74}</a:tableStyleId>
              </a:tblPr>
              <a:tblGrid>
                <a:gridCol w="3200400"/>
                <a:gridCol w="18288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Source Category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Questions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NSE documents ≤ 10 pages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NSE documents &gt; 10 pages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Infosys IR (earnings calls / press conf)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Trendlyne analyst reports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Yahoo Finance articles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</a:tbl>
          </a:graphicData>
        </a:graphic>
      </p:graphicFrame>
      <p:sp>
        <p:nvSpPr>
          <p:cNvPr id="172" name="Google Shape;172;p4"/>
          <p:cNvSpPr/>
          <p:nvPr/>
        </p:nvSpPr>
        <p:spPr>
          <a:xfrm>
            <a:off x="6035040" y="1325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6035040" y="1325880"/>
            <a:ext cx="64008" cy="100584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 txBox="1"/>
          <p:nvPr/>
        </p:nvSpPr>
        <p:spPr>
          <a:xfrm>
            <a:off x="6217920" y="1399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Ground-Truth Design</a:t>
            </a:r>
            <a:endParaRPr/>
          </a:p>
        </p:txBody>
      </p:sp>
      <p:sp>
        <p:nvSpPr>
          <p:cNvPr id="175" name="Google Shape;175;p4"/>
          <p:cNvSpPr txBox="1"/>
          <p:nvPr/>
        </p:nvSpPr>
        <p:spPr>
          <a:xfrm>
            <a:off x="6217920" y="1737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Full relative file paths (e.g., data/nse_files_final/…/group_001.md) eliminate ambiguity between repeated chunk filenames.</a:t>
            </a:r>
            <a:endParaRPr/>
          </a:p>
        </p:txBody>
      </p:sp>
      <p:sp>
        <p:nvSpPr>
          <p:cNvPr id="176" name="Google Shape;176;p4"/>
          <p:cNvSpPr/>
          <p:nvPr/>
        </p:nvSpPr>
        <p:spPr>
          <a:xfrm>
            <a:off x="6035040" y="2468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6035040" y="246888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6217920" y="2542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Strict Evaluation</a:t>
            </a:r>
            <a:endParaRPr/>
          </a:p>
        </p:txBody>
      </p:sp>
      <p:sp>
        <p:nvSpPr>
          <p:cNvPr id="179" name="Google Shape;179;p4"/>
          <p:cNvSpPr txBox="1"/>
          <p:nvPr/>
        </p:nvSpPr>
        <p:spPr>
          <a:xfrm>
            <a:off x="6217920" y="2880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Recall@k is exact: a question is correct only if the expected source document appears in the top-k retrieved results.</a:t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6035040" y="3611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>
            <a:off x="6035040" y="3611880"/>
            <a:ext cx="64008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 txBox="1"/>
          <p:nvPr/>
        </p:nvSpPr>
        <p:spPr>
          <a:xfrm>
            <a:off x="6217920" y="3685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Distribution</a:t>
            </a:r>
            <a:endParaRPr/>
          </a:p>
        </p:txBody>
      </p:sp>
      <p:sp>
        <p:nvSpPr>
          <p:cNvPr id="183" name="Google Shape;183;p4"/>
          <p:cNvSpPr txBox="1"/>
          <p:nvPr/>
        </p:nvSpPr>
        <p:spPr>
          <a:xfrm>
            <a:off x="6217920" y="4023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Dataset mirrors the corpus composition: 24 short NSE press releases, 10 long NSE sections, 10 IR quarterly chunks, and 6 external reports.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192" name="Google Shape;192;p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193" name="Google Shape;193;p5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SETUP</a:t>
            </a:r>
            <a:endParaRPr/>
          </a:p>
        </p:txBody>
      </p:sp>
      <p:sp>
        <p:nvSpPr>
          <p:cNvPr id="194" name="Google Shape;194;p5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Configuration Used for Milestone 5</a:t>
            </a:r>
            <a:endParaRPr/>
          </a:p>
        </p:txBody>
      </p:sp>
      <p:graphicFrame>
        <p:nvGraphicFramePr>
          <p:cNvPr id="195" name="Google Shape;195;p5"/>
          <p:cNvGraphicFramePr/>
          <p:nvPr/>
        </p:nvGraphicFramePr>
        <p:xfrm>
          <a:off x="365760" y="1325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{324E421F-3505-4ED9-8378-81507E205D74}</a:tableStyleId>
              </a:tblPr>
              <a:tblGrid>
                <a:gridCol w="3657600"/>
                <a:gridCol w="758952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Configuration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Embedding model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OpenAI text-embedding-3-small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Answer-generation model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OpenAI gpt-4o-mini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RAGAS evaluator LLM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gpt-</a:t>
                      </a:r>
                      <a:r>
                        <a:rPr lang="en-US" sz="950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5.6-luna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RAGAS evaluator embeddings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text-embedding-3-small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Full-text BGE reranker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BAAI/bge-reranker-v2-m3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Metadata cross-encoder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cross-encoder/ms-marco-MiniLM-L-6-v2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Vector database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ChromaDB persistent collections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GPU runtime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Google Colab T4 GPU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 runtime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Python virtual environment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Google Shape;196;p5"/>
          <p:cNvSpPr/>
          <p:nvPr/>
        </p:nvSpPr>
        <p:spPr>
          <a:xfrm>
            <a:off x="365760" y="557784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365760" y="557784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502920" y="5623559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1,877</a:t>
            </a:r>
            <a:endParaRPr/>
          </a:p>
        </p:txBody>
      </p:sp>
      <p:sp>
        <p:nvSpPr>
          <p:cNvPr id="199" name="Google Shape;199;p5"/>
          <p:cNvSpPr txBox="1"/>
          <p:nvPr/>
        </p:nvSpPr>
        <p:spPr>
          <a:xfrm>
            <a:off x="502920" y="614476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full-text Markdown embeddings</a:t>
            </a:r>
            <a:endParaRPr/>
          </a:p>
        </p:txBody>
      </p:sp>
      <p:sp>
        <p:nvSpPr>
          <p:cNvPr id="200" name="Google Shape;200;p5"/>
          <p:cNvSpPr/>
          <p:nvPr/>
        </p:nvSpPr>
        <p:spPr>
          <a:xfrm>
            <a:off x="3200400" y="557784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3200400" y="5577840"/>
            <a:ext cx="64008" cy="1005840"/>
          </a:xfrm>
          <a:prstGeom prst="rect">
            <a:avLst/>
          </a:prstGeom>
          <a:solidFill>
            <a:srgbClr val="6D5BD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 txBox="1"/>
          <p:nvPr/>
        </p:nvSpPr>
        <p:spPr>
          <a:xfrm>
            <a:off x="3337560" y="5623559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5BD0"/>
                </a:solidFill>
                <a:latin typeface="Arial"/>
                <a:ea typeface="Arial"/>
                <a:cs typeface="Arial"/>
                <a:sym typeface="Arial"/>
              </a:rPr>
              <a:t>1,875</a:t>
            </a:r>
            <a:endParaRPr/>
          </a:p>
        </p:txBody>
      </p:sp>
      <p:sp>
        <p:nvSpPr>
          <p:cNvPr id="203" name="Google Shape;203;p5"/>
          <p:cNvSpPr txBox="1"/>
          <p:nvPr/>
        </p:nvSpPr>
        <p:spPr>
          <a:xfrm>
            <a:off x="3337560" y="614476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metadata-only embeddings (2 skipped)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212" name="Google Shape;212;p6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213" name="Google Shape;213;p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/>
          </a:p>
        </p:txBody>
      </p:sp>
      <p:sp>
        <p:nvSpPr>
          <p:cNvPr id="214" name="Google Shape;214;p6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Chroma-Only vs BGE Reranking (Full-Text Corpus)</a:t>
            </a:r>
            <a:endParaRPr/>
          </a:p>
        </p:txBody>
      </p:sp>
      <p:graphicFrame>
        <p:nvGraphicFramePr>
          <p:cNvPr id="215" name="Google Shape;215;p6"/>
          <p:cNvGraphicFramePr/>
          <p:nvPr/>
        </p:nvGraphicFramePr>
        <p:xfrm>
          <a:off x="365760" y="1325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{324E421F-3505-4ED9-8378-81507E205D74}</a:tableStyleId>
              </a:tblPr>
              <a:tblGrid>
                <a:gridCol w="2560325"/>
                <a:gridCol w="1371600"/>
                <a:gridCol w="1371600"/>
                <a:gridCol w="1371600"/>
                <a:gridCol w="1371600"/>
                <a:gridCol w="1828800"/>
                <a:gridCol w="15544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Pool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Avg Latency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Chroma-only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10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34%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6.251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BGE reranking (CPU)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35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486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</a:tbl>
          </a:graphicData>
        </a:graphic>
      </p:graphicFrame>
      <p:sp>
        <p:nvSpPr>
          <p:cNvPr id="216" name="Google Shape;216;p6"/>
          <p:cNvSpPr/>
          <p:nvPr/>
        </p:nvSpPr>
        <p:spPr>
          <a:xfrm>
            <a:off x="36576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65760" y="3291840"/>
            <a:ext cx="64008" cy="128016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 txBox="1"/>
          <p:nvPr/>
        </p:nvSpPr>
        <p:spPr>
          <a:xfrm>
            <a:off x="50292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+6 to +16 pp</a:t>
            </a:r>
            <a:endParaRPr/>
          </a:p>
        </p:txBody>
      </p:sp>
      <p:sp>
        <p:nvSpPr>
          <p:cNvPr id="219" name="Google Shape;219;p6"/>
          <p:cNvSpPr txBox="1"/>
          <p:nvPr/>
        </p:nvSpPr>
        <p:spPr>
          <a:xfrm>
            <a:off x="50292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BGE reranking improved over Chroma-only by 6, 8, 10, and 16 percentage points at Recall@3, @5, @7, @9.</a:t>
            </a:r>
            <a:endParaRPr/>
          </a:p>
        </p:txBody>
      </p:sp>
      <p:sp>
        <p:nvSpPr>
          <p:cNvPr id="220" name="Google Shape;220;p6"/>
          <p:cNvSpPr/>
          <p:nvPr/>
        </p:nvSpPr>
        <p:spPr>
          <a:xfrm>
            <a:off x="411480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4114800" y="3291840"/>
            <a:ext cx="64008" cy="128016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 txBox="1"/>
          <p:nvPr/>
        </p:nvSpPr>
        <p:spPr>
          <a:xfrm>
            <a:off x="425196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486 s CPU</a:t>
            </a:r>
            <a:endParaRPr/>
          </a:p>
        </p:txBody>
      </p:sp>
      <p:sp>
        <p:nvSpPr>
          <p:cNvPr id="223" name="Google Shape;223;p6"/>
          <p:cNvSpPr txBox="1"/>
          <p:nvPr/>
        </p:nvSpPr>
        <p:spPr>
          <a:xfrm>
            <a:off x="425196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BGE reranking averaged 486 seconds per question on CPU — too slow for interactive use.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786384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7863840" y="3291840"/>
            <a:ext cx="64008" cy="12801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 txBox="1"/>
          <p:nvPr/>
        </p:nvSpPr>
        <p:spPr>
          <a:xfrm>
            <a:off x="800100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3.7 s GPU</a:t>
            </a:r>
            <a:endParaRPr/>
          </a:p>
        </p:txBody>
      </p:sp>
      <p:sp>
        <p:nvSpPr>
          <p:cNvPr id="227" name="Google Shape;227;p6"/>
          <p:cNvSpPr txBox="1"/>
          <p:nvPr/>
        </p:nvSpPr>
        <p:spPr>
          <a:xfrm>
            <a:off x="800100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On a Colab T4 GPU the same pipeline averaged only 3.695 seconds end-to-end, making it practical.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236" name="Google Shape;236;p7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237" name="Google Shape;237;p7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METHOD</a:t>
            </a:r>
            <a:endParaRPr/>
          </a:p>
        </p:txBody>
      </p:sp>
      <p:sp>
        <p:nvSpPr>
          <p:cNvPr id="238" name="Google Shape;238;p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Metadata-Only Retrieval Pipeline</a:t>
            </a:r>
            <a:endParaRPr/>
          </a:p>
        </p:txBody>
      </p:sp>
      <p:sp>
        <p:nvSpPr>
          <p:cNvPr id="239" name="Google Shape;239;p7"/>
          <p:cNvSpPr/>
          <p:nvPr/>
        </p:nvSpPr>
        <p:spPr>
          <a:xfrm>
            <a:off x="365760" y="1325880"/>
            <a:ext cx="5303520" cy="228600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365760" y="1325880"/>
            <a:ext cx="64008" cy="2286000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What Gets Embedded (per chunk)</a:t>
            </a:r>
            <a:endParaRPr/>
          </a:p>
        </p:txBody>
      </p:sp>
      <p:sp>
        <p:nvSpPr>
          <p:cNvPr id="242" name="Google Shape;242;p7"/>
          <p:cNvSpPr/>
          <p:nvPr/>
        </p:nvSpPr>
        <p:spPr>
          <a:xfrm>
            <a:off x="502920" y="1801368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502920" y="1801368"/>
            <a:ext cx="64008" cy="73152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 txBox="1"/>
          <p:nvPr/>
        </p:nvSpPr>
        <p:spPr>
          <a:xfrm>
            <a:off x="640080" y="184708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section_title</a:t>
            </a:r>
            <a:endParaRPr/>
          </a:p>
        </p:txBody>
      </p:sp>
      <p:sp>
        <p:nvSpPr>
          <p:cNvPr id="245" name="Google Shape;245;p7"/>
          <p:cNvSpPr txBox="1"/>
          <p:nvPr/>
        </p:nvSpPr>
        <p:spPr>
          <a:xfrm>
            <a:off x="640080" y="22128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The section heading</a:t>
            </a: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2971800" y="1801368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2971800" y="1801368"/>
            <a:ext cx="64008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7"/>
          <p:cNvSpPr txBox="1"/>
          <p:nvPr/>
        </p:nvSpPr>
        <p:spPr>
          <a:xfrm>
            <a:off x="3108960" y="184708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section_description</a:t>
            </a:r>
            <a:endParaRPr/>
          </a:p>
        </p:txBody>
      </p:sp>
      <p:sp>
        <p:nvSpPr>
          <p:cNvPr id="249" name="Google Shape;249;p7"/>
          <p:cNvSpPr txBox="1"/>
          <p:nvPr/>
        </p:nvSpPr>
        <p:spPr>
          <a:xfrm>
            <a:off x="3108960" y="22128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One-sentence summary</a:t>
            </a:r>
            <a:endParaRPr/>
          </a:p>
        </p:txBody>
      </p:sp>
      <p:sp>
        <p:nvSpPr>
          <p:cNvPr id="250" name="Google Shape;250;p7"/>
          <p:cNvSpPr/>
          <p:nvPr/>
        </p:nvSpPr>
        <p:spPr>
          <a:xfrm>
            <a:off x="502920" y="2651760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502920" y="2651760"/>
            <a:ext cx="64008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 txBox="1"/>
          <p:nvPr/>
        </p:nvSpPr>
        <p:spPr>
          <a:xfrm>
            <a:off x="640080" y="2697479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topics</a:t>
            </a:r>
            <a:endParaRPr/>
          </a:p>
        </p:txBody>
      </p:sp>
      <p:sp>
        <p:nvSpPr>
          <p:cNvPr id="253" name="Google Shape;253;p7"/>
          <p:cNvSpPr txBox="1"/>
          <p:nvPr/>
        </p:nvSpPr>
        <p:spPr>
          <a:xfrm>
            <a:off x="640080" y="306324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Comma-separated topic list</a:t>
            </a:r>
            <a:endParaRPr/>
          </a:p>
        </p:txBody>
      </p:sp>
      <p:sp>
        <p:nvSpPr>
          <p:cNvPr id="254" name="Google Shape;254;p7"/>
          <p:cNvSpPr/>
          <p:nvPr/>
        </p:nvSpPr>
        <p:spPr>
          <a:xfrm>
            <a:off x="2971800" y="2651760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2971800" y="2651760"/>
            <a:ext cx="64008" cy="731520"/>
          </a:xfrm>
          <a:prstGeom prst="rect">
            <a:avLst/>
          </a:prstGeom>
          <a:solidFill>
            <a:srgbClr val="6D5BD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 txBox="1"/>
          <p:nvPr/>
        </p:nvSpPr>
        <p:spPr>
          <a:xfrm>
            <a:off x="3108960" y="2697479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5BD0"/>
                </a:solidFill>
                <a:latin typeface="Arial"/>
                <a:ea typeface="Arial"/>
                <a:cs typeface="Arial"/>
                <a:sym typeface="Arial"/>
              </a:rPr>
              <a:t>sample_queries</a:t>
            </a:r>
            <a:endParaRPr/>
          </a:p>
        </p:txBody>
      </p:sp>
      <p:sp>
        <p:nvSpPr>
          <p:cNvPr id="257" name="Google Shape;257;p7"/>
          <p:cNvSpPr txBox="1"/>
          <p:nvPr/>
        </p:nvSpPr>
        <p:spPr>
          <a:xfrm>
            <a:off x="3108960" y="3063240"/>
            <a:ext cx="2011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rgbClr val="5B6478"/>
                </a:solidFill>
              </a:rPr>
              <a:t>5-20</a:t>
            </a: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 example questions (based on information density)</a:t>
            </a:r>
            <a:endParaRPr/>
          </a:p>
        </p:txBody>
      </p:sp>
      <p:sp>
        <p:nvSpPr>
          <p:cNvPr id="258" name="Google Shape;258;p7"/>
          <p:cNvSpPr/>
          <p:nvPr/>
        </p:nvSpPr>
        <p:spPr>
          <a:xfrm>
            <a:off x="5943600" y="1325880"/>
            <a:ext cx="5943600" cy="228600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 txBox="1"/>
          <p:nvPr/>
        </p:nvSpPr>
        <p:spPr>
          <a:xfrm>
            <a:off x="6126480" y="1417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Pipeline A — No Reranking</a:t>
            </a:r>
            <a:endParaRPr/>
          </a:p>
        </p:txBody>
      </p:sp>
      <p:sp>
        <p:nvSpPr>
          <p:cNvPr id="260" name="Google Shape;260;p7"/>
          <p:cNvSpPr txBox="1"/>
          <p:nvPr/>
        </p:nvSpPr>
        <p:spPr>
          <a:xfrm>
            <a:off x="6126480" y="1828800"/>
            <a:ext cx="5303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1. Embed query with text-embedding-3-small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2. Retrieve top-10 from metadata_embeddings collection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3. Read top-3 document bodies from disk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4. gpt-4o-mini generates grounded answer</a:t>
            </a:r>
            <a:endParaRPr/>
          </a:p>
        </p:txBody>
      </p:sp>
      <p:sp>
        <p:nvSpPr>
          <p:cNvPr id="261" name="Google Shape;261;p7"/>
          <p:cNvSpPr txBox="1"/>
          <p:nvPr/>
        </p:nvSpPr>
        <p:spPr>
          <a:xfrm>
            <a:off x="6126480" y="324612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Latency: 0.478 s   Recall@7: 82%</a:t>
            </a:r>
            <a:endParaRPr/>
          </a:p>
        </p:txBody>
      </p:sp>
      <p:sp>
        <p:nvSpPr>
          <p:cNvPr id="262" name="Google Shape;262;p7"/>
          <p:cNvSpPr/>
          <p:nvPr/>
        </p:nvSpPr>
        <p:spPr>
          <a:xfrm>
            <a:off x="5943600" y="3794760"/>
            <a:ext cx="5943600" cy="228600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7"/>
          <p:cNvSpPr txBox="1"/>
          <p:nvPr/>
        </p:nvSpPr>
        <p:spPr>
          <a:xfrm>
            <a:off x="6126480" y="388620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Pipeline B — With Cross-Encoder Reranking</a:t>
            </a:r>
            <a:endParaRPr/>
          </a:p>
        </p:txBody>
      </p:sp>
      <p:sp>
        <p:nvSpPr>
          <p:cNvPr id="264" name="Google Shape;264;p7"/>
          <p:cNvSpPr txBox="1"/>
          <p:nvPr/>
        </p:nvSpPr>
        <p:spPr>
          <a:xfrm>
            <a:off x="6126480" y="4315968"/>
            <a:ext cx="53035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1. Embed query with text-embedding-3-small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2. Retrieve top-20 from metadata_embeddings collection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3. Cross-encoder (ms-marco-MiniLM-L-6-v2) re-scores all 20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4. Read top-3 reranked document bodies from disk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5. gpt-4o-mini generates grounded answer</a:t>
            </a:r>
            <a:endParaRPr/>
          </a:p>
        </p:txBody>
      </p:sp>
      <p:sp>
        <p:nvSpPr>
          <p:cNvPr id="265" name="Google Shape;265;p7"/>
          <p:cNvSpPr txBox="1"/>
          <p:nvPr/>
        </p:nvSpPr>
        <p:spPr>
          <a:xfrm>
            <a:off x="6126480" y="571500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Latency: 3.173 s   Recall@7: 88%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274" name="Google Shape;274;p8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  <p:sp>
        <p:nvSpPr>
          <p:cNvPr id="275" name="Google Shape;275;p8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/>
          </a:p>
        </p:txBody>
      </p:sp>
      <p:sp>
        <p:nvSpPr>
          <p:cNvPr id="276" name="Google Shape;276;p8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Metadata-Only Retrieval Performance</a:t>
            </a:r>
            <a:endParaRPr/>
          </a:p>
        </p:txBody>
      </p:sp>
      <p:graphicFrame>
        <p:nvGraphicFramePr>
          <p:cNvPr id="277" name="Google Shape;277;p8"/>
          <p:cNvGraphicFramePr/>
          <p:nvPr/>
        </p:nvGraphicFramePr>
        <p:xfrm>
          <a:off x="365760" y="1325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{324E421F-3505-4ED9-8378-81507E205D74}</a:tableStyleId>
              </a:tblPr>
              <a:tblGrid>
                <a:gridCol w="3474725"/>
                <a:gridCol w="1371600"/>
                <a:gridCol w="1371600"/>
                <a:gridCol w="1371600"/>
                <a:gridCol w="1371600"/>
                <a:gridCol w="24688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Pool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R@7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Avg Latency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Metadata-only embedding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10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78%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82%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0.478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Metadata-only + cross-encoder rerank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20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82%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88%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3.173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</a:tbl>
          </a:graphicData>
        </a:graphic>
      </p:graphicFrame>
      <p:sp>
        <p:nvSpPr>
          <p:cNvPr id="278" name="Google Shape;278;p8"/>
          <p:cNvSpPr/>
          <p:nvPr/>
        </p:nvSpPr>
        <p:spPr>
          <a:xfrm>
            <a:off x="36576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365760" y="3291840"/>
            <a:ext cx="64008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 txBox="1"/>
          <p:nvPr/>
        </p:nvSpPr>
        <p:spPr>
          <a:xfrm>
            <a:off x="50292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+34 pp</a:t>
            </a:r>
            <a:endParaRPr/>
          </a:p>
        </p:txBody>
      </p:sp>
      <p:sp>
        <p:nvSpPr>
          <p:cNvPr id="281" name="Google Shape;281;p8"/>
          <p:cNvSpPr txBox="1"/>
          <p:nvPr/>
        </p:nvSpPr>
        <p:spPr>
          <a:xfrm>
            <a:off x="50292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Better Recall@3 vs Chroma-only baseline (74% vs 40%)</a:t>
            </a:r>
            <a:endParaRPr/>
          </a:p>
        </p:txBody>
      </p:sp>
      <p:sp>
        <p:nvSpPr>
          <p:cNvPr id="282" name="Google Shape;282;p8"/>
          <p:cNvSpPr/>
          <p:nvPr/>
        </p:nvSpPr>
        <p:spPr>
          <a:xfrm>
            <a:off x="320040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3200400" y="3291840"/>
            <a:ext cx="64008" cy="132588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 txBox="1"/>
          <p:nvPr/>
        </p:nvSpPr>
        <p:spPr>
          <a:xfrm>
            <a:off x="333756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+24 pp</a:t>
            </a:r>
            <a:endParaRPr/>
          </a:p>
        </p:txBody>
      </p:sp>
      <p:sp>
        <p:nvSpPr>
          <p:cNvPr id="285" name="Google Shape;285;p8"/>
          <p:cNvSpPr txBox="1"/>
          <p:nvPr/>
        </p:nvSpPr>
        <p:spPr>
          <a:xfrm>
            <a:off x="333756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Better Recall@7 vs BGE reranking (88% vs 64%)</a:t>
            </a:r>
            <a:endParaRPr/>
          </a:p>
        </p:txBody>
      </p:sp>
      <p:sp>
        <p:nvSpPr>
          <p:cNvPr id="286" name="Google Shape;286;p8"/>
          <p:cNvSpPr/>
          <p:nvPr/>
        </p:nvSpPr>
        <p:spPr>
          <a:xfrm>
            <a:off x="603504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6035040" y="3291840"/>
            <a:ext cx="64008" cy="132588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 txBox="1"/>
          <p:nvPr/>
        </p:nvSpPr>
        <p:spPr>
          <a:xfrm>
            <a:off x="617220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13× faster</a:t>
            </a:r>
            <a:endParaRPr/>
          </a:p>
        </p:txBody>
      </p:sp>
      <p:sp>
        <p:nvSpPr>
          <p:cNvPr id="289" name="Google Shape;289;p8"/>
          <p:cNvSpPr txBox="1"/>
          <p:nvPr/>
        </p:nvSpPr>
        <p:spPr>
          <a:xfrm>
            <a:off x="617220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Metadata-only vs full-text Chroma pipeline (0.478 s vs 6.251 s)</a:t>
            </a:r>
            <a:endParaRPr/>
          </a:p>
        </p:txBody>
      </p:sp>
      <p:sp>
        <p:nvSpPr>
          <p:cNvPr id="290" name="Google Shape;290;p8"/>
          <p:cNvSpPr/>
          <p:nvPr/>
        </p:nvSpPr>
        <p:spPr>
          <a:xfrm>
            <a:off x="886968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8869680" y="3291840"/>
            <a:ext cx="64008" cy="1325880"/>
          </a:xfrm>
          <a:prstGeom prst="rect">
            <a:avLst/>
          </a:prstGeom>
          <a:solidFill>
            <a:srgbClr val="6D5BD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900684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6D5BD0"/>
                </a:solidFill>
                <a:latin typeface="Arial"/>
                <a:ea typeface="Arial"/>
                <a:cs typeface="Arial"/>
                <a:sym typeface="Arial"/>
              </a:rPr>
              <a:t>77× faster</a:t>
            </a:r>
            <a:endParaRPr/>
          </a:p>
        </p:txBody>
      </p:sp>
      <p:sp>
        <p:nvSpPr>
          <p:cNvPr id="293" name="Google Shape;293;p8"/>
          <p:cNvSpPr txBox="1"/>
          <p:nvPr/>
        </p:nvSpPr>
        <p:spPr>
          <a:xfrm>
            <a:off x="900684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Metadata+rerank vs CPU BGE reranking (3.173 s vs 245 s)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302" name="Google Shape;302;p9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  <p:sp>
        <p:nvSpPr>
          <p:cNvPr id="303" name="Google Shape;303;p9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ANALYSIS</a:t>
            </a:r>
            <a:endParaRPr/>
          </a:p>
        </p:txBody>
      </p:sp>
      <p:sp>
        <p:nvSpPr>
          <p:cNvPr id="304" name="Google Shape;304;p9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Metadata + Reranking Works Best</a:t>
            </a:r>
            <a:endParaRPr/>
          </a:p>
        </p:txBody>
      </p:sp>
      <p:pic>
        <p:nvPicPr>
          <p:cNvPr descr="milestone5-category-recall.png" id="305" name="Google Shape;30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325880"/>
            <a:ext cx="7772400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9"/>
          <p:cNvSpPr/>
          <p:nvPr/>
        </p:nvSpPr>
        <p:spPr>
          <a:xfrm>
            <a:off x="8321040" y="132588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8321040" y="1325880"/>
            <a:ext cx="64008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 txBox="1"/>
          <p:nvPr/>
        </p:nvSpPr>
        <p:spPr>
          <a:xfrm>
            <a:off x="8458200" y="139903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/>
          </a:p>
        </p:txBody>
      </p:sp>
      <p:sp>
        <p:nvSpPr>
          <p:cNvPr id="309" name="Google Shape;309;p9"/>
          <p:cNvSpPr txBox="1"/>
          <p:nvPr/>
        </p:nvSpPr>
        <p:spPr>
          <a:xfrm>
            <a:off x="8458200" y="192024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NSE ≤10 pages and Yahoo Finance — perfect at all recall levels</a:t>
            </a:r>
            <a:endParaRPr/>
          </a:p>
        </p:txBody>
      </p:sp>
      <p:sp>
        <p:nvSpPr>
          <p:cNvPr id="310" name="Google Shape;310;p9"/>
          <p:cNvSpPr/>
          <p:nvPr/>
        </p:nvSpPr>
        <p:spPr>
          <a:xfrm>
            <a:off x="8321040" y="278892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8321040" y="2788920"/>
            <a:ext cx="64008" cy="132588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8458200" y="286207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  <a:endParaRPr/>
          </a:p>
        </p:txBody>
      </p:sp>
      <p:sp>
        <p:nvSpPr>
          <p:cNvPr id="313" name="Google Shape;313;p9"/>
          <p:cNvSpPr txBox="1"/>
          <p:nvPr/>
        </p:nvSpPr>
        <p:spPr>
          <a:xfrm>
            <a:off x="8458200" y="3383279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Trendlyne — limited by competing quarterly reports</a:t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8321040" y="425196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8321040" y="4251960"/>
            <a:ext cx="64008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 txBox="1"/>
          <p:nvPr/>
        </p:nvSpPr>
        <p:spPr>
          <a:xfrm>
            <a:off x="8458200" y="432511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  <a:endParaRPr/>
          </a:p>
        </p:txBody>
      </p:sp>
      <p:sp>
        <p:nvSpPr>
          <p:cNvPr id="317" name="Google Shape;317;p9"/>
          <p:cNvSpPr txBox="1"/>
          <p:nvPr/>
        </p:nvSpPr>
        <p:spPr>
          <a:xfrm>
            <a:off x="8458200" y="48463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Infosys IR Recall@3 — quarterly docs share identical YAML vocabulary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0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326" name="Google Shape;326;p10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327" name="Google Shape;327;p10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/>
          </a:p>
        </p:txBody>
      </p:sp>
      <p:sp>
        <p:nvSpPr>
          <p:cNvPr id="328" name="Google Shape;328;p10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Recall@k Across All Retrieval Pipelines</a:t>
            </a:r>
            <a:endParaRPr/>
          </a:p>
        </p:txBody>
      </p:sp>
      <p:pic>
        <p:nvPicPr>
          <p:cNvPr descr="milestone5-recall-comparison.png" id="329" name="Google Shape;32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280160"/>
            <a:ext cx="8686800" cy="502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10"/>
          <p:cNvSpPr/>
          <p:nvPr/>
        </p:nvSpPr>
        <p:spPr>
          <a:xfrm>
            <a:off x="9235440" y="1325880"/>
            <a:ext cx="2743200" cy="16459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0"/>
          <p:cNvSpPr txBox="1"/>
          <p:nvPr/>
        </p:nvSpPr>
        <p:spPr>
          <a:xfrm>
            <a:off x="9326880" y="141732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Best at every cutoff</a:t>
            </a:r>
            <a:endParaRPr/>
          </a:p>
        </p:txBody>
      </p:sp>
      <p:sp>
        <p:nvSpPr>
          <p:cNvPr id="332" name="Google Shape;332;p10"/>
          <p:cNvSpPr txBox="1"/>
          <p:nvPr/>
        </p:nvSpPr>
        <p:spPr>
          <a:xfrm>
            <a:off x="9326880" y="1810512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Metadata + rerank dominates: 74% → 82% → 88%</a:t>
            </a:r>
            <a:endParaRPr/>
          </a:p>
        </p:txBody>
      </p:sp>
      <p:sp>
        <p:nvSpPr>
          <p:cNvPr id="333" name="Google Shape;333;p10"/>
          <p:cNvSpPr/>
          <p:nvPr/>
        </p:nvSpPr>
        <p:spPr>
          <a:xfrm>
            <a:off x="9235440" y="3108960"/>
            <a:ext cx="2743200" cy="91440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/>
          <p:nvPr/>
        </p:nvSpPr>
        <p:spPr>
          <a:xfrm>
            <a:off x="9235440" y="3108960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 txBox="1"/>
          <p:nvPr/>
        </p:nvSpPr>
        <p:spPr>
          <a:xfrm>
            <a:off x="9372600" y="3182112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Chroma-only</a:t>
            </a:r>
            <a:endParaRPr/>
          </a:p>
        </p:txBody>
      </p:sp>
      <p:sp>
        <p:nvSpPr>
          <p:cNvPr id="336" name="Google Shape;336;p10"/>
          <p:cNvSpPr txBox="1"/>
          <p:nvPr/>
        </p:nvSpPr>
        <p:spPr>
          <a:xfrm>
            <a:off x="9372600" y="3493008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40% → 50% → 54%</a:t>
            </a:r>
            <a:endParaRPr/>
          </a:p>
        </p:txBody>
      </p:sp>
      <p:sp>
        <p:nvSpPr>
          <p:cNvPr id="337" name="Google Shape;337;p10"/>
          <p:cNvSpPr/>
          <p:nvPr/>
        </p:nvSpPr>
        <p:spPr>
          <a:xfrm>
            <a:off x="9235440" y="4160520"/>
            <a:ext cx="2743200" cy="91440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/>
          <p:nvPr/>
        </p:nvSpPr>
        <p:spPr>
          <a:xfrm>
            <a:off x="9235440" y="4160520"/>
            <a:ext cx="64008" cy="9144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 txBox="1"/>
          <p:nvPr/>
        </p:nvSpPr>
        <p:spPr>
          <a:xfrm>
            <a:off x="9372600" y="4233672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BGE reranking</a:t>
            </a:r>
            <a:endParaRPr/>
          </a:p>
        </p:txBody>
      </p:sp>
      <p:sp>
        <p:nvSpPr>
          <p:cNvPr id="340" name="Google Shape;340;p10"/>
          <p:cNvSpPr txBox="1"/>
          <p:nvPr/>
        </p:nvSpPr>
        <p:spPr>
          <a:xfrm>
            <a:off x="9372600" y="4544568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58% → 64% → 64%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349" name="Google Shape;349;p11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350" name="Google Shape;350;p11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EXPERIMENT</a:t>
            </a:r>
            <a:endParaRPr/>
          </a:p>
        </p:txBody>
      </p:sp>
      <p:sp>
        <p:nvSpPr>
          <p:cNvPr id="351" name="Google Shape;351;p11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T4 GPU Full-Text BGE Score-Weight Sweep</a:t>
            </a:r>
            <a:endParaRPr/>
          </a:p>
        </p:txBody>
      </p:sp>
      <p:pic>
        <p:nvPicPr>
          <p:cNvPr descr="milestone5-gpu-weight-sweep.png" id="352" name="Google Shape;3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280160"/>
            <a:ext cx="8046720" cy="502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1"/>
          <p:cNvSpPr/>
          <p:nvPr/>
        </p:nvSpPr>
        <p:spPr>
          <a:xfrm>
            <a:off x="8595360" y="1325880"/>
            <a:ext cx="3383280" cy="137160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 txBox="1"/>
          <p:nvPr/>
        </p:nvSpPr>
        <p:spPr>
          <a:xfrm>
            <a:off x="8732520" y="14173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Best Configuration</a:t>
            </a:r>
            <a:endParaRPr/>
          </a:p>
        </p:txBody>
      </p:sp>
      <p:sp>
        <p:nvSpPr>
          <p:cNvPr id="355" name="Google Shape;355;p11"/>
          <p:cNvSpPr txBox="1"/>
          <p:nvPr/>
        </p:nvSpPr>
        <p:spPr>
          <a:xfrm>
            <a:off x="8732520" y="178308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Body=0.0 / Metadata=1.0 gives best Recall@3 (42%) and Recall@9 (54%)</a:t>
            </a:r>
            <a:endParaRPr/>
          </a:p>
        </p:txBody>
      </p:sp>
      <p:sp>
        <p:nvSpPr>
          <p:cNvPr id="356" name="Google Shape;356;p11"/>
          <p:cNvSpPr/>
          <p:nvPr/>
        </p:nvSpPr>
        <p:spPr>
          <a:xfrm>
            <a:off x="8595360" y="2834640"/>
            <a:ext cx="3383280" cy="137160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1"/>
          <p:cNvSpPr txBox="1"/>
          <p:nvPr/>
        </p:nvSpPr>
        <p:spPr>
          <a:xfrm>
            <a:off x="8732520" y="292608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Why Metadata Wins</a:t>
            </a:r>
            <a:endParaRPr/>
          </a:p>
        </p:txBody>
      </p:sp>
      <p:sp>
        <p:nvSpPr>
          <p:cNvPr id="358" name="Google Shape;358;p11"/>
          <p:cNvSpPr txBox="1"/>
          <p:nvPr/>
        </p:nvSpPr>
        <p:spPr>
          <a:xfrm>
            <a:off x="8732520" y="329184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Document bodies contain boilerplate and heterogeneous text. Metadata is shorter and more aligned with question intent.</a:t>
            </a:r>
            <a:endParaRPr/>
          </a:p>
        </p:txBody>
      </p:sp>
      <p:sp>
        <p:nvSpPr>
          <p:cNvPr id="359" name="Google Shape;359;p11"/>
          <p:cNvSpPr/>
          <p:nvPr/>
        </p:nvSpPr>
        <p:spPr>
          <a:xfrm>
            <a:off x="8595360" y="4343400"/>
            <a:ext cx="3383280" cy="8229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8595360" y="4343400"/>
            <a:ext cx="64008" cy="82296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1"/>
          <p:cNvSpPr txBox="1"/>
          <p:nvPr/>
        </p:nvSpPr>
        <p:spPr>
          <a:xfrm>
            <a:off x="8732520" y="43891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3.278 s</a:t>
            </a:r>
            <a:endParaRPr/>
          </a:p>
        </p:txBody>
      </p:sp>
      <p:sp>
        <p:nvSpPr>
          <p:cNvPr id="362" name="Google Shape;362;p11"/>
          <p:cNvSpPr txBox="1"/>
          <p:nvPr/>
        </p:nvSpPr>
        <p:spPr>
          <a:xfrm>
            <a:off x="8732520" y="480060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mean reranking time on T4 GPU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371" name="Google Shape;371;p12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372" name="Google Shape;372;p12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ANSWER QUALITY</a:t>
            </a:r>
            <a:endParaRPr/>
          </a:p>
        </p:txBody>
      </p:sp>
      <p:sp>
        <p:nvSpPr>
          <p:cNvPr id="373" name="Google Shape;373;p12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RAGAS Evaluation — Pipeline A</a:t>
            </a:r>
            <a:endParaRPr/>
          </a:p>
        </p:txBody>
      </p:sp>
      <p:graphicFrame>
        <p:nvGraphicFramePr>
          <p:cNvPr id="374" name="Google Shape;374;p12"/>
          <p:cNvGraphicFramePr/>
          <p:nvPr/>
        </p:nvGraphicFramePr>
        <p:xfrm>
          <a:off x="365760" y="1325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{324E421F-3505-4ED9-8378-81507E205D74}</a:tableStyleId>
              </a:tblPr>
              <a:tblGrid>
                <a:gridCol w="2743200"/>
                <a:gridCol w="347472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Property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Value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41B45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Dataset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 investor-oriented questions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Metadata-only top-10 → top-3 context → gpt-4o-mini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Answer-generation model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gpt-4o-mini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RAGAS evaluator LLM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gpt-5.6-luna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RAGAS embeddings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text-embedding-3-small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Reference answers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1A1A2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Human-reviewed grounded answers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8EDF9"/>
                    </a:solidFill>
                  </a:tcPr>
                </a:tc>
              </a:tr>
            </a:tbl>
          </a:graphicData>
        </a:graphic>
      </p:graphicFrame>
      <p:sp>
        <p:nvSpPr>
          <p:cNvPr id="375" name="Google Shape;375;p12"/>
          <p:cNvSpPr/>
          <p:nvPr/>
        </p:nvSpPr>
        <p:spPr>
          <a:xfrm>
            <a:off x="7040880" y="1325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2"/>
          <p:cNvSpPr/>
          <p:nvPr/>
        </p:nvSpPr>
        <p:spPr>
          <a:xfrm>
            <a:off x="7040880" y="1325880"/>
            <a:ext cx="64008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 txBox="1"/>
          <p:nvPr/>
        </p:nvSpPr>
        <p:spPr>
          <a:xfrm>
            <a:off x="7223760" y="1399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1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faithfulness</a:t>
            </a:r>
            <a:endParaRPr/>
          </a:p>
        </p:txBody>
      </p:sp>
      <p:sp>
        <p:nvSpPr>
          <p:cNvPr id="378" name="Google Shape;378;p12"/>
          <p:cNvSpPr txBox="1"/>
          <p:nvPr/>
        </p:nvSpPr>
        <p:spPr>
          <a:xfrm>
            <a:off x="7223760" y="1764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Are all answer claims supported by the retrieved context? Scores unsupported additions as failures.</a:t>
            </a:r>
            <a:endParaRPr/>
          </a:p>
        </p:txBody>
      </p:sp>
      <p:sp>
        <p:nvSpPr>
          <p:cNvPr id="379" name="Google Shape;379;p12"/>
          <p:cNvSpPr/>
          <p:nvPr/>
        </p:nvSpPr>
        <p:spPr>
          <a:xfrm>
            <a:off x="7040880" y="2468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2"/>
          <p:cNvSpPr/>
          <p:nvPr/>
        </p:nvSpPr>
        <p:spPr>
          <a:xfrm>
            <a:off x="7040880" y="2468880"/>
            <a:ext cx="64008" cy="10515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2"/>
          <p:cNvSpPr txBox="1"/>
          <p:nvPr/>
        </p:nvSpPr>
        <p:spPr>
          <a:xfrm>
            <a:off x="7223760" y="2542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100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context_precision</a:t>
            </a:r>
            <a:endParaRPr/>
          </a:p>
        </p:txBody>
      </p:sp>
      <p:sp>
        <p:nvSpPr>
          <p:cNvPr id="382" name="Google Shape;382;p12"/>
          <p:cNvSpPr txBox="1"/>
          <p:nvPr/>
        </p:nvSpPr>
        <p:spPr>
          <a:xfrm>
            <a:off x="7223760" y="2907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Are the retrieved documents relevant to the question? High score = low noise in context.</a:t>
            </a:r>
            <a:endParaRPr/>
          </a:p>
        </p:txBody>
      </p:sp>
      <p:sp>
        <p:nvSpPr>
          <p:cNvPr id="383" name="Google Shape;383;p12"/>
          <p:cNvSpPr/>
          <p:nvPr/>
        </p:nvSpPr>
        <p:spPr>
          <a:xfrm>
            <a:off x="7040880" y="3611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7040880" y="3611880"/>
            <a:ext cx="64008" cy="1051560"/>
          </a:xfrm>
          <a:prstGeom prst="rect">
            <a:avLst/>
          </a:prstGeom>
          <a:solidFill>
            <a:srgbClr val="F9731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 txBox="1"/>
          <p:nvPr/>
        </p:nvSpPr>
        <p:spPr>
          <a:xfrm>
            <a:off x="7223760" y="3685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10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context_recall</a:t>
            </a:r>
            <a:endParaRPr/>
          </a:p>
        </p:txBody>
      </p:sp>
      <p:sp>
        <p:nvSpPr>
          <p:cNvPr id="386" name="Google Shape;386;p12"/>
          <p:cNvSpPr txBox="1"/>
          <p:nvPr/>
        </p:nvSpPr>
        <p:spPr>
          <a:xfrm>
            <a:off x="7223760" y="4050791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the retrieved context contain all information needed for the reference answer?</a:t>
            </a:r>
            <a:endParaRPr/>
          </a:p>
        </p:txBody>
      </p:sp>
      <p:sp>
        <p:nvSpPr>
          <p:cNvPr id="387" name="Google Shape;387;p12"/>
          <p:cNvSpPr/>
          <p:nvPr/>
        </p:nvSpPr>
        <p:spPr>
          <a:xfrm>
            <a:off x="7040880" y="4754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/>
          <p:nvPr/>
        </p:nvSpPr>
        <p:spPr>
          <a:xfrm>
            <a:off x="7040880" y="4754880"/>
            <a:ext cx="6400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2"/>
          <p:cNvSpPr txBox="1"/>
          <p:nvPr/>
        </p:nvSpPr>
        <p:spPr>
          <a:xfrm>
            <a:off x="7223760" y="4828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100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answer_relevancy</a:t>
            </a:r>
            <a:endParaRPr/>
          </a:p>
        </p:txBody>
      </p:sp>
      <p:sp>
        <p:nvSpPr>
          <p:cNvPr id="390" name="Google Shape;390;p12"/>
          <p:cNvSpPr txBox="1"/>
          <p:nvPr/>
        </p:nvSpPr>
        <p:spPr>
          <a:xfrm>
            <a:off x="7223760" y="5193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the generated answer actually address the question? (Can under-score long faithful answers.)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399" name="Google Shape;399;p13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400" name="Google Shape;400;p13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ANSWER QUALITY</a:t>
            </a:r>
            <a:endParaRPr/>
          </a:p>
        </p:txBody>
      </p:sp>
      <p:sp>
        <p:nvSpPr>
          <p:cNvPr id="401" name="Google Shape;401;p13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Pipeline A RAGAS Scores</a:t>
            </a:r>
            <a:endParaRPr/>
          </a:p>
        </p:txBody>
      </p:sp>
      <p:pic>
        <p:nvPicPr>
          <p:cNvPr descr="milestone5-ragas-scores.png" id="402" name="Google Shape;40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280160"/>
            <a:ext cx="7772400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13"/>
          <p:cNvSpPr/>
          <p:nvPr/>
        </p:nvSpPr>
        <p:spPr>
          <a:xfrm>
            <a:off x="8321040" y="1325880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8321040" y="1325880"/>
            <a:ext cx="64008" cy="111556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 txBox="1"/>
          <p:nvPr/>
        </p:nvSpPr>
        <p:spPr>
          <a:xfrm>
            <a:off x="8458200" y="139903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0.8929</a:t>
            </a:r>
            <a:endParaRPr/>
          </a:p>
        </p:txBody>
      </p:sp>
      <p:sp>
        <p:nvSpPr>
          <p:cNvPr id="406" name="Google Shape;406;p13"/>
          <p:cNvSpPr txBox="1"/>
          <p:nvPr/>
        </p:nvSpPr>
        <p:spPr>
          <a:xfrm>
            <a:off x="8458200" y="192024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faithfulness</a:t>
            </a: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8321040" y="2578608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8321040" y="2578608"/>
            <a:ext cx="64008" cy="1115568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 txBox="1"/>
          <p:nvPr/>
        </p:nvSpPr>
        <p:spPr>
          <a:xfrm>
            <a:off x="8458200" y="26517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0.8439</a:t>
            </a:r>
            <a:endParaRPr/>
          </a:p>
        </p:txBody>
      </p:sp>
      <p:sp>
        <p:nvSpPr>
          <p:cNvPr id="410" name="Google Shape;410;p13"/>
          <p:cNvSpPr txBox="1"/>
          <p:nvPr/>
        </p:nvSpPr>
        <p:spPr>
          <a:xfrm>
            <a:off x="8458200" y="3172968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answer relevancy</a:t>
            </a: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8321040" y="3831336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3"/>
          <p:cNvSpPr/>
          <p:nvPr/>
        </p:nvSpPr>
        <p:spPr>
          <a:xfrm>
            <a:off x="8321040" y="3831336"/>
            <a:ext cx="64008" cy="1115568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3"/>
          <p:cNvSpPr txBox="1"/>
          <p:nvPr/>
        </p:nvSpPr>
        <p:spPr>
          <a:xfrm>
            <a:off x="8458200" y="390448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0.9683</a:t>
            </a:r>
            <a:endParaRPr/>
          </a:p>
        </p:txBody>
      </p:sp>
      <p:sp>
        <p:nvSpPr>
          <p:cNvPr id="414" name="Google Shape;414;p13"/>
          <p:cNvSpPr txBox="1"/>
          <p:nvPr/>
        </p:nvSpPr>
        <p:spPr>
          <a:xfrm>
            <a:off x="8458200" y="4425696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context precision</a:t>
            </a: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8321040" y="5084064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/>
          <p:nvPr/>
        </p:nvSpPr>
        <p:spPr>
          <a:xfrm>
            <a:off x="8321040" y="5084064"/>
            <a:ext cx="64008" cy="1115568"/>
          </a:xfrm>
          <a:prstGeom prst="rect">
            <a:avLst/>
          </a:prstGeom>
          <a:solidFill>
            <a:srgbClr val="F9731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 txBox="1"/>
          <p:nvPr/>
        </p:nvSpPr>
        <p:spPr>
          <a:xfrm>
            <a:off x="8458200" y="5157216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0.8725</a:t>
            </a:r>
            <a:endParaRPr/>
          </a:p>
        </p:txBody>
      </p:sp>
      <p:sp>
        <p:nvSpPr>
          <p:cNvPr id="418" name="Google Shape;418;p13"/>
          <p:cNvSpPr txBox="1"/>
          <p:nvPr/>
        </p:nvSpPr>
        <p:spPr>
          <a:xfrm>
            <a:off x="8458200" y="5678424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context recall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427" name="Google Shape;427;p14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428" name="Google Shape;428;p14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QUALITATIVE RESULTS</a:t>
            </a:r>
            <a:endParaRPr/>
          </a:p>
        </p:txBody>
      </p:sp>
      <p:sp>
        <p:nvSpPr>
          <p:cNvPr id="429" name="Google Shape;429;p14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Representative Success Cases</a:t>
            </a:r>
            <a:endParaRPr/>
          </a:p>
        </p:txBody>
      </p:sp>
      <p:sp>
        <p:nvSpPr>
          <p:cNvPr id="430" name="Google Shape;430;p14"/>
          <p:cNvSpPr/>
          <p:nvPr/>
        </p:nvSpPr>
        <p:spPr>
          <a:xfrm>
            <a:off x="365760" y="1325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365760" y="1325880"/>
            <a:ext cx="64008" cy="21488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365760" y="1325880"/>
            <a:ext cx="5486400" cy="54864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4"/>
          <p:cNvSpPr txBox="1"/>
          <p:nvPr/>
        </p:nvSpPr>
        <p:spPr>
          <a:xfrm>
            <a:off x="502920" y="1417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ID 9 — Q3 FY26 Earnings Call (IR)</a:t>
            </a:r>
            <a:endParaRPr/>
          </a:p>
        </p:txBody>
      </p:sp>
      <p:sp>
        <p:nvSpPr>
          <p:cNvPr id="434" name="Google Shape;434;p14"/>
          <p:cNvSpPr/>
          <p:nvPr/>
        </p:nvSpPr>
        <p:spPr>
          <a:xfrm>
            <a:off x="3703320" y="1417320"/>
            <a:ext cx="2011680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 txBox="1"/>
          <p:nvPr/>
        </p:nvSpPr>
        <p:spPr>
          <a:xfrm>
            <a:off x="3749040" y="143560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Mean: 0.96</a:t>
            </a:r>
            <a:endParaRPr/>
          </a:p>
        </p:txBody>
      </p:sp>
      <p:sp>
        <p:nvSpPr>
          <p:cNvPr id="436" name="Google Shape;436;p14"/>
          <p:cNvSpPr txBox="1"/>
          <p:nvPr/>
        </p:nvSpPr>
        <p:spPr>
          <a:xfrm>
            <a:off x="502920" y="1828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Q: What was the TCV of large deals Infosys closed in Q3 FY26 and net-new share?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A: $4.8 billion, with 57% net new business.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✓ Perfect match — single factual query, distinctive metadata.</a:t>
            </a:r>
            <a:endParaRPr/>
          </a:p>
        </p:txBody>
      </p:sp>
      <p:sp>
        <p:nvSpPr>
          <p:cNvPr id="437" name="Google Shape;437;p14"/>
          <p:cNvSpPr/>
          <p:nvPr/>
        </p:nvSpPr>
        <p:spPr>
          <a:xfrm>
            <a:off x="6172200" y="1325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6172200" y="1325880"/>
            <a:ext cx="64008" cy="214884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4"/>
          <p:cNvSpPr/>
          <p:nvPr/>
        </p:nvSpPr>
        <p:spPr>
          <a:xfrm>
            <a:off x="6172200" y="1325880"/>
            <a:ext cx="5486400" cy="54864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 txBox="1"/>
          <p:nvPr/>
        </p:nvSpPr>
        <p:spPr>
          <a:xfrm>
            <a:off x="6309360" y="1417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ID 22 — Infosys–Intel Partnership (NSE ≤10)</a:t>
            </a:r>
            <a:endParaRPr/>
          </a:p>
        </p:txBody>
      </p:sp>
      <p:sp>
        <p:nvSpPr>
          <p:cNvPr id="441" name="Google Shape;441;p14"/>
          <p:cNvSpPr/>
          <p:nvPr/>
        </p:nvSpPr>
        <p:spPr>
          <a:xfrm>
            <a:off x="9509760" y="1417320"/>
            <a:ext cx="2011680" cy="292608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4"/>
          <p:cNvSpPr txBox="1"/>
          <p:nvPr/>
        </p:nvSpPr>
        <p:spPr>
          <a:xfrm>
            <a:off x="9555480" y="143560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Mean: 0.99</a:t>
            </a:r>
            <a:endParaRPr/>
          </a:p>
        </p:txBody>
      </p:sp>
      <p:sp>
        <p:nvSpPr>
          <p:cNvPr id="443" name="Google Shape;443;p14"/>
          <p:cNvSpPr txBox="1"/>
          <p:nvPr/>
        </p:nvSpPr>
        <p:spPr>
          <a:xfrm>
            <a:off x="6309360" y="1828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Q: What is the strategic rationale behind Infosys and Intel deepening their partnership?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A: Facilitate enterprises' transition from AI pilots to large-scale production deployments.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✓ Unique partner name in metadata → ranked 1st.</a:t>
            </a:r>
            <a:endParaRPr/>
          </a:p>
        </p:txBody>
      </p:sp>
      <p:sp>
        <p:nvSpPr>
          <p:cNvPr id="444" name="Google Shape;444;p14"/>
          <p:cNvSpPr/>
          <p:nvPr/>
        </p:nvSpPr>
        <p:spPr>
          <a:xfrm>
            <a:off x="365760" y="3611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4"/>
          <p:cNvSpPr/>
          <p:nvPr/>
        </p:nvSpPr>
        <p:spPr>
          <a:xfrm>
            <a:off x="365760" y="3611880"/>
            <a:ext cx="64008" cy="21488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365760" y="3611880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4"/>
          <p:cNvSpPr txBox="1"/>
          <p:nvPr/>
        </p:nvSpPr>
        <p:spPr>
          <a:xfrm>
            <a:off x="502920" y="3703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ID 17 — September 2025 Buyback (NSE ≤10)</a:t>
            </a:r>
            <a:endParaRPr/>
          </a:p>
        </p:txBody>
      </p:sp>
      <p:sp>
        <p:nvSpPr>
          <p:cNvPr id="448" name="Google Shape;448;p14"/>
          <p:cNvSpPr/>
          <p:nvPr/>
        </p:nvSpPr>
        <p:spPr>
          <a:xfrm>
            <a:off x="3703320" y="3703320"/>
            <a:ext cx="2011680" cy="292608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4"/>
          <p:cNvSpPr txBox="1"/>
          <p:nvPr/>
        </p:nvSpPr>
        <p:spPr>
          <a:xfrm>
            <a:off x="3749040" y="372160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Mean: 0.98</a:t>
            </a:r>
            <a:endParaRPr/>
          </a:p>
        </p:txBody>
      </p:sp>
      <p:sp>
        <p:nvSpPr>
          <p:cNvPr id="450" name="Google Shape;450;p14"/>
          <p:cNvSpPr txBox="1"/>
          <p:nvPr/>
        </p:nvSpPr>
        <p:spPr>
          <a:xfrm>
            <a:off x="502920" y="4114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Q: Buyback size, price per share, and shares proposed for repurchase?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A: ₹18,000 crore at ₹1,800/share; 10,00,00,000 shares.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✓ Only document in corpus with this specific buyback — unambiguous retrieval.</a:t>
            </a:r>
            <a:endParaRPr/>
          </a:p>
        </p:txBody>
      </p:sp>
      <p:sp>
        <p:nvSpPr>
          <p:cNvPr id="451" name="Google Shape;451;p14"/>
          <p:cNvSpPr/>
          <p:nvPr/>
        </p:nvSpPr>
        <p:spPr>
          <a:xfrm>
            <a:off x="6172200" y="3611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4"/>
          <p:cNvSpPr/>
          <p:nvPr/>
        </p:nvSpPr>
        <p:spPr>
          <a:xfrm>
            <a:off x="6172200" y="3611880"/>
            <a:ext cx="64008" cy="2148840"/>
          </a:xfrm>
          <a:prstGeom prst="rect">
            <a:avLst/>
          </a:prstGeom>
          <a:solidFill>
            <a:srgbClr val="6D5BD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4"/>
          <p:cNvSpPr/>
          <p:nvPr/>
        </p:nvSpPr>
        <p:spPr>
          <a:xfrm>
            <a:off x="6172200" y="3611880"/>
            <a:ext cx="5486400" cy="54864"/>
          </a:xfrm>
          <a:prstGeom prst="rect">
            <a:avLst/>
          </a:prstGeom>
          <a:solidFill>
            <a:srgbClr val="6D5BD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4"/>
          <p:cNvSpPr txBox="1"/>
          <p:nvPr/>
        </p:nvSpPr>
        <p:spPr>
          <a:xfrm>
            <a:off x="6309360" y="3703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6D5BD0"/>
                </a:solidFill>
                <a:latin typeface="Arial"/>
                <a:ea typeface="Arial"/>
                <a:cs typeface="Arial"/>
                <a:sym typeface="Arial"/>
              </a:rPr>
              <a:t>ID 24 — Bank CTBC Finacle (NSE ≤10)</a:t>
            </a:r>
            <a:endParaRPr/>
          </a:p>
        </p:txBody>
      </p:sp>
      <p:sp>
        <p:nvSpPr>
          <p:cNvPr id="455" name="Google Shape;455;p14"/>
          <p:cNvSpPr/>
          <p:nvPr/>
        </p:nvSpPr>
        <p:spPr>
          <a:xfrm>
            <a:off x="9509760" y="3703320"/>
            <a:ext cx="2011680" cy="292608"/>
          </a:xfrm>
          <a:prstGeom prst="rect">
            <a:avLst/>
          </a:prstGeom>
          <a:solidFill>
            <a:srgbClr val="6D5BD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4"/>
          <p:cNvSpPr txBox="1"/>
          <p:nvPr/>
        </p:nvSpPr>
        <p:spPr>
          <a:xfrm>
            <a:off x="9555480" y="372160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Mean: 0.99</a:t>
            </a:r>
            <a:endParaRPr/>
          </a:p>
        </p:txBody>
      </p:sp>
      <p:sp>
        <p:nvSpPr>
          <p:cNvPr id="457" name="Google Shape;457;p14"/>
          <p:cNvSpPr txBox="1"/>
          <p:nvPr/>
        </p:nvSpPr>
        <p:spPr>
          <a:xfrm>
            <a:off x="6309360" y="4114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Q: What benefits is Bank CTBC Indonesia gaining from Infosys Finacle on cloud?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A: 6 benefits correctly listed: scalability, faster innovation, 300%+ efficiency gain, etc.</a:t>
            </a:r>
            <a:b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✓ Unique bank name ensures first-rank retrieval.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5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466" name="Google Shape;466;p1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467" name="Google Shape;467;p15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QUALITATIVE RESULTS</a:t>
            </a:r>
            <a:endParaRPr/>
          </a:p>
        </p:txBody>
      </p:sp>
      <p:sp>
        <p:nvSpPr>
          <p:cNvPr id="468" name="Google Shape;468;p15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the Pipeline Still Fails</a:t>
            </a:r>
            <a:endParaRPr/>
          </a:p>
        </p:txBody>
      </p:sp>
      <p:sp>
        <p:nvSpPr>
          <p:cNvPr id="469" name="Google Shape;469;p15"/>
          <p:cNvSpPr/>
          <p:nvPr/>
        </p:nvSpPr>
        <p:spPr>
          <a:xfrm>
            <a:off x="365760" y="132588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5"/>
          <p:cNvSpPr/>
          <p:nvPr/>
        </p:nvSpPr>
        <p:spPr>
          <a:xfrm>
            <a:off x="365760" y="1325880"/>
            <a:ext cx="64008" cy="896112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5"/>
          <p:cNvSpPr txBox="1"/>
          <p:nvPr/>
        </p:nvSpPr>
        <p:spPr>
          <a:xfrm>
            <a:off x="502920" y="139903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ID 46 — Wrong Document / Wrong Year</a:t>
            </a:r>
            <a:endParaRPr/>
          </a:p>
        </p:txBody>
      </p:sp>
      <p:sp>
        <p:nvSpPr>
          <p:cNvPr id="472" name="Google Shape;472;p15"/>
          <p:cNvSpPr/>
          <p:nvPr/>
        </p:nvSpPr>
        <p:spPr>
          <a:xfrm>
            <a:off x="10515600" y="1399032"/>
            <a:ext cx="1234440" cy="32004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 txBox="1"/>
          <p:nvPr/>
        </p:nvSpPr>
        <p:spPr>
          <a:xfrm>
            <a:off x="10561320" y="14173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Mean: 0.36</a:t>
            </a:r>
            <a:endParaRPr/>
          </a:p>
        </p:txBody>
      </p:sp>
      <p:sp>
        <p:nvSpPr>
          <p:cNvPr id="474" name="Google Shape;474;p15"/>
          <p:cNvSpPr txBox="1"/>
          <p:nvPr/>
        </p:nvSpPr>
        <p:spPr>
          <a:xfrm>
            <a:off x="502920" y="176479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Answer: $14.9B (FY26 value). Reference: $11.6B (FY24-25). FY26 document ranked #1; correct AGM transcript was at rank 3. Both share identical YAML vocabulary — only body numbers differ.</a:t>
            </a:r>
            <a:endParaRPr/>
          </a:p>
        </p:txBody>
      </p:sp>
      <p:sp>
        <p:nvSpPr>
          <p:cNvPr id="475" name="Google Shape;475;p15"/>
          <p:cNvSpPr/>
          <p:nvPr/>
        </p:nvSpPr>
        <p:spPr>
          <a:xfrm>
            <a:off x="365760" y="233172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5"/>
          <p:cNvSpPr/>
          <p:nvPr/>
        </p:nvSpPr>
        <p:spPr>
          <a:xfrm>
            <a:off x="365760" y="2331720"/>
            <a:ext cx="64008" cy="896112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5"/>
          <p:cNvSpPr txBox="1"/>
          <p:nvPr/>
        </p:nvSpPr>
        <p:spPr>
          <a:xfrm>
            <a:off x="502920" y="240487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ID 15 — Multi-Chunk Fragmentation</a:t>
            </a:r>
            <a:endParaRPr/>
          </a:p>
        </p:txBody>
      </p:sp>
      <p:sp>
        <p:nvSpPr>
          <p:cNvPr id="478" name="Google Shape;478;p15"/>
          <p:cNvSpPr/>
          <p:nvPr/>
        </p:nvSpPr>
        <p:spPr>
          <a:xfrm>
            <a:off x="10515600" y="2404872"/>
            <a:ext cx="123444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5"/>
          <p:cNvSpPr txBox="1"/>
          <p:nvPr/>
        </p:nvSpPr>
        <p:spPr>
          <a:xfrm>
            <a:off x="10561320" y="24231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Mean: 0.65</a:t>
            </a:r>
            <a:endParaRPr/>
          </a:p>
        </p:txBody>
      </p:sp>
      <p:sp>
        <p:nvSpPr>
          <p:cNvPr id="480" name="Google Shape;480;p15"/>
          <p:cNvSpPr txBox="1"/>
          <p:nvPr/>
        </p:nvSpPr>
        <p:spPr>
          <a:xfrm>
            <a:off x="502920" y="277063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Listed 3 third-party recognitions; reference had 8. Evidence split across two chunks of the same press release (group_001 and group_002). Only group_002 was retrieved in top-3.</a:t>
            </a: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365760" y="3337565"/>
            <a:ext cx="11430000" cy="89610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5"/>
          <p:cNvSpPr/>
          <p:nvPr/>
        </p:nvSpPr>
        <p:spPr>
          <a:xfrm>
            <a:off x="365760" y="3337540"/>
            <a:ext cx="63900" cy="896100"/>
          </a:xfrm>
          <a:prstGeom prst="rect">
            <a:avLst/>
          </a:prstGeom>
          <a:solidFill>
            <a:srgbClr val="5B647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5"/>
          <p:cNvSpPr txBox="1"/>
          <p:nvPr/>
        </p:nvSpPr>
        <p:spPr>
          <a:xfrm>
            <a:off x="538845" y="3419630"/>
            <a:ext cx="274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ID 34 — Vocabulary Collision</a:t>
            </a:r>
            <a:endParaRPr/>
          </a:p>
        </p:txBody>
      </p:sp>
      <p:sp>
        <p:nvSpPr>
          <p:cNvPr id="484" name="Google Shape;484;p15"/>
          <p:cNvSpPr/>
          <p:nvPr/>
        </p:nvSpPr>
        <p:spPr>
          <a:xfrm>
            <a:off x="10447050" y="3419630"/>
            <a:ext cx="1234500" cy="320100"/>
          </a:xfrm>
          <a:prstGeom prst="rect">
            <a:avLst/>
          </a:prstGeom>
          <a:solidFill>
            <a:srgbClr val="5B647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5"/>
          <p:cNvSpPr txBox="1"/>
          <p:nvPr/>
        </p:nvSpPr>
        <p:spPr>
          <a:xfrm>
            <a:off x="10515595" y="3456430"/>
            <a:ext cx="1097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CR: 0.00</a:t>
            </a:r>
            <a:endParaRPr/>
          </a:p>
        </p:txBody>
      </p:sp>
      <p:sp>
        <p:nvSpPr>
          <p:cNvPr id="486" name="Google Shape;486;p15"/>
          <p:cNvSpPr txBox="1"/>
          <p:nvPr/>
        </p:nvSpPr>
        <p:spPr>
          <a:xfrm>
            <a:off x="538851" y="3931550"/>
            <a:ext cx="11083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Reference: '77% reported financial loss, 53% reputational damage.' Pipeline retrieved Form 20-F risk sections (generic AI risk language) instead of the specific Responsible AI press release with exact statistics.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495" name="Google Shape;495;p16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496" name="Google Shape;496;p1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ERROR ANALYSIS</a:t>
            </a:r>
            <a:endParaRPr/>
          </a:p>
        </p:txBody>
      </p:sp>
      <p:sp>
        <p:nvSpPr>
          <p:cNvPr id="497" name="Google Shape;497;p16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Patterns in Model Mistakes</a:t>
            </a: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365760" y="132588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6"/>
          <p:cNvSpPr/>
          <p:nvPr/>
        </p:nvSpPr>
        <p:spPr>
          <a:xfrm>
            <a:off x="365760" y="1325880"/>
            <a:ext cx="64008" cy="105156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6"/>
          <p:cNvSpPr txBox="1"/>
          <p:nvPr/>
        </p:nvSpPr>
        <p:spPr>
          <a:xfrm>
            <a:off x="502920" y="13990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IR Quarterly Ambiguity</a:t>
            </a:r>
            <a:endParaRPr/>
          </a:p>
        </p:txBody>
      </p:sp>
      <p:sp>
        <p:nvSpPr>
          <p:cNvPr id="501" name="Google Shape;501;p16"/>
          <p:cNvSpPr txBox="1"/>
          <p:nvPr/>
        </p:nvSpPr>
        <p:spPr>
          <a:xfrm>
            <a:off x="502920" y="176479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Q1–Q4 earnings calls, press conferences, and fact sheets share YAML terms (revenue guidance, operating margin, large-deal TCV). Metadata embedding retrieves the wrong quarter, causing the LLM to state the wrong number.</a:t>
            </a:r>
            <a:endParaRPr/>
          </a:p>
        </p:txBody>
      </p:sp>
      <p:sp>
        <p:nvSpPr>
          <p:cNvPr id="502" name="Google Shape;502;p16"/>
          <p:cNvSpPr/>
          <p:nvPr/>
        </p:nvSpPr>
        <p:spPr>
          <a:xfrm>
            <a:off x="365760" y="251460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365760" y="2514600"/>
            <a:ext cx="64008" cy="105156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 txBox="1"/>
          <p:nvPr/>
        </p:nvSpPr>
        <p:spPr>
          <a:xfrm>
            <a:off x="502920" y="258775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Multi-Chunk Fragmentation</a:t>
            </a:r>
            <a:endParaRPr/>
          </a:p>
        </p:txBody>
      </p:sp>
      <p:sp>
        <p:nvSpPr>
          <p:cNvPr id="505" name="Google Shape;505;p16"/>
          <p:cNvSpPr txBox="1"/>
          <p:nvPr/>
        </p:nvSpPr>
        <p:spPr>
          <a:xfrm>
            <a:off x="502920" y="295351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List-style questions whose evidence spans multiple chunks of one document are answered incompletely. Retrieving group_002 does not guarantee group_001 is also included in the top-3 context.</a:t>
            </a:r>
            <a:endParaRPr/>
          </a:p>
        </p:txBody>
      </p:sp>
      <p:sp>
        <p:nvSpPr>
          <p:cNvPr id="506" name="Google Shape;506;p16"/>
          <p:cNvSpPr/>
          <p:nvPr/>
        </p:nvSpPr>
        <p:spPr>
          <a:xfrm>
            <a:off x="365760" y="370332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365760" y="3703320"/>
            <a:ext cx="6400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6"/>
          <p:cNvSpPr txBox="1"/>
          <p:nvPr/>
        </p:nvSpPr>
        <p:spPr>
          <a:xfrm>
            <a:off x="502920" y="377647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LLM Over-Elaboration</a:t>
            </a:r>
            <a:endParaRPr/>
          </a:p>
        </p:txBody>
      </p:sp>
      <p:sp>
        <p:nvSpPr>
          <p:cNvPr id="509" name="Google Shape;509;p16"/>
          <p:cNvSpPr txBox="1"/>
          <p:nvPr/>
        </p:nvSpPr>
        <p:spPr>
          <a:xfrm>
            <a:off x="502920" y="4142231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When the context states a brief one-sentence reason, gpt-4o-mini adds plausible but ungrounded justifications. RAGAS faithfulness penalizes each unentailed claim.</a:t>
            </a:r>
            <a:endParaRPr/>
          </a:p>
        </p:txBody>
      </p:sp>
      <p:sp>
        <p:nvSpPr>
          <p:cNvPr id="510" name="Google Shape;510;p16"/>
          <p:cNvSpPr/>
          <p:nvPr/>
        </p:nvSpPr>
        <p:spPr>
          <a:xfrm>
            <a:off x="6080760" y="132588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6"/>
          <p:cNvSpPr/>
          <p:nvPr/>
        </p:nvSpPr>
        <p:spPr>
          <a:xfrm>
            <a:off x="6080760" y="1325880"/>
            <a:ext cx="64008" cy="1051560"/>
          </a:xfrm>
          <a:prstGeom prst="rect">
            <a:avLst/>
          </a:prstGeom>
          <a:solidFill>
            <a:srgbClr val="3767B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6"/>
          <p:cNvSpPr txBox="1"/>
          <p:nvPr/>
        </p:nvSpPr>
        <p:spPr>
          <a:xfrm>
            <a:off x="6217920" y="13990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3767B1"/>
                </a:solidFill>
                <a:latin typeface="Arial"/>
                <a:ea typeface="Arial"/>
                <a:cs typeface="Arial"/>
                <a:sym typeface="Arial"/>
              </a:rPr>
              <a:t>RAGAS Answer-Relevancy Artefact</a:t>
            </a:r>
            <a:endParaRPr/>
          </a:p>
        </p:txBody>
      </p:sp>
      <p:sp>
        <p:nvSpPr>
          <p:cNvPr id="513" name="Google Shape;513;p16"/>
          <p:cNvSpPr txBox="1"/>
          <p:nvPr/>
        </p:nvSpPr>
        <p:spPr>
          <a:xfrm>
            <a:off x="6217920" y="176479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Long, multi-clause answers generate synthetic questions that do not reconstruct the original. Cosine similarity falls near zero even when the answer is correct and faithful.</a:t>
            </a:r>
            <a:endParaRPr/>
          </a:p>
        </p:txBody>
      </p:sp>
      <p:sp>
        <p:nvSpPr>
          <p:cNvPr id="514" name="Google Shape;514;p16"/>
          <p:cNvSpPr/>
          <p:nvPr/>
        </p:nvSpPr>
        <p:spPr>
          <a:xfrm>
            <a:off x="6080760" y="251460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/>
          <p:nvPr/>
        </p:nvSpPr>
        <p:spPr>
          <a:xfrm>
            <a:off x="6080760" y="2514600"/>
            <a:ext cx="64008" cy="1051560"/>
          </a:xfrm>
          <a:prstGeom prst="rect">
            <a:avLst/>
          </a:prstGeom>
          <a:solidFill>
            <a:srgbClr val="5B647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6"/>
          <p:cNvSpPr txBox="1"/>
          <p:nvPr/>
        </p:nvSpPr>
        <p:spPr>
          <a:xfrm>
            <a:off x="6217920" y="258775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Temporal Disambiguation Failure</a:t>
            </a:r>
            <a:endParaRPr/>
          </a:p>
        </p:txBody>
      </p:sp>
      <p:sp>
        <p:nvSpPr>
          <p:cNvPr id="517" name="Google Shape;517;p16"/>
          <p:cNvSpPr txBox="1"/>
          <p:nvPr/>
        </p:nvSpPr>
        <p:spPr>
          <a:xfrm>
            <a:off x="6217920" y="295351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Adjacent fiscal years share identical YAML vocabulary; only the body text contains the differentiating number. The metadata pipeline cannot distinguish FY24-25 from FY25-26.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7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FinQuery - Milestone 5</a:t>
            </a:r>
            <a:endParaRPr/>
          </a:p>
        </p:txBody>
      </p:sp>
      <p:sp>
        <p:nvSpPr>
          <p:cNvPr id="526" name="Google Shape;526;p17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/>
          </a:p>
        </p:txBody>
      </p:sp>
      <p:sp>
        <p:nvSpPr>
          <p:cNvPr id="527" name="Google Shape;527;p17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528" name="Google Shape;528;p1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Observations &amp; Recommended Direction</a:t>
            </a:r>
            <a:endParaRPr/>
          </a:p>
        </p:txBody>
      </p:sp>
      <p:sp>
        <p:nvSpPr>
          <p:cNvPr id="529" name="Google Shape;529;p17"/>
          <p:cNvSpPr/>
          <p:nvPr/>
        </p:nvSpPr>
        <p:spPr>
          <a:xfrm>
            <a:off x="365760" y="1325880"/>
            <a:ext cx="6400800" cy="411480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365760" y="1325880"/>
            <a:ext cx="64008" cy="4114800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7"/>
          <p:cNvSpPr txBox="1"/>
          <p:nvPr/>
        </p:nvSpPr>
        <p:spPr>
          <a:xfrm>
            <a:off x="548640" y="1417320"/>
            <a:ext cx="5943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Key Observations</a:t>
            </a:r>
            <a:endParaRPr/>
          </a:p>
        </p:txBody>
      </p:sp>
      <p:sp>
        <p:nvSpPr>
          <p:cNvPr id="532" name="Google Shape;532;p17"/>
          <p:cNvSpPr txBox="1"/>
          <p:nvPr/>
        </p:nvSpPr>
        <p:spPr>
          <a:xfrm>
            <a:off x="548640" y="1810512"/>
            <a:ext cx="594360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Metadata-only embedding: 74% Recall@3 at 0.478 s — 13× faster than baseline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Cross-encoder reranking: improves Recall@7 to 88% with 3.173 s total latency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Pipeline A RAGAS: faithfulness 0.89, context precision 0.97, context recall 0.87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T4 GPU reduces BGE reranking to 3.278 s — matching metadata cross-encoder speed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Metadata-heavy BGE scoring (body=0.0) gives best full-text recall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• Infosys IR is the hardest category: Recall@3 only 10%</a:t>
            </a:r>
            <a:endParaRPr/>
          </a:p>
        </p:txBody>
      </p:sp>
      <p:sp>
        <p:nvSpPr>
          <p:cNvPr id="533" name="Google Shape;533;p17"/>
          <p:cNvSpPr/>
          <p:nvPr/>
        </p:nvSpPr>
        <p:spPr>
          <a:xfrm>
            <a:off x="7040880" y="1325880"/>
            <a:ext cx="4937760" cy="1920240"/>
          </a:xfrm>
          <a:prstGeom prst="rect">
            <a:avLst/>
          </a:prstGeom>
          <a:solidFill>
            <a:srgbClr val="141B4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 txBox="1"/>
          <p:nvPr/>
        </p:nvSpPr>
        <p:spPr>
          <a:xfrm>
            <a:off x="7223760" y="14173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227"/>
                </a:solidFill>
                <a:latin typeface="Arial"/>
                <a:ea typeface="Arial"/>
                <a:cs typeface="Arial"/>
                <a:sym typeface="Arial"/>
              </a:rPr>
              <a:t>Limitations</a:t>
            </a:r>
            <a:endParaRPr/>
          </a:p>
        </p:txBody>
      </p:sp>
      <p:sp>
        <p:nvSpPr>
          <p:cNvPr id="535" name="Google Shape;535;p17"/>
          <p:cNvSpPr txBox="1"/>
          <p:nvPr/>
        </p:nvSpPr>
        <p:spPr>
          <a:xfrm>
            <a:off x="7223760" y="1783080"/>
            <a:ext cx="4572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• IR quarterly disambiguation requires body-text or explicit YAML fields (quarter, fiscal year)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• List-style questions need adjacent-chunk co-retrieval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CADCFC"/>
                </a:solidFill>
                <a:latin typeface="Arial"/>
                <a:ea typeface="Arial"/>
                <a:cs typeface="Arial"/>
                <a:sym typeface="Arial"/>
              </a:rPr>
              <a:t>• Pipeline B RAGAS evaluation not yet completed</a:t>
            </a:r>
            <a:endParaRPr/>
          </a:p>
        </p:txBody>
      </p:sp>
      <p:sp>
        <p:nvSpPr>
          <p:cNvPr id="536" name="Google Shape;536;p17"/>
          <p:cNvSpPr/>
          <p:nvPr/>
        </p:nvSpPr>
        <p:spPr>
          <a:xfrm>
            <a:off x="7040880" y="3383280"/>
            <a:ext cx="4937760" cy="2057400"/>
          </a:xfrm>
          <a:prstGeom prst="rect">
            <a:avLst/>
          </a:prstGeom>
          <a:solidFill>
            <a:srgbClr val="F7F9F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7040880" y="3383280"/>
            <a:ext cx="64008" cy="20574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 txBox="1"/>
          <p:nvPr/>
        </p:nvSpPr>
        <p:spPr>
          <a:xfrm>
            <a:off x="7223760" y="34747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Best Speed-Quality Tradeoff</a:t>
            </a:r>
            <a:endParaRPr/>
          </a:p>
        </p:txBody>
      </p:sp>
      <p:sp>
        <p:nvSpPr>
          <p:cNvPr id="539" name="Google Shape;539;p17"/>
          <p:cNvSpPr txBox="1"/>
          <p:nvPr/>
        </p:nvSpPr>
        <p:spPr>
          <a:xfrm>
            <a:off x="7223760" y="3858768"/>
            <a:ext cx="4663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Metadata-only retrieval + lightweight cross-encoder reranking gives the strongest Recall@7 (88%), keeps latency practical (3.173 s), and performs especially well on documents with distinctive semantic metadata.</a:t>
            </a:r>
            <a:endParaRPr/>
          </a:p>
        </p:txBody>
      </p:sp>
      <p:sp>
        <p:nvSpPr>
          <p:cNvPr id="540" name="Google Shape;540;p17"/>
          <p:cNvSpPr/>
          <p:nvPr/>
        </p:nvSpPr>
        <p:spPr>
          <a:xfrm>
            <a:off x="7040880" y="5559552"/>
            <a:ext cx="493776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 txBox="1"/>
          <p:nvPr/>
        </p:nvSpPr>
        <p:spPr>
          <a:xfrm>
            <a:off x="7223760" y="5605272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1E2761"/>
                </a:solidFill>
                <a:latin typeface="Arial"/>
                <a:ea typeface="Arial"/>
                <a:cs typeface="Arial"/>
                <a:sym typeface="Arial"/>
              </a:rPr>
              <a:t>Next: Add fiscal_year and quarter fields to IR YAML metadata to resolve quarterly ambiguity.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