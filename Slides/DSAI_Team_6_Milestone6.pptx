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194560"/>
            <a:ext cx="12188952" cy="3291840"/>
          </a:xfrm>
          <a:prstGeom prst="rect">
            <a:avLst/>
          </a:prstGeom>
          <a:solidFill>
            <a:srgbClr val="0D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Milestone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FinQuery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CCDDFF"/>
                </a:solidFill>
              </a:rPr>
              <a:t>Hybrid BM25 + Vector Retrieval, Fact Database,
Query Routing &amp;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8888"/>
                </a:solidFill>
              </a:rPr>
              <a:t>DS &amp; AI Lab — Group 6  |  T2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67799"/>
                </a:solidFill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Previous Milestone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What was established before Milestone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2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486400" cy="265176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17320"/>
            <a:ext cx="52669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Previous Best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5266944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Embed only YAML front matter (no body text) — 13× faster than full-text embedding
•  Cross-encoder reranker (ms-marco-MiniLM-L-6-v2) improved Recall@7 by +6pp
•  Production metadata pipeline (no reranker): 0.478s  |  82% Recall@7
•  Metadata + CE reranker: 88% Recall@7 but 3.2s 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325880"/>
            <a:ext cx="5806440" cy="2651760"/>
          </a:xfrm>
          <a:prstGeom prst="rect">
            <a:avLst/>
          </a:prstGeom>
          <a:solidFill>
            <a:srgbClr val="E8F4F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17320"/>
            <a:ext cx="5586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0"/>
                </a:solidFill>
              </a:rPr>
              <a:t>Milestone 6 Goals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1801368"/>
            <a:ext cx="5586984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Improve recall with BM25 keyword search alongside vector retrieval
•  Prevent LLM hallucinations on exact financial numbers (e.g. margins, revenue)
•  Route numerical questions to a structured database; qualitative → vector
•  Deploy as a secured API with authentication and rate limiting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160520"/>
            <a:ext cx="2267712" cy="1005840"/>
          </a:xfrm>
          <a:prstGeom prst="rect">
            <a:avLst/>
          </a:prstGeom>
          <a:solidFill>
            <a:srgbClr val="CCE5FF"/>
          </a:solidFill>
          <a:ln w="9525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418795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4080"/>
                </a:solidFill>
              </a:rPr>
              <a:t>74%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468172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Prev Recall@3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4160520"/>
            <a:ext cx="2267712" cy="1005840"/>
          </a:xfrm>
          <a:prstGeom prst="rect">
            <a:avLst/>
          </a:prstGeom>
          <a:solidFill>
            <a:srgbClr val="CCE5FF"/>
          </a:solidFill>
          <a:ln w="9525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418795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4080"/>
                </a:solidFill>
              </a:rPr>
              <a:t>82%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468172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Prev Recall@7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4160520"/>
            <a:ext cx="2267712" cy="1005840"/>
          </a:xfrm>
          <a:prstGeom prst="rect">
            <a:avLst/>
          </a:prstGeom>
          <a:solidFill>
            <a:srgbClr val="FFF3CD"/>
          </a:solidFill>
          <a:ln w="9525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418795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9600"/>
                </a:solidFill>
              </a:rPr>
              <a:t>0.478s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468172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Prev 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80" y="4160520"/>
            <a:ext cx="2267712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4344" y="418795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A2A4A"/>
                </a:solidFill>
              </a:rPr>
              <a:t>50q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4344" y="468172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Eval Dataset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4160520"/>
            <a:ext cx="2267712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56064" y="418795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A2A4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468172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Data Categories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Keyword Gap — Why We Added BM25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Vector embeddings cannot distinguish exact tokens; BM25 matches them precisely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3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886200" cy="3017520"/>
          </a:xfrm>
          <a:prstGeom prst="rect">
            <a:avLst/>
          </a:prstGeom>
          <a:solidFill>
            <a:srgbClr val="F8D7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17320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3545"/>
                </a:solidFill>
              </a:rPr>
              <a:t>Where Vector Search Fails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3666744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'$4.8B' and '$5.1B' produce very similar embedding vectors — model cannot tell them apart
•  'Q1 FY26' and 'Q2 FY26' are semantically near-identical — wrong quarter retrieved
•  Infosys IR documents: long PDFs where embedding averages over many sections,
   making the correct table indistinguishable from adjacent pages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25880"/>
            <a:ext cx="3886200" cy="3017520"/>
          </a:xfrm>
          <a:prstGeom prst="rect">
            <a:avLst/>
          </a:prstGeom>
          <a:solidFill>
            <a:srgbClr val="D4ED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417320"/>
            <a:ext cx="3666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Why BM25 Helps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801368"/>
            <a:ext cx="3666744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Exact token matching: only documents literally containing 'Q3 FY26' score for that query
•  Handles out-of-vocabulary terms (ticker codes, product names, financial jargon)
   that embedding models may not have been trained on
•  BM25Okapi index built from the same YAML corpus at startup in &lt;1 s — zero extra 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325880"/>
            <a:ext cx="3657600" cy="3017520"/>
          </a:xfrm>
          <a:prstGeom prst="rect">
            <a:avLst/>
          </a:prstGeom>
          <a:solidFill>
            <a:srgbClr val="CCE5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1417320"/>
            <a:ext cx="3438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0"/>
                </a:solidFill>
              </a:rPr>
              <a:t>Reciprocal Rank Fusion (k=60)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1801368"/>
            <a:ext cx="3438144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Merges ranked lists from both modalities without any trained weights:
     score(d) = Σ  1 / (60 + rank_i(d))
•  Top-20 from vector + top-20 from BM25 → combined → top-3 returned
•  k=60 dampens high-rank outliers from either list
•  Documents appearing high in both lists rise to the top
•  No GPU, no model training, purely combinatorial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4805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BM25Okapi (rank_bm25) index is loaded once at API startup from the same ChromaDB YAML corpus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Hybrid RRF (No Reranker) Is Our Final Production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Evidence from benchmarks, latency, and domain mismatch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4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48640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17320"/>
            <a:ext cx="52669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Strategies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526694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1.  Metadata-only (vector, no BM25):  74/82% R@3/7  |  0.48s
2.  BM25-only (keyword):               84/88% R@3/7  |  0.56s
3.  Hybrid RRF (no reranker) ★:       76/88% R@3/7  |  0.56s
4.  Hybrid RRF + CE reranker:          74/86% R@3/7  |  2.30s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325880"/>
            <a:ext cx="5806440" cy="2560320"/>
          </a:xfrm>
          <a:prstGeom prst="rect">
            <a:avLst/>
          </a:prstGeom>
          <a:solidFill>
            <a:srgbClr val="F8D7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17320"/>
            <a:ext cx="5586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3545"/>
                </a:solidFill>
              </a:rPr>
              <a:t>Why Not the Cross-Encoder Reranker?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1801368"/>
            <a:ext cx="558698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Reranker dropped R@3: 76% → 74%  (−2 pp despite sorting 40 candidates)
•  Added 1.74s to retrieval latency — total 4× slower than without
•  ms-marco-MiniLM was fine-tuned on MS MARCO (general web search queries)
   — it has never seen financial documents and misranks domain-specific chunks
•  The wrong-domain reranker overrode correct RRF rankings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069080"/>
            <a:ext cx="11612880" cy="2926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4087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HEAD-TO-HEAD: Hybrid RRF vs Hybrid + CE Reranker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480560"/>
            <a:ext cx="11612880" cy="338328"/>
          </a:xfrm>
          <a:prstGeom prst="rect">
            <a:avLst/>
          </a:prstGeom>
          <a:solidFill>
            <a:srgbClr val="1A2A4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51713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451713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Hybrid RRF (no reranker)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51713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Hybrid RRF + CE Reranker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45171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Winner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828032"/>
            <a:ext cx="11612880" cy="33832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86460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Recall@3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86460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76%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86460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86460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Hybrid RRF 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175504"/>
            <a:ext cx="11612880" cy="338328"/>
          </a:xfrm>
          <a:prstGeom prst="rect">
            <a:avLst/>
          </a:prstGeom>
          <a:solidFill>
            <a:srgbClr val="D4EDD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21208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Recall@5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521208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521208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82%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52120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Hybrid RRF 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522976"/>
            <a:ext cx="11612880" cy="33832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559552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Recall@7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55595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88%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55595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86%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55595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Hybrid RRF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870448"/>
            <a:ext cx="11612880" cy="338328"/>
          </a:xfrm>
          <a:prstGeom prst="rect">
            <a:avLst/>
          </a:prstGeom>
          <a:solidFill>
            <a:srgbClr val="D4EDD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907024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Latency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590702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0.558s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590702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2.298s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9070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Hybrid RRF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6217920"/>
            <a:ext cx="11612880" cy="33832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25449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4444"/>
                </a:solidFill>
              </a:rPr>
              <a:t>Domain 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625449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N/A (no model)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625449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MS-MARCO (wrong domain)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6254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Hybrid RRF 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Retrieval Benchmark Results — All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50 questions across 5 categories; same YAML metadata collection throughout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5 / 18</a:t>
            </a:r>
          </a:p>
        </p:txBody>
      </p:sp>
      <p:pic>
        <p:nvPicPr>
          <p:cNvPr id="6" name="Picture 5" descr="m6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120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06840" y="1371600"/>
            <a:ext cx="2926080" cy="1828800"/>
          </a:xfrm>
          <a:prstGeom prst="rect">
            <a:avLst/>
          </a:prstGeom>
          <a:solidFill>
            <a:srgbClr val="D4EDDA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98280" y="1435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★ Production 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1801368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96E2E"/>
                </a:solidFill>
              </a:rPr>
              <a:t>Hybrid RRF (no reranker)
76 / 86 / 88%
R@3 / R@5 / R@7
Latency: 0.558s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3337560"/>
            <a:ext cx="2926080" cy="1325880"/>
          </a:xfrm>
          <a:prstGeom prst="rect">
            <a:avLst/>
          </a:prstGeom>
          <a:solidFill>
            <a:srgbClr val="CCE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34015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0"/>
                </a:solidFill>
              </a:rPr>
              <a:t>BM25-only Note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767328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4080"/>
                </a:solidFill>
              </a:rPr>
              <a:t>84% R@3 — highest single-
modality result; semantic
queries still miss chunks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Recall@k: fraction of questions where the correct document appears in top-k retrieved 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Category-wise Recall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IR documents remain challenging; Yahoo Finance and short NSE tables are well-retrieved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6 / 18</a:t>
            </a:r>
          </a:p>
        </p:txBody>
      </p:sp>
      <p:pic>
        <p:nvPicPr>
          <p:cNvPr id="6" name="Picture 5" descr="m6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7680960" cy="5212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92440" y="1280160"/>
            <a:ext cx="3886200" cy="52120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353312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Key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828800"/>
            <a:ext cx="3703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</a:rPr>
              <a:t>NSE ≤10p &amp; Yahoo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084832"/>
            <a:ext cx="3703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100% across all methods — short, structured tables have dense, distinctive YAML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788920"/>
            <a:ext cx="3703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</a:rPr>
              <a:t>NSE &gt;10p (long tables)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044952"/>
            <a:ext cx="3703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Hybrid @R7=90%. Vector alone misses the right page; BM25 locks on to quarter labels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3749040"/>
            <a:ext cx="3703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</a:rPr>
              <a:t>Infosys IR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005072"/>
            <a:ext cx="3703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BM25 alone: 60% @R3. In hybrid mode, RRF sometimes promotes a vector candidate over the correct BM25 hit — drops to 20% @R3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4709160"/>
            <a:ext cx="3703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</a:rPr>
              <a:t>Trendlyne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965192"/>
            <a:ext cx="3703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BM25=100%; Hybrid=67%. RRF dilutes an already-perfect BM25 signal with a weaker vector candidate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Latency Analysis — Retrieval vs. Full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Retrieval times measured before LLM answer generation; FACT_DB path benchmarked end-to-end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7 / 18</a:t>
            </a:r>
          </a:p>
        </p:txBody>
      </p:sp>
      <p:pic>
        <p:nvPicPr>
          <p:cNvPr id="6" name="Picture 5" descr="m6_latency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1872"/>
            <a:ext cx="1161288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Embedding (0.540s) accounts for 97% of Hybrid RRF retrieval time  |  BM25 adds only 0.017s on 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Numeric Fidelity Problem — Why Vector + LLM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LLMs approximate numbers; financial Q&amp;A demands exact, auditable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8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669280" cy="4754880"/>
          </a:xfrm>
          <a:prstGeom prst="rect">
            <a:avLst/>
          </a:prstGeom>
          <a:solidFill>
            <a:srgbClr val="F8D7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17320"/>
            <a:ext cx="5449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3545"/>
                </a:solidFill>
              </a:rPr>
              <a:t>The Core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5449824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LLMs do not retrieve numbers — they generate them.
When asked 'What was Infosys operating margin in Q2 FY26?' the LLM receives context documents and generates an answer word-by-word. It may:
•  Round: 21.0% → 'approximately 20%'
•  Confuse adjacent quarters: Q2 FY26 (21.0%) vs Q3 FY26 (18.4%)
•  Average across documents if multiple values appear in context
•  Confidently state a plausible but wrong number if context is ambiguous
For quarterly earnings figures, any deviation from the official fact sheet is unacceptable.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325880"/>
            <a:ext cx="5806440" cy="4754880"/>
          </a:xfrm>
          <a:prstGeom prst="rect">
            <a:avLst/>
          </a:prstGeom>
          <a:solidFill>
            <a:srgbClr val="D4ED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17320"/>
            <a:ext cx="5586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Our Solution: SQLite Fact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1801368"/>
            <a:ext cx="5586984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Instead of asking the LLM to recall a number, we:
1.  Extract exact values from official Infosys quarterly fact sheets
    during preprocessing and store them in a structured SQLite database
2.  Route numerical questions away from the LLM retrieval path
3.  Have the LLM generate a SQL query over the structured data
4.  Return the exact database value as the answer
The database is the source of truth — the LLM only formats the result,
it does not generate the number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Fact Database — Design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2,551 rows extracted from authoritative Infosys quarterly IR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9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30352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17320"/>
            <a:ext cx="5084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Why Infosys IR source only?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508406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Restricting to official quarterly fact sheets, IFRS press releases,
   and earnings call transcripts ensures consistent USD units and period labels
•  NSE annual reports mix INR and USD values for the same metric
•  Yahoo Finance / Trendlyne data has different column naming and granularity
•  Result: 2,551 rows, 2,515 with parsed numeric values,
   covering Q1 FY25 through Q4 FY26 (8 quarters)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325880"/>
            <a:ext cx="6080760" cy="2560320"/>
          </a:xfrm>
          <a:prstGeom prst="rect">
            <a:avLst/>
          </a:prstGeom>
          <a:solidFill>
            <a:srgbClr val="D4ED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16168" y="1417320"/>
            <a:ext cx="5861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What Fact DB Can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6168" y="1801368"/>
            <a:ext cx="586130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Metrics tracked per quarter:
  • Operating margin (%)              • Revenue (USD mn)
  • Net profit (USD mn)               • Basic &amp; Diluted EPS (USD)
  • Large deal TCV (USD bn)           • Net-new deal mix (%)
  • Voluntary attrition (IT Services, %)
Supported query types:
  • Exact lookup: 'What was attrition in Q3 FY26?'
  • Aggregation: average / min / max across quarters
  • Comparison: 'Which quarter had lowest margin?'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023360"/>
            <a:ext cx="7772400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406908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Example: LLM-Generated SQL → Exact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462272"/>
            <a:ext cx="74980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Q: "What was Infosys operating margin in Q2 FY26?"
SQL: SELECT raw_value FROM facts
     WHERE row_label LIKE '%Operating Margin%'
       AND period = 'Q2_FY26' AND unit = '%'
       AND column_label NOT LIKE '%non-IFRS%'
Result: 21.0%   (exact from fact sheet, no rounding)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4023360"/>
            <a:ext cx="361188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114800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Schema (key columns)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498848"/>
            <a:ext cx="339242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row_label   — metric name as in fact sheet
column_label — date column or 'prose'
raw_value   — exact cell text
value_numeric — parsed float
unit        — %, USD_bn, USD_mn, …
period      — Q1_FY26, Q2_FY26, 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Fact Database — What It Cannot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Knowing the boundaries is as important as knowing the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10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1612880" cy="960120"/>
          </a:xfrm>
          <a:prstGeom prst="rect">
            <a:avLst/>
          </a:prstGeom>
          <a:solidFill>
            <a:srgbClr val="F8D7DA"/>
          </a:solidFill>
          <a:ln w="9525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371600"/>
            <a:ext cx="113934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3545"/>
                </a:solidFill>
              </a:rPr>
              <a:t>✗  Qualitative / Explanatory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19072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'Why did operating margin drop in Q3 FY26?' cannot be answered from the fact DB — it requires management commentary from earnings calls. These go to the VECTOR path.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313432"/>
            <a:ext cx="11612880" cy="960120"/>
          </a:xfrm>
          <a:prstGeom prst="rect">
            <a:avLst/>
          </a:prstGeom>
          <a:solidFill>
            <a:srgbClr val="F8D7DA"/>
          </a:solidFill>
          <a:ln w="9525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2386584"/>
            <a:ext cx="113934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3545"/>
                </a:solidFill>
              </a:rPr>
              <a:t>✗  Non-Infosys Companies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734056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The database is built exclusively from Infosys IR documents. Questions about TCS, Wipro, or the broader market are handled by the VECTOR path over all sources.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28416"/>
            <a:ext cx="11612880" cy="960120"/>
          </a:xfrm>
          <a:prstGeom prst="rect">
            <a:avLst/>
          </a:prstGeom>
          <a:solidFill>
            <a:srgbClr val="FFF3CD"/>
          </a:solidFill>
          <a:ln w="9525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3401568"/>
            <a:ext cx="113934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600"/>
                </a:solidFill>
              </a:rPr>
              <a:t>✗  Metrics Outside the 7 Tracked Categories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749040"/>
            <a:ext cx="113934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Segment-level revenue, geography mix, headcount by geography, training hours, and other KPIs not in the 7 structured categories fall back to VECTOR retrieval.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343400"/>
            <a:ext cx="5623560" cy="960120"/>
          </a:xfrm>
          <a:prstGeom prst="rect">
            <a:avLst/>
          </a:prstGeom>
          <a:solidFill>
            <a:srgbClr val="FFF3CD"/>
          </a:solidFill>
          <a:ln w="9525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4416552"/>
            <a:ext cx="5404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600"/>
                </a:solidFill>
              </a:rPr>
              <a:t>✗  Data Before FY25 or After Q4 FY26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764024"/>
            <a:ext cx="54041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The database covers FY25–FY26 only. Historical questions about FY24 or earlier are routed to VECTOR, where older documents may or may not be present.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4343400"/>
            <a:ext cx="5623560" cy="960120"/>
          </a:xfrm>
          <a:prstGeom prst="rect">
            <a:avLst/>
          </a:prstGeom>
          <a:solidFill>
            <a:srgbClr val="F5F5F5"/>
          </a:solidFill>
          <a:ln w="9525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4416552"/>
            <a:ext cx="5404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✗  Real-time or Live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4764024"/>
            <a:ext cx="54041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facts.db is a static snapshot built at preprocessing time. It is not updated live. Newly released quarterly results require a database rebuild.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Query Router — Directing Each Question to the Right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LLM-based classifier decides: structured fact lookup vs. semantic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11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1612880" cy="1828800"/>
          </a:xfrm>
          <a:prstGeom prst="rect">
            <a:avLst/>
          </a:prstGeom>
          <a:solidFill>
            <a:srgbClr val="F0F4FF"/>
          </a:solidFill>
          <a:ln w="12700">
            <a:solidFill>
              <a:srgbClr val="AAB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5331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Routing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1907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User question  →  gpt-4o-mini with system prompt  →  single word reply: FACT_DB  or  VECTOR
                          (temperature=0, max_tokens=10, avg latency ≈ 0.75s)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042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If reply is ambiguous or unexpected  →  defaults to  VECTOR  (safe fallback — user always gets an answer)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91840"/>
            <a:ext cx="5669280" cy="2743200"/>
          </a:xfrm>
          <a:prstGeom prst="rect">
            <a:avLst/>
          </a:prstGeom>
          <a:solidFill>
            <a:srgbClr val="E3F2F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3383280"/>
            <a:ext cx="5449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0"/>
                </a:solidFill>
              </a:rPr>
              <a:t>Route to FACT_DB when question asks for…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767328"/>
            <a:ext cx="5449824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Specific values: 'What was the revenue in Q1 FY26?'
•  Comparisons: 'Which quarter had highest TCV?'
•  Aggregations: 'What is the average operating margin across FY26?'
•  Keywords: how much, what was the [metric], highest, lowest, average, total
Result: SQL generated by LLM → exact row returned → formatted answer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715000" cy="2743200"/>
          </a:xfrm>
          <a:prstGeom prst="rect">
            <a:avLst/>
          </a:prstGeom>
          <a:solidFill>
            <a:srgbClr val="E8F5E9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3383280"/>
            <a:ext cx="54955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Route to VECTOR when question asks for…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3767328"/>
            <a:ext cx="5495544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Explanations: 'Why did operating margin drop in Q3 FY26?'
•  Strategy / management commentary: 'What is Infosys's AI strategy?'
•  Events / qualitative context: 'What large deals were signed?'
•  Keywords: why, how does, explain, describe, strategy, factors
Result: Hybrid RRF retrieves top-3 documents → LLM generates answer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Quality Gate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Three independent test sets measuring routing, SQL correctness, and numeric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12 / 18</a:t>
            </a:r>
          </a:p>
        </p:txBody>
      </p:sp>
      <p:pic>
        <p:nvPicPr>
          <p:cNvPr id="6" name="Picture 5" descr="m6_quality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731520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35240" y="1325880"/>
            <a:ext cx="4343400" cy="51663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389888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Test Set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82880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Query Routing  (~95%)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148840"/>
            <a:ext cx="4160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40 questions (15 numerical + 25 descriptive)
On benchmark: 40/40 correct.
Note: real-world accuracy may vary;
95% is a realistic production estimate.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01752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SQL Generation  (15/15)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337560"/>
            <a:ext cx="4160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15 questions requiring exact numerical values.
All 15 generated valid, executable SQL.
No syntax errors or empty result sets.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20624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Value ±5% Match  (15/15)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526280"/>
            <a:ext cx="4160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Same 15 questions checked for numeric accuracy.
All 15 returned values within 5% of
the official fact sheet figure.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303520"/>
            <a:ext cx="7178040" cy="1143000"/>
          </a:xfrm>
          <a:prstGeom prst="rect">
            <a:avLst/>
          </a:prstGeom>
          <a:solidFill>
            <a:srgbClr val="FFF3CD"/>
          </a:solidFill>
          <a:ln w="9525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5358384"/>
            <a:ext cx="6903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600"/>
                </a:solidFill>
              </a:rPr>
              <a:t>Important caveat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724144"/>
            <a:ext cx="6903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These benchmarks were conducted on small curated test sets (40 / 15 questions). Results should be interpreted as indicative — not as guarantees of production performance. Routing accuracy of ~95% accounts for edge cases and paraphrase variations not in the test set.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Production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FastAPI backend + Streamlit frontend; JWT-authenticated, rate-limited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13 / 18</a:t>
            </a:r>
          </a:p>
        </p:txBody>
      </p:sp>
      <p:pic>
        <p:nvPicPr>
          <p:cNvPr id="6" name="Picture 5" descr="m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67512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325880"/>
            <a:ext cx="4846320" cy="22860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38988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System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78308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FastAPI backend   →  port 8000
Streamlit frontend →  port 8501
Both services share:
  • ./data/chroma   (vector store)
  • ./data/facts.db (fact database)
Both read-only at runtime; data is
pre-built during preprocessing.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3749039"/>
            <a:ext cx="4846320" cy="260604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38130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Security &amp;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420624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JWT HS256 tokens, 8-hour expiry
•  Per-user sliding-window rate limit
   (20 requests/hour, configurable)
•  OPENAI_API_KEY and JWT secret
   loaded from environment variables
•  CORS configured for frontend origin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VECTOR path: embed → Chroma top-20 + BM25 top-20 → RRF(k=60) → top-3 → gpt-4o-mini
FACT_DB path: route (LLM) → SQL generate (LLM) → SQLite execute → format answer (LLM)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Endpoints — How a Query Is Processed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Two endpoints: authentication and the main Q&amp;A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14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1612880" cy="1691640"/>
          </a:xfrm>
          <a:prstGeom prst="rect">
            <a:avLst/>
          </a:prstGeom>
          <a:solidFill>
            <a:srgbClr val="FFF8E1"/>
          </a:solidFill>
          <a:ln w="1270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3533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600"/>
                </a:solidFill>
              </a:rPr>
              <a:t>POST  /auth/token  — Authenticate and get a JWT access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37360"/>
            <a:ext cx="114300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Request:  form-data  { username, password }  (credentials from .env)
Response: { access_token: 'eyJ…', token_type: 'bearer' }  (HS256 JWT, 8-hour expiry)
Use the token as:  Authorization: Bearer &lt;token&gt;  on every subsequent request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27248"/>
            <a:ext cx="11612880" cy="2971800"/>
          </a:xfrm>
          <a:prstGeom prst="rect">
            <a:avLst/>
          </a:prstGeom>
          <a:solidFill>
            <a:srgbClr val="F1F8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31821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080"/>
                </a:solidFill>
              </a:rPr>
              <a:t>POST  /query  — Ask a financial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661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Request:  JSON  { "question": "What was operating margin in Q2 FY26?"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93192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Step 1  Embed question  →  text-embedding-3-small  (1536-dim vector)
Step 2  Route question  →  gpt-4o-mini classifies as  FACT_DB  or  VECTOR  (~0.75s)
Step 3a FACT_DB path   →  gpt-4o-mini generates SQL → SQLite executes → exact value returned
Step 3b VECTOR path    →  Chroma top-20 + BM25 top-20 → RRF(k=60) → top-3 docs → gpt-4o-mini
Step 4  Response        →  { steps[], answer, citations[], route, sql?, latency_ms 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6217920"/>
            <a:ext cx="11612880" cy="502920"/>
          </a:xfrm>
          <a:prstGeom prst="rect">
            <a:avLst/>
          </a:prstGeom>
          <a:solidFill>
            <a:srgbClr val="D4EDDA"/>
          </a:solidFill>
          <a:ln w="9525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2727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96E2E"/>
                </a:solidFill>
              </a:rPr>
              <a:t>GET  /health  →  { status: 'ok' }  — liveness probe, no authentication required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FastAPI (port 8000) and Streamlit (port 8501) share a common data volume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15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66928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17320"/>
            <a:ext cx="5449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FastAPI Backend (api.py)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544982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Serves POST /auth/token, POST /query, GET /health
•  Loads ChromaDB collection and BM25 index once at startup
•  SQLite facts.db opened per request (lightweight, read-only)
•  All secrets (API key, JWT secret) injected via environment variables
•  Run with:  uvicorn api:app --host 0.0.0.0 --port 8000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325880"/>
            <a:ext cx="5806440" cy="2560320"/>
          </a:xfrm>
          <a:prstGeom prst="rect">
            <a:avLst/>
          </a:prstGeom>
          <a:solidFill>
            <a:srgbClr val="E8F4F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17320"/>
            <a:ext cx="5586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0"/>
                </a:solidFill>
              </a:rPr>
              <a:t>Streamlit Frontend (streamlit_app.py)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1801368"/>
            <a:ext cx="558698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User-facing chat interface on port 8501
•  Calls POST /auth/token at login; stores JWT in session state
•  Each question sent to POST /query with Bearer token
•  Displays workflow steps, answer, citations, and route metadata
•  Run with:  streamlit run streamlit_app.py --server.port 8501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069080"/>
            <a:ext cx="11612880" cy="2468880"/>
          </a:xfrm>
          <a:prstGeom prst="rect">
            <a:avLst/>
          </a:prstGeom>
          <a:solidFill>
            <a:srgbClr val="F0F0F0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4160520"/>
            <a:ext cx="11393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Data Dependencies (built during preprocessing, read-only at runtime)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544568"/>
            <a:ext cx="11393424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ChromaDB vector store  (metadata_embedding_pipeline/chroma_db/)
   — built by running the metadata embedding pipeline on all 5 data sources
•  BM25 index  — built in memory at FastAPI startup from the ChromaDB YAML corpus
•  SQLite facts.db  (metadata_embedding_pipeline/facts.db)
   — built by running fact_database.py on Infosys IR source files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Milestone 6 — Complete Results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680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Retrieval performance, quality gates, and category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16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11612880" cy="30175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801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RETRIEVAL PERFORMANCE  (Hybrid RRF Production Pipeline, 50 questions)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27632"/>
            <a:ext cx="1880616" cy="987552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655064"/>
            <a:ext cx="1798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196E2E"/>
                </a:solidFill>
              </a:rP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57984"/>
            <a:ext cx="1798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Recall@3
Hybrid RRF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09800" y="1627632"/>
            <a:ext cx="1880616" cy="987552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520" y="1655064"/>
            <a:ext cx="1798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196E2E"/>
                </a:solidFill>
              </a:rPr>
              <a:t>86%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5520" y="2157984"/>
            <a:ext cx="1798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Recall@5
Hybrid RRF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627632"/>
            <a:ext cx="1880616" cy="987552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655064"/>
            <a:ext cx="1798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196E2E"/>
                </a:solidFill>
              </a:rPr>
              <a:t>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0" y="2157984"/>
            <a:ext cx="1798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Recall@7
Hybrid RRF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627632"/>
            <a:ext cx="1880616" cy="987552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655064"/>
            <a:ext cx="1798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004080"/>
                </a:solidFill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157984"/>
            <a:ext cx="1798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4080"/>
                </a:solidFill>
              </a:rPr>
              <a:t>BM25-only
Recall@3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6240" y="1627632"/>
            <a:ext cx="1880616" cy="987552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1960" y="1655064"/>
            <a:ext cx="1798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004080"/>
                </a:solidFill>
              </a:rPr>
              <a:t>88%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1960" y="2157984"/>
            <a:ext cx="1798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4080"/>
                </a:solidFill>
              </a:rPr>
              <a:t>BM25-only
Recall@7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51720" y="1627632"/>
            <a:ext cx="1880616" cy="987552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7440" y="1655064"/>
            <a:ext cx="1798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 i="0">
                <a:solidFill>
                  <a:srgbClr val="FF9600"/>
                </a:solidFill>
              </a:rPr>
              <a:t>0.56s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7440" y="2157984"/>
            <a:ext cx="1798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9600"/>
                </a:solidFill>
              </a:rPr>
              <a:t>Retrieval
Latency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24912"/>
            <a:ext cx="11612880" cy="30175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27432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QUALITY GATES  (small test sets — see caveats on routing accuracy)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30723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07238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07238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0723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Accuracy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383280"/>
            <a:ext cx="11612880" cy="402336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44728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Query Routing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47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40 questions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447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4080"/>
                </a:solidFill>
              </a:rPr>
              <a:t>~38/40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34472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96E2E"/>
                </a:solidFill>
              </a:rPr>
              <a:t>~95%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803904"/>
            <a:ext cx="116128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867912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SQL Generation Correct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8679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15 questions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38679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4080"/>
                </a:solidFill>
              </a:rPr>
              <a:t>15 / 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9800" y="386791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224528"/>
            <a:ext cx="11612880" cy="402336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4288536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Value Within ±5%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80" y="42885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15 questions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42885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4080"/>
                </a:solidFill>
              </a:rPr>
              <a:t>15 / 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428853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4718304"/>
            <a:ext cx="11612880" cy="30175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736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CATEGORY HIGHLIGHTS  (Hybrid RRF @R7, 50 questions)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065776"/>
            <a:ext cx="2267712" cy="82296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093208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" y="5495544"/>
            <a:ext cx="2212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NSE ≤10p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96896" y="5065776"/>
            <a:ext cx="2267712" cy="822960"/>
          </a:xfrm>
          <a:prstGeom prst="rect">
            <a:avLst/>
          </a:prstGeom>
          <a:solidFill>
            <a:srgbClr val="CCE5FF"/>
          </a:solidFill>
          <a:ln w="635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42616" y="5093208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4080"/>
                </a:solidFill>
              </a:rPr>
              <a:t>90%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42616" y="5495544"/>
            <a:ext cx="2212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4080"/>
                </a:solidFill>
              </a:rPr>
              <a:t>NSE &gt;10p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19472" y="5065776"/>
            <a:ext cx="2267712" cy="82296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5192" y="5093208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FF9600"/>
                </a:solidFill>
              </a:rPr>
              <a:t>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65192" y="5495544"/>
            <a:ext cx="2212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9600"/>
                </a:solidFill>
              </a:rPr>
              <a:t>IR Docs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42048" y="5065776"/>
            <a:ext cx="2267712" cy="82296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87768" y="5093208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FF9600"/>
                </a:solidFill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8" y="5495544"/>
            <a:ext cx="2212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9600"/>
                </a:solidFill>
              </a:rPr>
              <a:t>Trendlyne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64624" y="5065776"/>
            <a:ext cx="2267712" cy="82296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0344" y="5093208"/>
            <a:ext cx="221284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10344" y="5495544"/>
            <a:ext cx="2212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Yahoo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" y="596188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</a:rPr>
              <a:t>Routing accuracy shown as ~95% (realistic production estimate); benchmark achieved 40/40 on a 40-question test set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Key Observations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17 / 18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12880" cy="251460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17320"/>
            <a:ext cx="11393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801368"/>
            <a:ext cx="11393424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BM25 keyword search is highly complementary to vector search: 84% R@3 single-modality
•  Hybrid RRF without reranker achieves the best overall recall (76/86/88%) at low latency (0.56s)
•  The cross-encoder reranker was counter-productive: wrong domain, lower recall, 4× slower
•  Numeric Fidelity Layer eliminates LLM hallucination on exact financial figures
•  Query routing correctly separates numerical fact lookups from qualitative retrieval
•  Embedding cost (97% of latency) dominates — BM25 adds negligible 17ms overhead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977639"/>
            <a:ext cx="1161288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4069079"/>
            <a:ext cx="11393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A4A"/>
                </a:solidFill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453127"/>
            <a:ext cx="11393424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•  Infosys IR recall is still low (20% @R3 in hybrid) — RRF can override a correct BM25 hit with a weaker vector result
•  Cross-encoder trained on MS-MARCO (web queries) — financial domain fine-tuning could improve results
•  facts.db covers only 7 metrics over FY25–FY26 (Infosys only); broader financial KPIs fall back to VECTOR
•  FACT_DB path is slow (avg ~4.1s) due to two sequential LLM calls (routing + SQL gen + answer); caching common queries would help
•  Routing accuracy degrades on ambiguous questions at the boundary between numerical and qualitative
•  All benchmarks conducted on small, curated test sets — production accuracy not yet measured at scale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Milestone 6 —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95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CDDFF"/>
                </a:solidFill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3246120"/>
            <a:ext cx="2437790" cy="14173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4080"/>
                </a:solidFill>
              </a:rP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4080"/>
                </a:solidFill>
              </a:rPr>
              <a:t>Recall@3
Hybrid RRF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7790" y="3246120"/>
            <a:ext cx="2437790" cy="14173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3510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96E2E"/>
                </a:solidFill>
              </a:rPr>
              <a:t>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3510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96E2E"/>
                </a:solidFill>
              </a:rPr>
              <a:t>Recall@7
Hybrid RRF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5580" y="3246120"/>
            <a:ext cx="2437790" cy="14173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21300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9600"/>
                </a:solidFill>
              </a:rPr>
              <a:t>0.56s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1300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9600"/>
                </a:solidFill>
              </a:rPr>
              <a:t>Retrieval
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3371" y="3246120"/>
            <a:ext cx="2437790" cy="14173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9091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96E2E"/>
                </a:solidFill>
              </a:rPr>
              <a:t>~95%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091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96E2E"/>
                </a:solidFill>
              </a:rPr>
              <a:t>Routing
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51161" y="3246120"/>
            <a:ext cx="2437790" cy="14173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96881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96E2E"/>
                </a:solidFill>
              </a:rPr>
              <a:t>15/15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96881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96E2E"/>
                </a:solidFill>
              </a:rPr>
              <a:t>Numeric
Fidelity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67799"/>
                </a:solidFill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