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8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62DEF47-B825-4AF8-A1D9-3FABC6BD36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2244925-5BDE-4E48-BE04-4CD3E01919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B35E11C-10BE-49E9-B182-B4385DA8A9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A6C9004-5235-469A-A754-4A3AD463BA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81F452D-16BA-40B0-A56B-D92A38309ED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7944719-9685-4745-A32B-1E6FB47939F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D456079-D7A6-4C0E-8A91-9F060D0A84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6205DB8-2BB5-42F5-8D66-0CE0370038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04D9564-40EA-4C6E-9251-916F147798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2F17FA0-BA96-49D1-BF59-A58DBF51E4C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95C6D16-6376-4D0D-865A-6DA0FA00D85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1A06E58-EBD2-49E7-A6C9-002F5EA1F19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41B7331-9402-4591-9BFD-110E41EFF41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 txBox="1"/>
          <p:nvPr/>
        </p:nvSpPr>
        <p:spPr>
          <a:xfrm>
            <a:off x="457560" y="1828800"/>
            <a:ext cx="6322320" cy="621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An AI-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Power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ed,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Stock-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Speci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fic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Public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Updat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e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Analy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zer</a:t>
            </a:r>
            <a:endParaRPr b="0" lang="en-US" sz="1800" spc="-1" strike="noStrike">
              <a:latin typeface="Arial"/>
            </a:endParaRPr>
          </a:p>
          <a:p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for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Indian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Capita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l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Marke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ts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" name="Rectangle 2"/>
          <p:cNvSpPr/>
          <p:nvPr/>
        </p:nvSpPr>
        <p:spPr>
          <a:xfrm>
            <a:off x="0" y="0"/>
            <a:ext cx="12188520" cy="727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" name="Rectangle 3"/>
          <p:cNvSpPr/>
          <p:nvPr/>
        </p:nvSpPr>
        <p:spPr>
          <a:xfrm>
            <a:off x="0" y="6784920"/>
            <a:ext cx="12188520" cy="727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" name="Rectangle 4"/>
          <p:cNvSpPr/>
          <p:nvPr/>
        </p:nvSpPr>
        <p:spPr>
          <a:xfrm>
            <a:off x="360" y="3337920"/>
            <a:ext cx="12188520" cy="3291480"/>
          </a:xfrm>
          <a:prstGeom prst="rect">
            <a:avLst/>
          </a:prstGeom>
          <a:solidFill>
            <a:srgbClr val="0d1a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" name="TextBox 5"/>
          <p:cNvSpPr/>
          <p:nvPr/>
        </p:nvSpPr>
        <p:spPr>
          <a:xfrm>
            <a:off x="457200" y="320040"/>
            <a:ext cx="109724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f5c518"/>
                </a:solidFill>
                <a:latin typeface="Calibri"/>
              </a:rPr>
              <a:t>Milestone 6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" name="TextBox 6"/>
          <p:cNvSpPr/>
          <p:nvPr/>
        </p:nvSpPr>
        <p:spPr>
          <a:xfrm>
            <a:off x="457560" y="824760"/>
            <a:ext cx="10972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</a:rPr>
              <a:t>FinQuery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48" name="TextBox 7"/>
          <p:cNvSpPr/>
          <p:nvPr/>
        </p:nvSpPr>
        <p:spPr>
          <a:xfrm>
            <a:off x="457200" y="2514600"/>
            <a:ext cx="10972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2200" spc="-1" strike="noStrike">
                <a:solidFill>
                  <a:srgbClr val="ccddff"/>
                </a:solidFill>
                <a:latin typeface="Calibri"/>
              </a:rPr>
              <a:t>Hybrid BM25 + Vector Retrieval, Novelty-Task: Fact Database,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2200" spc="-1" strike="noStrike">
                <a:solidFill>
                  <a:srgbClr val="ccddff"/>
                </a:solidFill>
                <a:latin typeface="Calibri"/>
              </a:rPr>
              <a:t>Query Routing &amp; Deployment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9" name="TextBox 8"/>
          <p:cNvSpPr/>
          <p:nvPr/>
        </p:nvSpPr>
        <p:spPr>
          <a:xfrm>
            <a:off x="457200" y="3886200"/>
            <a:ext cx="10972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88888"/>
                </a:solidFill>
                <a:latin typeface="Calibri"/>
              </a:rPr>
              <a:t>DS &amp; AI Lab — Group 6  |  T2 2026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0" name="TextBox 9"/>
          <p:cNvSpPr/>
          <p:nvPr/>
        </p:nvSpPr>
        <p:spPr>
          <a:xfrm>
            <a:off x="10972800" y="6309360"/>
            <a:ext cx="1096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67799"/>
                </a:solidFill>
                <a:latin typeface="Calibri"/>
              </a:rPr>
              <a:t>1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535680" y="1893240"/>
            <a:ext cx="10437120" cy="621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An AI-Powered, Stock-Specific Public Update Analyzer for Indian Capital Markets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Google Shape;90;p1"/>
          <p:cNvSpPr/>
          <p:nvPr/>
        </p:nvSpPr>
        <p:spPr>
          <a:xfrm>
            <a:off x="408600" y="4326840"/>
            <a:ext cx="6400440" cy="9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Akbar Ali — 23f1002997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Gurram Sai Sri Ram Hruthik — 22f3001648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NandanReddy Parnapalli — 22f3002857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Shubham Gattani — 21f3002082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Shubhashish Biswas — 21f1001460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Previous Milestone Recap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55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What was established before Milestone 6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6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2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7" name="Rectangle 5"/>
          <p:cNvSpPr/>
          <p:nvPr/>
        </p:nvSpPr>
        <p:spPr>
          <a:xfrm>
            <a:off x="274320" y="1325880"/>
            <a:ext cx="5486040" cy="26514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" name="TextBox 6"/>
          <p:cNvSpPr/>
          <p:nvPr/>
        </p:nvSpPr>
        <p:spPr>
          <a:xfrm>
            <a:off x="384120" y="1417320"/>
            <a:ext cx="5266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Previous Best Results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9" name="TextBox 7"/>
          <p:cNvSpPr/>
          <p:nvPr/>
        </p:nvSpPr>
        <p:spPr>
          <a:xfrm>
            <a:off x="384120" y="1801440"/>
            <a:ext cx="526644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Embed only YAML front matter (no body text) — 13× faster than full-text embedding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Cross-encoder reranker (ms-marco-MiniLM-L-6-v2) improved Recall@7 by +6pp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Production metadata pipeline (no reranker): 0.478s  |  82% Recall@7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Metadata + CE reranker: 88% Recall@7 but 3.2s latency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Rectangle 8"/>
          <p:cNvSpPr/>
          <p:nvPr/>
        </p:nvSpPr>
        <p:spPr>
          <a:xfrm>
            <a:off x="6080760" y="1325880"/>
            <a:ext cx="5806080" cy="2651400"/>
          </a:xfrm>
          <a:prstGeom prst="rect">
            <a:avLst/>
          </a:prstGeom>
          <a:solidFill>
            <a:srgbClr val="e8f4fd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" name="TextBox 9"/>
          <p:cNvSpPr/>
          <p:nvPr/>
        </p:nvSpPr>
        <p:spPr>
          <a:xfrm>
            <a:off x="6190560" y="1417320"/>
            <a:ext cx="55864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Milestone 6 Goals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2" name="TextBox 10"/>
          <p:cNvSpPr/>
          <p:nvPr/>
        </p:nvSpPr>
        <p:spPr>
          <a:xfrm>
            <a:off x="6190560" y="1801440"/>
            <a:ext cx="558648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Improve recall with BM25 keyword search alongside vector retrieval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Prevent LLM hallucinations on exact financial numbers (e.g. margins, revenue)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Route numerical questions to a structured database; qualitative → vector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Deploy as a secured API with authentication and rate limiting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3" name="Rectangle 11"/>
          <p:cNvSpPr/>
          <p:nvPr/>
        </p:nvSpPr>
        <p:spPr>
          <a:xfrm>
            <a:off x="274320" y="4160520"/>
            <a:ext cx="2267280" cy="1005480"/>
          </a:xfrm>
          <a:prstGeom prst="rect">
            <a:avLst/>
          </a:prstGeom>
          <a:solidFill>
            <a:srgbClr val="cce5ff"/>
          </a:solidFill>
          <a:ln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" name="TextBox 12"/>
          <p:cNvSpPr/>
          <p:nvPr/>
        </p:nvSpPr>
        <p:spPr>
          <a:xfrm>
            <a:off x="32904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4080"/>
                </a:solidFill>
                <a:latin typeface="Calibri"/>
              </a:rPr>
              <a:t>74%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32904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Prev Recall@3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Rectangle 14"/>
          <p:cNvSpPr/>
          <p:nvPr/>
        </p:nvSpPr>
        <p:spPr>
          <a:xfrm>
            <a:off x="2606040" y="4160520"/>
            <a:ext cx="2267280" cy="1005480"/>
          </a:xfrm>
          <a:prstGeom prst="rect">
            <a:avLst/>
          </a:prstGeom>
          <a:solidFill>
            <a:srgbClr val="cce5ff"/>
          </a:solidFill>
          <a:ln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" name="TextBox 15"/>
          <p:cNvSpPr/>
          <p:nvPr/>
        </p:nvSpPr>
        <p:spPr>
          <a:xfrm>
            <a:off x="266076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4080"/>
                </a:solidFill>
                <a:latin typeface="Calibri"/>
              </a:rPr>
              <a:t>82%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8" name="TextBox 16"/>
          <p:cNvSpPr/>
          <p:nvPr/>
        </p:nvSpPr>
        <p:spPr>
          <a:xfrm>
            <a:off x="266076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Prev Recall@7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Rectangle 17"/>
          <p:cNvSpPr/>
          <p:nvPr/>
        </p:nvSpPr>
        <p:spPr>
          <a:xfrm>
            <a:off x="4937760" y="4160520"/>
            <a:ext cx="2267280" cy="1005480"/>
          </a:xfrm>
          <a:prstGeom prst="rect">
            <a:avLst/>
          </a:prstGeom>
          <a:solidFill>
            <a:srgbClr val="fff3cd"/>
          </a:solidFill>
          <a:ln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0" name="TextBox 18"/>
          <p:cNvSpPr/>
          <p:nvPr/>
        </p:nvSpPr>
        <p:spPr>
          <a:xfrm>
            <a:off x="499248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9600"/>
                </a:solidFill>
                <a:latin typeface="Calibri"/>
              </a:rPr>
              <a:t>0.478s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1" name="TextBox 19"/>
          <p:cNvSpPr/>
          <p:nvPr/>
        </p:nvSpPr>
        <p:spPr>
          <a:xfrm>
            <a:off x="499248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Prev Latency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Rectangle 20"/>
          <p:cNvSpPr/>
          <p:nvPr/>
        </p:nvSpPr>
        <p:spPr>
          <a:xfrm>
            <a:off x="7269480" y="4160520"/>
            <a:ext cx="2267280" cy="1005480"/>
          </a:xfrm>
          <a:prstGeom prst="rect">
            <a:avLst/>
          </a:prstGeom>
          <a:solidFill>
            <a:srgbClr val="f5f5f5"/>
          </a:solidFill>
          <a:ln>
            <a:solidFill>
              <a:srgbClr val="1a2a4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3" name="TextBox 21"/>
          <p:cNvSpPr/>
          <p:nvPr/>
        </p:nvSpPr>
        <p:spPr>
          <a:xfrm>
            <a:off x="732420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1a2a4a"/>
                </a:solidFill>
                <a:latin typeface="Calibri"/>
              </a:rPr>
              <a:t>50q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4" name="TextBox 22"/>
          <p:cNvSpPr/>
          <p:nvPr/>
        </p:nvSpPr>
        <p:spPr>
          <a:xfrm>
            <a:off x="732420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Eval Dataset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5" name="Rectangle 23"/>
          <p:cNvSpPr/>
          <p:nvPr/>
        </p:nvSpPr>
        <p:spPr>
          <a:xfrm>
            <a:off x="9601200" y="4160520"/>
            <a:ext cx="2267280" cy="1005480"/>
          </a:xfrm>
          <a:prstGeom prst="rect">
            <a:avLst/>
          </a:prstGeom>
          <a:solidFill>
            <a:srgbClr val="f5f5f5"/>
          </a:solidFill>
          <a:ln>
            <a:solidFill>
              <a:srgbClr val="1a2a4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6" name="TextBox 24"/>
          <p:cNvSpPr/>
          <p:nvPr/>
        </p:nvSpPr>
        <p:spPr>
          <a:xfrm>
            <a:off x="965592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1a2a4a"/>
                </a:solidFill>
                <a:latin typeface="Calibri"/>
              </a:rPr>
              <a:t>5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7" name="TextBox 25"/>
          <p:cNvSpPr/>
          <p:nvPr/>
        </p:nvSpPr>
        <p:spPr>
          <a:xfrm>
            <a:off x="965592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Data Categories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9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The Keyword Gap — Why We Added BM25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Vector embeddings cannot distinguish exact tokens; BM25 matches them precisely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3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2" name="Rectangle 5"/>
          <p:cNvSpPr/>
          <p:nvPr/>
        </p:nvSpPr>
        <p:spPr>
          <a:xfrm>
            <a:off x="274320" y="1325880"/>
            <a:ext cx="3885840" cy="3017160"/>
          </a:xfrm>
          <a:prstGeom prst="rect">
            <a:avLst/>
          </a:prstGeom>
          <a:solidFill>
            <a:srgbClr val="f8d7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3" name="TextBox 6"/>
          <p:cNvSpPr/>
          <p:nvPr/>
        </p:nvSpPr>
        <p:spPr>
          <a:xfrm>
            <a:off x="384120" y="1417320"/>
            <a:ext cx="36662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dc3545"/>
                </a:solidFill>
                <a:latin typeface="Calibri"/>
              </a:rPr>
              <a:t>Where Vector Search Fails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384120" y="1801440"/>
            <a:ext cx="366624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'$4.8B' and '$5.1B' produce very similar embedding vectors — model cannot tell them apart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'Q1 FY26' and 'Q2 FY26' are semantically near-identical — wrong quarter retrieved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Infosys IR documents: long PDFs where embedding averages over many sections,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making the correct table indistinguishable from adjacent pages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Rectangle 8"/>
          <p:cNvSpPr/>
          <p:nvPr/>
        </p:nvSpPr>
        <p:spPr>
          <a:xfrm>
            <a:off x="4251960" y="1325880"/>
            <a:ext cx="3885840" cy="3017160"/>
          </a:xfrm>
          <a:prstGeom prst="rect">
            <a:avLst/>
          </a:prstGeom>
          <a:solidFill>
            <a:srgbClr val="d4ed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6" name="TextBox 9"/>
          <p:cNvSpPr/>
          <p:nvPr/>
        </p:nvSpPr>
        <p:spPr>
          <a:xfrm>
            <a:off x="4361760" y="1417320"/>
            <a:ext cx="36662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Why BM25 Helps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4361760" y="1801440"/>
            <a:ext cx="366624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Exact token matching: only documents literally containing 'Q3 FY26' score for that query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Handles out-of-vocabulary terms (ticker codes, product names, financial jargon)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that embedding models may not have been trained on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BM25Okapi index built from the same YAML corpus at startup in &lt;1 s — zero extra cost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8" name="Rectangle 11"/>
          <p:cNvSpPr/>
          <p:nvPr/>
        </p:nvSpPr>
        <p:spPr>
          <a:xfrm>
            <a:off x="8321040" y="1325880"/>
            <a:ext cx="3657240" cy="3017160"/>
          </a:xfrm>
          <a:prstGeom prst="rect">
            <a:avLst/>
          </a:prstGeom>
          <a:solidFill>
            <a:srgbClr val="cce5ff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9" name="TextBox 12"/>
          <p:cNvSpPr/>
          <p:nvPr/>
        </p:nvSpPr>
        <p:spPr>
          <a:xfrm>
            <a:off x="8430840" y="1417320"/>
            <a:ext cx="3437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Reciprocal Rank Fusion (k=60)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0" name="TextBox 13"/>
          <p:cNvSpPr/>
          <p:nvPr/>
        </p:nvSpPr>
        <p:spPr>
          <a:xfrm>
            <a:off x="8430840" y="1801440"/>
            <a:ext cx="3437640" cy="22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Merges ranked lists from both modalities without any trained weights: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score(d) = Σ  1 / (60 + rank_i(d))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Top-20 from vector + top-20 from BM25 → combined → top-3 returned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k=60 dampens high-rank outliers from either list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Documents appearing high in both lists rise to the top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No GPU, no model training, purely combinatorial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1" name="TextBox 14"/>
          <p:cNvSpPr/>
          <p:nvPr/>
        </p:nvSpPr>
        <p:spPr>
          <a:xfrm>
            <a:off x="274320" y="4480560"/>
            <a:ext cx="11612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888888"/>
                </a:solidFill>
                <a:latin typeface="Calibri"/>
              </a:rPr>
              <a:t>BM25Okapi (rank_bm25) index is loaded once at API startup from the same ChromaDB YAML corpus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3" name="TextBox 2"/>
          <p:cNvSpPr/>
          <p:nvPr/>
        </p:nvSpPr>
        <p:spPr>
          <a:xfrm>
            <a:off x="365760" y="91440"/>
            <a:ext cx="1097244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Why Hybrid RRF (No Reranker) Is Our Final Production Pipeline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Evidence from benchmarks, latency, and domain mismatch analysis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5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4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Rectangle 5"/>
          <p:cNvSpPr/>
          <p:nvPr/>
        </p:nvSpPr>
        <p:spPr>
          <a:xfrm>
            <a:off x="274320" y="1325880"/>
            <a:ext cx="548604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7" name="TextBox 6"/>
          <p:cNvSpPr/>
          <p:nvPr/>
        </p:nvSpPr>
        <p:spPr>
          <a:xfrm>
            <a:off x="384120" y="1417320"/>
            <a:ext cx="5266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Strategies Evaluated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8" name="TextBox 7"/>
          <p:cNvSpPr/>
          <p:nvPr/>
        </p:nvSpPr>
        <p:spPr>
          <a:xfrm>
            <a:off x="384120" y="1801440"/>
            <a:ext cx="5266440" cy="75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1.  Metadata-only (vector, no BM25):  74/82% R@3/7  |  0.48s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2.  BM25-only (keyword):               84/88% R@3/7  |  0.56s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3.  Hybrid RRF (no reranker) ★:       76/88% R@3/7  |  0.56s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4.  Hybrid RRF + CE reranker:          74/86% R@3/7  |  2.30s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9" name="Rectangle 8"/>
          <p:cNvSpPr/>
          <p:nvPr/>
        </p:nvSpPr>
        <p:spPr>
          <a:xfrm>
            <a:off x="6080760" y="1325880"/>
            <a:ext cx="5806080" cy="2559960"/>
          </a:xfrm>
          <a:prstGeom prst="rect">
            <a:avLst/>
          </a:prstGeom>
          <a:solidFill>
            <a:srgbClr val="f8d7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TextBox 9"/>
          <p:cNvSpPr/>
          <p:nvPr/>
        </p:nvSpPr>
        <p:spPr>
          <a:xfrm>
            <a:off x="6190560" y="1417320"/>
            <a:ext cx="55864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dc3545"/>
                </a:solidFill>
                <a:latin typeface="Calibri"/>
              </a:rPr>
              <a:t>Why Not the Cross-Encoder Reranker?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6190560" y="1801440"/>
            <a:ext cx="558648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Reranker dropped R@3: 76% → 74%  (−2 pp despite sorting 40 candidates)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Added 1.74s to retrieval latency — total 4× slower than without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ms-marco-MiniLM was fine-tuned on MS MARCO (general web search queries)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—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it has never seen financial documents and misranks domain-specific chunks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wrong-domain reranker overrode correct RRF rankings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2" name="Rectangle 11"/>
          <p:cNvSpPr/>
          <p:nvPr/>
        </p:nvSpPr>
        <p:spPr>
          <a:xfrm>
            <a:off x="274320" y="4069080"/>
            <a:ext cx="11612520" cy="29232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3" name="TextBox 12"/>
          <p:cNvSpPr/>
          <p:nvPr/>
        </p:nvSpPr>
        <p:spPr>
          <a:xfrm>
            <a:off x="384120" y="408744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HEAD-TO-HEAD: Hybrid RRF vs Hybrid + CE Reranker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04" name="Rectangle 13"/>
          <p:cNvSpPr/>
          <p:nvPr/>
        </p:nvSpPr>
        <p:spPr>
          <a:xfrm>
            <a:off x="274320" y="4480560"/>
            <a:ext cx="11612520" cy="338040"/>
          </a:xfrm>
          <a:prstGeom prst="rect">
            <a:avLst/>
          </a:prstGeom>
          <a:solidFill>
            <a:srgbClr val="1a2a4a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TextBox 14"/>
          <p:cNvSpPr/>
          <p:nvPr/>
        </p:nvSpPr>
        <p:spPr>
          <a:xfrm>
            <a:off x="365760" y="45172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Metric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6" name="TextBox 15"/>
          <p:cNvSpPr/>
          <p:nvPr/>
        </p:nvSpPr>
        <p:spPr>
          <a:xfrm>
            <a:off x="2971800" y="45172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Hybrid RRF (no reranker)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TextBox 16"/>
          <p:cNvSpPr/>
          <p:nvPr/>
        </p:nvSpPr>
        <p:spPr>
          <a:xfrm>
            <a:off x="6035040" y="45172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Hybrid RRF + CE Reranker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8" name="TextBox 17"/>
          <p:cNvSpPr/>
          <p:nvPr/>
        </p:nvSpPr>
        <p:spPr>
          <a:xfrm>
            <a:off x="9555480" y="45172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Winner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9" name="Rectangle 18"/>
          <p:cNvSpPr/>
          <p:nvPr/>
        </p:nvSpPr>
        <p:spPr>
          <a:xfrm>
            <a:off x="274320" y="4827960"/>
            <a:ext cx="11612520" cy="33804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0" name="TextBox 19"/>
          <p:cNvSpPr/>
          <p:nvPr/>
        </p:nvSpPr>
        <p:spPr>
          <a:xfrm>
            <a:off x="365760" y="48646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Recall@3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1" name="TextBox 20"/>
          <p:cNvSpPr/>
          <p:nvPr/>
        </p:nvSpPr>
        <p:spPr>
          <a:xfrm>
            <a:off x="2971800" y="48646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76%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2" name="TextBox 21"/>
          <p:cNvSpPr/>
          <p:nvPr/>
        </p:nvSpPr>
        <p:spPr>
          <a:xfrm>
            <a:off x="6035040" y="48646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74%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3" name="TextBox 22"/>
          <p:cNvSpPr/>
          <p:nvPr/>
        </p:nvSpPr>
        <p:spPr>
          <a:xfrm>
            <a:off x="9555480" y="48646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4" name="Rectangle 23"/>
          <p:cNvSpPr/>
          <p:nvPr/>
        </p:nvSpPr>
        <p:spPr>
          <a:xfrm>
            <a:off x="274320" y="5175360"/>
            <a:ext cx="11612520" cy="338040"/>
          </a:xfrm>
          <a:prstGeom prst="rect">
            <a:avLst/>
          </a:prstGeom>
          <a:solidFill>
            <a:srgbClr val="d4edda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5" name="TextBox 24"/>
          <p:cNvSpPr/>
          <p:nvPr/>
        </p:nvSpPr>
        <p:spPr>
          <a:xfrm>
            <a:off x="365760" y="52120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Recall@5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6" name="TextBox 25"/>
          <p:cNvSpPr/>
          <p:nvPr/>
        </p:nvSpPr>
        <p:spPr>
          <a:xfrm>
            <a:off x="2971800" y="52120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86%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7" name="TextBox 26"/>
          <p:cNvSpPr/>
          <p:nvPr/>
        </p:nvSpPr>
        <p:spPr>
          <a:xfrm>
            <a:off x="6035040" y="52120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82%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8" name="TextBox 27"/>
          <p:cNvSpPr/>
          <p:nvPr/>
        </p:nvSpPr>
        <p:spPr>
          <a:xfrm>
            <a:off x="9555480" y="52120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9" name="Rectangle 28"/>
          <p:cNvSpPr/>
          <p:nvPr/>
        </p:nvSpPr>
        <p:spPr>
          <a:xfrm>
            <a:off x="274320" y="5523120"/>
            <a:ext cx="11612520" cy="33804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0" name="TextBox 29"/>
          <p:cNvSpPr/>
          <p:nvPr/>
        </p:nvSpPr>
        <p:spPr>
          <a:xfrm>
            <a:off x="365760" y="55594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Recall@7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1" name="TextBox 30"/>
          <p:cNvSpPr/>
          <p:nvPr/>
        </p:nvSpPr>
        <p:spPr>
          <a:xfrm>
            <a:off x="2971800" y="55594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88%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2" name="TextBox 31"/>
          <p:cNvSpPr/>
          <p:nvPr/>
        </p:nvSpPr>
        <p:spPr>
          <a:xfrm>
            <a:off x="6035040" y="55594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86%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3" name="TextBox 32"/>
          <p:cNvSpPr/>
          <p:nvPr/>
        </p:nvSpPr>
        <p:spPr>
          <a:xfrm>
            <a:off x="9555480" y="55594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4" name="Rectangle 33"/>
          <p:cNvSpPr/>
          <p:nvPr/>
        </p:nvSpPr>
        <p:spPr>
          <a:xfrm>
            <a:off x="274320" y="5870520"/>
            <a:ext cx="11612520" cy="338040"/>
          </a:xfrm>
          <a:prstGeom prst="rect">
            <a:avLst/>
          </a:prstGeom>
          <a:solidFill>
            <a:srgbClr val="d4edda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5" name="TextBox 34"/>
          <p:cNvSpPr/>
          <p:nvPr/>
        </p:nvSpPr>
        <p:spPr>
          <a:xfrm>
            <a:off x="365760" y="59068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Latency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6" name="TextBox 35"/>
          <p:cNvSpPr/>
          <p:nvPr/>
        </p:nvSpPr>
        <p:spPr>
          <a:xfrm>
            <a:off x="2971800" y="59068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0.558s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7" name="TextBox 36"/>
          <p:cNvSpPr/>
          <p:nvPr/>
        </p:nvSpPr>
        <p:spPr>
          <a:xfrm>
            <a:off x="6035040" y="59068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2.298s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TextBox 37"/>
          <p:cNvSpPr/>
          <p:nvPr/>
        </p:nvSpPr>
        <p:spPr>
          <a:xfrm>
            <a:off x="9555480" y="59068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9" name="Rectangle 38"/>
          <p:cNvSpPr/>
          <p:nvPr/>
        </p:nvSpPr>
        <p:spPr>
          <a:xfrm>
            <a:off x="274320" y="6217920"/>
            <a:ext cx="11612520" cy="33804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TextBox 39"/>
          <p:cNvSpPr/>
          <p:nvPr/>
        </p:nvSpPr>
        <p:spPr>
          <a:xfrm>
            <a:off x="365760" y="625464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Domain fit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1" name="TextBox 40"/>
          <p:cNvSpPr/>
          <p:nvPr/>
        </p:nvSpPr>
        <p:spPr>
          <a:xfrm>
            <a:off x="2971800" y="625464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N/A (no model)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2" name="TextBox 41"/>
          <p:cNvSpPr/>
          <p:nvPr/>
        </p:nvSpPr>
        <p:spPr>
          <a:xfrm>
            <a:off x="6035040" y="625464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MS-MARCO (wrong domain)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3" name="TextBox 42"/>
          <p:cNvSpPr/>
          <p:nvPr/>
        </p:nvSpPr>
        <p:spPr>
          <a:xfrm>
            <a:off x="9555480" y="625464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Retrieval Benchmark Results — All Strategies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36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50 questions across 5 categories; same YAML metadata collection throughout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7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5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38" name="Picture 5" descr="m6_comparison.png"/>
          <p:cNvPicPr/>
          <p:nvPr/>
        </p:nvPicPr>
        <p:blipFill>
          <a:blip r:embed="rId1"/>
          <a:stretch/>
        </p:blipFill>
        <p:spPr>
          <a:xfrm>
            <a:off x="274320" y="1280160"/>
            <a:ext cx="8595000" cy="5120280"/>
          </a:xfrm>
          <a:prstGeom prst="rect">
            <a:avLst/>
          </a:prstGeom>
          <a:ln w="0">
            <a:noFill/>
          </a:ln>
        </p:spPr>
      </p:pic>
      <p:sp>
        <p:nvSpPr>
          <p:cNvPr id="139" name="Rectangle 6"/>
          <p:cNvSpPr/>
          <p:nvPr/>
        </p:nvSpPr>
        <p:spPr>
          <a:xfrm>
            <a:off x="9006840" y="1371600"/>
            <a:ext cx="2925720" cy="1828440"/>
          </a:xfrm>
          <a:prstGeom prst="rect">
            <a:avLst/>
          </a:prstGeom>
          <a:solidFill>
            <a:srgbClr val="d4edda"/>
          </a:solidFill>
          <a:ln w="12700">
            <a:solidFill>
              <a:srgbClr val="28a74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TextBox 7"/>
          <p:cNvSpPr/>
          <p:nvPr/>
        </p:nvSpPr>
        <p:spPr>
          <a:xfrm>
            <a:off x="9098280" y="1435680"/>
            <a:ext cx="27428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★ </a:t>
            </a: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Production Choice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1" name="TextBox 8"/>
          <p:cNvSpPr/>
          <p:nvPr/>
        </p:nvSpPr>
        <p:spPr>
          <a:xfrm>
            <a:off x="9098280" y="1801440"/>
            <a:ext cx="27428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Hybrid RRF (no reranker)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76 / 86 / 88%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R@3 / R@5 / R@7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Latency: 0.558s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42" name="Rectangle 9"/>
          <p:cNvSpPr/>
          <p:nvPr/>
        </p:nvSpPr>
        <p:spPr>
          <a:xfrm>
            <a:off x="9006840" y="3337560"/>
            <a:ext cx="2925720" cy="1325520"/>
          </a:xfrm>
          <a:prstGeom prst="rect">
            <a:avLst/>
          </a:prstGeom>
          <a:solidFill>
            <a:srgbClr val="cce5ff"/>
          </a:solidFill>
          <a:ln w="12700">
            <a:solidFill>
              <a:srgbClr val="0070c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TextBox 10"/>
          <p:cNvSpPr/>
          <p:nvPr/>
        </p:nvSpPr>
        <p:spPr>
          <a:xfrm>
            <a:off x="9098280" y="3401640"/>
            <a:ext cx="27428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BM25-only Note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4" name="TextBox 11"/>
          <p:cNvSpPr/>
          <p:nvPr/>
        </p:nvSpPr>
        <p:spPr>
          <a:xfrm>
            <a:off x="9098280" y="3767400"/>
            <a:ext cx="27428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84% R@3 — highest single-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modality result; semantic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queries still miss chunks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45" name="TextBox 12"/>
          <p:cNvSpPr/>
          <p:nvPr/>
        </p:nvSpPr>
        <p:spPr>
          <a:xfrm>
            <a:off x="274320" y="6492240"/>
            <a:ext cx="11612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888888"/>
                </a:solidFill>
                <a:latin typeface="Calibri"/>
              </a:rPr>
              <a:t>Recall@k: fraction of questions where the correct document appears in top-k retrieved chunks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Category-wise Recall Analysis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48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IR documents remain challenging; Yahoo Finance and short NSE tables are well-retrieved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9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6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50" name="Picture 5" descr="m6_category.png"/>
          <p:cNvPicPr/>
          <p:nvPr/>
        </p:nvPicPr>
        <p:blipFill>
          <a:blip r:embed="rId1"/>
          <a:stretch/>
        </p:blipFill>
        <p:spPr>
          <a:xfrm>
            <a:off x="274320" y="1234440"/>
            <a:ext cx="7680600" cy="5211720"/>
          </a:xfrm>
          <a:prstGeom prst="rect">
            <a:avLst/>
          </a:prstGeom>
          <a:ln w="0">
            <a:noFill/>
          </a:ln>
        </p:spPr>
      </p:pic>
      <p:sp>
        <p:nvSpPr>
          <p:cNvPr id="151" name="Rectangle 6"/>
          <p:cNvSpPr/>
          <p:nvPr/>
        </p:nvSpPr>
        <p:spPr>
          <a:xfrm>
            <a:off x="8092440" y="1280160"/>
            <a:ext cx="3885840" cy="52117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2" name="TextBox 7"/>
          <p:cNvSpPr/>
          <p:nvPr/>
        </p:nvSpPr>
        <p:spPr>
          <a:xfrm>
            <a:off x="8183880" y="1353240"/>
            <a:ext cx="37029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Key Observations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3" name="TextBox 8"/>
          <p:cNvSpPr/>
          <p:nvPr/>
        </p:nvSpPr>
        <p:spPr>
          <a:xfrm>
            <a:off x="8183880" y="1828800"/>
            <a:ext cx="3702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a2a4a"/>
                </a:solidFill>
                <a:latin typeface="Calibri"/>
              </a:rPr>
              <a:t>NSE ≤10p &amp; Yahoo Finance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4" name="TextBox 9"/>
          <p:cNvSpPr/>
          <p:nvPr/>
        </p:nvSpPr>
        <p:spPr>
          <a:xfrm>
            <a:off x="8183880" y="2084760"/>
            <a:ext cx="370296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100% across all methods — short, structured tables have dense, distinctive YAML metadata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5" name="TextBox 10"/>
          <p:cNvSpPr/>
          <p:nvPr/>
        </p:nvSpPr>
        <p:spPr>
          <a:xfrm>
            <a:off x="8183880" y="2788920"/>
            <a:ext cx="3702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a2a4a"/>
                </a:solidFill>
                <a:latin typeface="Calibri"/>
              </a:rPr>
              <a:t>NSE &gt;10p (long tables)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6" name="TextBox 11"/>
          <p:cNvSpPr/>
          <p:nvPr/>
        </p:nvSpPr>
        <p:spPr>
          <a:xfrm>
            <a:off x="8183880" y="3044880"/>
            <a:ext cx="370296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Hybrid @R7=90%. Vector alone misses the right page; BM25 locks on to quarter labels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7" name="TextBox 12"/>
          <p:cNvSpPr/>
          <p:nvPr/>
        </p:nvSpPr>
        <p:spPr>
          <a:xfrm>
            <a:off x="8183880" y="3749040"/>
            <a:ext cx="3702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a2a4a"/>
                </a:solidFill>
                <a:latin typeface="Calibri"/>
              </a:rPr>
              <a:t>Infosys IR documents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8" name="TextBox 13"/>
          <p:cNvSpPr/>
          <p:nvPr/>
        </p:nvSpPr>
        <p:spPr>
          <a:xfrm>
            <a:off x="8183880" y="4005000"/>
            <a:ext cx="37029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BM25 alone: 60% @R3. In hybrid mode, RRF sometimes promotes a vector candidate over the correct BM25 hit — drops to 20% @R3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9" name="TextBox 14"/>
          <p:cNvSpPr/>
          <p:nvPr/>
        </p:nvSpPr>
        <p:spPr>
          <a:xfrm>
            <a:off x="8183880" y="4709160"/>
            <a:ext cx="3702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a2a4a"/>
                </a:solidFill>
                <a:latin typeface="Calibri"/>
              </a:rPr>
              <a:t>Trendlyne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0" name="TextBox 15"/>
          <p:cNvSpPr/>
          <p:nvPr/>
        </p:nvSpPr>
        <p:spPr>
          <a:xfrm>
            <a:off x="8183880" y="4965120"/>
            <a:ext cx="370296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BM25=100%; Hybrid=67%. RRF dilutes an already-perfect BM25 signal with a weaker vector candidate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2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Latency Analysis — Retrieval vs. Full Pipeline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Retrieval times measured before LLM answer generation; FACT_DB path benchmarked end-to-end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7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65" name="Picture 5" descr="m6_latency_v2.png"/>
          <p:cNvPicPr/>
          <p:nvPr/>
        </p:nvPicPr>
        <p:blipFill>
          <a:blip r:embed="rId1"/>
          <a:stretch/>
        </p:blipFill>
        <p:spPr>
          <a:xfrm>
            <a:off x="274320" y="1261800"/>
            <a:ext cx="11612520" cy="5303160"/>
          </a:xfrm>
          <a:prstGeom prst="rect">
            <a:avLst/>
          </a:prstGeom>
          <a:ln w="0">
            <a:noFill/>
          </a:ln>
        </p:spPr>
      </p:pic>
      <p:sp>
        <p:nvSpPr>
          <p:cNvPr id="166" name="TextBox 6"/>
          <p:cNvSpPr/>
          <p:nvPr/>
        </p:nvSpPr>
        <p:spPr>
          <a:xfrm>
            <a:off x="274320" y="6492240"/>
            <a:ext cx="11612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888888"/>
                </a:solidFill>
                <a:latin typeface="Calibri"/>
              </a:rPr>
              <a:t>Embedding (0.540s) accounts for 97% of Hybrid RRF retrieval time  |  BM25 adds only 0.017s on top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8" name="TextBox 2"/>
          <p:cNvSpPr/>
          <p:nvPr/>
        </p:nvSpPr>
        <p:spPr>
          <a:xfrm>
            <a:off x="365760" y="91440"/>
            <a:ext cx="1097244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The Numeric Fidelity Problem — Why Vector + LLM Is Not Enough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69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LLMs approximate numbers; financial Q&amp;A demands exact, auditable figures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0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8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71" name="Rectangle 5"/>
          <p:cNvSpPr/>
          <p:nvPr/>
        </p:nvSpPr>
        <p:spPr>
          <a:xfrm>
            <a:off x="274320" y="1325880"/>
            <a:ext cx="5668920" cy="4754520"/>
          </a:xfrm>
          <a:prstGeom prst="rect">
            <a:avLst/>
          </a:prstGeom>
          <a:solidFill>
            <a:srgbClr val="f8d7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2" name="TextBox 6"/>
          <p:cNvSpPr/>
          <p:nvPr/>
        </p:nvSpPr>
        <p:spPr>
          <a:xfrm>
            <a:off x="384120" y="1417320"/>
            <a:ext cx="54493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dc3545"/>
                </a:solidFill>
                <a:latin typeface="Calibri"/>
              </a:rPr>
              <a:t>The Core Problem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3" name="TextBox 7"/>
          <p:cNvSpPr/>
          <p:nvPr/>
        </p:nvSpPr>
        <p:spPr>
          <a:xfrm>
            <a:off x="384120" y="1801440"/>
            <a:ext cx="5449320" cy="22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LLMs do not retrieve numbers — they generate them.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When asked 'What was Infosys operating margin in Q2 FY26?' the LLM receives context documents and generates an answer word-by-word. It may: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Round: 21.0% → 'approximately 20%'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Confuse adjacent quarters: Q2 FY26 (21.0%) vs Q3 FY26 (18.4%)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Average across documents if multiple values appear in context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Confidently state a plausible but wrong number if context is ambiguous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For quarterly earnings figures, any deviation from the official fact sheet is unacceptable.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74" name="Rectangle 8"/>
          <p:cNvSpPr/>
          <p:nvPr/>
        </p:nvSpPr>
        <p:spPr>
          <a:xfrm>
            <a:off x="6080760" y="1325880"/>
            <a:ext cx="5806080" cy="4754520"/>
          </a:xfrm>
          <a:prstGeom prst="rect">
            <a:avLst/>
          </a:prstGeom>
          <a:solidFill>
            <a:srgbClr val="d4ed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5" name="TextBox 9"/>
          <p:cNvSpPr/>
          <p:nvPr/>
        </p:nvSpPr>
        <p:spPr>
          <a:xfrm>
            <a:off x="6190560" y="1417320"/>
            <a:ext cx="55864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Our Solution: SQLite Fact Database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6" name="TextBox 10"/>
          <p:cNvSpPr/>
          <p:nvPr/>
        </p:nvSpPr>
        <p:spPr>
          <a:xfrm>
            <a:off x="6190560" y="1801440"/>
            <a:ext cx="5586480" cy="22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Instead of asking the LLM to recall a number, we: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1.  Extract exact values from official Infosys quarterly fact sheets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during preprocessing and store them in a structured SQLite database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2.  Route numerical questions away from the LLM retrieval path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3.  Have the LLM generate a SQL query over the structured data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4.  Return the exact database value as the answer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database is the source of truth — the LLM only formats the result,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it does not generate the number itself.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8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Fact Database — Design &amp; Capabilities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2,551 rows extracted from authoritative Infosys quarterly IR documents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0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9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81" name="Rectangle 5"/>
          <p:cNvSpPr/>
          <p:nvPr/>
        </p:nvSpPr>
        <p:spPr>
          <a:xfrm>
            <a:off x="274320" y="1325880"/>
            <a:ext cx="530316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2" name="TextBox 6"/>
          <p:cNvSpPr/>
          <p:nvPr/>
        </p:nvSpPr>
        <p:spPr>
          <a:xfrm>
            <a:off x="384120" y="1417320"/>
            <a:ext cx="50835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Why Infosys IR source only?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384120" y="1801440"/>
            <a:ext cx="508356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Restricting to official quarterly fact sheets, IFRS press releases,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and earnings call transcripts ensures consistent USD units and period labels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NSE annual reports mix INR and USD values for the same metric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Yahoo Finance / Trendlyne data has different column naming and granularity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Result: 2,551 rows, 2,515 with parsed numeric values,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covering Q1 FY25 through Q4 FY26 (8 quarters)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4" name="Rectangle 8"/>
          <p:cNvSpPr/>
          <p:nvPr/>
        </p:nvSpPr>
        <p:spPr>
          <a:xfrm>
            <a:off x="5806440" y="1325880"/>
            <a:ext cx="6080400" cy="2559960"/>
          </a:xfrm>
          <a:prstGeom prst="rect">
            <a:avLst/>
          </a:prstGeom>
          <a:solidFill>
            <a:srgbClr val="d4ed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TextBox 9"/>
          <p:cNvSpPr/>
          <p:nvPr/>
        </p:nvSpPr>
        <p:spPr>
          <a:xfrm>
            <a:off x="5916240" y="1417320"/>
            <a:ext cx="586080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What Fact DB Can Answer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6" name="TextBox 10"/>
          <p:cNvSpPr/>
          <p:nvPr/>
        </p:nvSpPr>
        <p:spPr>
          <a:xfrm>
            <a:off x="5916240" y="1801440"/>
            <a:ext cx="5860800" cy="176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Metrics tracked per quarter: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Operating margin (%)              • Revenue (USD mn)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Net profit (USD mn)               • Basic &amp; Diluted EPS (USD)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Large deal TCV (USD bn)           • Net-new deal mix (%)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Voluntary attrition (IT Services, %)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Supported query types: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Exact lookup: 'What was attrition in Q3 FY26?'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Aggregation: average / min / max across quarters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Comparison: 'Which quarter had lowest margin?'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7" name="Rectangle 11"/>
          <p:cNvSpPr/>
          <p:nvPr/>
        </p:nvSpPr>
        <p:spPr>
          <a:xfrm>
            <a:off x="274320" y="4023360"/>
            <a:ext cx="7772040" cy="2559960"/>
          </a:xfrm>
          <a:prstGeom prst="rect">
            <a:avLst/>
          </a:prstGeom>
          <a:solidFill>
            <a:srgbClr val="1e1e1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8" name="TextBox 12"/>
          <p:cNvSpPr/>
          <p:nvPr/>
        </p:nvSpPr>
        <p:spPr>
          <a:xfrm>
            <a:off x="384120" y="4069080"/>
            <a:ext cx="74977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5c518"/>
                </a:solidFill>
                <a:latin typeface="Calibri"/>
              </a:rPr>
              <a:t>Example: LLM-Generated SQL → Exact Answer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384120" y="4462200"/>
            <a:ext cx="749772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Q: "What was Infosys operating margin in Q2 FY26?"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SQL: SELECT raw_value FROM facts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     </a:t>
            </a:r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WHERE row_label LIKE '%Operating Margin%'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       </a:t>
            </a:r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AND period = 'Q2_FY26' AND unit = '%'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       </a:t>
            </a:r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AND column_label NOT LIKE '%non-IFRS%'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Result: 21.0%   (exact from fact sheet, no rounding)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0" name="Rectangle 14"/>
          <p:cNvSpPr/>
          <p:nvPr/>
        </p:nvSpPr>
        <p:spPr>
          <a:xfrm>
            <a:off x="8275320" y="4023360"/>
            <a:ext cx="361152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1" name="TextBox 15"/>
          <p:cNvSpPr/>
          <p:nvPr/>
        </p:nvSpPr>
        <p:spPr>
          <a:xfrm>
            <a:off x="8385120" y="4114800"/>
            <a:ext cx="3391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Schema (key columns)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2" name="TextBox 16"/>
          <p:cNvSpPr/>
          <p:nvPr/>
        </p:nvSpPr>
        <p:spPr>
          <a:xfrm>
            <a:off x="8385120" y="4498920"/>
            <a:ext cx="339192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row_label   — metric name as in fact sheet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column_label — date column or 'prose'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raw_value   — exact cell text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value_numeric — parsed float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unit        — %, USD_bn, USD_mn, …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period      — Q1_FY26, Q2_FY26, …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4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Fact Database — What It Cannot Do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95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Knowing the boundaries is as important as knowing the capabilities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6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10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7" name="Rectangle 5"/>
          <p:cNvSpPr/>
          <p:nvPr/>
        </p:nvSpPr>
        <p:spPr>
          <a:xfrm>
            <a:off x="274320" y="1298520"/>
            <a:ext cx="11612520" cy="959760"/>
          </a:xfrm>
          <a:prstGeom prst="rect">
            <a:avLst/>
          </a:prstGeom>
          <a:solidFill>
            <a:srgbClr val="f8d7da"/>
          </a:solidFill>
          <a:ln>
            <a:solidFill>
              <a:srgbClr val="dc354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8" name="TextBox 6"/>
          <p:cNvSpPr/>
          <p:nvPr/>
        </p:nvSpPr>
        <p:spPr>
          <a:xfrm>
            <a:off x="384120" y="1371600"/>
            <a:ext cx="11392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dc3545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dc3545"/>
                </a:solidFill>
                <a:latin typeface="Calibri"/>
              </a:rPr>
              <a:t>Qualitative / Explanatory Questions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9" name="TextBox 7"/>
          <p:cNvSpPr/>
          <p:nvPr/>
        </p:nvSpPr>
        <p:spPr>
          <a:xfrm>
            <a:off x="384120" y="1719000"/>
            <a:ext cx="1139292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'Why did operating margin drop in Q3 FY26?' cannot be answered from the fact DB — it requires management commentary from earnings calls. These go to the VECTOR path.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00" name="Rectangle 8"/>
          <p:cNvSpPr/>
          <p:nvPr/>
        </p:nvSpPr>
        <p:spPr>
          <a:xfrm>
            <a:off x="274320" y="2313360"/>
            <a:ext cx="11612520" cy="959760"/>
          </a:xfrm>
          <a:prstGeom prst="rect">
            <a:avLst/>
          </a:prstGeom>
          <a:solidFill>
            <a:srgbClr val="f8d7da"/>
          </a:solidFill>
          <a:ln>
            <a:solidFill>
              <a:srgbClr val="dc354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1" name="TextBox 9"/>
          <p:cNvSpPr/>
          <p:nvPr/>
        </p:nvSpPr>
        <p:spPr>
          <a:xfrm>
            <a:off x="384120" y="2386440"/>
            <a:ext cx="11392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dc3545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dc3545"/>
                </a:solidFill>
                <a:latin typeface="Calibri"/>
              </a:rPr>
              <a:t>Non-Infosys Companies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2" name="TextBox 10"/>
          <p:cNvSpPr/>
          <p:nvPr/>
        </p:nvSpPr>
        <p:spPr>
          <a:xfrm>
            <a:off x="384120" y="2734200"/>
            <a:ext cx="1139292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database is built exclusively from Infosys IR documents. Questions about TCS, Wipro, or the broader market are handled by the VECTOR path over all sources.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03" name="Rectangle 11"/>
          <p:cNvSpPr/>
          <p:nvPr/>
        </p:nvSpPr>
        <p:spPr>
          <a:xfrm>
            <a:off x="274320" y="3328560"/>
            <a:ext cx="11612520" cy="959760"/>
          </a:xfrm>
          <a:prstGeom prst="rect">
            <a:avLst/>
          </a:prstGeom>
          <a:solidFill>
            <a:srgbClr val="fff3cd"/>
          </a:solidFill>
          <a:ln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4" name="TextBox 12"/>
          <p:cNvSpPr/>
          <p:nvPr/>
        </p:nvSpPr>
        <p:spPr>
          <a:xfrm>
            <a:off x="384120" y="3401640"/>
            <a:ext cx="11392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Metrics Outside the 7 Tracked Categories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5" name="TextBox 13"/>
          <p:cNvSpPr/>
          <p:nvPr/>
        </p:nvSpPr>
        <p:spPr>
          <a:xfrm>
            <a:off x="384120" y="3749040"/>
            <a:ext cx="1139292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Segment-level revenue, geography mix, headcount by geography, training hours, and other KPIs not in the 7 structured categories fall back to VECTOR retrieval.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06" name="Rectangle 14"/>
          <p:cNvSpPr/>
          <p:nvPr/>
        </p:nvSpPr>
        <p:spPr>
          <a:xfrm>
            <a:off x="274320" y="4343400"/>
            <a:ext cx="5623200" cy="959760"/>
          </a:xfrm>
          <a:prstGeom prst="rect">
            <a:avLst/>
          </a:prstGeom>
          <a:solidFill>
            <a:srgbClr val="fff3cd"/>
          </a:solidFill>
          <a:ln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TextBox 15"/>
          <p:cNvSpPr/>
          <p:nvPr/>
        </p:nvSpPr>
        <p:spPr>
          <a:xfrm>
            <a:off x="384120" y="4416480"/>
            <a:ext cx="54036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Data Before FY25 or After Q4 FY26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8" name="TextBox 16"/>
          <p:cNvSpPr/>
          <p:nvPr/>
        </p:nvSpPr>
        <p:spPr>
          <a:xfrm>
            <a:off x="384120" y="4763880"/>
            <a:ext cx="540360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database covers FY25–FY26 only. Historical questions about FY24 or earlier are routed to VECTOR, where older documents may or may not be present.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09" name="Rectangle 17"/>
          <p:cNvSpPr/>
          <p:nvPr/>
        </p:nvSpPr>
        <p:spPr>
          <a:xfrm>
            <a:off x="6080760" y="4343400"/>
            <a:ext cx="5623200" cy="959760"/>
          </a:xfrm>
          <a:prstGeom prst="rect">
            <a:avLst/>
          </a:prstGeom>
          <a:solidFill>
            <a:srgbClr val="f5f5f5"/>
          </a:solidFill>
          <a:ln>
            <a:solidFill>
              <a:srgbClr val="1a2a4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0" name="TextBox 18"/>
          <p:cNvSpPr/>
          <p:nvPr/>
        </p:nvSpPr>
        <p:spPr>
          <a:xfrm>
            <a:off x="6190560" y="4416480"/>
            <a:ext cx="54036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Real-time or Live Data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1" name="TextBox 19"/>
          <p:cNvSpPr/>
          <p:nvPr/>
        </p:nvSpPr>
        <p:spPr>
          <a:xfrm>
            <a:off x="6190560" y="4763880"/>
            <a:ext cx="540360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facts.db is a static snapshot built at preprocessing time. It is not updated live. Newly released quarterly results require a database rebuild.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3" name="TextBox 2"/>
          <p:cNvSpPr/>
          <p:nvPr/>
        </p:nvSpPr>
        <p:spPr>
          <a:xfrm>
            <a:off x="365760" y="91440"/>
            <a:ext cx="1097244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Query Router — Directing Each Question to the Right Backend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14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LLM-based classifier decides: structured fact lookup vs. semantic retrieval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5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11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6" name="Rectangle 5"/>
          <p:cNvSpPr/>
          <p:nvPr/>
        </p:nvSpPr>
        <p:spPr>
          <a:xfrm>
            <a:off x="274320" y="1298520"/>
            <a:ext cx="11612520" cy="1828440"/>
          </a:xfrm>
          <a:prstGeom prst="rect">
            <a:avLst/>
          </a:prstGeom>
          <a:solidFill>
            <a:srgbClr val="f0f4ff"/>
          </a:solidFill>
          <a:ln w="12700">
            <a:solidFill>
              <a:srgbClr val="aabbd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TextBox 6"/>
          <p:cNvSpPr/>
          <p:nvPr/>
        </p:nvSpPr>
        <p:spPr>
          <a:xfrm>
            <a:off x="411480" y="1353240"/>
            <a:ext cx="1142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Routing Flow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411480" y="1719000"/>
            <a:ext cx="11429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pc="-1" strike="noStrike">
                <a:solidFill>
                  <a:srgbClr val="444444"/>
                </a:solidFill>
                <a:latin typeface="Calibri"/>
              </a:rPr>
              <a:t>User question  →  gpt-4o-mini with system prompt  →  single word reply: FACT_DB  or  VECTOR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44444"/>
                </a:solidFill>
                <a:latin typeface="Calibri"/>
              </a:rPr>
              <a:t>                          </a:t>
            </a:r>
            <a:r>
              <a:rPr b="0" lang="en-US" sz="1300" spc="-1" strike="noStrike">
                <a:solidFill>
                  <a:srgbClr val="444444"/>
                </a:solidFill>
                <a:latin typeface="Calibri"/>
              </a:rPr>
              <a:t>(temperature=0, max_tokens=10, avg latency ≈ 0.75s)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9" name="TextBox 8"/>
          <p:cNvSpPr/>
          <p:nvPr/>
        </p:nvSpPr>
        <p:spPr>
          <a:xfrm>
            <a:off x="411480" y="230436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00" spc="-1" strike="noStrike">
                <a:solidFill>
                  <a:srgbClr val="888888"/>
                </a:solidFill>
                <a:latin typeface="Calibri"/>
              </a:rPr>
              <a:t>If reply is ambiguous or unexpected  →  defaults to  VECTOR  (safe fallback — user always gets an answer)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20" name="Rectangle 9"/>
          <p:cNvSpPr/>
          <p:nvPr/>
        </p:nvSpPr>
        <p:spPr>
          <a:xfrm>
            <a:off x="274320" y="3291840"/>
            <a:ext cx="5668920" cy="2742840"/>
          </a:xfrm>
          <a:prstGeom prst="rect">
            <a:avLst/>
          </a:prstGeom>
          <a:solidFill>
            <a:srgbClr val="e3f2fd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1" name="TextBox 10"/>
          <p:cNvSpPr/>
          <p:nvPr/>
        </p:nvSpPr>
        <p:spPr>
          <a:xfrm>
            <a:off x="384120" y="3383280"/>
            <a:ext cx="54493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Route to FACT_DB when question asks for…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22" name="TextBox 11"/>
          <p:cNvSpPr/>
          <p:nvPr/>
        </p:nvSpPr>
        <p:spPr>
          <a:xfrm>
            <a:off x="384120" y="3767400"/>
            <a:ext cx="544932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Specific values: 'What was the revenue in Q1 FY26?'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Comparisons: 'Which quarter had highest TCV?'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Aggregations: 'What is the average operating margin across FY26?'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Keywords: how much, what was the [metric], highest, lowest, average, total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Result: SQL generated by LLM → exact row returned → formatted answer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23" name="Rectangle 12"/>
          <p:cNvSpPr/>
          <p:nvPr/>
        </p:nvSpPr>
        <p:spPr>
          <a:xfrm>
            <a:off x="6172200" y="3291840"/>
            <a:ext cx="5714640" cy="2742840"/>
          </a:xfrm>
          <a:prstGeom prst="rect">
            <a:avLst/>
          </a:prstGeom>
          <a:solidFill>
            <a:srgbClr val="e8f5e9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4" name="TextBox 13"/>
          <p:cNvSpPr/>
          <p:nvPr/>
        </p:nvSpPr>
        <p:spPr>
          <a:xfrm>
            <a:off x="6282000" y="3383280"/>
            <a:ext cx="54950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Route to VECTOR when question asks for…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25" name="TextBox 14"/>
          <p:cNvSpPr/>
          <p:nvPr/>
        </p:nvSpPr>
        <p:spPr>
          <a:xfrm>
            <a:off x="6282000" y="3767400"/>
            <a:ext cx="549504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Explanations: 'Why did operating margin drop in Q3 FY26?'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Strategy / management commentary: 'What is Infosys's AI strategy?'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Events / qualitative context: 'What large deals were signed?'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Keywords: why, how does, explain, describe, strategy, factors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Result: Hybrid RRF retrieves top-3 documents → LLM generates answer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Quality Gate Benchmarks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Three independent test sets measuring routing, SQL correctness, and numeric accuracy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29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12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230" name="Picture 5" descr="m6_quality_v2.png"/>
          <p:cNvPicPr/>
          <p:nvPr/>
        </p:nvPicPr>
        <p:blipFill>
          <a:blip r:embed="rId1"/>
          <a:stretch/>
        </p:blipFill>
        <p:spPr>
          <a:xfrm>
            <a:off x="274320" y="1280160"/>
            <a:ext cx="7314840" cy="3840120"/>
          </a:xfrm>
          <a:prstGeom prst="rect">
            <a:avLst/>
          </a:prstGeom>
          <a:ln w="0">
            <a:noFill/>
          </a:ln>
        </p:spPr>
      </p:pic>
      <p:sp>
        <p:nvSpPr>
          <p:cNvPr id="231" name="Rectangle 6"/>
          <p:cNvSpPr/>
          <p:nvPr/>
        </p:nvSpPr>
        <p:spPr>
          <a:xfrm>
            <a:off x="7635240" y="1325880"/>
            <a:ext cx="4343040" cy="51660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2" name="TextBox 7"/>
          <p:cNvSpPr/>
          <p:nvPr/>
        </p:nvSpPr>
        <p:spPr>
          <a:xfrm>
            <a:off x="7726680" y="1389960"/>
            <a:ext cx="41601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Test Set Details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33" name="TextBox 8"/>
          <p:cNvSpPr/>
          <p:nvPr/>
        </p:nvSpPr>
        <p:spPr>
          <a:xfrm>
            <a:off x="7726680" y="1828800"/>
            <a:ext cx="41601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Query Routing  (~95%)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4" name="TextBox 9"/>
          <p:cNvSpPr/>
          <p:nvPr/>
        </p:nvSpPr>
        <p:spPr>
          <a:xfrm>
            <a:off x="7726680" y="2148840"/>
            <a:ext cx="4160160" cy="6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40 questions (15 numerical + 25 descriptive)</a:t>
            </a:r>
            <a:endParaRPr b="0" lang="en-US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On benchmark: 40/40 correct.</a:t>
            </a:r>
            <a:endParaRPr b="0" lang="en-US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Note: real-world accuracy may vary;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95% is a realistic production estimate.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5" name="TextBox 10"/>
          <p:cNvSpPr/>
          <p:nvPr/>
        </p:nvSpPr>
        <p:spPr>
          <a:xfrm>
            <a:off x="7726680" y="3017520"/>
            <a:ext cx="41601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SQL Generation  (15/15)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6" name="TextBox 11"/>
          <p:cNvSpPr/>
          <p:nvPr/>
        </p:nvSpPr>
        <p:spPr>
          <a:xfrm>
            <a:off x="7726680" y="3337560"/>
            <a:ext cx="41601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15 questions requiring exact numerical values.</a:t>
            </a:r>
            <a:endParaRPr b="0" lang="en-US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All 15 generated valid, executable SQL.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No syntax errors or empty result sets.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7" name="TextBox 12"/>
          <p:cNvSpPr/>
          <p:nvPr/>
        </p:nvSpPr>
        <p:spPr>
          <a:xfrm>
            <a:off x="7726680" y="4206240"/>
            <a:ext cx="41601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Value ±5% Match  (15/15)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8" name="TextBox 13"/>
          <p:cNvSpPr/>
          <p:nvPr/>
        </p:nvSpPr>
        <p:spPr>
          <a:xfrm>
            <a:off x="7726680" y="4526280"/>
            <a:ext cx="41601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Same 15 questions checked for numeric accuracy.</a:t>
            </a:r>
            <a:endParaRPr b="0" lang="en-US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All 15 returned values within 5% of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the official fact sheet figure.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9" name="Rectangle 14"/>
          <p:cNvSpPr/>
          <p:nvPr/>
        </p:nvSpPr>
        <p:spPr>
          <a:xfrm>
            <a:off x="274320" y="5303520"/>
            <a:ext cx="7177680" cy="1142640"/>
          </a:xfrm>
          <a:prstGeom prst="rect">
            <a:avLst/>
          </a:prstGeom>
          <a:solidFill>
            <a:srgbClr val="fff3cd"/>
          </a:solidFill>
          <a:ln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0" name="TextBox 15"/>
          <p:cNvSpPr/>
          <p:nvPr/>
        </p:nvSpPr>
        <p:spPr>
          <a:xfrm>
            <a:off x="384120" y="5358240"/>
            <a:ext cx="69033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Important caveat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41" name="TextBox 16"/>
          <p:cNvSpPr/>
          <p:nvPr/>
        </p:nvSpPr>
        <p:spPr>
          <a:xfrm>
            <a:off x="384120" y="5724000"/>
            <a:ext cx="69033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These benchmarks were conducted on small curated test sets (40 / 15 questions). Results should be interpreted as indicative — not as guarantees of production performance. Routing accuracy of ~95% accounts for edge cases and paraphrase variations not in the test set.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Production System Architecture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44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FastAPI backend + Streamlit frontend; JWT-authenticated, rate-limited API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45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13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246" name="Picture 5" descr="m6_architecture.png"/>
          <p:cNvPicPr/>
          <p:nvPr/>
        </p:nvPicPr>
        <p:blipFill>
          <a:blip r:embed="rId1"/>
          <a:stretch/>
        </p:blipFill>
        <p:spPr>
          <a:xfrm>
            <a:off x="274320" y="1280160"/>
            <a:ext cx="6674760" cy="5028840"/>
          </a:xfrm>
          <a:prstGeom prst="rect">
            <a:avLst/>
          </a:prstGeom>
          <a:ln w="0">
            <a:noFill/>
          </a:ln>
        </p:spPr>
      </p:pic>
      <p:sp>
        <p:nvSpPr>
          <p:cNvPr id="247" name="Rectangle 6"/>
          <p:cNvSpPr/>
          <p:nvPr/>
        </p:nvSpPr>
        <p:spPr>
          <a:xfrm>
            <a:off x="7086600" y="1325880"/>
            <a:ext cx="4845960" cy="228564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8" name="TextBox 7"/>
          <p:cNvSpPr/>
          <p:nvPr/>
        </p:nvSpPr>
        <p:spPr>
          <a:xfrm>
            <a:off x="7178040" y="1389960"/>
            <a:ext cx="46630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System Components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49" name="TextBox 8"/>
          <p:cNvSpPr/>
          <p:nvPr/>
        </p:nvSpPr>
        <p:spPr>
          <a:xfrm>
            <a:off x="7178040" y="1783080"/>
            <a:ext cx="4663080" cy="173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FastAPI backend   →  port 8000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Streamlit frontend →  port 8501</a:t>
            </a:r>
            <a:endParaRPr b="0" lang="en-US" sz="1200" spc="-1" strike="noStrike">
              <a:latin typeface="Arial"/>
            </a:endParaRPr>
          </a:p>
          <a:p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Both services share: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./data/chroma   (vector store)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./data/facts.db (fact database)</a:t>
            </a:r>
            <a:endParaRPr b="0" lang="en-US" sz="1200" spc="-1" strike="noStrike">
              <a:latin typeface="Arial"/>
            </a:endParaRPr>
          </a:p>
          <a:p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Both read-only at runtime; data is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pre-built during preprocessing.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50" name="Rectangle 9"/>
          <p:cNvSpPr/>
          <p:nvPr/>
        </p:nvSpPr>
        <p:spPr>
          <a:xfrm>
            <a:off x="7086600" y="3749040"/>
            <a:ext cx="4845960" cy="26056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TextBox 10"/>
          <p:cNvSpPr/>
          <p:nvPr/>
        </p:nvSpPr>
        <p:spPr>
          <a:xfrm>
            <a:off x="7178040" y="3813120"/>
            <a:ext cx="46630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Security &amp; Limits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52" name="TextBox 11"/>
          <p:cNvSpPr/>
          <p:nvPr/>
        </p:nvSpPr>
        <p:spPr>
          <a:xfrm>
            <a:off x="7178040" y="4206240"/>
            <a:ext cx="466308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JWT HS256 tokens, 8-hour expiry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Per-user sliding-window rate limit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(20 requests/hour, configurable)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OPENAI_API_KEY and JWT secret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loaded from environment variables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CORS configured for frontend origin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53" name="TextBox 12"/>
          <p:cNvSpPr/>
          <p:nvPr/>
        </p:nvSpPr>
        <p:spPr>
          <a:xfrm>
            <a:off x="274320" y="6492240"/>
            <a:ext cx="1161252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1100" spc="-1" strike="noStrike">
                <a:solidFill>
                  <a:srgbClr val="888888"/>
                </a:solidFill>
                <a:latin typeface="Calibri"/>
              </a:rPr>
              <a:t>VECTOR path: embed → Chroma top-20 + BM25 top-20 → RRF(k=60) → top-3 → gpt-4o-mini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888888"/>
                </a:solidFill>
                <a:latin typeface="Calibri"/>
              </a:rPr>
              <a:t>FACT_DB path: route (LLM) → SQL generate (LLM) → SQLite execute → format answer (LLM)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5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API Endpoints — How a Query Is Processed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56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Two endpoints: authentication and the main Q&amp;A pipeline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57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14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58" name="Rectangle 5"/>
          <p:cNvSpPr/>
          <p:nvPr/>
        </p:nvSpPr>
        <p:spPr>
          <a:xfrm>
            <a:off x="274320" y="1298520"/>
            <a:ext cx="11612520" cy="1691280"/>
          </a:xfrm>
          <a:prstGeom prst="rect">
            <a:avLst/>
          </a:prstGeom>
          <a:solidFill>
            <a:srgbClr val="fff8e1"/>
          </a:solidFill>
          <a:ln w="1270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9" name="TextBox 6"/>
          <p:cNvSpPr/>
          <p:nvPr/>
        </p:nvSpPr>
        <p:spPr>
          <a:xfrm>
            <a:off x="384120" y="1353240"/>
            <a:ext cx="1142964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9600"/>
                </a:solidFill>
                <a:latin typeface="Calibri"/>
              </a:rPr>
              <a:t>POST  /auth/token  — Authenticate and get a JWT access token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60" name="TextBox 7"/>
          <p:cNvSpPr/>
          <p:nvPr/>
        </p:nvSpPr>
        <p:spPr>
          <a:xfrm>
            <a:off x="384120" y="1737360"/>
            <a:ext cx="114296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Request:  form-data  { username, password }  (credentials from .env)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Response: { access_token: 'eyJ…', token_type: 'bearer' }  (HS256 JWT, 8-hour expiry)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Use the token as:  Authorization: Bearer &lt;token&gt;  on every subsequent request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61" name="Rectangle 8"/>
          <p:cNvSpPr/>
          <p:nvPr/>
        </p:nvSpPr>
        <p:spPr>
          <a:xfrm>
            <a:off x="274320" y="3127320"/>
            <a:ext cx="11612520" cy="2971440"/>
          </a:xfrm>
          <a:prstGeom prst="rect">
            <a:avLst/>
          </a:prstGeom>
          <a:solidFill>
            <a:srgbClr val="f1f8ff"/>
          </a:solidFill>
          <a:ln w="12700">
            <a:solidFill>
              <a:srgbClr val="0070c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2" name="TextBox 9"/>
          <p:cNvSpPr/>
          <p:nvPr/>
        </p:nvSpPr>
        <p:spPr>
          <a:xfrm>
            <a:off x="384120" y="3182040"/>
            <a:ext cx="1142964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4080"/>
                </a:solidFill>
                <a:latin typeface="Calibri"/>
              </a:rPr>
              <a:t>POST  /query  — Ask a financial question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63" name="TextBox 10"/>
          <p:cNvSpPr/>
          <p:nvPr/>
        </p:nvSpPr>
        <p:spPr>
          <a:xfrm>
            <a:off x="384120" y="356616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Request:  JSON  { "question": "What was operating margin in Q2 FY26?" }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64" name="TextBox 11"/>
          <p:cNvSpPr/>
          <p:nvPr/>
        </p:nvSpPr>
        <p:spPr>
          <a:xfrm>
            <a:off x="384120" y="3931920"/>
            <a:ext cx="1142964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1  Embed question  →  text-embedding-3-small  (1536-dim vector)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2  Route question  →  gpt-4o-mini classifies as  FACT_DB  or  VECTOR  (~0.75s)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3a FACT_DB path   →  gpt-4o-mini generates SQL → SQLite executes → exact value returned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3b VECTOR path    →  Chroma top-20 + BM25 top-20 → RRF(k=60) → top-3 docs → gpt-4o-mini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4  Response        →  { steps[], answer, citations[], route, sql?, latency_ms }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65" name="Rectangle 12"/>
          <p:cNvSpPr/>
          <p:nvPr/>
        </p:nvSpPr>
        <p:spPr>
          <a:xfrm>
            <a:off x="274320" y="6217920"/>
            <a:ext cx="11612520" cy="502560"/>
          </a:xfrm>
          <a:prstGeom prst="rect">
            <a:avLst/>
          </a:prstGeom>
          <a:solidFill>
            <a:srgbClr val="d4edda"/>
          </a:solidFill>
          <a:ln>
            <a:solidFill>
              <a:srgbClr val="28a74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6" name="TextBox 13"/>
          <p:cNvSpPr/>
          <p:nvPr/>
        </p:nvSpPr>
        <p:spPr>
          <a:xfrm>
            <a:off x="384120" y="627264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GET  /health  →  { status: 'ok' }  — liveness probe, no authentication required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System Deployment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69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FastAPI (port 8000) and Streamlit (port 8501) share a common data volume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70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15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71" name="Rectangle 5"/>
          <p:cNvSpPr/>
          <p:nvPr/>
        </p:nvSpPr>
        <p:spPr>
          <a:xfrm>
            <a:off x="274320" y="1325880"/>
            <a:ext cx="566892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2" name="TextBox 6"/>
          <p:cNvSpPr/>
          <p:nvPr/>
        </p:nvSpPr>
        <p:spPr>
          <a:xfrm>
            <a:off x="384120" y="1417320"/>
            <a:ext cx="54493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FastAPI Backend (api.py)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73" name="TextBox 7"/>
          <p:cNvSpPr/>
          <p:nvPr/>
        </p:nvSpPr>
        <p:spPr>
          <a:xfrm>
            <a:off x="384120" y="1801440"/>
            <a:ext cx="544932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Serves POST /auth/token, POST /query, GET /health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Loads ChromaDB collection and BM25 index once at startup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SQLite facts.db opened per request (lightweight, read-only)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All secrets (API key, JWT secret) injected via environment variables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Run with:  uvicorn api:app --host 0.0.0.0 --port 8000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74" name="Rectangle 8"/>
          <p:cNvSpPr/>
          <p:nvPr/>
        </p:nvSpPr>
        <p:spPr>
          <a:xfrm>
            <a:off x="6080760" y="1325880"/>
            <a:ext cx="5806080" cy="2559960"/>
          </a:xfrm>
          <a:prstGeom prst="rect">
            <a:avLst/>
          </a:prstGeom>
          <a:solidFill>
            <a:srgbClr val="e8f4fd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5" name="TextBox 9"/>
          <p:cNvSpPr/>
          <p:nvPr/>
        </p:nvSpPr>
        <p:spPr>
          <a:xfrm>
            <a:off x="6190560" y="1417320"/>
            <a:ext cx="55864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Streamlit Frontend (streamlit_app.py)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76" name="TextBox 10"/>
          <p:cNvSpPr/>
          <p:nvPr/>
        </p:nvSpPr>
        <p:spPr>
          <a:xfrm>
            <a:off x="6190560" y="1801440"/>
            <a:ext cx="558648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User-facing chat interface on port 8501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Calls POST /auth/token at login; stores JWT in session state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Each question sent to POST /query with Bearer token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Displays workflow steps, answer, citations, and route metadata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Run with:  streamlit run streamlit_app.py --server.port 8501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77" name="Rectangle 11"/>
          <p:cNvSpPr/>
          <p:nvPr/>
        </p:nvSpPr>
        <p:spPr>
          <a:xfrm>
            <a:off x="274320" y="4069080"/>
            <a:ext cx="11612520" cy="2468520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8" name="TextBox 12"/>
          <p:cNvSpPr/>
          <p:nvPr/>
        </p:nvSpPr>
        <p:spPr>
          <a:xfrm>
            <a:off x="384120" y="4160520"/>
            <a:ext cx="11392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Data Dependencies (built during preprocessing, read-only at runtime)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79" name="TextBox 13"/>
          <p:cNvSpPr/>
          <p:nvPr/>
        </p:nvSpPr>
        <p:spPr>
          <a:xfrm>
            <a:off x="384120" y="4544640"/>
            <a:ext cx="1139292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ChromaDB vector store  (metadata_embedding_pipeline/chroma_db/)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—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built by running the metadata embedding pipeline on all 5 data sources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BM25 index  — built in memory at FastAPI startup from the ChromaDB YAML corpus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SQLite facts.db  (metadata_embedding_pipeline/facts.db)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—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built by running fact_database.py on Infosys IR source files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1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Milestone 6 — Complete Results Summary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82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Retrieval performance, quality gates, and category highlights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83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16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84" name="Rectangle 5"/>
          <p:cNvSpPr/>
          <p:nvPr/>
        </p:nvSpPr>
        <p:spPr>
          <a:xfrm>
            <a:off x="274320" y="1261800"/>
            <a:ext cx="11612520" cy="30132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5" name="TextBox 6"/>
          <p:cNvSpPr/>
          <p:nvPr/>
        </p:nvSpPr>
        <p:spPr>
          <a:xfrm>
            <a:off x="384120" y="128016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RETRIEVAL PERFORMANCE  (Hybrid RRF Production Pipeline, 50 questions)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86" name="Rectangle 7"/>
          <p:cNvSpPr/>
          <p:nvPr/>
        </p:nvSpPr>
        <p:spPr>
          <a:xfrm>
            <a:off x="274320" y="1627560"/>
            <a:ext cx="1880280" cy="9871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7" name="TextBox 8"/>
          <p:cNvSpPr/>
          <p:nvPr/>
        </p:nvSpPr>
        <p:spPr>
          <a:xfrm>
            <a:off x="32004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196e2e"/>
                </a:solidFill>
                <a:latin typeface="Calibri"/>
              </a:rPr>
              <a:t>76%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288" name="TextBox 9"/>
          <p:cNvSpPr/>
          <p:nvPr/>
        </p:nvSpPr>
        <p:spPr>
          <a:xfrm>
            <a:off x="32004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Recall@3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Hybrid RRF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9" name="Rectangle 10"/>
          <p:cNvSpPr/>
          <p:nvPr/>
        </p:nvSpPr>
        <p:spPr>
          <a:xfrm>
            <a:off x="2209680" y="1627560"/>
            <a:ext cx="1880280" cy="9871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0" name="TextBox 11"/>
          <p:cNvSpPr/>
          <p:nvPr/>
        </p:nvSpPr>
        <p:spPr>
          <a:xfrm>
            <a:off x="225540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196e2e"/>
                </a:solidFill>
                <a:latin typeface="Calibri"/>
              </a:rPr>
              <a:t>86%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291" name="TextBox 12"/>
          <p:cNvSpPr/>
          <p:nvPr/>
        </p:nvSpPr>
        <p:spPr>
          <a:xfrm>
            <a:off x="225540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Recall@5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Hybrid RRF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2" name="Rectangle 13"/>
          <p:cNvSpPr/>
          <p:nvPr/>
        </p:nvSpPr>
        <p:spPr>
          <a:xfrm>
            <a:off x="4145400" y="1627560"/>
            <a:ext cx="1880280" cy="9871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3" name="TextBox 14"/>
          <p:cNvSpPr/>
          <p:nvPr/>
        </p:nvSpPr>
        <p:spPr>
          <a:xfrm>
            <a:off x="419112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196e2e"/>
                </a:solidFill>
                <a:latin typeface="Calibri"/>
              </a:rPr>
              <a:t>88%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294" name="TextBox 15"/>
          <p:cNvSpPr/>
          <p:nvPr/>
        </p:nvSpPr>
        <p:spPr>
          <a:xfrm>
            <a:off x="419112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Recall@7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Hybrid RRF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5" name="Rectangle 16"/>
          <p:cNvSpPr/>
          <p:nvPr/>
        </p:nvSpPr>
        <p:spPr>
          <a:xfrm>
            <a:off x="6080760" y="1627560"/>
            <a:ext cx="1880280" cy="987120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6" name="TextBox 17"/>
          <p:cNvSpPr/>
          <p:nvPr/>
        </p:nvSpPr>
        <p:spPr>
          <a:xfrm>
            <a:off x="612648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004080"/>
                </a:solidFill>
                <a:latin typeface="Calibri"/>
              </a:rPr>
              <a:t>84%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297" name="TextBox 18"/>
          <p:cNvSpPr/>
          <p:nvPr/>
        </p:nvSpPr>
        <p:spPr>
          <a:xfrm>
            <a:off x="612648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BM25-only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Recall@3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8" name="Rectangle 19"/>
          <p:cNvSpPr/>
          <p:nvPr/>
        </p:nvSpPr>
        <p:spPr>
          <a:xfrm>
            <a:off x="8016120" y="1627560"/>
            <a:ext cx="1880280" cy="987120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9" name="TextBox 20"/>
          <p:cNvSpPr/>
          <p:nvPr/>
        </p:nvSpPr>
        <p:spPr>
          <a:xfrm>
            <a:off x="806184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004080"/>
                </a:solidFill>
                <a:latin typeface="Calibri"/>
              </a:rPr>
              <a:t>88%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300" name="TextBox 21"/>
          <p:cNvSpPr/>
          <p:nvPr/>
        </p:nvSpPr>
        <p:spPr>
          <a:xfrm>
            <a:off x="806184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BM25-only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Recall@7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01" name="Rectangle 22"/>
          <p:cNvSpPr/>
          <p:nvPr/>
        </p:nvSpPr>
        <p:spPr>
          <a:xfrm>
            <a:off x="9951840" y="1627560"/>
            <a:ext cx="1880280" cy="9871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2" name="TextBox 23"/>
          <p:cNvSpPr/>
          <p:nvPr/>
        </p:nvSpPr>
        <p:spPr>
          <a:xfrm>
            <a:off x="999756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ff9600"/>
                </a:solidFill>
                <a:latin typeface="Calibri"/>
              </a:rPr>
              <a:t>0.56s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303" name="TextBox 24"/>
          <p:cNvSpPr/>
          <p:nvPr/>
        </p:nvSpPr>
        <p:spPr>
          <a:xfrm>
            <a:off x="999756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ff9600"/>
                </a:solidFill>
                <a:latin typeface="Calibri"/>
              </a:rPr>
              <a:t>Retrieval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9600"/>
                </a:solidFill>
                <a:latin typeface="Calibri"/>
              </a:rPr>
              <a:t>Latency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04" name="Rectangle 25"/>
          <p:cNvSpPr/>
          <p:nvPr/>
        </p:nvSpPr>
        <p:spPr>
          <a:xfrm>
            <a:off x="274320" y="2724840"/>
            <a:ext cx="11612520" cy="30132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5" name="TextBox 26"/>
          <p:cNvSpPr/>
          <p:nvPr/>
        </p:nvSpPr>
        <p:spPr>
          <a:xfrm>
            <a:off x="384120" y="274320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QUALITY GATES  (small test sets — see caveats on routing accuracy)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6" name="TextBox 27"/>
          <p:cNvSpPr/>
          <p:nvPr/>
        </p:nvSpPr>
        <p:spPr>
          <a:xfrm>
            <a:off x="320040" y="3072240"/>
            <a:ext cx="4571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Benchmark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4937760" y="3072240"/>
            <a:ext cx="2377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Scope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7360920" y="3072240"/>
            <a:ext cx="2377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Score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9" name="TextBox 30"/>
          <p:cNvSpPr/>
          <p:nvPr/>
        </p:nvSpPr>
        <p:spPr>
          <a:xfrm>
            <a:off x="9784080" y="3072240"/>
            <a:ext cx="21027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Accuracy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0" name="Rectangle 31"/>
          <p:cNvSpPr/>
          <p:nvPr/>
        </p:nvSpPr>
        <p:spPr>
          <a:xfrm>
            <a:off x="274320" y="3383280"/>
            <a:ext cx="11612520" cy="402120"/>
          </a:xfrm>
          <a:prstGeom prst="rect">
            <a:avLst/>
          </a:prstGeom>
          <a:solidFill>
            <a:srgbClr val="d4edda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1" name="TextBox 32"/>
          <p:cNvSpPr/>
          <p:nvPr/>
        </p:nvSpPr>
        <p:spPr>
          <a:xfrm>
            <a:off x="365760" y="3447360"/>
            <a:ext cx="44802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Query Routing Accuracy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2" name="TextBox 33"/>
          <p:cNvSpPr/>
          <p:nvPr/>
        </p:nvSpPr>
        <p:spPr>
          <a:xfrm>
            <a:off x="4983480" y="344736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40 questions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3" name="TextBox 34"/>
          <p:cNvSpPr/>
          <p:nvPr/>
        </p:nvSpPr>
        <p:spPr>
          <a:xfrm>
            <a:off x="7406640" y="344736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004080"/>
                </a:solidFill>
                <a:latin typeface="Calibri"/>
              </a:rPr>
              <a:t>~38/40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4" name="TextBox 35"/>
          <p:cNvSpPr/>
          <p:nvPr/>
        </p:nvSpPr>
        <p:spPr>
          <a:xfrm>
            <a:off x="9829800" y="3447360"/>
            <a:ext cx="20113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96e2e"/>
                </a:solidFill>
                <a:latin typeface="Calibri"/>
              </a:rPr>
              <a:t>~95%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5" name="Rectangle 36"/>
          <p:cNvSpPr/>
          <p:nvPr/>
        </p:nvSpPr>
        <p:spPr>
          <a:xfrm>
            <a:off x="274320" y="3803760"/>
            <a:ext cx="11612520" cy="4021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6" name="TextBox 37"/>
          <p:cNvSpPr/>
          <p:nvPr/>
        </p:nvSpPr>
        <p:spPr>
          <a:xfrm>
            <a:off x="365760" y="3867840"/>
            <a:ext cx="44802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SQL Generation Correct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7" name="TextBox 38"/>
          <p:cNvSpPr/>
          <p:nvPr/>
        </p:nvSpPr>
        <p:spPr>
          <a:xfrm>
            <a:off x="4983480" y="386784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15 questions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8" name="TextBox 39"/>
          <p:cNvSpPr/>
          <p:nvPr/>
        </p:nvSpPr>
        <p:spPr>
          <a:xfrm>
            <a:off x="7406640" y="386784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004080"/>
                </a:solidFill>
                <a:latin typeface="Calibri"/>
              </a:rPr>
              <a:t>15 / 15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9" name="TextBox 40"/>
          <p:cNvSpPr/>
          <p:nvPr/>
        </p:nvSpPr>
        <p:spPr>
          <a:xfrm>
            <a:off x="9829800" y="3867840"/>
            <a:ext cx="20113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96e2e"/>
                </a:solidFill>
                <a:latin typeface="Calibri"/>
              </a:rPr>
              <a:t>100%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0" name="Rectangle 41"/>
          <p:cNvSpPr/>
          <p:nvPr/>
        </p:nvSpPr>
        <p:spPr>
          <a:xfrm>
            <a:off x="274320" y="4224600"/>
            <a:ext cx="11612520" cy="402120"/>
          </a:xfrm>
          <a:prstGeom prst="rect">
            <a:avLst/>
          </a:prstGeom>
          <a:solidFill>
            <a:srgbClr val="d4edda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1" name="TextBox 42"/>
          <p:cNvSpPr/>
          <p:nvPr/>
        </p:nvSpPr>
        <p:spPr>
          <a:xfrm>
            <a:off x="365760" y="4288680"/>
            <a:ext cx="44802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Value Within ±5%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2" name="TextBox 43"/>
          <p:cNvSpPr/>
          <p:nvPr/>
        </p:nvSpPr>
        <p:spPr>
          <a:xfrm>
            <a:off x="4983480" y="428868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15 questions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3" name="TextBox 44"/>
          <p:cNvSpPr/>
          <p:nvPr/>
        </p:nvSpPr>
        <p:spPr>
          <a:xfrm>
            <a:off x="7406640" y="428868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004080"/>
                </a:solidFill>
                <a:latin typeface="Calibri"/>
              </a:rPr>
              <a:t>15 / 15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4" name="TextBox 45"/>
          <p:cNvSpPr/>
          <p:nvPr/>
        </p:nvSpPr>
        <p:spPr>
          <a:xfrm>
            <a:off x="9829800" y="4288680"/>
            <a:ext cx="20113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96e2e"/>
                </a:solidFill>
                <a:latin typeface="Calibri"/>
              </a:rPr>
              <a:t>100%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5" name="Rectangle 46"/>
          <p:cNvSpPr/>
          <p:nvPr/>
        </p:nvSpPr>
        <p:spPr>
          <a:xfrm>
            <a:off x="274320" y="4718160"/>
            <a:ext cx="11612520" cy="301320"/>
          </a:xfrm>
          <a:prstGeom prst="rect">
            <a:avLst/>
          </a:prstGeom>
          <a:solidFill>
            <a:srgbClr val="3344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6" name="TextBox 47"/>
          <p:cNvSpPr/>
          <p:nvPr/>
        </p:nvSpPr>
        <p:spPr>
          <a:xfrm>
            <a:off x="384120" y="473652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CATEGORY HIGHLIGHTS  (Hybrid RRF @R7, 50 questions)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7" name="Rectangle 48"/>
          <p:cNvSpPr/>
          <p:nvPr/>
        </p:nvSpPr>
        <p:spPr>
          <a:xfrm>
            <a:off x="274320" y="5065920"/>
            <a:ext cx="2267280" cy="822600"/>
          </a:xfrm>
          <a:prstGeom prst="rect">
            <a:avLst/>
          </a:prstGeom>
          <a:solidFill>
            <a:srgbClr val="d4edda"/>
          </a:solidFill>
          <a:ln w="635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8" name="TextBox 49"/>
          <p:cNvSpPr/>
          <p:nvPr/>
        </p:nvSpPr>
        <p:spPr>
          <a:xfrm>
            <a:off x="32004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196e2e"/>
                </a:solidFill>
                <a:latin typeface="Calibri"/>
              </a:rPr>
              <a:t>100%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29" name="TextBox 50"/>
          <p:cNvSpPr/>
          <p:nvPr/>
        </p:nvSpPr>
        <p:spPr>
          <a:xfrm>
            <a:off x="32004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NSE ≤10p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0" name="Rectangle 51"/>
          <p:cNvSpPr/>
          <p:nvPr/>
        </p:nvSpPr>
        <p:spPr>
          <a:xfrm>
            <a:off x="2597040" y="5065920"/>
            <a:ext cx="2267280" cy="822600"/>
          </a:xfrm>
          <a:prstGeom prst="rect">
            <a:avLst/>
          </a:prstGeom>
          <a:solidFill>
            <a:srgbClr val="cce5ff"/>
          </a:solidFill>
          <a:ln w="6350"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1" name="TextBox 52"/>
          <p:cNvSpPr/>
          <p:nvPr/>
        </p:nvSpPr>
        <p:spPr>
          <a:xfrm>
            <a:off x="264276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004080"/>
                </a:solidFill>
                <a:latin typeface="Calibri"/>
              </a:rPr>
              <a:t>90%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32" name="TextBox 53"/>
          <p:cNvSpPr/>
          <p:nvPr/>
        </p:nvSpPr>
        <p:spPr>
          <a:xfrm>
            <a:off x="264276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NSE &gt;10p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3" name="Rectangle 54"/>
          <p:cNvSpPr/>
          <p:nvPr/>
        </p:nvSpPr>
        <p:spPr>
          <a:xfrm>
            <a:off x="4919400" y="5065920"/>
            <a:ext cx="2267280" cy="822600"/>
          </a:xfrm>
          <a:prstGeom prst="rect">
            <a:avLst/>
          </a:prstGeom>
          <a:solidFill>
            <a:srgbClr val="fff3cd"/>
          </a:solidFill>
          <a:ln w="635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4" name="TextBox 55"/>
          <p:cNvSpPr/>
          <p:nvPr/>
        </p:nvSpPr>
        <p:spPr>
          <a:xfrm>
            <a:off x="496512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ff9600"/>
                </a:solidFill>
                <a:latin typeface="Calibri"/>
              </a:rPr>
              <a:t>60%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35" name="TextBox 56"/>
          <p:cNvSpPr/>
          <p:nvPr/>
        </p:nvSpPr>
        <p:spPr>
          <a:xfrm>
            <a:off x="496512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9600"/>
                </a:solidFill>
                <a:latin typeface="Calibri"/>
              </a:rPr>
              <a:t>IR Docs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6" name="Rectangle 57"/>
          <p:cNvSpPr/>
          <p:nvPr/>
        </p:nvSpPr>
        <p:spPr>
          <a:xfrm>
            <a:off x="7242120" y="5065920"/>
            <a:ext cx="2267280" cy="822600"/>
          </a:xfrm>
          <a:prstGeom prst="rect">
            <a:avLst/>
          </a:prstGeom>
          <a:solidFill>
            <a:srgbClr val="fff3cd"/>
          </a:solidFill>
          <a:ln w="635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7" name="TextBox 58"/>
          <p:cNvSpPr/>
          <p:nvPr/>
        </p:nvSpPr>
        <p:spPr>
          <a:xfrm>
            <a:off x="728784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ff9600"/>
                </a:solidFill>
                <a:latin typeface="Calibri"/>
              </a:rPr>
              <a:t>67%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38" name="TextBox 59"/>
          <p:cNvSpPr/>
          <p:nvPr/>
        </p:nvSpPr>
        <p:spPr>
          <a:xfrm>
            <a:off x="728784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9600"/>
                </a:solidFill>
                <a:latin typeface="Calibri"/>
              </a:rPr>
              <a:t>Trendlyne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9" name="Rectangle 60"/>
          <p:cNvSpPr/>
          <p:nvPr/>
        </p:nvSpPr>
        <p:spPr>
          <a:xfrm>
            <a:off x="9564480" y="5065920"/>
            <a:ext cx="2267280" cy="822600"/>
          </a:xfrm>
          <a:prstGeom prst="rect">
            <a:avLst/>
          </a:prstGeom>
          <a:solidFill>
            <a:srgbClr val="d4edda"/>
          </a:solidFill>
          <a:ln w="635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0" name="TextBox 61"/>
          <p:cNvSpPr/>
          <p:nvPr/>
        </p:nvSpPr>
        <p:spPr>
          <a:xfrm>
            <a:off x="961020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196e2e"/>
                </a:solidFill>
                <a:latin typeface="Calibri"/>
              </a:rPr>
              <a:t>100%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41" name="TextBox 62"/>
          <p:cNvSpPr/>
          <p:nvPr/>
        </p:nvSpPr>
        <p:spPr>
          <a:xfrm>
            <a:off x="961020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Yahoo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2" name="TextBox 63"/>
          <p:cNvSpPr/>
          <p:nvPr/>
        </p:nvSpPr>
        <p:spPr>
          <a:xfrm>
            <a:off x="274320" y="5961960"/>
            <a:ext cx="116125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888888"/>
                </a:solidFill>
                <a:latin typeface="Calibri"/>
              </a:rPr>
              <a:t>Routing accuracy shown as ~95% (realistic production estimate); benchmark achieved 40/40 on a 40-question test set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4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Key Observations &amp; Limitations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345" name="TextBox 3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17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46" name="Rectangle 4"/>
          <p:cNvSpPr/>
          <p:nvPr/>
        </p:nvSpPr>
        <p:spPr>
          <a:xfrm>
            <a:off x="274320" y="1325880"/>
            <a:ext cx="11612520" cy="251424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7" name="TextBox 5"/>
          <p:cNvSpPr/>
          <p:nvPr/>
        </p:nvSpPr>
        <p:spPr>
          <a:xfrm>
            <a:off x="384120" y="1417320"/>
            <a:ext cx="11392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What Worked Well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48" name="TextBox 6"/>
          <p:cNvSpPr/>
          <p:nvPr/>
        </p:nvSpPr>
        <p:spPr>
          <a:xfrm>
            <a:off x="384120" y="1801440"/>
            <a:ext cx="1139292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BM25 keyword search is highly complementary to vector search: 84% R@3 single-modality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Hybrid RRF without reranker achieves the best overall recall (76/86/88%) at low latency (0.56s)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cross-encoder reranker was counter-productive: wrong domain, lower recall, 4× slower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Numeric Fidelity Layer eliminates LLM hallucination on exact financial figures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Query routing correctly separates numerical fact lookups from qualitative retrieval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Embedding cost (97% of latency) dominates — BM25 adds negligible 17ms overhead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49" name="Rectangle 7"/>
          <p:cNvSpPr/>
          <p:nvPr/>
        </p:nvSpPr>
        <p:spPr>
          <a:xfrm>
            <a:off x="274320" y="3977640"/>
            <a:ext cx="1161252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0" name="TextBox 8"/>
          <p:cNvSpPr/>
          <p:nvPr/>
        </p:nvSpPr>
        <p:spPr>
          <a:xfrm>
            <a:off x="384120" y="4069080"/>
            <a:ext cx="11392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Limitations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51" name="TextBox 9"/>
          <p:cNvSpPr/>
          <p:nvPr/>
        </p:nvSpPr>
        <p:spPr>
          <a:xfrm>
            <a:off x="384120" y="4453200"/>
            <a:ext cx="1139292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Infosys IR recall is still low (20% @R3 in hybrid) — RRF can override a correct BM25 hit with a weaker vector result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Cross-encoder trained on MS-MARCO (web queries) — financial domain fine-tuning could improve results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facts.db covers only 7 metrics over FY25–FY26 (Infosys only); broader financial KPIs fall back to VECTOR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FACT_DB path is slow (avg ~4.1s) due to two sequential LLM calls (routing + SQL gen + answer); caching common queries would help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Routing accuracy degrades on ambiguous questions at the boundary between numerical and qualitative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All benchmarks conducted on small, curated test sets — production accuracy not yet measured at scale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3" name="Rectangle 2"/>
          <p:cNvSpPr/>
          <p:nvPr/>
        </p:nvSpPr>
        <p:spPr>
          <a:xfrm>
            <a:off x="0" y="0"/>
            <a:ext cx="12188520" cy="727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4" name="Rectangle 3"/>
          <p:cNvSpPr/>
          <p:nvPr/>
        </p:nvSpPr>
        <p:spPr>
          <a:xfrm>
            <a:off x="0" y="6784920"/>
            <a:ext cx="12188520" cy="727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5" name="TextBox 4"/>
          <p:cNvSpPr/>
          <p:nvPr/>
        </p:nvSpPr>
        <p:spPr>
          <a:xfrm>
            <a:off x="457200" y="411480"/>
            <a:ext cx="1097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5c518"/>
                </a:solidFill>
                <a:latin typeface="Calibri"/>
              </a:rPr>
              <a:t>Milestone 6 — Complete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6" name="TextBox 5"/>
          <p:cNvSpPr/>
          <p:nvPr/>
        </p:nvSpPr>
        <p:spPr>
          <a:xfrm>
            <a:off x="457200" y="1097280"/>
            <a:ext cx="10972440" cy="9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5600" spc="-1" strike="noStrike">
                <a:solidFill>
                  <a:srgbClr val="ffffff"/>
                </a:solidFill>
                <a:latin typeface="Calibri"/>
              </a:rPr>
              <a:t>Thank You</a:t>
            </a:r>
            <a:endParaRPr b="0" lang="en-US" sz="5600" spc="-1" strike="noStrike">
              <a:latin typeface="Arial"/>
            </a:endParaRPr>
          </a:p>
        </p:txBody>
      </p:sp>
      <p:sp>
        <p:nvSpPr>
          <p:cNvPr id="357" name="TextBox 6"/>
          <p:cNvSpPr/>
          <p:nvPr/>
        </p:nvSpPr>
        <p:spPr>
          <a:xfrm>
            <a:off x="457200" y="2395800"/>
            <a:ext cx="109724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ccddff"/>
                </a:solidFill>
                <a:latin typeface="Calibri"/>
              </a:rPr>
              <a:t>Questions &amp; Discussion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358" name="Rectangle 7"/>
          <p:cNvSpPr/>
          <p:nvPr/>
        </p:nvSpPr>
        <p:spPr>
          <a:xfrm>
            <a:off x="0" y="3246120"/>
            <a:ext cx="2437560" cy="1416960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9" name="TextBox 8"/>
          <p:cNvSpPr/>
          <p:nvPr/>
        </p:nvSpPr>
        <p:spPr>
          <a:xfrm>
            <a:off x="4572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004080"/>
                </a:solidFill>
                <a:latin typeface="Calibri"/>
              </a:rPr>
              <a:t>76%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60" name="TextBox 9"/>
          <p:cNvSpPr/>
          <p:nvPr/>
        </p:nvSpPr>
        <p:spPr>
          <a:xfrm>
            <a:off x="4572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Recall@3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Hybrid RRF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61" name="Rectangle 10"/>
          <p:cNvSpPr/>
          <p:nvPr/>
        </p:nvSpPr>
        <p:spPr>
          <a:xfrm>
            <a:off x="2437920" y="3246120"/>
            <a:ext cx="2437560" cy="141696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2" name="TextBox 11"/>
          <p:cNvSpPr/>
          <p:nvPr/>
        </p:nvSpPr>
        <p:spPr>
          <a:xfrm>
            <a:off x="248364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96e2e"/>
                </a:solidFill>
                <a:latin typeface="Calibri"/>
              </a:rPr>
              <a:t>88%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63" name="TextBox 12"/>
          <p:cNvSpPr/>
          <p:nvPr/>
        </p:nvSpPr>
        <p:spPr>
          <a:xfrm>
            <a:off x="248364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Recall@7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Hybrid RRF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64" name="Rectangle 13"/>
          <p:cNvSpPr/>
          <p:nvPr/>
        </p:nvSpPr>
        <p:spPr>
          <a:xfrm>
            <a:off x="4875480" y="3246120"/>
            <a:ext cx="2437560" cy="1416960"/>
          </a:xfrm>
          <a:prstGeom prst="rect">
            <a:avLst/>
          </a:prstGeom>
          <a:solidFill>
            <a:srgbClr val="fff3cd"/>
          </a:solidFill>
          <a:ln w="1270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5" name="TextBox 14"/>
          <p:cNvSpPr/>
          <p:nvPr/>
        </p:nvSpPr>
        <p:spPr>
          <a:xfrm>
            <a:off x="492120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9600"/>
                </a:solidFill>
                <a:latin typeface="Calibri"/>
              </a:rPr>
              <a:t>0.56s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66" name="TextBox 15"/>
          <p:cNvSpPr/>
          <p:nvPr/>
        </p:nvSpPr>
        <p:spPr>
          <a:xfrm>
            <a:off x="492120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ff9600"/>
                </a:solidFill>
                <a:latin typeface="Calibri"/>
              </a:rPr>
              <a:t>Retrieval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9600"/>
                </a:solidFill>
                <a:latin typeface="Calibri"/>
              </a:rPr>
              <a:t>Latency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67" name="Rectangle 16"/>
          <p:cNvSpPr/>
          <p:nvPr/>
        </p:nvSpPr>
        <p:spPr>
          <a:xfrm>
            <a:off x="7313400" y="3246120"/>
            <a:ext cx="2437560" cy="141696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8" name="TextBox 17"/>
          <p:cNvSpPr/>
          <p:nvPr/>
        </p:nvSpPr>
        <p:spPr>
          <a:xfrm>
            <a:off x="735912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96e2e"/>
                </a:solidFill>
                <a:latin typeface="Calibri"/>
              </a:rPr>
              <a:t>~95%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69" name="TextBox 18"/>
          <p:cNvSpPr/>
          <p:nvPr/>
        </p:nvSpPr>
        <p:spPr>
          <a:xfrm>
            <a:off x="735912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Routing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Accuracy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70" name="Rectangle 19"/>
          <p:cNvSpPr/>
          <p:nvPr/>
        </p:nvSpPr>
        <p:spPr>
          <a:xfrm>
            <a:off x="9751320" y="3246120"/>
            <a:ext cx="2437560" cy="141696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1" name="TextBox 20"/>
          <p:cNvSpPr/>
          <p:nvPr/>
        </p:nvSpPr>
        <p:spPr>
          <a:xfrm>
            <a:off x="979704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96e2e"/>
                </a:solidFill>
                <a:latin typeface="Calibri"/>
              </a:rPr>
              <a:t>15/15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72" name="TextBox 21"/>
          <p:cNvSpPr/>
          <p:nvPr/>
        </p:nvSpPr>
        <p:spPr>
          <a:xfrm>
            <a:off x="979704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Numeric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Fidelity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73" name="TextBox 22"/>
          <p:cNvSpPr/>
          <p:nvPr/>
        </p:nvSpPr>
        <p:spPr>
          <a:xfrm>
            <a:off x="10972800" y="6309360"/>
            <a:ext cx="1096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67799"/>
                </a:solidFill>
                <a:latin typeface="Calibri"/>
              </a:rPr>
              <a:t>18 / 18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2026-08-18T20:05:11Z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