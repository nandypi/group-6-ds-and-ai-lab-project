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"/>
            <a:ext cx="12188952" cy="5943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36792"/>
            <a:ext cx="12188952" cy="5943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0A500"/>
                </a:solidFill>
                <a:latin typeface="Calibri"/>
              </a:rPr>
              <a:t>Milestone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FinQuery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ACCFF"/>
                </a:solidFill>
                <a:latin typeface="Calibri"/>
              </a:rPr>
              <a:t>Hybrid BM25 + Vector Retrieval, Fact Database,
Query Routing &amp; Deployment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703320"/>
            <a:ext cx="5760720" cy="457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A8"/>
                </a:solidFill>
                <a:latin typeface="Calibri"/>
              </a:rPr>
              <a:t>DS &amp; AI Lab — Group 6  |  T2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Previous Milestone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What was established before Milestone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2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94960" cy="5349240"/>
          </a:xfrm>
          <a:prstGeom prst="rect">
            <a:avLst/>
          </a:prstGeom>
          <a:solidFill>
            <a:srgbClr val="F4F6F9"/>
          </a:solidFill>
          <a:ln w="12700">
            <a:solidFill>
              <a:srgbClr val="1A4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5A"/>
                </a:solidFill>
                <a:latin typeface="Calibri"/>
              </a:rPr>
              <a:t>Previous Best Results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463040"/>
          <a:ext cx="5221224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658368"/>
                <a:gridCol w="658368"/>
                <a:gridCol w="658368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R@3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R@5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R@7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Metadata-only (Top-10)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0.478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Metadata + CE Reranker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3.173 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2834640"/>
            <a:ext cx="516636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Embed only YAML front matter (no body text) — 13× faster than full-text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Cross-encoder reranker (ms-marco-MiniLM-L-6-v2) improved Recall@7 by +6pp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RAGAS Pipe A: context precision 0.968, faithfulness 0.893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Pipeline B RAGAS: failed in previous run (missing package) — now completed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Remaining gap: Infosys IR Recall@3 = 10% — all quarterly docs look alike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960120"/>
            <a:ext cx="5760720" cy="5349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024128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66A00"/>
                </a:solidFill>
                <a:latin typeface="Calibri"/>
              </a:rPr>
              <a:t>Milestone 6 Additions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481328"/>
            <a:ext cx="5532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BM25 keyword search over same YAML text indexed in ChromaDB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Reciprocal Rank Fusion (k=60) to merge BM25 + vector ranked lists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SQLite fact database — 2,500+ period-tagged financial facts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LLM query router: classifies questions as FACT_DB or VECTOR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Numeric fidelity benchmark: 15 numerical questions (expected 100%)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Routing benchmark: 40 questions (15 numerical + 25 descriptive)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Pipeline B RAGAS evaluation completed (49/50 successful)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FastAPI REST API with JWT authentication and rate limiting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Streamlit frontend + Docker Compose single-command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BM25 + Hybrid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ACCFF"/>
                </a:solidFill>
                <a:latin typeface="Calibri"/>
              </a:rPr>
              <a:t>Combining keyword and semantic search via Reciprocal Rank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Why BM25? — Keyword + Semantic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Vector embeddings blur exact tokens; BM25 matches quarter labels, numbers, and tickers precisely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4 /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960120"/>
            <a:ext cx="5394960" cy="5349240"/>
          </a:xfrm>
          <a:prstGeom prst="rect">
            <a:avLst/>
          </a:prstGeom>
          <a:solidFill>
            <a:srgbClr val="F8D7D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Vector Search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81328"/>
            <a:ext cx="51663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'$4.8B' and '$5.1B' embed very similarly — vector can't distinguish quarter-specific amounts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'Q1', 'Q2', 'Q3' are short tokens: all quarters map to nearly identical embeddings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Infosys IR Recall@3 = 10% with metadata-only — all four quarterly reports compete equally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IDF weighting absent — common financial terms ('margin', 'revenue') not penalised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77639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BM25 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434840"/>
            <a:ext cx="5166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Exact token match: 'Q3 FY26' scores only on documents containing that string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IDF penalises common terms shared across all quarterly reports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0.017s average BM25 search — negligible overhead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Same corpus as vector: YAML front-matter text from all 1,875 documents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960120"/>
            <a:ext cx="5760720" cy="534924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024128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Reciprocal Rank Fusion (RRF, k=60)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532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For each candidate document:</a:t>
            </a:r>
          </a:p>
          <a:p>
            <a:pPr>
              <a:spcAft>
                <a:spcPts val="500"/>
              </a:spcAft>
            </a:pPr>
            <a:r>
              <a:rPr sz="1250" b="1">
                <a:solidFill>
                  <a:srgbClr val="1C1C2E"/>
                </a:solidFill>
                <a:latin typeface="Calibri"/>
              </a:rPr>
              <a:t>     score(d) = Σ  1 / (60 + rank_i(d))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Top-20 from vector + Top-20 from BM25 → up to 40 unique candidates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Documents ranked highly by both modalities score highest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k=60 prevents rank-1 documents from dominating the fusion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Top-3 from fused list sent as context to gpt-4o-mini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572000"/>
            <a:ext cx="5532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A7A4A"/>
                </a:solidFill>
                <a:latin typeface="Calibri"/>
              </a:rPr>
              <a:t>No model weights needed — purely combinatorial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029200"/>
            <a:ext cx="5532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C1C2E"/>
                </a:solidFill>
                <a:latin typeface="Calibri"/>
              </a:rPr>
              <a:t>BM25 uses rank_bm25 (BM25Okapi), built at API startup in &lt;1s from the ChromaDB collection metadata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Hybrid Retrieval — Benchmark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50 questions; same YAML metadata collection as previous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5 / 20</a:t>
            </a:r>
          </a:p>
        </p:txBody>
      </p:sp>
      <p:pic>
        <p:nvPicPr>
          <p:cNvPr id="7" name="Picture 6" descr="m6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11887200" cy="53941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Production: Hybrid RRF (no reranker) — 88% Recall@7, 0.558s  |  BM25-only achieves best R@3 (84%) but vector handles semantic queries BM25 misses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Category-wise Recall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BM25 improves Infosys IR dramatically (10%→60% @R3); hybrid balances both modalities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6 / 20</a:t>
            </a:r>
          </a:p>
        </p:txBody>
      </p:sp>
      <p:pic>
        <p:nvPicPr>
          <p:cNvPr id="7" name="Picture 6" descr="m6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8046720" cy="36514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960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2A5A"/>
                </a:solidFill>
                <a:latin typeface="Calibri"/>
              </a:rPr>
              <a:t>Key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389888"/>
            <a:ext cx="3657600" cy="1115568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8132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NSE ≤10p &amp; Yahoo: 100% across all pipelines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624328"/>
            <a:ext cx="3657600" cy="1115568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71576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NSE &gt;10p: Hybrid @R7=90% — vector recovers chunks BM25 misses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3858768"/>
            <a:ext cx="3657600" cy="1115568"/>
          </a:xfrm>
          <a:prstGeom prst="rect">
            <a:avLst/>
          </a:prstGeom>
          <a:solidFill>
            <a:srgbClr val="F8D7D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95020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IR: BM25 alone=60% @R3, Hybrid drops to 20% — RRF promotes vector candidate over correct BM25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5093208"/>
            <a:ext cx="3657600" cy="1115568"/>
          </a:xfrm>
          <a:prstGeom prst="rect">
            <a:avLst/>
          </a:prstGeom>
          <a:solidFill>
            <a:srgbClr val="F8D7D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184648"/>
            <a:ext cx="3474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E"/>
                </a:solidFill>
                <a:latin typeface="Calibri"/>
              </a:rPr>
              <a:t>Trendlyne: BM25=100%, Hybrid=67% — same RRF fusion issue where BM25 is already correct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Latency Profile — Hybrid RRF vs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BM25 adds only 0.017s to embedding baseline; embedding dominates at 0.540s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7 / 20</a:t>
            </a:r>
          </a:p>
        </p:txBody>
      </p:sp>
      <p:pic>
        <p:nvPicPr>
          <p:cNvPr id="7" name="Picture 6" descr="m6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11887200" cy="48884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Embedding cost (0.540s) = 97% of total Hybrid RRF latency  |  BM25 adds 0.017s  |  RRF fusion is microseconds  |  FACT_DB path: 4.119s (two LLM calls for route + SQL)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SQLite Fact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ACCFF"/>
                </a:solidFill>
                <a:latin typeface="Calibri"/>
              </a:rPr>
              <a:t>Exact numeric answers — routing, SQL generation, 100%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Numeric Fidelity Layer — Design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2,500+ period-tagged facts; LLM generates SQL; database returns exact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9601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2A5A"/>
                </a:solidFill>
                <a:latin typeface="Calibr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5486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LLMs hallucinate or round exact financial figures — unacceptable for Q&amp;A on reported numbers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Facts extracted from Infosys documents: operating margin, revenue, EPS, TCV, attrition, net profit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Each row: metric, value, unit, company, quarter, fiscal_year, source_file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LLM router first classifies the question as FACT_DB (numerical) or VECTOR (descriptive)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1C1C2E"/>
                </a:solidFill>
                <a:latin typeface="Calibri"/>
              </a:rPr>
              <a:t>•  For FACT_DB questions: gpt-4o-mini generates SQL → SQLite executes → natural-language answer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3749039"/>
          <a:ext cx="5212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Questions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Routing correct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15/15 = 100%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SQL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15/15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Numerical match (±5%)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15/15 = 100%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Average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4.119 s/question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126480" y="960120"/>
            <a:ext cx="5760720" cy="5349240"/>
          </a:xfrm>
          <a:prstGeom prst="rect">
            <a:avLst/>
          </a:prstGeom>
          <a:solidFill>
            <a:srgbClr val="1E1E2E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0241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Example: Exact Numeric 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444752"/>
            <a:ext cx="557784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FFC0"/>
                </a:solidFill>
                <a:latin typeface="Courier New"/>
              </a:rPr>
              <a:t>Q: "What was Infosys operating margin
    in Q2 FY26?"
Route → FACT_DB
SQL generated by gpt-4o-mini:
  SELECT value, unit FROM facts
  WHERE metric="operating_margin"
    AND quarter="Q2"
    AND fiscal_year="FY26";
DB result  →  21.0  |  %
Answer: "Infosys operating margin
  in Q2 FY26 was 21.0%."
✓ No retrieval. No hallucination.
✓ Value is exact — 0% deviation.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Quality Gate Benchmarks — Routing + Fidelity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All three independent benchmarks passed at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10 / 20</a:t>
            </a:r>
          </a:p>
        </p:txBody>
      </p:sp>
      <p:pic>
        <p:nvPicPr>
          <p:cNvPr id="7" name="Picture 6" descr="m6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32121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95360" y="9601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2A5A"/>
                </a:solidFill>
                <a:latin typeface="Calibri"/>
              </a:rPr>
              <a:t>Details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95360" y="1389888"/>
          <a:ext cx="32004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Routing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40/40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Numerical → FACT_DB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15/15 = 100%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Descriptive →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25/25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SQL execution success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15/15 = 100%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Numerical match (±5%)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15/15 =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Avg routing latency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0.753 s/question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Avg FACT_DB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4.119 s/question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95360" y="416052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C1C2E"/>
                </a:solidFill>
                <a:latin typeface="Calibri"/>
              </a:rPr>
              <a:t>Facts benchmarked: operating margin Q1–Q4 FY26, large-deal TCV, net-new %, attrition rate, revenue, net profit, diluted 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RAGAS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ACCFF"/>
                </a:solidFill>
                <a:latin typeface="Calibri"/>
              </a:rPr>
              <a:t>Pipeline A (metadata-only) vs Pipeline B (cross-encoder reranker)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RAGAS Evaluation — Pipeline A vs Pipeline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50 questions | gpt-4o-mini generator &amp; evaluator | Pipeline B completed for first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12 / 20</a:t>
            </a:r>
          </a:p>
        </p:txBody>
      </p:sp>
      <p:pic>
        <p:nvPicPr>
          <p:cNvPr id="7" name="Picture 6" descr="m6_rag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6112"/>
            <a:ext cx="8229600" cy="44836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00584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2A5A"/>
                </a:solidFill>
                <a:latin typeface="Calibri"/>
              </a:rPr>
              <a:t>Score Summary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03920" y="1444752"/>
          <a:ext cx="35478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768"/>
                <a:gridCol w="658368"/>
                <a:gridCol w="65836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Pipe A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Pipe B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+0.028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Ans. Relevancy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0.8439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0.8146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−0.029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Ctx.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0.9683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0.9507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−0.018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Ctx. Recall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0.8725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0.9277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+0.055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03920" y="333756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5A"/>
                </a:solidFill>
                <a:latin typeface="Calibri"/>
              </a:rP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749039"/>
            <a:ext cx="356616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0">
                <a:solidFill>
                  <a:srgbClr val="1C1C2E"/>
                </a:solidFill>
                <a:latin typeface="Calibri"/>
              </a:rPr>
              <a:t>•  B: Faithfulness +2.8pp — reranker surfaces more contextually grounded documents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C1C2E"/>
                </a:solidFill>
                <a:latin typeface="Calibri"/>
              </a:rPr>
              <a:t>•  B: Ctx. Recall +5.5pp — wider top-20 pool captures more of the reference answer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C1C2E"/>
                </a:solidFill>
                <a:latin typeface="Calibri"/>
              </a:rPr>
              <a:t>•  A: Ctx. Precision higher (0.97 vs 0.95) — smaller top-10 pool is more focused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C1C2E"/>
                </a:solidFill>
                <a:latin typeface="Calibri"/>
              </a:rPr>
              <a:t>•  A: Answer Relevancy higher — shorter, more direct answers score better on RAGAS metric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C1C2E"/>
                </a:solidFill>
                <a:latin typeface="Calibri"/>
              </a:rPr>
              <a:t>•  Both exceed 0.80 on all four metrics</a:t>
            </a:r>
          </a:p>
          <a:p>
            <a:pPr>
              <a:spcAft>
                <a:spcPts val="500"/>
              </a:spcAft>
            </a:pPr>
            <a:r>
              <a:rPr sz="1150" b="0">
                <a:solidFill>
                  <a:srgbClr val="1C1C2E"/>
                </a:solidFill>
                <a:latin typeface="Calibri"/>
              </a:rPr>
              <a:t>•  Pipeline B: 49/50 evaluated (1 API error, does not affect trends)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ACCFF"/>
                </a:solidFill>
                <a:latin typeface="Calibri"/>
              </a:rPr>
              <a:t>FastAPI + Streamlit +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Production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Query routing dispatches to FACT_DB or Hybrid RRF vector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14 / 20</a:t>
            </a:r>
          </a:p>
        </p:txBody>
      </p:sp>
      <p:pic>
        <p:nvPicPr>
          <p:cNvPr id="7" name="Picture 6" descr="m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68680"/>
            <a:ext cx="7955279" cy="39961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9601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02A5A"/>
                </a:solidFill>
                <a:latin typeface="Calibri"/>
              </a:rPr>
              <a:t>API Endpoints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389888"/>
          <a:ext cx="38862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574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POST /auth/token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username+password → JWT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POST /query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Question → answer+sources (auth)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GET /health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Docker readiness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2834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5A"/>
                </a:solidFill>
                <a:latin typeface="Calibri"/>
              </a:rPr>
              <a:t>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46120"/>
            <a:ext cx="3657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JWT HS256, 8-hour expiry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Per-user sliding-window rate limit (30 req/hour)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Credentials + secrets in .env (not in source)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CORS enabled for Streamlit →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9377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C1C2E"/>
                </a:solidFill>
                <a:latin typeface="Calibri"/>
              </a:rPr>
              <a:t>VECTOR path: embed → Chroma top-20 + BM25 top-20 → RRF(k=60) → top-3 → gpt-4o-mini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5486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C1C2E"/>
                </a:solidFill>
                <a:latin typeface="Calibri"/>
              </a:rPr>
              <a:t>FACT_DB path: route → SQL generate → SQLite → natural-language answer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Docker Compose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760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BCCFF"/>
                </a:solidFill>
                <a:latin typeface="Calibri"/>
              </a:rPr>
              <a:t>docker compose up --build -d starts both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15 /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960120"/>
          <a:ext cx="493776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73736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Depends on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streamlit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8501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api (healthy)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74320" y="201168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Config Variable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OPENAI_API_KEY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Embedding +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APP_USERNAME / APP_PASSWORD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Login credentials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JWT_SECRET_KEY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Token signing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APP_RATE_LIMIT_PER_HOUR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Request cap per user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DO_RERANKING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Enable cross-encoder (True/False)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C1C2E"/>
                </a:solidFill>
                <a:latin typeface="Calibri"/>
              </a:rPr>
              <a:t>Volumes: ./data:/app/data  (ChromaDB + facts.db, read-write)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960120"/>
            <a:ext cx="5852160" cy="5349240"/>
          </a:xfrm>
          <a:prstGeom prst="rect">
            <a:avLst/>
          </a:prstGeom>
          <a:solidFill>
            <a:srgbClr val="1E1E2E"/>
          </a:solidFill>
          <a:ln w="127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024128"/>
            <a:ext cx="5632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A500"/>
                </a:solidFill>
                <a:latin typeface="Calibri"/>
              </a:rPr>
              <a:t>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4768" y="1444752"/>
            <a:ext cx="563270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0FFC0"/>
                </a:solidFill>
                <a:latin typeface="Courier New"/>
              </a:rPr>
              <a:t># Build and start
docker compose up --build -d
# Check health
curl http://localhost:8000/health
# Login → get token
curl -X POST \
  http://localhost:8000/auth/token \
  -d 'username=admin
      &amp;password=finquery2026'
# Ask a question
curl -X POST \
  http://localhost:8000/query \
  -H 'Authorization: Bearer &lt;token&gt;' \
  -d '{"question":"Infosys Q3 FY26 TCV?"}'
# Stop
docker compose down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Live Demo — FinQuery Interface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16 / 20</a:t>
            </a:r>
          </a:p>
        </p:txBody>
      </p:sp>
      <p:pic>
        <p:nvPicPr>
          <p:cNvPr id="6" name="Picture 5" descr="milestone6-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5897880" cy="2221085"/>
          </a:xfrm>
          <a:prstGeom prst="rect">
            <a:avLst/>
          </a:prstGeom>
        </p:spPr>
      </p:pic>
      <p:pic>
        <p:nvPicPr>
          <p:cNvPr id="7" name="Picture 6" descr="milestone6-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914400"/>
            <a:ext cx="5715000" cy="2152214"/>
          </a:xfrm>
          <a:prstGeom prst="rect">
            <a:avLst/>
          </a:prstGeom>
        </p:spPr>
      </p:pic>
      <p:pic>
        <p:nvPicPr>
          <p:cNvPr id="8" name="Picture 7" descr="milestone6-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370832"/>
            <a:ext cx="5897880" cy="2221085"/>
          </a:xfrm>
          <a:prstGeom prst="rect">
            <a:avLst/>
          </a:prstGeom>
        </p:spPr>
      </p:pic>
      <p:pic>
        <p:nvPicPr>
          <p:cNvPr id="9" name="Picture 8" descr="milestone6-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370832"/>
            <a:ext cx="5715000" cy="215221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8600" y="3438144"/>
            <a:ext cx="5897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A8"/>
                </a:solidFill>
                <a:latin typeface="Calibri"/>
              </a:rPr>
              <a:t>FACT_DB path — exact numeric lookup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438144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6A8"/>
                </a:solidFill>
                <a:latin typeface="Calibri"/>
              </a:rPr>
              <a:t>VECTOR path — Hybrid RRF + gpt-4o-mini answer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AACCFF"/>
                </a:solidFill>
                <a:latin typeface="Calibri"/>
              </a:rPr>
              <a:t>All Milestone 6 benchmarks consolidated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Milestone 6 — Complete Results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18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87552"/>
            <a:ext cx="2148840" cy="102412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607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7A4A"/>
                </a:solidFill>
                <a:latin typeface="Calibri"/>
              </a:rPr>
              <a:t>88%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819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Peak Recall@7
Hybrid RRF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987552"/>
            <a:ext cx="2148840" cy="1024128"/>
          </a:xfrm>
          <a:prstGeom prst="rect">
            <a:avLst/>
          </a:prstGeom>
          <a:solidFill>
            <a:srgbClr val="CC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0607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4E96"/>
                </a:solidFill>
                <a:latin typeface="Calibri"/>
              </a:rPr>
              <a:t>0.56s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15819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Production
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987552"/>
            <a:ext cx="2148840" cy="102412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0607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7A4A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5819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Routing
Accuracy (40/40)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987552"/>
            <a:ext cx="2148840" cy="102412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0607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7A4A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5819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Numeric Fidelity
(15/15)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987552"/>
            <a:ext cx="2148840" cy="1024128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1060704"/>
            <a:ext cx="2148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7A4A"/>
                </a:solidFill>
                <a:latin typeface="Calibri"/>
              </a:rPr>
              <a:t>0.921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581912"/>
            <a:ext cx="2148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1C1C2E"/>
                </a:solidFill>
                <a:latin typeface="Calibri"/>
              </a:rPr>
              <a:t>Pipeline B
Faithfulness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74320" y="2212848"/>
          <a:ext cx="77724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/>
                <a:gridCol w="1051560"/>
                <a:gridCol w="1051560"/>
                <a:gridCol w="10515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Pipeline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Recall@3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Recall@5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Recall@7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102A5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BM25-only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&lt;0.1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Hybrid RRF + Cross-Encoder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2.298 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Hybrid RRF ★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0.558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[prev] Metadata-only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78%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0.478 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[prev] Metadata + CE Reranker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>
                          <a:solidFill>
                            <a:srgbClr val="1C1C2E"/>
                          </a:solidFill>
                          <a:latin typeface="Calibri"/>
                        </a:rPr>
                        <a:t>3.173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589520" y="2212848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2A5A"/>
                </a:solidFill>
                <a:latin typeface="Calibri"/>
              </a:rPr>
              <a:t>RAGAS (50q, gpt-4o-mini)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589520" y="2651760"/>
          <a:ext cx="352958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896112"/>
                <a:gridCol w="896112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Pipe A</a:t>
                      </a:r>
                    </a:p>
                  </a:txBody>
                  <a:tcPr>
                    <a:solidFill>
                      <a:srgbClr val="1A7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Pipe B</a:t>
                      </a:r>
                    </a:p>
                  </a:txBody>
                  <a:tcPr>
                    <a:solidFill>
                      <a:srgbClr val="1A7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Faithfulness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Ans. Relevancy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0.844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0.815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Ctx. 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Ctx. Recall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0.873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C1C2E"/>
                          </a:solidFill>
                          <a:latin typeface="Calibri"/>
                        </a:rPr>
                        <a:t>0.928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589520" y="42976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A96A8"/>
                </a:solidFill>
                <a:latin typeface="Calibri"/>
              </a:rPr>
              <a:t>A = metadata top-10, no reranker  |  B = metadata top-20 + 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589520" y="4754880"/>
            <a:ext cx="1005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4818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7A4A"/>
                </a:solidFill>
                <a:latin typeface="Calibri"/>
              </a:rPr>
              <a:t>40/40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59368" y="4754880"/>
            <a:ext cx="1005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59368" y="4818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7A4A"/>
                </a:solidFill>
                <a:latin typeface="Calibri"/>
              </a:rPr>
              <a:t>15/15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59368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Num→DB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29216" y="4754880"/>
            <a:ext cx="1005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9216" y="4818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7A4A"/>
                </a:solidFill>
                <a:latin typeface="Calibri"/>
              </a:rPr>
              <a:t>15/15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9216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SQL 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99064" y="4754880"/>
            <a:ext cx="1005840" cy="155448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99064" y="481888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7A4A"/>
                </a:solidFill>
                <a:latin typeface="Calibri"/>
              </a:rPr>
              <a:t>15/15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9064" y="53035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E"/>
                </a:solidFill>
                <a:latin typeface="Calibri"/>
              </a:rPr>
              <a:t>Num ±5%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72668"/>
            <a:ext cx="12188952" cy="50292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0584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Key Observations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19 / 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486400" cy="5715000"/>
          </a:xfrm>
          <a:prstGeom prst="rect">
            <a:avLst/>
          </a:prstGeom>
          <a:solidFill>
            <a:srgbClr val="D4EDD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4A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5257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BM25 alone: 84% Recall@3 — highest single-modality result across all experiments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Hybrid RRF (no reranker) matches Recall@7=88% while raising Recall@5 from 82% → 86%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Sub-second latency (0.558s) — BM25 adds only 0.017s over embedding baseline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Infosys IR: BM25 alone 60% @R3 vs 10% for vector — exact-match wins on quarter labels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Query routing: 100% accuracy — zero false positives, zero false negatives on 40 questions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Numeric fidelity: 100% — SQL-generated answers match expected values within 5% for all 15 questions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Pipeline B RAGAS (now complete): faithfulness 0.921 and context recall 0.928 — both higher than Pipeline A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Docker Compose: health-check dependency ensures API is ready before Streamlit starts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960120"/>
            <a:ext cx="5669280" cy="5715000"/>
          </a:xfrm>
          <a:prstGeom prst="rect">
            <a:avLst/>
          </a:prstGeom>
          <a:solidFill>
            <a:srgbClr val="F8D7DA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024128"/>
            <a:ext cx="5440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481328"/>
            <a:ext cx="5440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Infosys IR still weakest: 20% @R3 in hybrid pipeline — RRF sometimes promotes vector candidate over correct BM25 match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RRF constant k=60 not tuned for this dataset; weighted RRF could prioritise BM25 for numeric queries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Cross-encoder applied to YAML text (not its intended domain) — occasionally hurts hybrid recall when applied after RRF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Fact database is static — new earnings releases require a separate extraction and insertion step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FACT_DB path: 4.119s average — two sequential LLM calls make numeric queries 7× slower than VECTOR path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Streamlit frontend is stateless — no conversation memory across question turns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C1C2E"/>
                </a:solidFill>
                <a:latin typeface="Calibri"/>
              </a:rPr>
              <a:t>•  Trendlyne: RRF fusion hurts recall where BM25-only was already at 100% — future work should tune fusion weights per category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5943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91072"/>
            <a:ext cx="12188952" cy="59436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0A500"/>
                </a:solidFill>
                <a:latin typeface="Calibri"/>
              </a:rPr>
              <a:t>Milestone 6 — 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12471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8036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0A500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4434840"/>
            <a:ext cx="1801368" cy="1444752"/>
          </a:xfrm>
          <a:prstGeom prst="rect">
            <a:avLst/>
          </a:prstGeom>
          <a:solidFill>
            <a:srgbClr val="1A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507992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76%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5184648"/>
            <a:ext cx="1801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  <a:latin typeface="Calibri"/>
              </a:rPr>
              <a:t>Recall@3
Hybrid RRF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8568" y="4434840"/>
            <a:ext cx="1801368" cy="1444752"/>
          </a:xfrm>
          <a:prstGeom prst="rect">
            <a:avLst/>
          </a:prstGeom>
          <a:solidFill>
            <a:srgbClr val="1A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8568" y="4507992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88%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5184648"/>
            <a:ext cx="1801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  <a:latin typeface="Calibri"/>
              </a:rPr>
              <a:t>Recall@7
Hybrid RRF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7096" y="4434840"/>
            <a:ext cx="1801368" cy="1444752"/>
          </a:xfrm>
          <a:prstGeom prst="rect">
            <a:avLst/>
          </a:prstGeom>
          <a:solidFill>
            <a:srgbClr val="1A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97096" y="4507992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0.56s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7096" y="5184648"/>
            <a:ext cx="1801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  <a:latin typeface="Calibri"/>
              </a:rPr>
              <a:t>Production
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4" y="4434840"/>
            <a:ext cx="1801368" cy="1444752"/>
          </a:xfrm>
          <a:prstGeom prst="rect">
            <a:avLst/>
          </a:prstGeom>
          <a:solidFill>
            <a:srgbClr val="1A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4" y="4507992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5184648"/>
            <a:ext cx="1801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  <a:latin typeface="Calibri"/>
              </a:rPr>
              <a:t>Routing
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4434840"/>
            <a:ext cx="1801368" cy="1444752"/>
          </a:xfrm>
          <a:prstGeom prst="rect">
            <a:avLst/>
          </a:prstGeom>
          <a:solidFill>
            <a:srgbClr val="1A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4152" y="4507992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4152" y="5184648"/>
            <a:ext cx="1801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  <a:latin typeface="Calibri"/>
              </a:rPr>
              <a:t>Numeric
Fidelity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4434840"/>
            <a:ext cx="1801368" cy="1444752"/>
          </a:xfrm>
          <a:prstGeom prst="rect">
            <a:avLst/>
          </a:prstGeom>
          <a:solidFill>
            <a:srgbClr val="1A4E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4507992"/>
            <a:ext cx="1801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0.921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5184648"/>
            <a:ext cx="180136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0A500"/>
                </a:solidFill>
                <a:latin typeface="Calibri"/>
              </a:rPr>
              <a:t>Pipe B
Faithfulness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601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A96A8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