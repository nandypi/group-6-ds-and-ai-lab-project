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2240280"/>
            <a:ext cx="12188952" cy="3200400"/>
          </a:xfrm>
          <a:prstGeom prst="rect">
            <a:avLst/>
          </a:prstGeom>
          <a:solidFill>
            <a:srgbClr val="0D1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5C518"/>
                </a:solidFill>
              </a:rPr>
              <a:t>Milestone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9144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 i="0">
                <a:solidFill>
                  <a:srgbClr val="FFFFFF"/>
                </a:solidFill>
              </a:rPr>
              <a:t>FinQuery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2860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1">
                <a:solidFill>
                  <a:srgbClr val="CCDDFF"/>
                </a:solidFill>
              </a:rPr>
              <a:t>Hybrid BM25 + Vector Retrieval, Fact Database,
Query Routing &amp; Deployment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3832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888888"/>
                </a:solidFill>
              </a:rPr>
              <a:t>DS &amp; AI Lab — Group 6  |  T2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3093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667799"/>
                </a:solidFill>
              </a:rPr>
              <a:t>1 / 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Previous Milestone Recap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7724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DDFF"/>
                </a:solidFill>
              </a:rPr>
              <a:t>What was established before Milestone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4572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99AACC"/>
                </a:solidFill>
              </a:rPr>
              <a:t>2 / 17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325880"/>
            <a:ext cx="5486400" cy="2834640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417320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A4A"/>
                </a:solidFill>
              </a:rPr>
              <a:t>Previous Best Results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828800"/>
            <a:ext cx="521208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•  Embed only YAML front matter (no body text) — 13× faster than full-text embedding
•  Cross-encoder reranker (ms-marco-MiniLM-L-6-v2) improved Recall@7 by +6pp
•  Metadata + CE reranker: 88% Recall@7  |  Metadata-only: 82% Recall@7
•  Production metadata pipeline: 0.478s average latency</a:t>
            </a:r>
          </a:p>
        </p:txBody>
      </p:sp>
      <p:sp>
        <p:nvSpPr>
          <p:cNvPr id="9" name="Rectangle 8"/>
          <p:cNvSpPr/>
          <p:nvPr/>
        </p:nvSpPr>
        <p:spPr>
          <a:xfrm>
            <a:off x="6080760" y="1325880"/>
            <a:ext cx="5806440" cy="2834640"/>
          </a:xfrm>
          <a:prstGeom prst="rect">
            <a:avLst/>
          </a:prstGeom>
          <a:solidFill>
            <a:srgbClr val="E8F4FD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0" y="1417320"/>
            <a:ext cx="5532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4080"/>
                </a:solidFill>
              </a:rPr>
              <a:t>Milestone 6 Additions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1828800"/>
            <a:ext cx="553212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•  BM25 keyword search over same YAML text indexed in ChromaDB
•  Reciprocal Rank Fusion (k=60) to merge BM25 + vector ranked lists
•  SQLite fact database — 2,500+ period-tagged financial facts
•  LLM query router: classifies questions as FACT_DB or VECTOR
•  Numeric fidelity benchmark: 15 numerical questions, exact SQL matching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4343400"/>
            <a:ext cx="2240280" cy="1005840"/>
          </a:xfrm>
          <a:prstGeom prst="rect">
            <a:avLst/>
          </a:prstGeom>
          <a:solidFill>
            <a:srgbClr val="CCE5FF"/>
          </a:solidFill>
          <a:ln w="63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" y="4370832"/>
            <a:ext cx="2148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004080"/>
                </a:solidFill>
              </a:rPr>
              <a:t>74%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4873752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44444"/>
                </a:solidFill>
              </a:rPr>
              <a:t>Prev Recall@3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70048" y="4343400"/>
            <a:ext cx="2240280" cy="1005840"/>
          </a:xfrm>
          <a:prstGeom prst="rect">
            <a:avLst/>
          </a:prstGeom>
          <a:solidFill>
            <a:srgbClr val="CCE5FF"/>
          </a:solidFill>
          <a:ln w="63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15768" y="4370832"/>
            <a:ext cx="2148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004080"/>
                </a:solidFill>
              </a:rPr>
              <a:t>82%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15768" y="4873752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44444"/>
                </a:solidFill>
              </a:rPr>
              <a:t>Prev Recall@7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65776" y="4343400"/>
            <a:ext cx="2240280" cy="1005840"/>
          </a:xfrm>
          <a:prstGeom prst="rect">
            <a:avLst/>
          </a:prstGeom>
          <a:solidFill>
            <a:srgbClr val="FFF3CD"/>
          </a:solidFill>
          <a:ln w="63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11496" y="4370832"/>
            <a:ext cx="2148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9600"/>
                </a:solidFill>
              </a:rPr>
              <a:t>0.478s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11496" y="4873752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44444"/>
                </a:solidFill>
              </a:rPr>
              <a:t>Prev Latency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61504" y="4343400"/>
            <a:ext cx="2240280" cy="1005840"/>
          </a:xfrm>
          <a:prstGeom prst="rect">
            <a:avLst/>
          </a:prstGeom>
          <a:solidFill>
            <a:srgbClr val="F5F5F5"/>
          </a:solidFill>
          <a:ln w="63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07224" y="4370832"/>
            <a:ext cx="2148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1A2A4A"/>
                </a:solidFill>
              </a:rPr>
              <a:t>50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07224" y="4873752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44444"/>
                </a:solidFill>
              </a:rPr>
              <a:t>Eval Questions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857232" y="4343400"/>
            <a:ext cx="2240280" cy="1005840"/>
          </a:xfrm>
          <a:prstGeom prst="rect">
            <a:avLst/>
          </a:prstGeom>
          <a:solidFill>
            <a:srgbClr val="F5F5F5"/>
          </a:solidFill>
          <a:ln w="63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02952" y="4370832"/>
            <a:ext cx="2148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1A2A4A"/>
                </a:solidFill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02952" y="4873752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44444"/>
                </a:solidFill>
              </a:rPr>
              <a:t>Source Categories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60320"/>
            <a:ext cx="12188952" cy="18288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633472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1A2A4A"/>
                </a:solidFill>
              </a:rPr>
              <a:t>BM25 + Hybrid Retrieval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56616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1A2A4A"/>
                </a:solidFill>
              </a:rPr>
              <a:t>Combining keyword and semantic search via Reciprocal Rank Fusion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093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8899BB"/>
                </a:solidFill>
              </a:rPr>
              <a:t>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Why BM25? — Keyword + Semantic Fusion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7724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DDFF"/>
                </a:solidFill>
              </a:rPr>
              <a:t>Vector embeddings blur exact tokens; BM25 matches quarter labels, numbers, and tickers precisely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4572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99AACC"/>
                </a:solidFill>
              </a:rPr>
              <a:t>4 / 17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325880"/>
            <a:ext cx="3840480" cy="2743200"/>
          </a:xfrm>
          <a:prstGeom prst="rect">
            <a:avLst/>
          </a:prstGeom>
          <a:solidFill>
            <a:srgbClr val="F8D7DA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417320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DC3545"/>
                </a:solidFill>
              </a:rPr>
              <a:t>Vector Search Gap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828800"/>
            <a:ext cx="356616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•  '$4.8B' and '$5.1B' embed very similarly — vector can't distinguish quarter-specific figures
•  'Q1 FY26' and 'Q2 FY26' are semantically identical to embedding models
•  NSE tables with &gt;10 pages: embeddings may retrieve wrong page/quarter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60" y="1325880"/>
            <a:ext cx="3840480" cy="2743200"/>
          </a:xfrm>
          <a:prstGeom prst="rect">
            <a:avLst/>
          </a:prstGeom>
          <a:solidFill>
            <a:srgbClr val="D4EDDA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1417320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96E2E"/>
                </a:solidFill>
              </a:rPr>
              <a:t>BM25 Strengths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1828800"/>
            <a:ext cx="356616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•  Exact token match: 'Q3 FY26' scores only on documents containing that string
•  Handles OOV tokens (ticker codes, product names) embedding models never saw
•  BM25Okapi index built in &lt;1s from ChromaDB corpus at API startup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21040" y="1325880"/>
            <a:ext cx="3657600" cy="2743200"/>
          </a:xfrm>
          <a:prstGeom prst="rect">
            <a:avLst/>
          </a:prstGeom>
          <a:solidFill>
            <a:srgbClr val="CCE5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1417320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4080"/>
                </a:solidFill>
              </a:rPr>
              <a:t>Reciprocal Rank Fusion (RRF, k=60)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58200" y="1828800"/>
            <a:ext cx="338328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•  For each candidate document:
     score(d) = Σ  1 / (60 + rank_i(d))
•  Top-20 from vector + top-20 from BM25 → merge → top-3 returned
•  k=60 dampens outlier high-rank documents from either modality
•  No model weights needed — purely combinatorial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420624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888888"/>
                </a:solidFill>
              </a:rPr>
              <a:t>BM25 uses rank_bm25 (BM25Okapi), built at API startup in &lt;1s from the ChromaDB corpus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Hybrid Retrieval — Benchmark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7724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DDFF"/>
                </a:solidFill>
              </a:rPr>
              <a:t>50 questions; same YAML metadata collection as previous milestone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4572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99AACC"/>
                </a:solidFill>
              </a:rPr>
              <a:t>5 / 17</a:t>
            </a:r>
          </a:p>
        </p:txBody>
      </p:sp>
      <p:pic>
        <p:nvPicPr>
          <p:cNvPr id="6" name="Picture 5" descr="m6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8686800" cy="5120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9189720" y="1371600"/>
            <a:ext cx="2788920" cy="1783080"/>
          </a:xfrm>
          <a:prstGeom prst="rect">
            <a:avLst/>
          </a:prstGeom>
          <a:solidFill>
            <a:srgbClr val="D4EDDA"/>
          </a:solidFill>
          <a:ln w="12700">
            <a:solidFill>
              <a:srgbClr val="28A7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81160" y="1426464"/>
            <a:ext cx="2606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96E2E"/>
                </a:solidFill>
              </a:rPr>
              <a:t>Production Choice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81160" y="1792224"/>
            <a:ext cx="26060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96E2E"/>
                </a:solidFill>
              </a:rPr>
              <a:t>Hybrid RRF (no reranker)
76 / 86 / 88%
R@3 / R@5 / R@7
Latency: 0.558s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89720" y="3291840"/>
            <a:ext cx="2788920" cy="1325880"/>
          </a:xfrm>
          <a:prstGeom prst="rect">
            <a:avLst/>
          </a:prstGeom>
          <a:solidFill>
            <a:srgbClr val="CCE5FF"/>
          </a:solidFill>
          <a:ln w="127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81160" y="3346704"/>
            <a:ext cx="2606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080"/>
                </a:solidFill>
              </a:rPr>
              <a:t>BM25-only Insight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81160" y="3712463"/>
            <a:ext cx="26060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4080"/>
                </a:solidFill>
              </a:rPr>
              <a:t>84 / 88 / 88%
Strongest @R3 single
modality result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649224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888888"/>
                </a:solidFill>
              </a:rPr>
              <a:t>Production: Hybrid RRF (no reranker) — 88% Recall@7, 0.558s  |  BM25-only achieves highest R@3 (84%)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Category-wise Recall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7724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DDFF"/>
                </a:solidFill>
              </a:rPr>
              <a:t>BM25 improves Infosys IR dramatically (10%→60% @R3); hybrid balances both modalities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4572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99AACC"/>
                </a:solidFill>
              </a:rPr>
              <a:t>6 / 17</a:t>
            </a:r>
          </a:p>
        </p:txBody>
      </p:sp>
      <p:pic>
        <p:nvPicPr>
          <p:cNvPr id="6" name="Picture 5" descr="m6_categ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34440"/>
            <a:ext cx="7772400" cy="52120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183879" y="1280160"/>
            <a:ext cx="3794760" cy="521208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75320" y="1353312"/>
            <a:ext cx="3611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A4A"/>
                </a:solidFill>
              </a:rPr>
              <a:t>Key Observations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75320" y="1847088"/>
            <a:ext cx="3611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A4A"/>
                </a:solidFill>
              </a:rPr>
              <a:t>NSE ≤10p &amp; Yahoo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75320" y="2103120"/>
            <a:ext cx="3611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100% across all pipelines — short structured tables are well-embedded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75320" y="2761488"/>
            <a:ext cx="3611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A4A"/>
                </a:solidFill>
              </a:rPr>
              <a:t>NSE &gt;10p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20" y="3017520"/>
            <a:ext cx="3611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Hybrid @R7=90% — vector recovers chunks BM25 misses in long documents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3675888"/>
            <a:ext cx="3611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A4A"/>
                </a:solidFill>
              </a:rPr>
              <a:t>IR Documents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3931920"/>
            <a:ext cx="3611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BM25 alone=60% @R3. In hybrid mode, RRF sometimes promotes a vector candidate over the correct BM25 hit, dropping to 20%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4590288"/>
            <a:ext cx="3611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A4A"/>
                </a:solidFill>
              </a:rPr>
              <a:t>Trendlyne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4846320"/>
            <a:ext cx="3611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BM25=100%, Hybrid=67% — RRF fusion dilutes an already-perfect BM25 signal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Latency Profile — Hybrid RRF vs Alternatives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7724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DDFF"/>
                </a:solidFill>
              </a:rPr>
              <a:t>BM25 adds only 0.017s to embedding baseline; embedding dominates at 0.540s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4572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99AACC"/>
                </a:solidFill>
              </a:rPr>
              <a:t>7 / 17</a:t>
            </a:r>
          </a:p>
        </p:txBody>
      </p:sp>
      <p:pic>
        <p:nvPicPr>
          <p:cNvPr id="6" name="Picture 5" descr="m6_lat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11612880" cy="5120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4320" y="649224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888888"/>
                </a:solidFill>
              </a:rPr>
              <a:t>Embedding cost (0.540s) = 97% of total Hybrid RRF latency  |  BM25 adds 0.017s  |  CE reranker adds 1.74s (not used in production)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60320"/>
            <a:ext cx="12188952" cy="18288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633472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1A2A4A"/>
                </a:solidFill>
              </a:rPr>
              <a:t>SQLite Fact Database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56616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1A2A4A"/>
                </a:solidFill>
              </a:rPr>
              <a:t>Exact numeric answers — routing, SQL generation, 100% fidelity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093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8899BB"/>
                </a:solidFill>
              </a:rPr>
              <a:t>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Numeric Fidelity Layer — Design &amp;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7724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DDFF"/>
                </a:solidFill>
              </a:rPr>
              <a:t>2,500+ period-tagged facts; LLM generates SQL; database returns exact 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4572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99AACC"/>
                </a:solidFill>
              </a:rPr>
              <a:t>9 / 17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325880"/>
            <a:ext cx="5806440" cy="3566160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417320"/>
            <a:ext cx="5532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A4A"/>
                </a:solidFill>
              </a:rPr>
              <a:t>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828800"/>
            <a:ext cx="553212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•  LLMs hallucinate or round exact financial figures — unacceptable for Q&amp;A on reported results
•  SQLite facts.db schema: entity | metric | period | value  (2,500+ rows, 7 metrics × 4 quarters)
•  LLM router first classifies query: FACT_DB (numeric) or VECTOR (descriptive)
•  For FACT_DB: LLM generates SQL → exact row returned → formatted as natural-language answer
•  For VECTOR: standard Hybrid RRF retrieval pipeline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325880"/>
            <a:ext cx="5760720" cy="3566160"/>
          </a:xfrm>
          <a:prstGeom prst="rect">
            <a:avLst/>
          </a:prstGeom>
          <a:solidFill>
            <a:srgbClr val="F0F8FF"/>
          </a:solidFill>
          <a:ln w="127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389888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4080"/>
                </a:solidFill>
              </a:rPr>
              <a:t>Example: Exact Numeric Retrieval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810512"/>
            <a:ext cx="557784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Q: "What was Infosys operating margin in Q2 FY26?"
Route → FACT_DB
SQL generated:
SELECT value FROM facts
WHERE entity='Infosys'
  AND metric='operating_margin'
  AND period='Q2FY26'
Result: 21.1%   (exact, no rounding)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Quality Gate Benchmarks — Routing + Fidelity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7724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DDFF"/>
                </a:solidFill>
              </a:rPr>
              <a:t>All three independent benchmarks passed at 100%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4572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99AACC"/>
                </a:solidFill>
              </a:rPr>
              <a:t>10 / 17</a:t>
            </a:r>
          </a:p>
        </p:txBody>
      </p:sp>
      <p:pic>
        <p:nvPicPr>
          <p:cNvPr id="6" name="Picture 5" descr="m6_qua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8412480" cy="50292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778240" y="1325880"/>
            <a:ext cx="3200400" cy="5029200"/>
          </a:xfrm>
          <a:prstGeom prst="rect">
            <a:avLst/>
          </a:prstGeom>
          <a:solidFill>
            <a:srgbClr val="D4EDDA"/>
          </a:solidFill>
          <a:ln w="12700">
            <a:solidFill>
              <a:srgbClr val="28A7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0" y="1389888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96E2E"/>
                </a:solidFill>
              </a:rPr>
              <a:t>Details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1810512"/>
            <a:ext cx="3017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96E2E"/>
                </a:solidFill>
              </a:rPr>
              <a:t>Facts benchmarked:
• operating margin Q1–Q4 FY26
• large-deal TCV
• net-new %
• attrition rate
• revenue
• net profit
• diluted EPS
Routing questions:
• 15 numerical
• 25 descriptive
  (40 total, zero errors)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60320"/>
            <a:ext cx="12188952" cy="18288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633472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1A2A4A"/>
                </a:solidFill>
              </a:rPr>
              <a:t>Production Deployment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56616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1A2A4A"/>
                </a:solidFill>
              </a:rPr>
              <a:t>FastAPI + Streamlit + Docker Compose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093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8899BB"/>
                </a:solidFill>
              </a:rP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Production 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7724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DDFF"/>
                </a:solidFill>
              </a:rPr>
              <a:t>Query routing dispatches to FACT_DB or Hybrid RRF vector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4572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99AACC"/>
                </a:solidFill>
              </a:rPr>
              <a:t>12 / 17</a:t>
            </a:r>
          </a:p>
        </p:txBody>
      </p:sp>
      <p:pic>
        <p:nvPicPr>
          <p:cNvPr id="6" name="Picture 5" descr="m6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6858000" cy="50292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60920" y="1325880"/>
            <a:ext cx="4617720" cy="219456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52360" y="1389888"/>
            <a:ext cx="4434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A4A"/>
                </a:solidFill>
              </a:rPr>
              <a:t>API Endpoints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52360" y="1783080"/>
            <a:ext cx="443484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POST /token  — JWT authentication (HS256, 8h)
POST /ask    — main Q&amp;A endpoint
GET  /health — liveness probe
GET  /metrics — Prometheus counters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60920" y="3657600"/>
            <a:ext cx="4617720" cy="173736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52360" y="3721608"/>
            <a:ext cx="4434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A4A"/>
                </a:solidFill>
              </a:rPr>
              <a:t>Security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52360" y="4114800"/>
            <a:ext cx="4434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•  JWT HS256, 8-hour expiry
•  Per-user sliding-window rate limit (30 req/hour)
•  Secrets from environment variables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6492240"/>
            <a:ext cx="1161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888888"/>
                </a:solidFill>
              </a:rPr>
              <a:t>VECTOR path: embed → Chroma top-20 + BM25 top-20 → RRF(k=60) → top-3 → gpt-4o-mini
FACT_DB path: route → SQL generate → SQLite → natural-language answer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Docker Compose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7724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DDFF"/>
                </a:solidFill>
              </a:rPr>
              <a:t>docker compose up --build -d starts both services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4572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99AACC"/>
                </a:solidFill>
              </a:rPr>
              <a:t>13 / 17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98448"/>
            <a:ext cx="11612880" cy="292608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316736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Volumes: ./data:/app/data  (ChromaDB + facts.db, read-write)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691640"/>
            <a:ext cx="5669280" cy="242316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7373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C518"/>
                </a:solidFill>
              </a:rPr>
              <a:t>Commands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2084831"/>
            <a:ext cx="5486400" cy="19933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FFCC"/>
                </a:solidFill>
              </a:rPr>
              <a:t># Build and start
docker compose up --build -d
# Check health
curl http://localhost:8000/health
# View logs
docker compose logs -f api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691640"/>
            <a:ext cx="5669280" cy="242316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27648" y="17373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A4A"/>
                </a:solidFill>
              </a:rPr>
              <a:t>Services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7648" y="2084831"/>
            <a:ext cx="5486400" cy="19933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  api (FastAPI)      port 8000
  ui  (Streamlit)    port 8501
Environment variables:
  OPENAI_API_KEY
  SECRET_KEY  (JWT signing)
  CHROMA_PATH  (default: ./data/chroma)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4251960"/>
            <a:ext cx="11612880" cy="1828800"/>
          </a:xfrm>
          <a:prstGeom prst="rect">
            <a:avLst/>
          </a:prstGeom>
          <a:solidFill>
            <a:srgbClr val="F8F8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4048" y="431596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A4A"/>
                </a:solidFill>
              </a:rPr>
              <a:t>Runtime Health Checks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" y="475488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A4A"/>
                </a:solidFill>
              </a:rPr>
              <a:t>FastAPI /health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" y="5056632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GET → {status: ok}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" y="534924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96E2E"/>
                </a:solidFill>
              </a:rPr>
              <a:t>✓ Passing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10128" y="475488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A4A"/>
                </a:solidFill>
              </a:rPr>
              <a:t>Streamlit UI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10128" y="5056632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HTTP 200 on port 8501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10128" y="534924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96E2E"/>
                </a:solidFill>
              </a:rPr>
              <a:t>✓ Passing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36208" y="475488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A4A"/>
                </a:solidFill>
              </a:rPr>
              <a:t>ChromaDB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36208" y="5056632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Collection count &gt;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36208" y="534924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96E2E"/>
                </a:solidFill>
              </a:rPr>
              <a:t>✓ Passing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62288" y="475488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A4A"/>
                </a:solidFill>
              </a:rPr>
              <a:t>facts.db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62288" y="5056632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SELECT 1 returns row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62288" y="534924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96E2E"/>
                </a:solidFill>
              </a:rPr>
              <a:t>✓ Passing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60320"/>
            <a:ext cx="12188952" cy="18288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633472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1A2A4A"/>
                </a:solidFill>
              </a:rPr>
              <a:t>Results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56616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1A2A4A"/>
                </a:solidFill>
              </a:rPr>
              <a:t>All Milestone 6 benchmarks consolidated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093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8899BB"/>
                </a:solidFill>
              </a:rPr>
              <a:t>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Milestone 6 — Complete Results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7724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DDFF"/>
                </a:solidFill>
              </a:rPr>
              <a:t>Retrieval performance, quality gates, and category highlights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4572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99AACC"/>
                </a:solidFill>
              </a:rPr>
              <a:t>15 / 17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61872"/>
            <a:ext cx="11612880" cy="32004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128016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RETRIEVAL PERFORMANCE  (Hybrid RRF Production Pipeline, 50 questions)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645920"/>
            <a:ext cx="1880616" cy="1024128"/>
          </a:xfrm>
          <a:prstGeom prst="rect">
            <a:avLst/>
          </a:prstGeom>
          <a:solidFill>
            <a:srgbClr val="D4EDDA"/>
          </a:solidFill>
          <a:ln w="12700">
            <a:solidFill>
              <a:srgbClr val="196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673352"/>
            <a:ext cx="17983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196E2E"/>
                </a:solidFill>
              </a:rPr>
              <a:t>76%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194560"/>
            <a:ext cx="179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96E2E"/>
                </a:solidFill>
              </a:rPr>
              <a:t>Recall@3
Hybrid RRF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09800" y="1645920"/>
            <a:ext cx="1880616" cy="1024128"/>
          </a:xfrm>
          <a:prstGeom prst="rect">
            <a:avLst/>
          </a:prstGeom>
          <a:solidFill>
            <a:srgbClr val="D4EDDA"/>
          </a:solidFill>
          <a:ln w="12700">
            <a:solidFill>
              <a:srgbClr val="196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55520" y="1673352"/>
            <a:ext cx="17983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196E2E"/>
                </a:solidFill>
              </a:rPr>
              <a:t>86%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55520" y="2194560"/>
            <a:ext cx="179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96E2E"/>
                </a:solidFill>
              </a:rPr>
              <a:t>Recall@5
Hybrid RRF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45280" y="1645920"/>
            <a:ext cx="1880616" cy="1024128"/>
          </a:xfrm>
          <a:prstGeom prst="rect">
            <a:avLst/>
          </a:prstGeom>
          <a:solidFill>
            <a:srgbClr val="D4EDDA"/>
          </a:solidFill>
          <a:ln w="12700">
            <a:solidFill>
              <a:srgbClr val="196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91000" y="1673352"/>
            <a:ext cx="17983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196E2E"/>
                </a:solidFill>
              </a:rPr>
              <a:t>88%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91000" y="2194560"/>
            <a:ext cx="179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96E2E"/>
                </a:solidFill>
              </a:rPr>
              <a:t>Recall@7
Hybrid RRF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80760" y="1645920"/>
            <a:ext cx="1880616" cy="1024128"/>
          </a:xfrm>
          <a:prstGeom prst="rect">
            <a:avLst/>
          </a:prstGeom>
          <a:solidFill>
            <a:srgbClr val="CCE5FF"/>
          </a:solidFill>
          <a:ln w="12700">
            <a:solidFill>
              <a:srgbClr val="004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0" y="1673352"/>
            <a:ext cx="17983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04080"/>
                </a:solidFill>
              </a:rPr>
              <a:t>84%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2194560"/>
            <a:ext cx="179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4080"/>
                </a:solidFill>
              </a:rPr>
              <a:t>BM25-only
Recall@3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6240" y="1645920"/>
            <a:ext cx="1880616" cy="1024128"/>
          </a:xfrm>
          <a:prstGeom prst="rect">
            <a:avLst/>
          </a:prstGeom>
          <a:solidFill>
            <a:srgbClr val="CCE5FF"/>
          </a:solidFill>
          <a:ln w="12700">
            <a:solidFill>
              <a:srgbClr val="004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61960" y="1673352"/>
            <a:ext cx="17983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04080"/>
                </a:solidFill>
              </a:rPr>
              <a:t>88%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61960" y="2194560"/>
            <a:ext cx="179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4080"/>
                </a:solidFill>
              </a:rPr>
              <a:t>BM25-only
Recall@7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951720" y="1645920"/>
            <a:ext cx="1880616" cy="1024128"/>
          </a:xfrm>
          <a:prstGeom prst="rect">
            <a:avLst/>
          </a:prstGeom>
          <a:solidFill>
            <a:srgbClr val="FFF3CD"/>
          </a:solidFill>
          <a:ln w="12700">
            <a:solidFill>
              <a:srgbClr val="FF9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97440" y="1673352"/>
            <a:ext cx="17983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9600"/>
                </a:solidFill>
              </a:rPr>
              <a:t>0.56s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97440" y="2194560"/>
            <a:ext cx="179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9600"/>
                </a:solidFill>
              </a:rPr>
              <a:t>Production
Latency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798064"/>
            <a:ext cx="11612880" cy="32004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4048" y="2816352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QUALITY GATES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" y="3163824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A4A"/>
                </a:solidFill>
              </a:rPr>
              <a:t>Benchmark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92040" y="3163824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A4A"/>
                </a:solidFill>
              </a:rPr>
              <a:t>Scope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78040" y="3163824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A4A"/>
                </a:solidFill>
              </a:rPr>
              <a:t>Score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64040" y="3163824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A4A"/>
                </a:solidFill>
              </a:rPr>
              <a:t>Accuracy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3493008"/>
            <a:ext cx="11612880" cy="420624"/>
          </a:xfrm>
          <a:prstGeom prst="rect">
            <a:avLst/>
          </a:prstGeom>
          <a:solidFill>
            <a:srgbClr val="D4EDDA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3566160"/>
            <a:ext cx="4480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44444"/>
                </a:solidFill>
              </a:rPr>
              <a:t>Query Routing Accuracy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37760" y="356616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44444"/>
                </a:solidFill>
              </a:rPr>
              <a:t>40 questions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23760" y="356616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96E2E"/>
                </a:solidFill>
              </a:rPr>
              <a:t>40 / 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09760" y="356616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96E2E"/>
                </a:solidFill>
              </a:rPr>
              <a:t>100%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3931920"/>
            <a:ext cx="1161288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4005072"/>
            <a:ext cx="4480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44444"/>
                </a:solidFill>
              </a:rPr>
              <a:t>Numeric → FACT_DB Route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937760" y="4005072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44444"/>
                </a:solidFill>
              </a:rPr>
              <a:t>15 questions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23760" y="4005072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96E2E"/>
                </a:solidFill>
              </a:rPr>
              <a:t>15 / 15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509760" y="4005072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96E2E"/>
                </a:solidFill>
              </a:rPr>
              <a:t>100%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4320" y="4370832"/>
            <a:ext cx="11612880" cy="420624"/>
          </a:xfrm>
          <a:prstGeom prst="rect">
            <a:avLst/>
          </a:prstGeom>
          <a:solidFill>
            <a:srgbClr val="D4EDDA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5760" y="4443984"/>
            <a:ext cx="4480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44444"/>
                </a:solidFill>
              </a:rPr>
              <a:t>SQL Generation Correct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37760" y="4443984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44444"/>
                </a:solidFill>
              </a:rPr>
              <a:t>15 questions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223760" y="4443984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96E2E"/>
                </a:solidFill>
              </a:rPr>
              <a:t>15 / 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09760" y="4443984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96E2E"/>
                </a:solidFill>
              </a:rPr>
              <a:t>100%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74320" y="4809744"/>
            <a:ext cx="1161288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4882896"/>
            <a:ext cx="4480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44444"/>
                </a:solidFill>
              </a:rPr>
              <a:t>Value Within ±5%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937760" y="4882896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44444"/>
                </a:solidFill>
              </a:rPr>
              <a:t>15 questions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223760" y="4882896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96E2E"/>
                </a:solidFill>
              </a:rPr>
              <a:t>15 / 15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509760" y="4882896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96E2E"/>
                </a:solidFill>
              </a:rPr>
              <a:t>100%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74320" y="5321808"/>
            <a:ext cx="11612880" cy="320040"/>
          </a:xfrm>
          <a:prstGeom prst="rect">
            <a:avLst/>
          </a:prstGeom>
          <a:solidFill>
            <a:srgbClr val="33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84048" y="5340096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CATEGORY HIGHLIGHTS  (Hybrid RRF @R7 — 50 questions)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74320" y="5687568"/>
            <a:ext cx="2267712" cy="868680"/>
          </a:xfrm>
          <a:prstGeom prst="rect">
            <a:avLst/>
          </a:prstGeom>
          <a:solidFill>
            <a:srgbClr val="D4EDDA"/>
          </a:solidFill>
          <a:ln w="6350">
            <a:solidFill>
              <a:srgbClr val="196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20040" y="5705856"/>
            <a:ext cx="22128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96E2E"/>
                </a:solidFill>
              </a:rPr>
              <a:t>100%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20040" y="6144768"/>
            <a:ext cx="22128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96E2E"/>
                </a:solidFill>
              </a:rPr>
              <a:t>NSE ≤10p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596896" y="5687568"/>
            <a:ext cx="2267712" cy="868680"/>
          </a:xfrm>
          <a:prstGeom prst="rect">
            <a:avLst/>
          </a:prstGeom>
          <a:solidFill>
            <a:srgbClr val="CCE5FF"/>
          </a:solidFill>
          <a:ln w="6350">
            <a:solidFill>
              <a:srgbClr val="004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642616" y="5705856"/>
            <a:ext cx="22128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4080"/>
                </a:solidFill>
              </a:rPr>
              <a:t>90%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642616" y="6144768"/>
            <a:ext cx="22128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4080"/>
                </a:solidFill>
              </a:rPr>
              <a:t>NSE &gt;10p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919472" y="5687568"/>
            <a:ext cx="2267712" cy="868680"/>
          </a:xfrm>
          <a:prstGeom prst="rect">
            <a:avLst/>
          </a:prstGeom>
          <a:solidFill>
            <a:srgbClr val="FFF3CD"/>
          </a:solidFill>
          <a:ln w="6350">
            <a:solidFill>
              <a:srgbClr val="FF9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965192" y="5705856"/>
            <a:ext cx="22128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9600"/>
                </a:solidFill>
              </a:rPr>
              <a:t>60%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965192" y="6144768"/>
            <a:ext cx="22128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9600"/>
                </a:solidFill>
              </a:rPr>
              <a:t>IR Docs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242048" y="5687568"/>
            <a:ext cx="2267712" cy="868680"/>
          </a:xfrm>
          <a:prstGeom prst="rect">
            <a:avLst/>
          </a:prstGeom>
          <a:solidFill>
            <a:srgbClr val="FFF3CD"/>
          </a:solidFill>
          <a:ln w="6350">
            <a:solidFill>
              <a:srgbClr val="FF9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287768" y="5705856"/>
            <a:ext cx="22128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9600"/>
                </a:solidFill>
              </a:rPr>
              <a:t>67%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87768" y="6144768"/>
            <a:ext cx="22128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9600"/>
                </a:solidFill>
              </a:rPr>
              <a:t>Trendlyne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564624" y="5687568"/>
            <a:ext cx="2267712" cy="868680"/>
          </a:xfrm>
          <a:prstGeom prst="rect">
            <a:avLst/>
          </a:prstGeom>
          <a:solidFill>
            <a:srgbClr val="D4EDDA"/>
          </a:solidFill>
          <a:ln w="6350">
            <a:solidFill>
              <a:srgbClr val="196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610344" y="5705856"/>
            <a:ext cx="22128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96E2E"/>
                </a:solidFill>
              </a:rPr>
              <a:t>100%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610344" y="6144768"/>
            <a:ext cx="22128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96E2E"/>
                </a:solidFill>
              </a:rPr>
              <a:t>Yahoo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Key Observations &amp; 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4572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99AACC"/>
                </a:solidFill>
              </a:rPr>
              <a:t>16 / 17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325880"/>
            <a:ext cx="11612880" cy="2651760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417320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A4A"/>
                </a:solidFill>
              </a:rPr>
              <a:t>Key Observations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828800"/>
            <a:ext cx="1133856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•  BM25 alone: 84% Recall@3 — highest single-modality result across all experiments
•  Hybrid RRF (no reranker) = production choice: 76/86/88% R@3/5/7 at 0.558s
•  Cross-encoder reranker hurts R@3 (74% vs 76%) and adds 1.74s — wrong domain for financial IR
•  Numeric Fidelity Layer achieves 100% on all quality gates — critical for factual Q&amp;A
•  Query routing (40/40) correctly separates numeric FACT_DB vs descriptive VECTOR queries
•  Embedding cost dominates latency (97%): BM25 adds only 17ms to total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4069080"/>
            <a:ext cx="11612880" cy="2514600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4160520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A4A"/>
                </a:solidFill>
              </a:rPr>
              <a:t>Limitations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4572000"/>
            <a:ext cx="113385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•  Infosys IR still weakest category: 20% @R3 in hybrid pipeline — RRF sometimes promotes vector candidate over correct BM25 hit
•  Cross-encoder trained on MS-MARCO (general web), not financial domain — domain-specific re-training could improve reranker performance
•  BM25 cannot handle paraphrase queries ('cost of goods sold' ≠ 'COGS') — vector modality compensates
•  facts.db covers 7 metrics × 4 quarters — arbitrary financial metrics not supported
•  Rate limit (30 req/hr) is conservative; production load testing not yet performed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411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5C518"/>
                </a:solidFill>
              </a:rPr>
              <a:t>Milestone 6 — Complete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09728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600" b="1" i="0">
                <a:solidFill>
                  <a:srgbClr val="FFFFFF"/>
                </a:solidFill>
              </a:rPr>
              <a:t>Thank You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39572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CCDDFF"/>
                </a:solidFill>
              </a:rPr>
              <a:t>Questions &amp; Discussion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3246120"/>
            <a:ext cx="2437790" cy="1417320"/>
          </a:xfrm>
          <a:prstGeom prst="rect">
            <a:avLst/>
          </a:prstGeom>
          <a:solidFill>
            <a:srgbClr val="CCE5FF"/>
          </a:solidFill>
          <a:ln w="12700">
            <a:solidFill>
              <a:srgbClr val="004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" y="3291840"/>
            <a:ext cx="234635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004080"/>
                </a:solidFill>
              </a:rPr>
              <a:t>76%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" y="4041648"/>
            <a:ext cx="234635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04080"/>
                </a:solidFill>
              </a:rPr>
              <a:t>Recall@3
Hybrid RRF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37790" y="3246120"/>
            <a:ext cx="2437790" cy="1417320"/>
          </a:xfrm>
          <a:prstGeom prst="rect">
            <a:avLst/>
          </a:prstGeom>
          <a:solidFill>
            <a:srgbClr val="D4EDDA"/>
          </a:solidFill>
          <a:ln w="12700">
            <a:solidFill>
              <a:srgbClr val="196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83510" y="3291840"/>
            <a:ext cx="234635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196E2E"/>
                </a:solidFill>
              </a:rPr>
              <a:t>88%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83510" y="4041648"/>
            <a:ext cx="234635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96E2E"/>
                </a:solidFill>
              </a:rPr>
              <a:t>Recall@7
Hybrid RRF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75580" y="3246120"/>
            <a:ext cx="2437790" cy="1417320"/>
          </a:xfrm>
          <a:prstGeom prst="rect">
            <a:avLst/>
          </a:prstGeom>
          <a:solidFill>
            <a:srgbClr val="FFF3CD"/>
          </a:solidFill>
          <a:ln w="12700">
            <a:solidFill>
              <a:srgbClr val="FF9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21300" y="3291840"/>
            <a:ext cx="234635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9600"/>
                </a:solidFill>
              </a:rPr>
              <a:t>0.56s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21300" y="4041648"/>
            <a:ext cx="234635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9600"/>
                </a:solidFill>
              </a:rPr>
              <a:t>Production
Latency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3371" y="3246120"/>
            <a:ext cx="2437790" cy="1417320"/>
          </a:xfrm>
          <a:prstGeom prst="rect">
            <a:avLst/>
          </a:prstGeom>
          <a:solidFill>
            <a:srgbClr val="D4EDDA"/>
          </a:solidFill>
          <a:ln w="12700">
            <a:solidFill>
              <a:srgbClr val="196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59091" y="3291840"/>
            <a:ext cx="234635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196E2E"/>
                </a:solidFill>
              </a:rPr>
              <a:t>100%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59091" y="4041648"/>
            <a:ext cx="234635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96E2E"/>
                </a:solidFill>
              </a:rPr>
              <a:t>Routing
Accuracy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51161" y="3246120"/>
            <a:ext cx="2437790" cy="1417320"/>
          </a:xfrm>
          <a:prstGeom prst="rect">
            <a:avLst/>
          </a:prstGeom>
          <a:solidFill>
            <a:srgbClr val="D4EDDA"/>
          </a:solidFill>
          <a:ln w="12700">
            <a:solidFill>
              <a:srgbClr val="196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96881" y="3291840"/>
            <a:ext cx="234635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196E2E"/>
                </a:solidFill>
              </a:rPr>
              <a:t>100%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96881" y="4041648"/>
            <a:ext cx="234635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96E2E"/>
                </a:solidFill>
              </a:rPr>
              <a:t>Numeric
Fidelity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3093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667799"/>
                </a:solidFill>
              </a:rPr>
              <a:t>17 /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