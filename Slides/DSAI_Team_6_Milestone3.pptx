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Oval 1"/>
          <p:cNvSpPr/>
          <p:nvPr/>
        </p:nvSpPr>
        <p:spPr>
          <a:xfrm>
            <a:off x="9692640" y="-1463040"/>
            <a:ext cx="5029200" cy="50292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98480" y="4480560"/>
            <a:ext cx="3108960" cy="3108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292840" y="5074920"/>
            <a:ext cx="1920240" cy="1920240"/>
          </a:xfrm>
          <a:prstGeom prst="ellipse">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85800"/>
            <a:ext cx="8229600" cy="365760"/>
          </a:xfrm>
          <a:prstGeom prst="rect">
            <a:avLst/>
          </a:prstGeom>
          <a:noFill/>
        </p:spPr>
        <p:txBody>
          <a:bodyPr wrap="square" lIns="0" rIns="0" tIns="0" bIns="0" anchor="t">
            <a:spAutoFit/>
          </a:bodyPr>
          <a:lstStyle/>
          <a:p>
            <a:r>
              <a:rPr sz="1400" b="1">
                <a:solidFill>
                  <a:srgbClr val="CADCFC"/>
                </a:solidFill>
                <a:latin typeface="Calibri"/>
              </a:rPr>
              <a:t>DATA SCIENCE AND AI LAB   ·   T2 – 2026</a:t>
            </a:r>
          </a:p>
        </p:txBody>
      </p:sp>
      <p:sp>
        <p:nvSpPr>
          <p:cNvPr id="6" name="TextBox 5"/>
          <p:cNvSpPr txBox="1"/>
          <p:nvPr/>
        </p:nvSpPr>
        <p:spPr>
          <a:xfrm>
            <a:off x="685800" y="2148840"/>
            <a:ext cx="8686800" cy="1188720"/>
          </a:xfrm>
          <a:prstGeom prst="rect">
            <a:avLst/>
          </a:prstGeom>
          <a:noFill/>
        </p:spPr>
        <p:txBody>
          <a:bodyPr wrap="square" lIns="0" rIns="0" tIns="0" bIns="0" anchor="t">
            <a:spAutoFit/>
          </a:bodyPr>
          <a:lstStyle/>
          <a:p>
            <a:r>
              <a:rPr sz="6600" b="1">
                <a:solidFill>
                  <a:srgbClr val="FFFFFF"/>
                </a:solidFill>
                <a:latin typeface="Cambria"/>
              </a:rPr>
              <a:t>FinQuery</a:t>
            </a:r>
          </a:p>
        </p:txBody>
      </p:sp>
      <p:sp>
        <p:nvSpPr>
          <p:cNvPr id="7" name="TextBox 6"/>
          <p:cNvSpPr txBox="1"/>
          <p:nvPr/>
        </p:nvSpPr>
        <p:spPr>
          <a:xfrm>
            <a:off x="731520" y="3246120"/>
            <a:ext cx="7863840" cy="914400"/>
          </a:xfrm>
          <a:prstGeom prst="rect">
            <a:avLst/>
          </a:prstGeom>
          <a:noFill/>
        </p:spPr>
        <p:txBody>
          <a:bodyPr wrap="square" lIns="0" rIns="0" tIns="0" bIns="0" anchor="t">
            <a:spAutoFit/>
          </a:bodyPr>
          <a:lstStyle/>
          <a:p>
            <a:r>
              <a:rPr sz="1800" b="0">
                <a:solidFill>
                  <a:srgbClr val="CADCFC"/>
                </a:solidFill>
                <a:latin typeface="Calibri"/>
              </a:rPr>
              <a:t>An AI-Powered, Stock-Specific Public Update Analyzer</a:t>
            </a:r>
          </a:p>
          <a:p>
            <a:r>
              <a:rPr sz="1800" b="0">
                <a:solidFill>
                  <a:srgbClr val="CADCFC"/>
                </a:solidFill>
                <a:latin typeface="Calibri"/>
              </a:rPr>
              <a:t>for Indian Capital Markets</a:t>
            </a:r>
          </a:p>
        </p:txBody>
      </p:sp>
      <p:sp>
        <p:nvSpPr>
          <p:cNvPr id="8" name="Rectangle 7"/>
          <p:cNvSpPr/>
          <p:nvPr/>
        </p:nvSpPr>
        <p:spPr>
          <a:xfrm>
            <a:off x="731520" y="4343400"/>
            <a:ext cx="3565080" cy="457200"/>
          </a:xfrm>
          <a:prstGeom prst="rect">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343400"/>
            <a:ext cx="3565080" cy="457200"/>
          </a:xfrm>
          <a:prstGeom prst="rect">
            <a:avLst/>
          </a:prstGeom>
          <a:noFill/>
        </p:spPr>
        <p:txBody>
          <a:bodyPr wrap="square" lIns="0" rIns="0" tIns="0" bIns="0" anchor="ctr">
            <a:spAutoFit/>
          </a:bodyPr>
          <a:lstStyle/>
          <a:p>
            <a:pPr algn="ctr"/>
            <a:r>
              <a:rPr sz="1200" b="1">
                <a:solidFill>
                  <a:srgbClr val="141B4D"/>
                </a:solidFill>
                <a:latin typeface="Calibri"/>
              </a:rPr>
              <a:t>MILESTONE 3 · RAG PIPELINE &amp; RETRIEVAL</a:t>
            </a:r>
          </a:p>
        </p:txBody>
      </p:sp>
      <p:sp>
        <p:nvSpPr>
          <p:cNvPr id="10" name="TextBox 9"/>
          <p:cNvSpPr txBox="1"/>
          <p:nvPr/>
        </p:nvSpPr>
        <p:spPr>
          <a:xfrm>
            <a:off x="731520" y="5257800"/>
            <a:ext cx="3657600" cy="320040"/>
          </a:xfrm>
          <a:prstGeom prst="rect">
            <a:avLst/>
          </a:prstGeom>
          <a:noFill/>
        </p:spPr>
        <p:txBody>
          <a:bodyPr wrap="square" lIns="0" rIns="0" tIns="0" bIns="0" anchor="t">
            <a:spAutoFit/>
          </a:bodyPr>
          <a:lstStyle/>
          <a:p>
            <a:r>
              <a:rPr sz="1400" b="1">
                <a:solidFill>
                  <a:srgbClr val="FFFFFF"/>
                </a:solidFill>
                <a:latin typeface="Calibri"/>
              </a:rPr>
              <a:t>Team 06</a:t>
            </a:r>
          </a:p>
        </p:txBody>
      </p:sp>
      <p:sp>
        <p:nvSpPr>
          <p:cNvPr id="11" name="TextBox 10"/>
          <p:cNvSpPr txBox="1"/>
          <p:nvPr/>
        </p:nvSpPr>
        <p:spPr>
          <a:xfrm>
            <a:off x="731520" y="5559552"/>
            <a:ext cx="5943600" cy="1097280"/>
          </a:xfrm>
          <a:prstGeom prst="rect">
            <a:avLst/>
          </a:prstGeom>
          <a:noFill/>
        </p:spPr>
        <p:txBody>
          <a:bodyPr wrap="square" lIns="0" rIns="0" tIns="0" bIns="0" anchor="t">
            <a:spAutoFit/>
          </a:bodyPr>
          <a:lstStyle/>
          <a:p>
            <a:r>
              <a:rPr sz="1150" b="0">
                <a:solidFill>
                  <a:srgbClr val="CADCFC"/>
                </a:solidFill>
                <a:latin typeface="Calibri"/>
              </a:rPr>
              <a:t>Akbar Ali — 23f1002997</a:t>
            </a:r>
          </a:p>
          <a:p>
            <a:r>
              <a:rPr sz="1150" b="0">
                <a:solidFill>
                  <a:srgbClr val="CADCFC"/>
                </a:solidFill>
                <a:latin typeface="Calibri"/>
              </a:rPr>
              <a:t>Gurram Sai Sri Ram Hruthik — 22f3001648</a:t>
            </a:r>
          </a:p>
          <a:p>
            <a:r>
              <a:rPr sz="1150" b="0">
                <a:solidFill>
                  <a:srgbClr val="CADCFC"/>
                </a:solidFill>
                <a:latin typeface="Calibri"/>
              </a:rPr>
              <a:t>NandanReddy Parnapalli — 22f3002857</a:t>
            </a:r>
          </a:p>
          <a:p>
            <a:r>
              <a:rPr sz="1150" b="0">
                <a:solidFill>
                  <a:srgbClr val="CADCFC"/>
                </a:solidFill>
                <a:latin typeface="Calibri"/>
              </a:rPr>
              <a:t>Shubham Gattani — 21f3002082</a:t>
            </a:r>
          </a:p>
          <a:p>
            <a:r>
              <a:rPr sz="1150" b="0">
                <a:solidFill>
                  <a:srgbClr val="CADCFC"/>
                </a:solidFill>
                <a:latin typeface="Calibri"/>
              </a:rPr>
              <a:t>Shubhashish Biswas — 21f1001460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MILESTONE 3 WALKTHROUGH</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What We'll Cover</a:t>
            </a:r>
          </a:p>
        </p:txBody>
      </p:sp>
      <p:sp>
        <p:nvSpPr>
          <p:cNvPr id="4" name="Rectangle 3"/>
          <p:cNvSpPr/>
          <p:nvPr/>
        </p:nvSpPr>
        <p:spPr>
          <a:xfrm>
            <a:off x="548640" y="1874520"/>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2020824"/>
            <a:ext cx="914400" cy="548640"/>
          </a:xfrm>
          <a:prstGeom prst="rect">
            <a:avLst/>
          </a:prstGeom>
          <a:noFill/>
        </p:spPr>
        <p:txBody>
          <a:bodyPr wrap="square" lIns="0" rIns="0" tIns="0" bIns="0" anchor="t">
            <a:spAutoFit/>
          </a:bodyPr>
          <a:lstStyle/>
          <a:p>
            <a:r>
              <a:rPr sz="2600" b="1">
                <a:solidFill>
                  <a:srgbClr val="E8B84B"/>
                </a:solidFill>
                <a:latin typeface="Cambria"/>
              </a:rPr>
              <a:t>01</a:t>
            </a:r>
          </a:p>
        </p:txBody>
      </p:sp>
      <p:sp>
        <p:nvSpPr>
          <p:cNvPr id="6" name="TextBox 5"/>
          <p:cNvSpPr txBox="1"/>
          <p:nvPr/>
        </p:nvSpPr>
        <p:spPr>
          <a:xfrm>
            <a:off x="713232" y="2496312"/>
            <a:ext cx="3282696" cy="365760"/>
          </a:xfrm>
          <a:prstGeom prst="rect">
            <a:avLst/>
          </a:prstGeom>
          <a:noFill/>
        </p:spPr>
        <p:txBody>
          <a:bodyPr wrap="square" lIns="0" rIns="0" tIns="0" bIns="0" anchor="t">
            <a:spAutoFit/>
          </a:bodyPr>
          <a:lstStyle/>
          <a:p>
            <a:r>
              <a:rPr sz="1450" b="1">
                <a:solidFill>
                  <a:srgbClr val="1E2761"/>
                </a:solidFill>
                <a:latin typeface="Cambria"/>
              </a:rPr>
              <a:t>Dataset Organization</a:t>
            </a:r>
          </a:p>
        </p:txBody>
      </p:sp>
      <p:sp>
        <p:nvSpPr>
          <p:cNvPr id="7" name="TextBox 6"/>
          <p:cNvSpPr txBox="1"/>
          <p:nvPr/>
        </p:nvSpPr>
        <p:spPr>
          <a:xfrm>
            <a:off x="713232" y="2834640"/>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Raw vs. processed layout, no train/val/test split</a:t>
            </a:r>
          </a:p>
        </p:txBody>
      </p:sp>
      <p:sp>
        <p:nvSpPr>
          <p:cNvPr id="8" name="Rectangle 7"/>
          <p:cNvSpPr/>
          <p:nvPr/>
        </p:nvSpPr>
        <p:spPr>
          <a:xfrm>
            <a:off x="4323816" y="1874520"/>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8408" y="2020824"/>
            <a:ext cx="914400" cy="548640"/>
          </a:xfrm>
          <a:prstGeom prst="rect">
            <a:avLst/>
          </a:prstGeom>
          <a:noFill/>
        </p:spPr>
        <p:txBody>
          <a:bodyPr wrap="square" lIns="0" rIns="0" tIns="0" bIns="0" anchor="t">
            <a:spAutoFit/>
          </a:bodyPr>
          <a:lstStyle/>
          <a:p>
            <a:r>
              <a:rPr sz="2600" b="1">
                <a:solidFill>
                  <a:srgbClr val="E8B84B"/>
                </a:solidFill>
                <a:latin typeface="Cambria"/>
              </a:rPr>
              <a:t>02</a:t>
            </a:r>
          </a:p>
        </p:txBody>
      </p:sp>
      <p:sp>
        <p:nvSpPr>
          <p:cNvPr id="10" name="TextBox 9"/>
          <p:cNvSpPr txBox="1"/>
          <p:nvPr/>
        </p:nvSpPr>
        <p:spPr>
          <a:xfrm>
            <a:off x="4488408" y="2496312"/>
            <a:ext cx="3282696" cy="365760"/>
          </a:xfrm>
          <a:prstGeom prst="rect">
            <a:avLst/>
          </a:prstGeom>
          <a:noFill/>
        </p:spPr>
        <p:txBody>
          <a:bodyPr wrap="square" lIns="0" rIns="0" tIns="0" bIns="0" anchor="t">
            <a:spAutoFit/>
          </a:bodyPr>
          <a:lstStyle/>
          <a:p>
            <a:r>
              <a:rPr sz="1450" b="1">
                <a:solidFill>
                  <a:srgbClr val="1E2761"/>
                </a:solidFill>
                <a:latin typeface="Cambria"/>
              </a:rPr>
              <a:t>Preprocessing Pipeline</a:t>
            </a:r>
          </a:p>
        </p:txBody>
      </p:sp>
      <p:sp>
        <p:nvSpPr>
          <p:cNvPr id="11" name="TextBox 10"/>
          <p:cNvSpPr txBox="1"/>
          <p:nvPr/>
        </p:nvSpPr>
        <p:spPr>
          <a:xfrm>
            <a:off x="4488408" y="2834640"/>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Convert → filter → extract → section → embed</a:t>
            </a:r>
          </a:p>
        </p:txBody>
      </p:sp>
      <p:sp>
        <p:nvSpPr>
          <p:cNvPr id="12" name="Rectangle 11"/>
          <p:cNvSpPr/>
          <p:nvPr/>
        </p:nvSpPr>
        <p:spPr>
          <a:xfrm>
            <a:off x="8098992" y="1874520"/>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3584" y="2020824"/>
            <a:ext cx="914400" cy="548640"/>
          </a:xfrm>
          <a:prstGeom prst="rect">
            <a:avLst/>
          </a:prstGeom>
          <a:noFill/>
        </p:spPr>
        <p:txBody>
          <a:bodyPr wrap="square" lIns="0" rIns="0" tIns="0" bIns="0" anchor="t">
            <a:spAutoFit/>
          </a:bodyPr>
          <a:lstStyle/>
          <a:p>
            <a:r>
              <a:rPr sz="2600" b="1">
                <a:solidFill>
                  <a:srgbClr val="E8B84B"/>
                </a:solidFill>
                <a:latin typeface="Cambria"/>
              </a:rPr>
              <a:t>03</a:t>
            </a:r>
          </a:p>
        </p:txBody>
      </p:sp>
      <p:sp>
        <p:nvSpPr>
          <p:cNvPr id="14" name="TextBox 13"/>
          <p:cNvSpPr txBox="1"/>
          <p:nvPr/>
        </p:nvSpPr>
        <p:spPr>
          <a:xfrm>
            <a:off x="8263584" y="2496312"/>
            <a:ext cx="3282696" cy="365760"/>
          </a:xfrm>
          <a:prstGeom prst="rect">
            <a:avLst/>
          </a:prstGeom>
          <a:noFill/>
        </p:spPr>
        <p:txBody>
          <a:bodyPr wrap="square" lIns="0" rIns="0" tIns="0" bIns="0" anchor="t">
            <a:spAutoFit/>
          </a:bodyPr>
          <a:lstStyle/>
          <a:p>
            <a:r>
              <a:rPr sz="1450" b="1">
                <a:solidFill>
                  <a:srgbClr val="1E2761"/>
                </a:solidFill>
                <a:latin typeface="Cambria"/>
              </a:rPr>
              <a:t>RAG System Architecture</a:t>
            </a:r>
          </a:p>
        </p:txBody>
      </p:sp>
      <p:sp>
        <p:nvSpPr>
          <p:cNvPr id="15" name="TextBox 14"/>
          <p:cNvSpPr txBox="1"/>
          <p:nvPr/>
        </p:nvSpPr>
        <p:spPr>
          <a:xfrm>
            <a:off x="8263584" y="2834640"/>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Offline ingestion path meets online query path</a:t>
            </a:r>
          </a:p>
        </p:txBody>
      </p:sp>
      <p:sp>
        <p:nvSpPr>
          <p:cNvPr id="16" name="Rectangle 15"/>
          <p:cNvSpPr/>
          <p:nvPr/>
        </p:nvSpPr>
        <p:spPr>
          <a:xfrm>
            <a:off x="548640" y="3455136"/>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601440"/>
            <a:ext cx="914400" cy="548640"/>
          </a:xfrm>
          <a:prstGeom prst="rect">
            <a:avLst/>
          </a:prstGeom>
          <a:noFill/>
        </p:spPr>
        <p:txBody>
          <a:bodyPr wrap="square" lIns="0" rIns="0" tIns="0" bIns="0" anchor="t">
            <a:spAutoFit/>
          </a:bodyPr>
          <a:lstStyle/>
          <a:p>
            <a:r>
              <a:rPr sz="2600" b="1">
                <a:solidFill>
                  <a:srgbClr val="E8B84B"/>
                </a:solidFill>
                <a:latin typeface="Cambria"/>
              </a:rPr>
              <a:t>04</a:t>
            </a:r>
          </a:p>
        </p:txBody>
      </p:sp>
      <p:sp>
        <p:nvSpPr>
          <p:cNvPr id="18" name="TextBox 17"/>
          <p:cNvSpPr txBox="1"/>
          <p:nvPr/>
        </p:nvSpPr>
        <p:spPr>
          <a:xfrm>
            <a:off x="713232" y="4076928"/>
            <a:ext cx="3282696" cy="365760"/>
          </a:xfrm>
          <a:prstGeom prst="rect">
            <a:avLst/>
          </a:prstGeom>
          <a:noFill/>
        </p:spPr>
        <p:txBody>
          <a:bodyPr wrap="square" lIns="0" rIns="0" tIns="0" bIns="0" anchor="t">
            <a:spAutoFit/>
          </a:bodyPr>
          <a:lstStyle/>
          <a:p>
            <a:r>
              <a:rPr sz="1450" b="1">
                <a:solidFill>
                  <a:srgbClr val="1E2761"/>
                </a:solidFill>
                <a:latin typeface="Cambria"/>
              </a:rPr>
              <a:t>Matching Data to Model Input</a:t>
            </a:r>
          </a:p>
        </p:txBody>
      </p:sp>
      <p:sp>
        <p:nvSpPr>
          <p:cNvPr id="19" name="TextBox 18"/>
          <p:cNvSpPr txBox="1"/>
          <p:nvPr/>
        </p:nvSpPr>
        <p:spPr>
          <a:xfrm>
            <a:off x="713232" y="4415256"/>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Embedding, vector schema, generation prompt</a:t>
            </a:r>
          </a:p>
        </p:txBody>
      </p:sp>
      <p:sp>
        <p:nvSpPr>
          <p:cNvPr id="20" name="Rectangle 19"/>
          <p:cNvSpPr/>
          <p:nvPr/>
        </p:nvSpPr>
        <p:spPr>
          <a:xfrm>
            <a:off x="4323816" y="3455136"/>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8408" y="3601440"/>
            <a:ext cx="914400" cy="548640"/>
          </a:xfrm>
          <a:prstGeom prst="rect">
            <a:avLst/>
          </a:prstGeom>
          <a:noFill/>
        </p:spPr>
        <p:txBody>
          <a:bodyPr wrap="square" lIns="0" rIns="0" tIns="0" bIns="0" anchor="t">
            <a:spAutoFit/>
          </a:bodyPr>
          <a:lstStyle/>
          <a:p>
            <a:r>
              <a:rPr sz="2600" b="1">
                <a:solidFill>
                  <a:srgbClr val="E8B84B"/>
                </a:solidFill>
                <a:latin typeface="Cambria"/>
              </a:rPr>
              <a:t>05</a:t>
            </a:r>
          </a:p>
        </p:txBody>
      </p:sp>
      <p:sp>
        <p:nvSpPr>
          <p:cNvPr id="22" name="TextBox 21"/>
          <p:cNvSpPr txBox="1"/>
          <p:nvPr/>
        </p:nvSpPr>
        <p:spPr>
          <a:xfrm>
            <a:off x="4488408" y="4076928"/>
            <a:ext cx="3282696" cy="365760"/>
          </a:xfrm>
          <a:prstGeom prst="rect">
            <a:avLst/>
          </a:prstGeom>
          <a:noFill/>
        </p:spPr>
        <p:txBody>
          <a:bodyPr wrap="square" lIns="0" rIns="0" tIns="0" bIns="0" anchor="t">
            <a:spAutoFit/>
          </a:bodyPr>
          <a:lstStyle/>
          <a:p>
            <a:r>
              <a:rPr sz="1450" b="1">
                <a:solidFill>
                  <a:srgbClr val="1E2761"/>
                </a:solidFill>
                <a:latin typeface="Cambria"/>
              </a:rPr>
              <a:t>Why This Architecture</a:t>
            </a:r>
          </a:p>
        </p:txBody>
      </p:sp>
      <p:sp>
        <p:nvSpPr>
          <p:cNvPr id="23" name="TextBox 22"/>
          <p:cNvSpPr txBox="1"/>
          <p:nvPr/>
        </p:nvSpPr>
        <p:spPr>
          <a:xfrm>
            <a:off x="4488408" y="4415256"/>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Design decisions, alternatives, known limitations</a:t>
            </a:r>
          </a:p>
        </p:txBody>
      </p:sp>
      <p:sp>
        <p:nvSpPr>
          <p:cNvPr id="24" name="Rectangle 23"/>
          <p:cNvSpPr/>
          <p:nvPr/>
        </p:nvSpPr>
        <p:spPr>
          <a:xfrm>
            <a:off x="8098992" y="3455136"/>
            <a:ext cx="3611880"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3584" y="3601440"/>
            <a:ext cx="914400" cy="548640"/>
          </a:xfrm>
          <a:prstGeom prst="rect">
            <a:avLst/>
          </a:prstGeom>
          <a:noFill/>
        </p:spPr>
        <p:txBody>
          <a:bodyPr wrap="square" lIns="0" rIns="0" tIns="0" bIns="0" anchor="t">
            <a:spAutoFit/>
          </a:bodyPr>
          <a:lstStyle/>
          <a:p>
            <a:r>
              <a:rPr sz="2600" b="1">
                <a:solidFill>
                  <a:srgbClr val="E8B84B"/>
                </a:solidFill>
                <a:latin typeface="Cambria"/>
              </a:rPr>
              <a:t>06</a:t>
            </a:r>
          </a:p>
        </p:txBody>
      </p:sp>
      <p:sp>
        <p:nvSpPr>
          <p:cNvPr id="26" name="TextBox 25"/>
          <p:cNvSpPr txBox="1"/>
          <p:nvPr/>
        </p:nvSpPr>
        <p:spPr>
          <a:xfrm>
            <a:off x="8263584" y="4076928"/>
            <a:ext cx="3282696" cy="365760"/>
          </a:xfrm>
          <a:prstGeom prst="rect">
            <a:avLst/>
          </a:prstGeom>
          <a:noFill/>
        </p:spPr>
        <p:txBody>
          <a:bodyPr wrap="square" lIns="0" rIns="0" tIns="0" bIns="0" anchor="t">
            <a:spAutoFit/>
          </a:bodyPr>
          <a:lstStyle/>
          <a:p>
            <a:r>
              <a:rPr sz="1450" b="1">
                <a:solidFill>
                  <a:srgbClr val="1E2761"/>
                </a:solidFill>
                <a:latin typeface="Cambria"/>
              </a:rPr>
              <a:t>Small-Scale Verification</a:t>
            </a:r>
          </a:p>
        </p:txBody>
      </p:sp>
      <p:sp>
        <p:nvSpPr>
          <p:cNvPr id="27" name="TextBox 26"/>
          <p:cNvSpPr txBox="1"/>
          <p:nvPr/>
        </p:nvSpPr>
        <p:spPr>
          <a:xfrm>
            <a:off x="8263584" y="4415256"/>
            <a:ext cx="3282696" cy="41148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10-document pipeline run, query to grounded answer</a:t>
            </a:r>
          </a:p>
        </p:txBody>
      </p:sp>
      <p:sp>
        <p:nvSpPr>
          <p:cNvPr id="28" name="TextBox 27"/>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9" name="TextBox 28"/>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1 · DATASET ORGANIZATION</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Raw → Processed, Traceable per Source</a:t>
            </a:r>
          </a:p>
        </p:txBody>
      </p:sp>
      <p:sp>
        <p:nvSpPr>
          <p:cNvPr id="4" name="TextBox 3"/>
          <p:cNvSpPr txBox="1"/>
          <p:nvPr/>
        </p:nvSpPr>
        <p:spPr>
          <a:xfrm>
            <a:off x="685800" y="1554480"/>
            <a:ext cx="2926080" cy="256032"/>
          </a:xfrm>
          <a:prstGeom prst="rect">
            <a:avLst/>
          </a:prstGeom>
          <a:noFill/>
        </p:spPr>
        <p:txBody>
          <a:bodyPr wrap="square" lIns="0" rIns="0" tIns="0" bIns="0" anchor="t">
            <a:spAutoFit/>
          </a:bodyPr>
          <a:lstStyle/>
          <a:p>
            <a:r>
              <a:rPr sz="1000" b="1">
                <a:solidFill>
                  <a:srgbClr val="5B6B94"/>
                </a:solidFill>
                <a:latin typeface="Calibri"/>
              </a:rPr>
              <a:t>SOURCE</a:t>
            </a:r>
          </a:p>
        </p:txBody>
      </p:sp>
      <p:sp>
        <p:nvSpPr>
          <p:cNvPr id="5" name="TextBox 4"/>
          <p:cNvSpPr txBox="1"/>
          <p:nvPr/>
        </p:nvSpPr>
        <p:spPr>
          <a:xfrm>
            <a:off x="3611880" y="1554480"/>
            <a:ext cx="3931920" cy="256032"/>
          </a:xfrm>
          <a:prstGeom prst="rect">
            <a:avLst/>
          </a:prstGeom>
          <a:noFill/>
        </p:spPr>
        <p:txBody>
          <a:bodyPr wrap="square" lIns="0" rIns="0" tIns="0" bIns="0" anchor="t">
            <a:spAutoFit/>
          </a:bodyPr>
          <a:lstStyle/>
          <a:p>
            <a:r>
              <a:rPr sz="1000" b="1">
                <a:solidFill>
                  <a:srgbClr val="5B6B94"/>
                </a:solidFill>
                <a:latin typeface="Calibri"/>
              </a:rPr>
              <a:t>RAW INPUT</a:t>
            </a:r>
          </a:p>
        </p:txBody>
      </p:sp>
      <p:sp>
        <p:nvSpPr>
          <p:cNvPr id="6" name="TextBox 5"/>
          <p:cNvSpPr txBox="1"/>
          <p:nvPr/>
        </p:nvSpPr>
        <p:spPr>
          <a:xfrm>
            <a:off x="7543800" y="1554480"/>
            <a:ext cx="4206240" cy="256032"/>
          </a:xfrm>
          <a:prstGeom prst="rect">
            <a:avLst/>
          </a:prstGeom>
          <a:noFill/>
        </p:spPr>
        <p:txBody>
          <a:bodyPr wrap="square" lIns="0" rIns="0" tIns="0" bIns="0" anchor="t">
            <a:spAutoFit/>
          </a:bodyPr>
          <a:lstStyle/>
          <a:p>
            <a:r>
              <a:rPr sz="1000" b="1">
                <a:solidFill>
                  <a:srgbClr val="5B6B94"/>
                </a:solidFill>
                <a:latin typeface="Calibri"/>
              </a:rPr>
              <a:t>PROCESSED (RETRIEVAL-READY) OUTPUT</a:t>
            </a:r>
          </a:p>
        </p:txBody>
      </p:sp>
      <p:sp>
        <p:nvSpPr>
          <p:cNvPr id="7" name="Rectangle 6"/>
          <p:cNvSpPr/>
          <p:nvPr/>
        </p:nvSpPr>
        <p:spPr>
          <a:xfrm>
            <a:off x="548640" y="188366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56816"/>
            <a:ext cx="11064240" cy="5486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5681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NSE filings (≤ 10 pages)</a:t>
            </a:r>
          </a:p>
        </p:txBody>
      </p:sp>
      <p:sp>
        <p:nvSpPr>
          <p:cNvPr id="10" name="TextBox 9"/>
          <p:cNvSpPr txBox="1"/>
          <p:nvPr/>
        </p:nvSpPr>
        <p:spPr>
          <a:xfrm>
            <a:off x="3611880" y="195681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data/nse_files_final/categorisation_by_pages/equal_or_less_than_10_pages</a:t>
            </a:r>
          </a:p>
        </p:txBody>
      </p:sp>
      <p:sp>
        <p:nvSpPr>
          <p:cNvPr id="11" name="TextBox 10"/>
          <p:cNvSpPr txBox="1"/>
          <p:nvPr/>
        </p:nvSpPr>
        <p:spPr>
          <a:xfrm>
            <a:off x="7543800" y="195681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data/nse_files_final/whole_document_cleaning/equal_or_less_than_10_pages</a:t>
            </a:r>
          </a:p>
        </p:txBody>
      </p:sp>
      <p:sp>
        <p:nvSpPr>
          <p:cNvPr id="12" name="TextBox 11"/>
          <p:cNvSpPr txBox="1"/>
          <p:nvPr/>
        </p:nvSpPr>
        <p:spPr>
          <a:xfrm>
            <a:off x="685800" y="250545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NSE filings (&gt; 10 pages)</a:t>
            </a:r>
          </a:p>
        </p:txBody>
      </p:sp>
      <p:sp>
        <p:nvSpPr>
          <p:cNvPr id="13" name="TextBox 12"/>
          <p:cNvSpPr txBox="1"/>
          <p:nvPr/>
        </p:nvSpPr>
        <p:spPr>
          <a:xfrm>
            <a:off x="3611880" y="250545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data/nse_files_final/categorisation_by_pages/more_than_10_pages</a:t>
            </a:r>
          </a:p>
        </p:txBody>
      </p:sp>
      <p:sp>
        <p:nvSpPr>
          <p:cNvPr id="14" name="TextBox 13"/>
          <p:cNvSpPr txBox="1"/>
          <p:nvPr/>
        </p:nvSpPr>
        <p:spPr>
          <a:xfrm>
            <a:off x="7543800" y="250545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data/nse_files_final/knowledge_extraction/.../cleaned_section_files</a:t>
            </a:r>
          </a:p>
        </p:txBody>
      </p:sp>
      <p:sp>
        <p:nvSpPr>
          <p:cNvPr id="15" name="Rectangle 14"/>
          <p:cNvSpPr/>
          <p:nvPr/>
        </p:nvSpPr>
        <p:spPr>
          <a:xfrm>
            <a:off x="548640" y="3054096"/>
            <a:ext cx="11064240" cy="5486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5409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Infosys IR documents</a:t>
            </a:r>
          </a:p>
        </p:txBody>
      </p:sp>
      <p:sp>
        <p:nvSpPr>
          <p:cNvPr id="17" name="TextBox 16"/>
          <p:cNvSpPr txBox="1"/>
          <p:nvPr/>
        </p:nvSpPr>
        <p:spPr>
          <a:xfrm>
            <a:off x="3611880" y="305409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data/infosys_earning_calls_press_conf_fact_sheets_results</a:t>
            </a:r>
          </a:p>
        </p:txBody>
      </p:sp>
      <p:sp>
        <p:nvSpPr>
          <p:cNvPr id="18" name="TextBox 17"/>
          <p:cNvSpPr txBox="1"/>
          <p:nvPr/>
        </p:nvSpPr>
        <p:spPr>
          <a:xfrm>
            <a:off x="7543800" y="305409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.../infosys_ir_earning_calls_clean_markdowns</a:t>
            </a:r>
          </a:p>
        </p:txBody>
      </p:sp>
      <p:sp>
        <p:nvSpPr>
          <p:cNvPr id="19" name="TextBox 18"/>
          <p:cNvSpPr txBox="1"/>
          <p:nvPr/>
        </p:nvSpPr>
        <p:spPr>
          <a:xfrm>
            <a:off x="685800" y="360273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Yahoo Finance articles</a:t>
            </a:r>
          </a:p>
        </p:txBody>
      </p:sp>
      <p:sp>
        <p:nvSpPr>
          <p:cNvPr id="20" name="TextBox 19"/>
          <p:cNvSpPr txBox="1"/>
          <p:nvPr/>
        </p:nvSpPr>
        <p:spPr>
          <a:xfrm>
            <a:off x="3611880" y="360273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data/yfinance/pdfs</a:t>
            </a:r>
          </a:p>
        </p:txBody>
      </p:sp>
      <p:sp>
        <p:nvSpPr>
          <p:cNvPr id="21" name="TextBox 20"/>
          <p:cNvSpPr txBox="1"/>
          <p:nvPr/>
        </p:nvSpPr>
        <p:spPr>
          <a:xfrm>
            <a:off x="7543800" y="360273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data/yfinance/clean-mds</a:t>
            </a:r>
          </a:p>
        </p:txBody>
      </p:sp>
      <p:sp>
        <p:nvSpPr>
          <p:cNvPr id="22" name="Rectangle 21"/>
          <p:cNvSpPr/>
          <p:nvPr/>
        </p:nvSpPr>
        <p:spPr>
          <a:xfrm>
            <a:off x="548640" y="4151376"/>
            <a:ext cx="11064240" cy="5486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5137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Trendlyne broker reports</a:t>
            </a:r>
          </a:p>
        </p:txBody>
      </p:sp>
      <p:sp>
        <p:nvSpPr>
          <p:cNvPr id="24" name="TextBox 23"/>
          <p:cNvSpPr txBox="1"/>
          <p:nvPr/>
        </p:nvSpPr>
        <p:spPr>
          <a:xfrm>
            <a:off x="3611880" y="415137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data/trendlyne/pdfs</a:t>
            </a:r>
          </a:p>
        </p:txBody>
      </p:sp>
      <p:sp>
        <p:nvSpPr>
          <p:cNvPr id="25" name="TextBox 24"/>
          <p:cNvSpPr txBox="1"/>
          <p:nvPr/>
        </p:nvSpPr>
        <p:spPr>
          <a:xfrm>
            <a:off x="7543800" y="415137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data/trendlyne/clean-mds</a:t>
            </a:r>
          </a:p>
        </p:txBody>
      </p:sp>
      <p:sp>
        <p:nvSpPr>
          <p:cNvPr id="26" name="TextBox 25"/>
          <p:cNvSpPr txBox="1"/>
          <p:nvPr/>
        </p:nvSpPr>
        <p:spPr>
          <a:xfrm>
            <a:off x="685800" y="4700016"/>
            <a:ext cx="2834640" cy="54864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Demo verification subset</a:t>
            </a:r>
          </a:p>
        </p:txBody>
      </p:sp>
      <p:sp>
        <p:nvSpPr>
          <p:cNvPr id="27" name="TextBox 26"/>
          <p:cNvSpPr txBox="1"/>
          <p:nvPr/>
        </p:nvSpPr>
        <p:spPr>
          <a:xfrm>
            <a:off x="3611880" y="4700016"/>
            <a:ext cx="3840480" cy="54864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data/demo-bot-data</a:t>
            </a:r>
          </a:p>
        </p:txBody>
      </p:sp>
      <p:sp>
        <p:nvSpPr>
          <p:cNvPr id="28" name="TextBox 27"/>
          <p:cNvSpPr txBox="1"/>
          <p:nvPr/>
        </p:nvSpPr>
        <p:spPr>
          <a:xfrm>
            <a:off x="7543800" y="4700016"/>
            <a:ext cx="4114800" cy="548640"/>
          </a:xfrm>
          <a:prstGeom prst="rect">
            <a:avLst/>
          </a:prstGeom>
          <a:noFill/>
        </p:spPr>
        <p:txBody>
          <a:bodyPr wrap="square" lIns="0" rIns="0" tIns="0" bIns="0" anchor="ctr">
            <a:spAutoFit/>
          </a:bodyPr>
          <a:lstStyle/>
          <a:p>
            <a:pPr>
              <a:lnSpc>
                <a:spcPct val="100000"/>
              </a:lnSpc>
            </a:pPr>
            <a:r>
              <a:rPr sz="950" b="0">
                <a:solidFill>
                  <a:srgbClr val="5B6B94"/>
                </a:solidFill>
                <a:latin typeface="Courier New"/>
              </a:rPr>
              <a:t>data/demo-bot-output</a:t>
            </a:r>
          </a:p>
        </p:txBody>
      </p:sp>
      <p:sp>
        <p:nvSpPr>
          <p:cNvPr id="29" name="TextBox 28"/>
          <p:cNvSpPr txBox="1"/>
          <p:nvPr/>
        </p:nvSpPr>
        <p:spPr>
          <a:xfrm>
            <a:off x="548640" y="5852160"/>
            <a:ext cx="11064240" cy="548640"/>
          </a:xfrm>
          <a:prstGeom prst="rect">
            <a:avLst/>
          </a:prstGeom>
          <a:noFill/>
        </p:spPr>
        <p:txBody>
          <a:bodyPr wrap="square" lIns="0" rIns="0" tIns="0" bIns="0" anchor="t">
            <a:spAutoFit/>
          </a:bodyPr>
          <a:lstStyle/>
          <a:p>
            <a:pPr>
              <a:lnSpc>
                <a:spcPct val="115000"/>
              </a:lnSpc>
            </a:pPr>
            <a:r>
              <a:rPr sz="1100" b="0">
                <a:solidFill>
                  <a:srgbClr val="5B6B94"/>
                </a:solidFill>
                <a:latin typeface="Calibri"/>
              </a:rPr>
              <a:t>Every processed file keeps a name traceable to its source PDF, so any chunk retrieved at query time can always be mapped back to the raw document it came from.</a:t>
            </a:r>
          </a:p>
        </p:txBody>
      </p:sp>
      <p:sp>
        <p:nvSpPr>
          <p:cNvPr id="30" name="TextBox 29"/>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31" name="TextBox 30"/>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1 · DATASET ORGANIZATION</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No Train / Validation / Test Split — By Design</a:t>
            </a:r>
          </a:p>
        </p:txBody>
      </p:sp>
      <p:sp>
        <p:nvSpPr>
          <p:cNvPr id="4" name="TextBox 3"/>
          <p:cNvSpPr txBox="1"/>
          <p:nvPr/>
        </p:nvSpPr>
        <p:spPr>
          <a:xfrm>
            <a:off x="548640" y="1417320"/>
            <a:ext cx="11064240" cy="365760"/>
          </a:xfrm>
          <a:prstGeom prst="rect">
            <a:avLst/>
          </a:prstGeom>
          <a:noFill/>
        </p:spPr>
        <p:txBody>
          <a:bodyPr wrap="square" lIns="0" rIns="0" tIns="0" bIns="0" anchor="t">
            <a:spAutoFit/>
          </a:bodyPr>
          <a:lstStyle/>
          <a:p>
            <a:pPr>
              <a:lnSpc>
                <a:spcPct val="110000"/>
              </a:lnSpc>
            </a:pPr>
            <a:r>
              <a:rPr sz="1250" b="1">
                <a:solidFill>
                  <a:srgbClr val="1B2140"/>
                </a:solidFill>
                <a:latin typeface="Calibri"/>
              </a:rPr>
              <a:t>This is a Retrieval-Augmented Generation system, not a supervised model trained on labelled examples — so a conventional split does not apply. This is intentional, not overlooked:</a:t>
            </a:r>
          </a:p>
        </p:txBody>
      </p:sp>
      <p:sp>
        <p:nvSpPr>
          <p:cNvPr id="5" name="Rectangle 4"/>
          <p:cNvSpPr/>
          <p:nvPr/>
        </p:nvSpPr>
        <p:spPr>
          <a:xfrm>
            <a:off x="499644"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64236"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4236"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AI</a:t>
            </a:r>
          </a:p>
        </p:txBody>
      </p:sp>
      <p:sp>
        <p:nvSpPr>
          <p:cNvPr id="8" name="TextBox 7"/>
          <p:cNvSpPr txBox="1"/>
          <p:nvPr/>
        </p:nvSpPr>
        <p:spPr>
          <a:xfrm>
            <a:off x="664236" y="2843784"/>
            <a:ext cx="3282696" cy="320040"/>
          </a:xfrm>
          <a:prstGeom prst="rect">
            <a:avLst/>
          </a:prstGeom>
          <a:noFill/>
        </p:spPr>
        <p:txBody>
          <a:bodyPr wrap="square" lIns="0" rIns="0" tIns="0" bIns="0" anchor="t">
            <a:spAutoFit/>
          </a:bodyPr>
          <a:lstStyle/>
          <a:p>
            <a:r>
              <a:rPr sz="1500" b="1">
                <a:solidFill>
                  <a:srgbClr val="1E2761"/>
                </a:solidFill>
                <a:latin typeface="Cambria"/>
              </a:rPr>
              <a:t>Frozen Models</a:t>
            </a:r>
          </a:p>
        </p:txBody>
      </p:sp>
      <p:sp>
        <p:nvSpPr>
          <p:cNvPr id="9" name="TextBox 8"/>
          <p:cNvSpPr txBox="1"/>
          <p:nvPr/>
        </p:nvSpPr>
        <p:spPr>
          <a:xfrm>
            <a:off x="664236"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text-embedding-3-small and gpt-4o-mini are both pre-trained OpenAI models used purely at inference time — no weights in this system are fit to the corpus.</a:t>
            </a:r>
          </a:p>
        </p:txBody>
      </p:sp>
      <p:sp>
        <p:nvSpPr>
          <p:cNvPr id="10" name="Rectangle 9"/>
          <p:cNvSpPr/>
          <p:nvPr/>
        </p:nvSpPr>
        <p:spPr>
          <a:xfrm>
            <a:off x="4274820"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39412"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9412"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a:t>
            </a:r>
          </a:p>
        </p:txBody>
      </p:sp>
      <p:sp>
        <p:nvSpPr>
          <p:cNvPr id="13" name="TextBox 12"/>
          <p:cNvSpPr txBox="1"/>
          <p:nvPr/>
        </p:nvSpPr>
        <p:spPr>
          <a:xfrm>
            <a:off x="4439412" y="2843784"/>
            <a:ext cx="3282696" cy="320040"/>
          </a:xfrm>
          <a:prstGeom prst="rect">
            <a:avLst/>
          </a:prstGeom>
          <a:noFill/>
        </p:spPr>
        <p:txBody>
          <a:bodyPr wrap="square" lIns="0" rIns="0" tIns="0" bIns="0" anchor="t">
            <a:spAutoFit/>
          </a:bodyPr>
          <a:lstStyle/>
          <a:p>
            <a:r>
              <a:rPr sz="1500" b="1">
                <a:solidFill>
                  <a:srgbClr val="1E2761"/>
                </a:solidFill>
                <a:latin typeface="Cambria"/>
              </a:rPr>
              <a:t>Knowledge Base, Not Labels</a:t>
            </a:r>
          </a:p>
        </p:txBody>
      </p:sp>
      <p:sp>
        <p:nvSpPr>
          <p:cNvPr id="14" name="TextBox 13"/>
          <p:cNvSpPr txBox="1"/>
          <p:nvPr/>
        </p:nvSpPr>
        <p:spPr>
          <a:xfrm>
            <a:off x="4439412"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The corpus plays one role: a knowledge base embedded once and searched at query time, not a set of labelled examples to learn from.</a:t>
            </a:r>
          </a:p>
        </p:txBody>
      </p:sp>
      <p:sp>
        <p:nvSpPr>
          <p:cNvPr id="15" name="Rectangle 14"/>
          <p:cNvSpPr/>
          <p:nvPr/>
        </p:nvSpPr>
        <p:spPr>
          <a:xfrm>
            <a:off x="8049996"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14588"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588"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a:t>
            </a:r>
          </a:p>
        </p:txBody>
      </p:sp>
      <p:sp>
        <p:nvSpPr>
          <p:cNvPr id="18" name="TextBox 17"/>
          <p:cNvSpPr txBox="1"/>
          <p:nvPr/>
        </p:nvSpPr>
        <p:spPr>
          <a:xfrm>
            <a:off x="8214588" y="2843784"/>
            <a:ext cx="3282696" cy="320040"/>
          </a:xfrm>
          <a:prstGeom prst="rect">
            <a:avLst/>
          </a:prstGeom>
          <a:noFill/>
        </p:spPr>
        <p:txBody>
          <a:bodyPr wrap="square" lIns="0" rIns="0" tIns="0" bIns="0" anchor="t">
            <a:spAutoFit/>
          </a:bodyPr>
          <a:lstStyle/>
          <a:p>
            <a:r>
              <a:rPr sz="1500" b="1">
                <a:solidFill>
                  <a:srgbClr val="1E2761"/>
                </a:solidFill>
                <a:latin typeface="Cambria"/>
              </a:rPr>
              <a:t>No Learning to Bound</a:t>
            </a:r>
          </a:p>
        </p:txBody>
      </p:sp>
      <p:sp>
        <p:nvSpPr>
          <p:cNvPr id="19" name="TextBox 18"/>
          <p:cNvSpPr txBox="1"/>
          <p:nvPr/>
        </p:nvSpPr>
        <p:spPr>
          <a:xfrm>
            <a:off x="8214588"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Splitting a knowledge base into train/val/test partitions would not exercise any learning process — it would add bookkeeping without adding rigor.</a:t>
            </a:r>
          </a:p>
        </p:txBody>
      </p:sp>
      <p:sp>
        <p:nvSpPr>
          <p:cNvPr id="20" name="TextBox 19"/>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1" name="TextBox 20"/>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2 · PREPROCESSING PIPELINE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One Conceptual Pipeline, Four Sources</a:t>
            </a:r>
          </a:p>
        </p:txBody>
      </p:sp>
      <p:sp>
        <p:nvSpPr>
          <p:cNvPr id="4" name="TextBox 3"/>
          <p:cNvSpPr txBox="1"/>
          <p:nvPr/>
        </p:nvSpPr>
        <p:spPr>
          <a:xfrm>
            <a:off x="548640" y="1417320"/>
            <a:ext cx="11064240" cy="365760"/>
          </a:xfrm>
          <a:prstGeom prst="rect">
            <a:avLst/>
          </a:prstGeom>
          <a:noFill/>
        </p:spPr>
        <p:txBody>
          <a:bodyPr wrap="square" lIns="0" rIns="0" tIns="0" bIns="0" anchor="t">
            <a:spAutoFit/>
          </a:bodyPr>
          <a:lstStyle/>
          <a:p>
            <a:r>
              <a:rPr sz="1250" b="0">
                <a:solidFill>
                  <a:srgbClr val="5B6B94"/>
                </a:solidFill>
                <a:latin typeface="Calibri"/>
              </a:rPr>
              <a:t>Every source follows the same five stages — only the filtering step and the knowledge-extraction prompt are source-specific.</a:t>
            </a:r>
          </a:p>
        </p:txBody>
      </p:sp>
      <p:sp>
        <p:nvSpPr>
          <p:cNvPr id="5" name="Rectangle 4"/>
          <p:cNvSpPr/>
          <p:nvPr/>
        </p:nvSpPr>
        <p:spPr>
          <a:xfrm>
            <a:off x="548640" y="1965960"/>
            <a:ext cx="1847088"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93976"/>
            <a:ext cx="1627632" cy="365760"/>
          </a:xfrm>
          <a:prstGeom prst="rect">
            <a:avLst/>
          </a:prstGeom>
          <a:noFill/>
        </p:spPr>
        <p:txBody>
          <a:bodyPr wrap="square" lIns="0" rIns="0" tIns="0" bIns="0" anchor="t">
            <a:spAutoFit/>
          </a:bodyPr>
          <a:lstStyle/>
          <a:p>
            <a:r>
              <a:rPr sz="1250" b="1">
                <a:solidFill>
                  <a:srgbClr val="1E2761"/>
                </a:solidFill>
                <a:latin typeface="Cambria"/>
              </a:rPr>
              <a:t>Convert</a:t>
            </a:r>
          </a:p>
        </p:txBody>
      </p:sp>
      <p:sp>
        <p:nvSpPr>
          <p:cNvPr id="7" name="TextBox 6"/>
          <p:cNvSpPr txBox="1"/>
          <p:nvPr/>
        </p:nvSpPr>
        <p:spPr>
          <a:xfrm>
            <a:off x="658368" y="2441448"/>
            <a:ext cx="1627632" cy="868680"/>
          </a:xfrm>
          <a:prstGeom prst="rect">
            <a:avLst/>
          </a:prstGeom>
          <a:noFill/>
        </p:spPr>
        <p:txBody>
          <a:bodyPr wrap="square" lIns="0" rIns="0" tIns="0" bIns="0" anchor="t">
            <a:spAutoFit/>
          </a:bodyPr>
          <a:lstStyle/>
          <a:p>
            <a:pPr>
              <a:lnSpc>
                <a:spcPct val="105000"/>
              </a:lnSpc>
            </a:pPr>
            <a:r>
              <a:rPr sz="950" b="0">
                <a:solidFill>
                  <a:srgbClr val="1B2140"/>
                </a:solidFill>
                <a:latin typeface="Calibri"/>
              </a:rPr>
              <a:t>PDF → Markdown via Docling (deterministic, no API calls)</a:t>
            </a:r>
          </a:p>
        </p:txBody>
      </p:sp>
      <p:sp>
        <p:nvSpPr>
          <p:cNvPr id="8" name="TextBox 7"/>
          <p:cNvSpPr txBox="1"/>
          <p:nvPr/>
        </p:nvSpPr>
        <p:spPr>
          <a:xfrm>
            <a:off x="2395728" y="1965960"/>
            <a:ext cx="228600" cy="141732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9" name="Rectangle 8"/>
          <p:cNvSpPr/>
          <p:nvPr/>
        </p:nvSpPr>
        <p:spPr>
          <a:xfrm>
            <a:off x="2624328" y="1965960"/>
            <a:ext cx="1847088"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34056" y="2093976"/>
            <a:ext cx="1627632" cy="365760"/>
          </a:xfrm>
          <a:prstGeom prst="rect">
            <a:avLst/>
          </a:prstGeom>
          <a:noFill/>
        </p:spPr>
        <p:txBody>
          <a:bodyPr wrap="square" lIns="0" rIns="0" tIns="0" bIns="0" anchor="t">
            <a:spAutoFit/>
          </a:bodyPr>
          <a:lstStyle/>
          <a:p>
            <a:r>
              <a:rPr sz="1250" b="1">
                <a:solidFill>
                  <a:srgbClr val="1E2761"/>
                </a:solidFill>
                <a:latin typeface="Cambria"/>
              </a:rPr>
              <a:t>Filter / Select</a:t>
            </a:r>
          </a:p>
        </p:txBody>
      </p:sp>
      <p:sp>
        <p:nvSpPr>
          <p:cNvPr id="11" name="TextBox 10"/>
          <p:cNvSpPr txBox="1"/>
          <p:nvPr/>
        </p:nvSpPr>
        <p:spPr>
          <a:xfrm>
            <a:off x="2734056" y="2441448"/>
            <a:ext cx="1627632" cy="868680"/>
          </a:xfrm>
          <a:prstGeom prst="rect">
            <a:avLst/>
          </a:prstGeom>
          <a:noFill/>
        </p:spPr>
        <p:txBody>
          <a:bodyPr wrap="square" lIns="0" rIns="0" tIns="0" bIns="0" anchor="t">
            <a:spAutoFit/>
          </a:bodyPr>
          <a:lstStyle/>
          <a:p>
            <a:pPr>
              <a:lnSpc>
                <a:spcPct val="105000"/>
              </a:lnSpc>
            </a:pPr>
            <a:r>
              <a:rPr sz="950" b="0">
                <a:solidFill>
                  <a:srgbClr val="1B2140"/>
                </a:solidFill>
                <a:latin typeface="Calibri"/>
              </a:rPr>
              <a:t>Keep only informative filings; other sources are pre-curated</a:t>
            </a:r>
          </a:p>
        </p:txBody>
      </p:sp>
      <p:sp>
        <p:nvSpPr>
          <p:cNvPr id="12" name="TextBox 11"/>
          <p:cNvSpPr txBox="1"/>
          <p:nvPr/>
        </p:nvSpPr>
        <p:spPr>
          <a:xfrm>
            <a:off x="4471416" y="1965960"/>
            <a:ext cx="228600" cy="141732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13" name="Rectangle 12"/>
          <p:cNvSpPr/>
          <p:nvPr/>
        </p:nvSpPr>
        <p:spPr>
          <a:xfrm>
            <a:off x="4700016" y="1965960"/>
            <a:ext cx="1847088" cy="14173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9744" y="2093976"/>
            <a:ext cx="1627632" cy="365760"/>
          </a:xfrm>
          <a:prstGeom prst="rect">
            <a:avLst/>
          </a:prstGeom>
          <a:noFill/>
        </p:spPr>
        <p:txBody>
          <a:bodyPr wrap="square" lIns="0" rIns="0" tIns="0" bIns="0" anchor="t">
            <a:spAutoFit/>
          </a:bodyPr>
          <a:lstStyle/>
          <a:p>
            <a:r>
              <a:rPr sz="1250" b="1">
                <a:solidFill>
                  <a:srgbClr val="E8B84B"/>
                </a:solidFill>
                <a:latin typeface="Cambria"/>
              </a:rPr>
              <a:t>Extract</a:t>
            </a:r>
          </a:p>
        </p:txBody>
      </p:sp>
      <p:sp>
        <p:nvSpPr>
          <p:cNvPr id="15" name="TextBox 14"/>
          <p:cNvSpPr txBox="1"/>
          <p:nvPr/>
        </p:nvSpPr>
        <p:spPr>
          <a:xfrm>
            <a:off x="4809744" y="2441448"/>
            <a:ext cx="1627632" cy="868680"/>
          </a:xfrm>
          <a:prstGeom prst="rect">
            <a:avLst/>
          </a:prstGeom>
          <a:noFill/>
        </p:spPr>
        <p:txBody>
          <a:bodyPr wrap="square" lIns="0" rIns="0" tIns="0" bIns="0" anchor="t">
            <a:spAutoFit/>
          </a:bodyPr>
          <a:lstStyle/>
          <a:p>
            <a:pPr>
              <a:lnSpc>
                <a:spcPct val="105000"/>
              </a:lnSpc>
            </a:pPr>
            <a:r>
              <a:rPr sz="950" b="0">
                <a:solidFill>
                  <a:srgbClr val="FFFFFF"/>
                </a:solidFill>
                <a:latin typeface="Calibri"/>
              </a:rPr>
              <a:t>Source-specific LLM prompt → clean Markdown + YAML front matter</a:t>
            </a:r>
          </a:p>
        </p:txBody>
      </p:sp>
      <p:sp>
        <p:nvSpPr>
          <p:cNvPr id="16" name="TextBox 15"/>
          <p:cNvSpPr txBox="1"/>
          <p:nvPr/>
        </p:nvSpPr>
        <p:spPr>
          <a:xfrm>
            <a:off x="6547104" y="1965960"/>
            <a:ext cx="228600" cy="141732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17" name="Rectangle 16"/>
          <p:cNvSpPr/>
          <p:nvPr/>
        </p:nvSpPr>
        <p:spPr>
          <a:xfrm>
            <a:off x="6775704" y="1965960"/>
            <a:ext cx="1847088"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85432" y="2093976"/>
            <a:ext cx="1627632" cy="365760"/>
          </a:xfrm>
          <a:prstGeom prst="rect">
            <a:avLst/>
          </a:prstGeom>
          <a:noFill/>
        </p:spPr>
        <p:txBody>
          <a:bodyPr wrap="square" lIns="0" rIns="0" tIns="0" bIns="0" anchor="t">
            <a:spAutoFit/>
          </a:bodyPr>
          <a:lstStyle/>
          <a:p>
            <a:r>
              <a:rPr sz="1250" b="1">
                <a:solidFill>
                  <a:srgbClr val="1E2761"/>
                </a:solidFill>
                <a:latin typeface="Cambria"/>
              </a:rPr>
              <a:t>Section (if long)</a:t>
            </a:r>
          </a:p>
        </p:txBody>
      </p:sp>
      <p:sp>
        <p:nvSpPr>
          <p:cNvPr id="19" name="TextBox 18"/>
          <p:cNvSpPr txBox="1"/>
          <p:nvPr/>
        </p:nvSpPr>
        <p:spPr>
          <a:xfrm>
            <a:off x="6885432" y="2441448"/>
            <a:ext cx="1627632" cy="868680"/>
          </a:xfrm>
          <a:prstGeom prst="rect">
            <a:avLst/>
          </a:prstGeom>
          <a:noFill/>
        </p:spPr>
        <p:txBody>
          <a:bodyPr wrap="square" lIns="0" rIns="0" tIns="0" bIns="0" anchor="t">
            <a:spAutoFit/>
          </a:bodyPr>
          <a:lstStyle/>
          <a:p>
            <a:pPr>
              <a:lnSpc>
                <a:spcPct val="105000"/>
              </a:lnSpc>
            </a:pPr>
            <a:r>
              <a:rPr sz="950" b="0">
                <a:solidFill>
                  <a:srgbClr val="1B2140"/>
                </a:solidFill>
                <a:latin typeface="Calibri"/>
              </a:rPr>
              <a:t>Documents &gt; 10 pages split along heading structure first</a:t>
            </a:r>
          </a:p>
        </p:txBody>
      </p:sp>
      <p:sp>
        <p:nvSpPr>
          <p:cNvPr id="20" name="TextBox 19"/>
          <p:cNvSpPr txBox="1"/>
          <p:nvPr/>
        </p:nvSpPr>
        <p:spPr>
          <a:xfrm>
            <a:off x="8622792" y="1965960"/>
            <a:ext cx="228600" cy="141732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21" name="Rectangle 20"/>
          <p:cNvSpPr/>
          <p:nvPr/>
        </p:nvSpPr>
        <p:spPr>
          <a:xfrm>
            <a:off x="8851392" y="1965960"/>
            <a:ext cx="1847088" cy="14173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0" y="2093976"/>
            <a:ext cx="1627632" cy="365760"/>
          </a:xfrm>
          <a:prstGeom prst="rect">
            <a:avLst/>
          </a:prstGeom>
          <a:noFill/>
        </p:spPr>
        <p:txBody>
          <a:bodyPr wrap="square" lIns="0" rIns="0" tIns="0" bIns="0" anchor="t">
            <a:spAutoFit/>
          </a:bodyPr>
          <a:lstStyle/>
          <a:p>
            <a:r>
              <a:rPr sz="1250" b="1">
                <a:solidFill>
                  <a:srgbClr val="1E2761"/>
                </a:solidFill>
                <a:latin typeface="Cambria"/>
              </a:rPr>
              <a:t>Embed</a:t>
            </a:r>
          </a:p>
        </p:txBody>
      </p:sp>
      <p:sp>
        <p:nvSpPr>
          <p:cNvPr id="23" name="TextBox 22"/>
          <p:cNvSpPr txBox="1"/>
          <p:nvPr/>
        </p:nvSpPr>
        <p:spPr>
          <a:xfrm>
            <a:off x="8961120" y="2441448"/>
            <a:ext cx="1627632" cy="868680"/>
          </a:xfrm>
          <a:prstGeom prst="rect">
            <a:avLst/>
          </a:prstGeom>
          <a:noFill/>
        </p:spPr>
        <p:txBody>
          <a:bodyPr wrap="square" lIns="0" rIns="0" tIns="0" bIns="0" anchor="t">
            <a:spAutoFit/>
          </a:bodyPr>
          <a:lstStyle/>
          <a:p>
            <a:pPr>
              <a:lnSpc>
                <a:spcPct val="105000"/>
              </a:lnSpc>
            </a:pPr>
            <a:r>
              <a:rPr sz="950" b="0">
                <a:solidFill>
                  <a:srgbClr val="1B2140"/>
                </a:solidFill>
                <a:latin typeface="Calibri"/>
              </a:rPr>
              <a:t>One embedding vector per cleaned chunk, indexed in ChromaDB</a:t>
            </a:r>
          </a:p>
        </p:txBody>
      </p:sp>
      <p:sp>
        <p:nvSpPr>
          <p:cNvPr id="24" name="TextBox 23"/>
          <p:cNvSpPr txBox="1"/>
          <p:nvPr/>
        </p:nvSpPr>
        <p:spPr>
          <a:xfrm>
            <a:off x="548640" y="3792600"/>
            <a:ext cx="11064240" cy="731520"/>
          </a:xfrm>
          <a:prstGeom prst="rect">
            <a:avLst/>
          </a:prstGeom>
          <a:noFill/>
        </p:spPr>
        <p:txBody>
          <a:bodyPr wrap="square" lIns="0" rIns="0" tIns="0" bIns="0" anchor="t">
            <a:spAutoFit/>
          </a:bodyPr>
          <a:lstStyle/>
          <a:p>
            <a:pPr>
              <a:lnSpc>
                <a:spcPct val="125000"/>
              </a:lnSpc>
            </a:pPr>
            <a:r>
              <a:rPr sz="1200" b="1">
                <a:solidFill>
                  <a:srgbClr val="1E2761"/>
                </a:solidFill>
                <a:latin typeface="Calibri"/>
              </a:rPr>
              <a:t>PDF-to-Markdown Conversion (§2.1). </a:t>
            </a:r>
            <a:r>
              <a:rPr sz="1200" b="0">
                <a:solidFill>
                  <a:srgbClr val="1B2140"/>
                </a:solidFill>
                <a:latin typeface="Calibri"/>
              </a:rPr>
              <a:t>All PDFs across all four sources are first converted with </a:t>
            </a:r>
            <a:r>
              <a:rPr sz="1200" b="1">
                <a:solidFill>
                  <a:srgbClr val="1E2761"/>
                </a:solidFill>
                <a:latin typeface="Calibri"/>
              </a:rPr>
              <a:t>Docling</a:t>
            </a:r>
            <a:r>
              <a:rPr sz="1200" b="0">
                <a:solidFill>
                  <a:srgbClr val="1B2140"/>
                </a:solidFill>
                <a:latin typeface="Calibri"/>
              </a:rPr>
              <a:t>, an open-source converter chosen because it is deterministic, needs no external API calls, and produces structurally faithful Markdown (headings, tables, paragraph boundaries) — a far better starting point for LLM cleaning than raw OCR text.</a:t>
            </a:r>
          </a:p>
        </p:txBody>
      </p:sp>
      <p:sp>
        <p:nvSpPr>
          <p:cNvPr id="25" name="Rectangle 24"/>
          <p:cNvSpPr/>
          <p:nvPr/>
        </p:nvSpPr>
        <p:spPr>
          <a:xfrm>
            <a:off x="548640" y="4699536"/>
            <a:ext cx="11064240" cy="11887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4809264"/>
            <a:ext cx="10735056" cy="969264"/>
          </a:xfrm>
          <a:prstGeom prst="rect">
            <a:avLst/>
          </a:prstGeom>
          <a:noFill/>
        </p:spPr>
        <p:txBody>
          <a:bodyPr wrap="square" lIns="0" rIns="0" tIns="0" bIns="0" anchor="t">
            <a:spAutoFit/>
          </a:bodyPr>
          <a:lstStyle/>
          <a:p>
            <a:r>
              <a:rPr sz="1050" b="0">
                <a:solidFill>
                  <a:srgbClr val="CADCFC"/>
                </a:solidFill>
                <a:latin typeface="Courier New"/>
              </a:rPr>
              <a:t>NSE filings   : datapreparation/data-preprocessing/NSE_PDFs_Extraction_and_Conversion_to_MD.ipynb</a:t>
            </a:r>
          </a:p>
          <a:p>
            <a:r>
              <a:rPr sz="1050" b="0">
                <a:solidFill>
                  <a:srgbClr val="CADCFC"/>
                </a:solidFill>
                <a:latin typeface="Courier New"/>
              </a:rPr>
              <a:t>Infosys IR    : datapreparation/data-preprocessing/Earning_calls_and_quarterly_updates_parsing.ipynb</a:t>
            </a:r>
          </a:p>
          <a:p>
            <a:r>
              <a:rPr sz="1050" b="0">
                <a:solidFill>
                  <a:srgbClr val="CADCFC"/>
                </a:solidFill>
                <a:latin typeface="Courier New"/>
              </a:rPr>
              <a:t/>
            </a:r>
          </a:p>
          <a:p>
            <a:r>
              <a:rPr sz="1050" b="0">
                <a:solidFill>
                  <a:srgbClr val="CADCFC"/>
                </a:solidFill>
                <a:latin typeface="Courier New"/>
              </a:rPr>
              <a:t>Post-conversion: rename_markdown_from_source_url.py  →  file-dedup.py</a:t>
            </a:r>
          </a:p>
        </p:txBody>
      </p:sp>
      <p:sp>
        <p:nvSpPr>
          <p:cNvPr id="27" name="TextBox 26"/>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8" name="TextBox 27"/>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2 · PREPROCESSING PIPELINE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Filtering NSE Filings, Then Splitting by Length</a:t>
            </a:r>
          </a:p>
        </p:txBody>
      </p:sp>
      <p:sp>
        <p:nvSpPr>
          <p:cNvPr id="4" name="Rectangle 3"/>
          <p:cNvSpPr/>
          <p:nvPr/>
        </p:nvSpPr>
        <p:spPr>
          <a:xfrm>
            <a:off x="548640" y="1462560"/>
            <a:ext cx="338328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90576"/>
            <a:ext cx="3163824" cy="365760"/>
          </a:xfrm>
          <a:prstGeom prst="rect">
            <a:avLst/>
          </a:prstGeom>
          <a:noFill/>
        </p:spPr>
        <p:txBody>
          <a:bodyPr wrap="square" lIns="0" rIns="0" tIns="0" bIns="0" anchor="t">
            <a:spAutoFit/>
          </a:bodyPr>
          <a:lstStyle/>
          <a:p>
            <a:r>
              <a:rPr sz="1250" b="1">
                <a:solidFill>
                  <a:srgbClr val="1E2761"/>
                </a:solidFill>
                <a:latin typeface="Cambria"/>
              </a:rPr>
              <a:t>1 · Metadata Rule</a:t>
            </a:r>
          </a:p>
        </p:txBody>
      </p:sp>
      <p:sp>
        <p:nvSpPr>
          <p:cNvPr id="6" name="TextBox 5"/>
          <p:cNvSpPr txBox="1"/>
          <p:nvPr/>
        </p:nvSpPr>
        <p:spPr>
          <a:xfrm>
            <a:off x="658368" y="1938048"/>
            <a:ext cx="3163824" cy="548640"/>
          </a:xfrm>
          <a:prstGeom prst="rect">
            <a:avLst/>
          </a:prstGeom>
          <a:noFill/>
        </p:spPr>
        <p:txBody>
          <a:bodyPr wrap="square" lIns="0" rIns="0" tIns="0" bIns="0" anchor="t">
            <a:spAutoFit/>
          </a:bodyPr>
          <a:lstStyle/>
          <a:p>
            <a:pPr>
              <a:lnSpc>
                <a:spcPct val="105000"/>
              </a:lnSpc>
            </a:pPr>
            <a:r>
              <a:rPr sz="950" b="0">
                <a:solidFill>
                  <a:srgbClr val="1B2140"/>
                </a:solidFill>
                <a:latin typeface="Calibri"/>
              </a:rPr>
              <a:t>NSE desc category checked against a fixed keep/reject list</a:t>
            </a:r>
          </a:p>
        </p:txBody>
      </p:sp>
      <p:sp>
        <p:nvSpPr>
          <p:cNvPr id="7" name="TextBox 6"/>
          <p:cNvSpPr txBox="1"/>
          <p:nvPr/>
        </p:nvSpPr>
        <p:spPr>
          <a:xfrm>
            <a:off x="3931920" y="1462560"/>
            <a:ext cx="228600" cy="109728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8" name="Rectangle 7"/>
          <p:cNvSpPr/>
          <p:nvPr/>
        </p:nvSpPr>
        <p:spPr>
          <a:xfrm>
            <a:off x="4160520" y="1462560"/>
            <a:ext cx="338328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70248" y="1590576"/>
            <a:ext cx="3163824" cy="365760"/>
          </a:xfrm>
          <a:prstGeom prst="rect">
            <a:avLst/>
          </a:prstGeom>
          <a:noFill/>
        </p:spPr>
        <p:txBody>
          <a:bodyPr wrap="square" lIns="0" rIns="0" tIns="0" bIns="0" anchor="t">
            <a:spAutoFit/>
          </a:bodyPr>
          <a:lstStyle/>
          <a:p>
            <a:r>
              <a:rPr sz="1250" b="1">
                <a:solidFill>
                  <a:srgbClr val="1E2761"/>
                </a:solidFill>
                <a:latin typeface="Cambria"/>
              </a:rPr>
              <a:t>2 · Keyword Search</a:t>
            </a:r>
          </a:p>
        </p:txBody>
      </p:sp>
      <p:sp>
        <p:nvSpPr>
          <p:cNvPr id="10" name="TextBox 9"/>
          <p:cNvSpPr txBox="1"/>
          <p:nvPr/>
        </p:nvSpPr>
        <p:spPr>
          <a:xfrm>
            <a:off x="4270248" y="1938048"/>
            <a:ext cx="3163824" cy="548640"/>
          </a:xfrm>
          <a:prstGeom prst="rect">
            <a:avLst/>
          </a:prstGeom>
          <a:noFill/>
        </p:spPr>
        <p:txBody>
          <a:bodyPr wrap="square" lIns="0" rIns="0" tIns="0" bIns="0" anchor="t">
            <a:spAutoFit/>
          </a:bodyPr>
          <a:lstStyle/>
          <a:p>
            <a:pPr>
              <a:lnSpc>
                <a:spcPct val="105000"/>
              </a:lnSpc>
            </a:pPr>
            <a:r>
              <a:rPr sz="950" b="0">
                <a:solidFill>
                  <a:srgbClr val="1B2140"/>
                </a:solidFill>
                <a:latin typeface="Calibri"/>
              </a:rPr>
              <a:t>GOOD/BAD keyword list on title + attchmntText for ambiguous categories</a:t>
            </a:r>
          </a:p>
        </p:txBody>
      </p:sp>
      <p:sp>
        <p:nvSpPr>
          <p:cNvPr id="11" name="TextBox 10"/>
          <p:cNvSpPr txBox="1"/>
          <p:nvPr/>
        </p:nvSpPr>
        <p:spPr>
          <a:xfrm>
            <a:off x="7543800" y="1462560"/>
            <a:ext cx="228600" cy="109728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12" name="Rectangle 11"/>
          <p:cNvSpPr/>
          <p:nvPr/>
        </p:nvSpPr>
        <p:spPr>
          <a:xfrm>
            <a:off x="7772400" y="1462560"/>
            <a:ext cx="3383280"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1590576"/>
            <a:ext cx="3163824" cy="365760"/>
          </a:xfrm>
          <a:prstGeom prst="rect">
            <a:avLst/>
          </a:prstGeom>
          <a:noFill/>
        </p:spPr>
        <p:txBody>
          <a:bodyPr wrap="square" lIns="0" rIns="0" tIns="0" bIns="0" anchor="t">
            <a:spAutoFit/>
          </a:bodyPr>
          <a:lstStyle/>
          <a:p>
            <a:r>
              <a:rPr sz="1250" b="1">
                <a:solidFill>
                  <a:srgbClr val="E8B84B"/>
                </a:solidFill>
                <a:latin typeface="Cambria"/>
              </a:rPr>
              <a:t>3 · Manual + LLM Review</a:t>
            </a:r>
          </a:p>
        </p:txBody>
      </p:sp>
      <p:sp>
        <p:nvSpPr>
          <p:cNvPr id="14" name="TextBox 13"/>
          <p:cNvSpPr txBox="1"/>
          <p:nvPr/>
        </p:nvSpPr>
        <p:spPr>
          <a:xfrm>
            <a:off x="7882128" y="1938048"/>
            <a:ext cx="3163824" cy="548640"/>
          </a:xfrm>
          <a:prstGeom prst="rect">
            <a:avLst/>
          </a:prstGeom>
          <a:noFill/>
        </p:spPr>
        <p:txBody>
          <a:bodyPr wrap="square" lIns="0" rIns="0" tIns="0" bIns="0" anchor="t">
            <a:spAutoFit/>
          </a:bodyPr>
          <a:lstStyle/>
          <a:p>
            <a:pPr>
              <a:lnSpc>
                <a:spcPct val="105000"/>
              </a:lnSpc>
            </a:pPr>
            <a:r>
              <a:rPr sz="950" b="0">
                <a:solidFill>
                  <a:srgbClr val="FFFFFF"/>
                </a:solidFill>
                <a:latin typeface="Calibri"/>
              </a:rPr>
              <a:t>Unresolved filings judged by an LLM content-review pass</a:t>
            </a:r>
          </a:p>
        </p:txBody>
      </p:sp>
      <p:sp>
        <p:nvSpPr>
          <p:cNvPr id="15" name="Rectangle 14"/>
          <p:cNvSpPr/>
          <p:nvPr/>
        </p:nvSpPr>
        <p:spPr>
          <a:xfrm>
            <a:off x="548640" y="2743200"/>
            <a:ext cx="3611880" cy="8229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825496"/>
            <a:ext cx="3319272" cy="457200"/>
          </a:xfrm>
          <a:prstGeom prst="rect">
            <a:avLst/>
          </a:prstGeom>
          <a:noFill/>
        </p:spPr>
        <p:txBody>
          <a:bodyPr wrap="square" lIns="0" rIns="0" tIns="0" bIns="0" anchor="t">
            <a:spAutoFit/>
          </a:bodyPr>
          <a:lstStyle/>
          <a:p>
            <a:r>
              <a:rPr sz="2400" b="1">
                <a:solidFill>
                  <a:srgbClr val="E8B84B"/>
                </a:solidFill>
                <a:latin typeface="Cambria"/>
              </a:rPr>
              <a:t>65</a:t>
            </a:r>
          </a:p>
        </p:txBody>
      </p:sp>
      <p:sp>
        <p:nvSpPr>
          <p:cNvPr id="17" name="TextBox 16"/>
          <p:cNvSpPr txBox="1"/>
          <p:nvPr/>
        </p:nvSpPr>
        <p:spPr>
          <a:xfrm>
            <a:off x="694944" y="3291840"/>
            <a:ext cx="3319272" cy="228600"/>
          </a:xfrm>
          <a:prstGeom prst="rect">
            <a:avLst/>
          </a:prstGeom>
          <a:noFill/>
        </p:spPr>
        <p:txBody>
          <a:bodyPr wrap="square" lIns="0" rIns="0" tIns="0" bIns="0" anchor="t">
            <a:spAutoFit/>
          </a:bodyPr>
          <a:lstStyle/>
          <a:p>
            <a:r>
              <a:rPr sz="1050" b="0">
                <a:solidFill>
                  <a:srgbClr val="FFFFFF"/>
                </a:solidFill>
                <a:latin typeface="Calibri"/>
              </a:rPr>
              <a:t>Rule-based keep</a:t>
            </a:r>
          </a:p>
        </p:txBody>
      </p:sp>
      <p:sp>
        <p:nvSpPr>
          <p:cNvPr id="18" name="Rectangle 17"/>
          <p:cNvSpPr/>
          <p:nvPr/>
        </p:nvSpPr>
        <p:spPr>
          <a:xfrm>
            <a:off x="4389120" y="2743200"/>
            <a:ext cx="3611880" cy="8229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2825496"/>
            <a:ext cx="3319272" cy="457200"/>
          </a:xfrm>
          <a:prstGeom prst="rect">
            <a:avLst/>
          </a:prstGeom>
          <a:noFill/>
        </p:spPr>
        <p:txBody>
          <a:bodyPr wrap="square" lIns="0" rIns="0" tIns="0" bIns="0" anchor="t">
            <a:spAutoFit/>
          </a:bodyPr>
          <a:lstStyle/>
          <a:p>
            <a:r>
              <a:rPr sz="2400" b="1">
                <a:solidFill>
                  <a:srgbClr val="E8B84B"/>
                </a:solidFill>
                <a:latin typeface="Cambria"/>
              </a:rPr>
              <a:t>72</a:t>
            </a:r>
          </a:p>
        </p:txBody>
      </p:sp>
      <p:sp>
        <p:nvSpPr>
          <p:cNvPr id="20" name="TextBox 19"/>
          <p:cNvSpPr txBox="1"/>
          <p:nvPr/>
        </p:nvSpPr>
        <p:spPr>
          <a:xfrm>
            <a:off x="4535424" y="3291840"/>
            <a:ext cx="3319272" cy="228600"/>
          </a:xfrm>
          <a:prstGeom prst="rect">
            <a:avLst/>
          </a:prstGeom>
          <a:noFill/>
        </p:spPr>
        <p:txBody>
          <a:bodyPr wrap="square" lIns="0" rIns="0" tIns="0" bIns="0" anchor="t">
            <a:spAutoFit/>
          </a:bodyPr>
          <a:lstStyle/>
          <a:p>
            <a:r>
              <a:rPr sz="1050" b="0">
                <a:solidFill>
                  <a:srgbClr val="FFFFFF"/>
                </a:solidFill>
                <a:latin typeface="Calibri"/>
              </a:rPr>
              <a:t>LLM-accepted from review</a:t>
            </a:r>
          </a:p>
        </p:txBody>
      </p:sp>
      <p:sp>
        <p:nvSpPr>
          <p:cNvPr id="21" name="Rectangle 20"/>
          <p:cNvSpPr/>
          <p:nvPr/>
        </p:nvSpPr>
        <p:spPr>
          <a:xfrm>
            <a:off x="8229600" y="2743200"/>
            <a:ext cx="3611880" cy="8229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75904" y="2825496"/>
            <a:ext cx="3319272" cy="457200"/>
          </a:xfrm>
          <a:prstGeom prst="rect">
            <a:avLst/>
          </a:prstGeom>
          <a:noFill/>
        </p:spPr>
        <p:txBody>
          <a:bodyPr wrap="square" lIns="0" rIns="0" tIns="0" bIns="0" anchor="t">
            <a:spAutoFit/>
          </a:bodyPr>
          <a:lstStyle/>
          <a:p>
            <a:r>
              <a:rPr sz="2400" b="1">
                <a:solidFill>
                  <a:srgbClr val="E8B84B"/>
                </a:solidFill>
                <a:latin typeface="Cambria"/>
              </a:rPr>
              <a:t>137</a:t>
            </a:r>
          </a:p>
        </p:txBody>
      </p:sp>
      <p:sp>
        <p:nvSpPr>
          <p:cNvPr id="23" name="TextBox 22"/>
          <p:cNvSpPr txBox="1"/>
          <p:nvPr/>
        </p:nvSpPr>
        <p:spPr>
          <a:xfrm>
            <a:off x="8375904" y="3291840"/>
            <a:ext cx="3319272" cy="228600"/>
          </a:xfrm>
          <a:prstGeom prst="rect">
            <a:avLst/>
          </a:prstGeom>
          <a:noFill/>
        </p:spPr>
        <p:txBody>
          <a:bodyPr wrap="square" lIns="0" rIns="0" tIns="0" bIns="0" anchor="t">
            <a:spAutoFit/>
          </a:bodyPr>
          <a:lstStyle/>
          <a:p>
            <a:r>
              <a:rPr sz="1050" b="0">
                <a:solidFill>
                  <a:srgbClr val="FFFFFF"/>
                </a:solidFill>
                <a:latin typeface="Calibri"/>
              </a:rPr>
              <a:t>Final NSE source set</a:t>
            </a:r>
          </a:p>
        </p:txBody>
      </p:sp>
      <p:sp>
        <p:nvSpPr>
          <p:cNvPr id="24" name="TextBox 23"/>
          <p:cNvSpPr txBox="1"/>
          <p:nvPr/>
        </p:nvSpPr>
        <p:spPr>
          <a:xfrm>
            <a:off x="548640" y="3703320"/>
            <a:ext cx="11064240" cy="365760"/>
          </a:xfrm>
          <a:prstGeom prst="rect">
            <a:avLst/>
          </a:prstGeom>
          <a:noFill/>
        </p:spPr>
        <p:txBody>
          <a:bodyPr wrap="square" lIns="0" rIns="0" tIns="0" bIns="0" anchor="t">
            <a:spAutoFit/>
          </a:bodyPr>
          <a:lstStyle/>
          <a:p>
            <a:pPr>
              <a:lnSpc>
                <a:spcPct val="110000"/>
              </a:lnSpc>
            </a:pPr>
            <a:r>
              <a:rPr sz="1050" b="0">
                <a:solidFill>
                  <a:srgbClr val="5B6B94"/>
                </a:solidFill>
                <a:latin typeface="Calibri"/>
              </a:rPr>
              <a:t>Cheap rules resolve the unambiguous majority; the LLM only judges the genuinely hard cases — auditable and accurate without paying LLM cost on every filing.</a:t>
            </a:r>
          </a:p>
        </p:txBody>
      </p:sp>
      <p:sp>
        <p:nvSpPr>
          <p:cNvPr id="25" name="TextBox 24"/>
          <p:cNvSpPr txBox="1"/>
          <p:nvPr/>
        </p:nvSpPr>
        <p:spPr>
          <a:xfrm>
            <a:off x="548640" y="4206240"/>
            <a:ext cx="11064240" cy="274320"/>
          </a:xfrm>
          <a:prstGeom prst="rect">
            <a:avLst/>
          </a:prstGeom>
          <a:noFill/>
        </p:spPr>
        <p:txBody>
          <a:bodyPr wrap="square" lIns="0" rIns="0" tIns="0" bIns="0" anchor="t">
            <a:spAutoFit/>
          </a:bodyPr>
          <a:lstStyle/>
          <a:p>
            <a:r>
              <a:rPr sz="1250" b="1">
                <a:solidFill>
                  <a:srgbClr val="1E2761"/>
                </a:solidFill>
                <a:latin typeface="Calibri"/>
              </a:rPr>
              <a:t>Splitting by page count (§2.3)</a:t>
            </a:r>
          </a:p>
        </p:txBody>
      </p:sp>
      <p:sp>
        <p:nvSpPr>
          <p:cNvPr id="26" name="TextBox 25"/>
          <p:cNvSpPr txBox="1"/>
          <p:nvPr/>
        </p:nvSpPr>
        <p:spPr>
          <a:xfrm>
            <a:off x="685800" y="4617720"/>
            <a:ext cx="2926080" cy="219456"/>
          </a:xfrm>
          <a:prstGeom prst="rect">
            <a:avLst/>
          </a:prstGeom>
          <a:noFill/>
        </p:spPr>
        <p:txBody>
          <a:bodyPr wrap="square" lIns="0" rIns="0" tIns="0" bIns="0" anchor="t">
            <a:spAutoFit/>
          </a:bodyPr>
          <a:lstStyle/>
          <a:p>
            <a:r>
              <a:rPr sz="1000" b="1">
                <a:solidFill>
                  <a:srgbClr val="5B6B94"/>
                </a:solidFill>
                <a:latin typeface="Calibri"/>
              </a:rPr>
              <a:t>PAGE COUNT</a:t>
            </a:r>
          </a:p>
        </p:txBody>
      </p:sp>
      <p:sp>
        <p:nvSpPr>
          <p:cNvPr id="27" name="TextBox 26"/>
          <p:cNvSpPr txBox="1"/>
          <p:nvPr/>
        </p:nvSpPr>
        <p:spPr>
          <a:xfrm>
            <a:off x="3611880" y="4617720"/>
            <a:ext cx="2926080" cy="219456"/>
          </a:xfrm>
          <a:prstGeom prst="rect">
            <a:avLst/>
          </a:prstGeom>
          <a:noFill/>
        </p:spPr>
        <p:txBody>
          <a:bodyPr wrap="square" lIns="0" rIns="0" tIns="0" bIns="0" anchor="t">
            <a:spAutoFit/>
          </a:bodyPr>
          <a:lstStyle/>
          <a:p>
            <a:r>
              <a:rPr sz="1000" b="1">
                <a:solidFill>
                  <a:srgbClr val="5B6B94"/>
                </a:solidFill>
                <a:latin typeface="Calibri"/>
              </a:rPr>
              <a:t>DOCUMENTS</a:t>
            </a:r>
          </a:p>
        </p:txBody>
      </p:sp>
      <p:sp>
        <p:nvSpPr>
          <p:cNvPr id="28" name="TextBox 27"/>
          <p:cNvSpPr txBox="1"/>
          <p:nvPr/>
        </p:nvSpPr>
        <p:spPr>
          <a:xfrm>
            <a:off x="6537960" y="4617720"/>
            <a:ext cx="5212080" cy="219456"/>
          </a:xfrm>
          <a:prstGeom prst="rect">
            <a:avLst/>
          </a:prstGeom>
          <a:noFill/>
        </p:spPr>
        <p:txBody>
          <a:bodyPr wrap="square" lIns="0" rIns="0" tIns="0" bIns="0" anchor="t">
            <a:spAutoFit/>
          </a:bodyPr>
          <a:lstStyle/>
          <a:p>
            <a:r>
              <a:rPr sz="1000" b="1">
                <a:solidFill>
                  <a:srgbClr val="5B6B94"/>
                </a:solidFill>
                <a:latin typeface="Calibri"/>
              </a:rPr>
              <a:t>HANDLING</a:t>
            </a:r>
          </a:p>
        </p:txBody>
      </p:sp>
      <p:sp>
        <p:nvSpPr>
          <p:cNvPr id="29" name="Rectangle 28"/>
          <p:cNvSpPr/>
          <p:nvPr/>
        </p:nvSpPr>
        <p:spPr>
          <a:xfrm>
            <a:off x="548640" y="4910328"/>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83480"/>
            <a:ext cx="11064240" cy="45720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83480"/>
            <a:ext cx="2834640" cy="45720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 10 pages</a:t>
            </a:r>
          </a:p>
        </p:txBody>
      </p:sp>
      <p:sp>
        <p:nvSpPr>
          <p:cNvPr id="32" name="TextBox 31"/>
          <p:cNvSpPr txBox="1"/>
          <p:nvPr/>
        </p:nvSpPr>
        <p:spPr>
          <a:xfrm>
            <a:off x="3611880" y="4983480"/>
            <a:ext cx="2834640" cy="45720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109 documents</a:t>
            </a:r>
          </a:p>
        </p:txBody>
      </p:sp>
      <p:sp>
        <p:nvSpPr>
          <p:cNvPr id="33" name="TextBox 32"/>
          <p:cNvSpPr txBox="1"/>
          <p:nvPr/>
        </p:nvSpPr>
        <p:spPr>
          <a:xfrm>
            <a:off x="6537960" y="4983480"/>
            <a:ext cx="5120640" cy="45720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Cleaned as complete documents</a:t>
            </a:r>
          </a:p>
        </p:txBody>
      </p:sp>
      <p:sp>
        <p:nvSpPr>
          <p:cNvPr id="34" name="TextBox 33"/>
          <p:cNvSpPr txBox="1"/>
          <p:nvPr/>
        </p:nvSpPr>
        <p:spPr>
          <a:xfrm>
            <a:off x="685800" y="5440680"/>
            <a:ext cx="2834640" cy="45720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&gt; 10 pages</a:t>
            </a:r>
          </a:p>
        </p:txBody>
      </p:sp>
      <p:sp>
        <p:nvSpPr>
          <p:cNvPr id="35" name="TextBox 34"/>
          <p:cNvSpPr txBox="1"/>
          <p:nvPr/>
        </p:nvSpPr>
        <p:spPr>
          <a:xfrm>
            <a:off x="3611880" y="5440680"/>
            <a:ext cx="2834640" cy="45720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28 documents</a:t>
            </a:r>
          </a:p>
        </p:txBody>
      </p:sp>
      <p:sp>
        <p:nvSpPr>
          <p:cNvPr id="36" name="TextBox 35"/>
          <p:cNvSpPr txBox="1"/>
          <p:nvPr/>
        </p:nvSpPr>
        <p:spPr>
          <a:xfrm>
            <a:off x="6537960" y="5440680"/>
            <a:ext cx="5120640" cy="45720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Sectioned before cleaning (heading-aware groups)</a:t>
            </a:r>
          </a:p>
        </p:txBody>
      </p:sp>
      <p:sp>
        <p:nvSpPr>
          <p:cNvPr id="37" name="TextBox 36"/>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38" name="TextBox 37"/>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2 · PREPROCESSING PIPELINE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Knowledge Extraction: Source-Specific Prompts</a:t>
            </a:r>
          </a:p>
        </p:txBody>
      </p:sp>
      <p:sp>
        <p:nvSpPr>
          <p:cNvPr id="4" name="TextBox 3"/>
          <p:cNvSpPr txBox="1"/>
          <p:nvPr/>
        </p:nvSpPr>
        <p:spPr>
          <a:xfrm>
            <a:off x="548640" y="1417320"/>
            <a:ext cx="11064240" cy="411480"/>
          </a:xfrm>
          <a:prstGeom prst="rect">
            <a:avLst/>
          </a:prstGeom>
          <a:noFill/>
        </p:spPr>
        <p:txBody>
          <a:bodyPr wrap="square" lIns="0" rIns="0" tIns="0" bIns="0" anchor="t">
            <a:spAutoFit/>
          </a:bodyPr>
          <a:lstStyle/>
          <a:p>
            <a:pPr>
              <a:lnSpc>
                <a:spcPct val="110000"/>
              </a:lnSpc>
            </a:pPr>
            <a:r>
              <a:rPr sz="1150" b="0">
                <a:solidFill>
                  <a:srgbClr val="5B6B94"/>
                </a:solidFill>
                <a:latin typeface="Calibri"/>
              </a:rPr>
              <a:t>Noisy Markdown → clean Markdown + YAML front matter. All prompts forbid summarizing, inferring, or rewriting — only non-substantive noise is removed.</a:t>
            </a:r>
          </a:p>
        </p:txBody>
      </p:sp>
      <p:sp>
        <p:nvSpPr>
          <p:cNvPr id="5" name="TextBox 4"/>
          <p:cNvSpPr txBox="1"/>
          <p:nvPr/>
        </p:nvSpPr>
        <p:spPr>
          <a:xfrm>
            <a:off x="685800" y="2011680"/>
            <a:ext cx="2377440" cy="256032"/>
          </a:xfrm>
          <a:prstGeom prst="rect">
            <a:avLst/>
          </a:prstGeom>
          <a:noFill/>
        </p:spPr>
        <p:txBody>
          <a:bodyPr wrap="square" lIns="0" rIns="0" tIns="0" bIns="0" anchor="t">
            <a:spAutoFit/>
          </a:bodyPr>
          <a:lstStyle/>
          <a:p>
            <a:r>
              <a:rPr sz="1000" b="1">
                <a:solidFill>
                  <a:srgbClr val="5B6B94"/>
                </a:solidFill>
                <a:latin typeface="Calibri"/>
              </a:rPr>
              <a:t>SOURCE</a:t>
            </a:r>
          </a:p>
        </p:txBody>
      </p:sp>
      <p:sp>
        <p:nvSpPr>
          <p:cNvPr id="6" name="TextBox 5"/>
          <p:cNvSpPr txBox="1"/>
          <p:nvPr/>
        </p:nvSpPr>
        <p:spPr>
          <a:xfrm>
            <a:off x="3063240" y="2011680"/>
            <a:ext cx="4206240" cy="256032"/>
          </a:xfrm>
          <a:prstGeom prst="rect">
            <a:avLst/>
          </a:prstGeom>
          <a:noFill/>
        </p:spPr>
        <p:txBody>
          <a:bodyPr wrap="square" lIns="0" rIns="0" tIns="0" bIns="0" anchor="t">
            <a:spAutoFit/>
          </a:bodyPr>
          <a:lstStyle/>
          <a:p>
            <a:r>
              <a:rPr sz="1000" b="1">
                <a:solidFill>
                  <a:srgbClr val="5B6B94"/>
                </a:solidFill>
                <a:latin typeface="Calibri"/>
              </a:rPr>
              <a:t>REMOVED AS NOISE</a:t>
            </a:r>
          </a:p>
        </p:txBody>
      </p:sp>
      <p:sp>
        <p:nvSpPr>
          <p:cNvPr id="7" name="TextBox 6"/>
          <p:cNvSpPr txBox="1"/>
          <p:nvPr/>
        </p:nvSpPr>
        <p:spPr>
          <a:xfrm>
            <a:off x="7269480" y="2011680"/>
            <a:ext cx="4480560" cy="256032"/>
          </a:xfrm>
          <a:prstGeom prst="rect">
            <a:avLst/>
          </a:prstGeom>
          <a:noFill/>
        </p:spPr>
        <p:txBody>
          <a:bodyPr wrap="square" lIns="0" rIns="0" tIns="0" bIns="0" anchor="t">
            <a:spAutoFit/>
          </a:bodyPr>
          <a:lstStyle/>
          <a:p>
            <a:r>
              <a:rPr sz="1000" b="1">
                <a:solidFill>
                  <a:srgbClr val="5B6B94"/>
                </a:solidFill>
                <a:latin typeface="Calibri"/>
              </a:rPr>
              <a:t>ALWAYS PRESERVED</a:t>
            </a:r>
          </a:p>
        </p:txBody>
      </p:sp>
      <p:sp>
        <p:nvSpPr>
          <p:cNvPr id="8" name="Rectangle 7"/>
          <p:cNvSpPr/>
          <p:nvPr/>
        </p:nvSpPr>
        <p:spPr>
          <a:xfrm>
            <a:off x="548640" y="234086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41401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414016"/>
            <a:ext cx="228600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NSE filings</a:t>
            </a:r>
          </a:p>
        </p:txBody>
      </p:sp>
      <p:sp>
        <p:nvSpPr>
          <p:cNvPr id="11" name="TextBox 10"/>
          <p:cNvSpPr txBox="1"/>
          <p:nvPr/>
        </p:nvSpPr>
        <p:spPr>
          <a:xfrm>
            <a:off x="3063240" y="2414016"/>
            <a:ext cx="411480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Exchange wrappers, signatures, safe-harbor text, headers/footers</a:t>
            </a:r>
          </a:p>
        </p:txBody>
      </p:sp>
      <p:sp>
        <p:nvSpPr>
          <p:cNvPr id="12" name="TextBox 11"/>
          <p:cNvSpPr txBox="1"/>
          <p:nvPr/>
        </p:nvSpPr>
        <p:spPr>
          <a:xfrm>
            <a:off x="7269480" y="2414016"/>
            <a:ext cx="438912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Tables, figures, risks, governance/CSR/litigation detail, quotations</a:t>
            </a:r>
          </a:p>
        </p:txBody>
      </p:sp>
      <p:sp>
        <p:nvSpPr>
          <p:cNvPr id="13" name="TextBox 12"/>
          <p:cNvSpPr txBox="1"/>
          <p:nvPr/>
        </p:nvSpPr>
        <p:spPr>
          <a:xfrm>
            <a:off x="685800" y="3145536"/>
            <a:ext cx="228600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Infosys IR documents</a:t>
            </a:r>
          </a:p>
        </p:txBody>
      </p:sp>
      <p:sp>
        <p:nvSpPr>
          <p:cNvPr id="14" name="TextBox 13"/>
          <p:cNvSpPr txBox="1"/>
          <p:nvPr/>
        </p:nvSpPr>
        <p:spPr>
          <a:xfrm>
            <a:off x="3063240" y="3145536"/>
            <a:ext cx="411480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Same v6 prompt (all IR docs ≤ 10 pages)</a:t>
            </a:r>
          </a:p>
        </p:txBody>
      </p:sp>
      <p:sp>
        <p:nvSpPr>
          <p:cNvPr id="15" name="TextBox 14"/>
          <p:cNvSpPr txBox="1"/>
          <p:nvPr/>
        </p:nvSpPr>
        <p:spPr>
          <a:xfrm>
            <a:off x="7269480" y="3145536"/>
            <a:ext cx="438912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Same as above</a:t>
            </a:r>
          </a:p>
        </p:txBody>
      </p:sp>
      <p:sp>
        <p:nvSpPr>
          <p:cNvPr id="16" name="Rectangle 15"/>
          <p:cNvSpPr/>
          <p:nvPr/>
        </p:nvSpPr>
        <p:spPr>
          <a:xfrm>
            <a:off x="548640" y="387705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877056"/>
            <a:ext cx="228600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Yahoo Finance articles</a:t>
            </a:r>
          </a:p>
        </p:txBody>
      </p:sp>
      <p:sp>
        <p:nvSpPr>
          <p:cNvPr id="18" name="TextBox 17"/>
          <p:cNvSpPr txBox="1"/>
          <p:nvPr/>
        </p:nvSpPr>
        <p:spPr>
          <a:xfrm>
            <a:off x="3063240" y="3877056"/>
            <a:ext cx="411480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Site nav, ads, cookie/subscription prompts, author bios</a:t>
            </a:r>
          </a:p>
        </p:txBody>
      </p:sp>
      <p:sp>
        <p:nvSpPr>
          <p:cNvPr id="19" name="TextBox 18"/>
          <p:cNvSpPr txBox="1"/>
          <p:nvPr/>
        </p:nvSpPr>
        <p:spPr>
          <a:xfrm>
            <a:off x="7269480" y="3877056"/>
            <a:ext cx="438912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Headline, byline, date, every quote, figure, analyst opinion</a:t>
            </a:r>
          </a:p>
        </p:txBody>
      </p:sp>
      <p:sp>
        <p:nvSpPr>
          <p:cNvPr id="20" name="TextBox 19"/>
          <p:cNvSpPr txBox="1"/>
          <p:nvPr/>
        </p:nvSpPr>
        <p:spPr>
          <a:xfrm>
            <a:off x="685800" y="4608576"/>
            <a:ext cx="228600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Trendlyne reports</a:t>
            </a:r>
          </a:p>
        </p:txBody>
      </p:sp>
      <p:sp>
        <p:nvSpPr>
          <p:cNvPr id="21" name="TextBox 20"/>
          <p:cNvSpPr txBox="1"/>
          <p:nvPr/>
        </p:nvSpPr>
        <p:spPr>
          <a:xfrm>
            <a:off x="3063240" y="4608576"/>
            <a:ext cx="411480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Branding banners, analyst contact/disclaimer boilerplate</a:t>
            </a:r>
          </a:p>
        </p:txBody>
      </p:sp>
      <p:sp>
        <p:nvSpPr>
          <p:cNvPr id="22" name="TextBox 21"/>
          <p:cNvSpPr txBox="1"/>
          <p:nvPr/>
        </p:nvSpPr>
        <p:spPr>
          <a:xfrm>
            <a:off x="7269480" y="4608576"/>
            <a:ext cx="438912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Recommendation, target price, valuation, projections, every ratio</a:t>
            </a:r>
          </a:p>
        </p:txBody>
      </p:sp>
      <p:sp>
        <p:nvSpPr>
          <p:cNvPr id="23" name="TextBox 22"/>
          <p:cNvSpPr txBox="1"/>
          <p:nvPr/>
        </p:nvSpPr>
        <p:spPr>
          <a:xfrm>
            <a:off x="548640" y="5943600"/>
            <a:ext cx="11064240" cy="457200"/>
          </a:xfrm>
          <a:prstGeom prst="rect">
            <a:avLst/>
          </a:prstGeom>
          <a:noFill/>
        </p:spPr>
        <p:txBody>
          <a:bodyPr wrap="square" lIns="0" rIns="0" tIns="0" bIns="0" anchor="t">
            <a:spAutoFit/>
          </a:bodyPr>
          <a:lstStyle/>
          <a:p>
            <a:pPr>
              <a:lnSpc>
                <a:spcPct val="115000"/>
              </a:lnSpc>
            </a:pPr>
            <a:r>
              <a:rPr sz="1050" b="0">
                <a:solidFill>
                  <a:srgbClr val="5B6B94"/>
                </a:solidFill>
                <a:latin typeface="Calibri"/>
              </a:rPr>
              <a:t>Every prompt outputs the same contract: </a:t>
            </a:r>
            <a:r>
              <a:rPr sz="1050" b="1">
                <a:solidFill>
                  <a:srgbClr val="1E2761"/>
                </a:solidFill>
                <a:latin typeface="Calibri"/>
              </a:rPr>
              <a:t>title, description, topics, sample_queries</a:t>
            </a:r>
            <a:r>
              <a:rPr sz="1050" b="0">
                <a:solidFill>
                  <a:srgbClr val="5B6B94"/>
                </a:solidFill>
                <a:latin typeface="Calibri"/>
              </a:rPr>
              <a:t> — letting embeddings capture intent alongside content. As of this milestone, all 109 ≤ 10-page NSE, 16 IR, 6 Yahoo Finance, and 5 Trendlyne documents are cleaned.</a:t>
            </a:r>
          </a:p>
        </p:txBody>
      </p:sp>
      <p:sp>
        <p:nvSpPr>
          <p:cNvPr id="24" name="TextBox 23"/>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5" name="TextBox 24"/>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2 · PREPROCESSING PIPELINE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Sectioning Documents Longer Than 10 Pages</a:t>
            </a:r>
          </a:p>
        </p:txBody>
      </p:sp>
      <p:sp>
        <p:nvSpPr>
          <p:cNvPr id="4" name="TextBox 3"/>
          <p:cNvSpPr txBox="1"/>
          <p:nvPr/>
        </p:nvSpPr>
        <p:spPr>
          <a:xfrm>
            <a:off x="548640" y="1417320"/>
            <a:ext cx="11064240" cy="548640"/>
          </a:xfrm>
          <a:prstGeom prst="rect">
            <a:avLst/>
          </a:prstGeom>
          <a:noFill/>
        </p:spPr>
        <p:txBody>
          <a:bodyPr wrap="square" lIns="0" rIns="0" tIns="0" bIns="0" anchor="t">
            <a:spAutoFit/>
          </a:bodyPr>
          <a:lstStyle/>
          <a:p>
            <a:pPr>
              <a:lnSpc>
                <a:spcPct val="120000"/>
              </a:lnSpc>
            </a:pPr>
            <a:r>
              <a:rPr sz="1150" b="0">
                <a:solidFill>
                  <a:srgbClr val="1B2140"/>
                </a:solidFill>
                <a:latin typeface="Calibri"/>
              </a:rPr>
              <a:t>An 80-page annual report cannot go through the whole-document prompt in one call — it would exceed a safe context budget and blur section boundaries. The 28 NSE documents &gt; 10 pages are split first, via the </a:t>
            </a:r>
            <a:r>
              <a:rPr sz="1150" b="1">
                <a:solidFill>
                  <a:srgbClr val="1E2761"/>
                </a:solidFill>
                <a:latin typeface="Calibri"/>
              </a:rPr>
              <a:t>datapreparation/sectioner</a:t>
            </a:r>
            <a:r>
              <a:rPr sz="1150" b="0">
                <a:solidFill>
                  <a:srgbClr val="1B2140"/>
                </a:solidFill>
                <a:latin typeface="Calibri"/>
              </a:rPr>
              <a:t> module.</a:t>
            </a:r>
          </a:p>
        </p:txBody>
      </p:sp>
      <p:sp>
        <p:nvSpPr>
          <p:cNvPr id="5" name="Rectangle 4"/>
          <p:cNvSpPr/>
          <p:nvPr/>
        </p:nvSpPr>
        <p:spPr>
          <a:xfrm>
            <a:off x="548640" y="2103120"/>
            <a:ext cx="530352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31136"/>
            <a:ext cx="5084064" cy="365760"/>
          </a:xfrm>
          <a:prstGeom prst="rect">
            <a:avLst/>
          </a:prstGeom>
          <a:noFill/>
        </p:spPr>
        <p:txBody>
          <a:bodyPr wrap="square" lIns="0" rIns="0" tIns="0" bIns="0" anchor="t">
            <a:spAutoFit/>
          </a:bodyPr>
          <a:lstStyle/>
          <a:p>
            <a:r>
              <a:rPr sz="1250" b="1">
                <a:solidFill>
                  <a:srgbClr val="1E2761"/>
                </a:solidFill>
                <a:latin typeface="Cambria"/>
              </a:rPr>
              <a:t>1 · Parse &amp; Split</a:t>
            </a:r>
          </a:p>
        </p:txBody>
      </p:sp>
      <p:sp>
        <p:nvSpPr>
          <p:cNvPr id="7" name="TextBox 6"/>
          <p:cNvSpPr txBox="1"/>
          <p:nvPr/>
        </p:nvSpPr>
        <p:spPr>
          <a:xfrm>
            <a:off x="658368" y="2578608"/>
            <a:ext cx="5084064" cy="548640"/>
          </a:xfrm>
          <a:prstGeom prst="rect">
            <a:avLst/>
          </a:prstGeom>
          <a:noFill/>
        </p:spPr>
        <p:txBody>
          <a:bodyPr wrap="square" lIns="0" rIns="0" tIns="0" bIns="0" anchor="t">
            <a:spAutoFit/>
          </a:bodyPr>
          <a:lstStyle/>
          <a:p>
            <a:pPr>
              <a:lnSpc>
                <a:spcPct val="105000"/>
              </a:lnSpc>
            </a:pPr>
            <a:r>
              <a:rPr sz="950" b="0">
                <a:solidFill>
                  <a:srgbClr val="1B2140"/>
                </a:solidFill>
                <a:latin typeface="Calibri"/>
              </a:rPr>
              <a:t>Split along heading structure → JSON manifest + section files + validation report</a:t>
            </a:r>
          </a:p>
        </p:txBody>
      </p:sp>
      <p:sp>
        <p:nvSpPr>
          <p:cNvPr id="8" name="TextBox 7"/>
          <p:cNvSpPr txBox="1"/>
          <p:nvPr/>
        </p:nvSpPr>
        <p:spPr>
          <a:xfrm>
            <a:off x="5852160" y="2103120"/>
            <a:ext cx="228600" cy="1097280"/>
          </a:xfrm>
          <a:prstGeom prst="rect">
            <a:avLst/>
          </a:prstGeom>
          <a:noFill/>
        </p:spPr>
        <p:txBody>
          <a:bodyPr wrap="square" lIns="0" rIns="0" tIns="0" bIns="0" anchor="ctr">
            <a:spAutoFit/>
          </a:bodyPr>
          <a:lstStyle/>
          <a:p>
            <a:pPr algn="ctr"/>
            <a:r>
              <a:rPr sz="1600" b="1">
                <a:solidFill>
                  <a:srgbClr val="5B6B94"/>
                </a:solidFill>
                <a:latin typeface="Calibri"/>
              </a:rPr>
              <a:t>→</a:t>
            </a:r>
          </a:p>
        </p:txBody>
      </p:sp>
      <p:sp>
        <p:nvSpPr>
          <p:cNvPr id="9" name="Rectangle 8"/>
          <p:cNvSpPr/>
          <p:nvPr/>
        </p:nvSpPr>
        <p:spPr>
          <a:xfrm>
            <a:off x="6080760" y="2103120"/>
            <a:ext cx="5303520"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0488" y="2231136"/>
            <a:ext cx="5084064" cy="365760"/>
          </a:xfrm>
          <a:prstGeom prst="rect">
            <a:avLst/>
          </a:prstGeom>
          <a:noFill/>
        </p:spPr>
        <p:txBody>
          <a:bodyPr wrap="square" lIns="0" rIns="0" tIns="0" bIns="0" anchor="t">
            <a:spAutoFit/>
          </a:bodyPr>
          <a:lstStyle/>
          <a:p>
            <a:r>
              <a:rPr sz="1250" b="1">
                <a:solidFill>
                  <a:srgbClr val="E8B84B"/>
                </a:solidFill>
                <a:latin typeface="Cambria"/>
              </a:rPr>
              <a:t>2 · Concatenate</a:t>
            </a:r>
          </a:p>
        </p:txBody>
      </p:sp>
      <p:sp>
        <p:nvSpPr>
          <p:cNvPr id="11" name="TextBox 10"/>
          <p:cNvSpPr txBox="1"/>
          <p:nvPr/>
        </p:nvSpPr>
        <p:spPr>
          <a:xfrm>
            <a:off x="6190488" y="2578608"/>
            <a:ext cx="5084064" cy="548640"/>
          </a:xfrm>
          <a:prstGeom prst="rect">
            <a:avLst/>
          </a:prstGeom>
          <a:noFill/>
        </p:spPr>
        <p:txBody>
          <a:bodyPr wrap="square" lIns="0" rIns="0" tIns="0" bIns="0" anchor="t">
            <a:spAutoFit/>
          </a:bodyPr>
          <a:lstStyle/>
          <a:p>
            <a:pPr>
              <a:lnSpc>
                <a:spcPct val="105000"/>
              </a:lnSpc>
            </a:pPr>
            <a:r>
              <a:rPr sz="950" b="0">
                <a:solidFill>
                  <a:srgbClr val="FFFFFF"/>
                </a:solidFill>
                <a:latin typeface="Calibri"/>
              </a:rPr>
              <a:t>Group consecutive sections into prompt-sized files (group_001.md, group_002.md …)</a:t>
            </a:r>
          </a:p>
        </p:txBody>
      </p:sp>
      <p:sp>
        <p:nvSpPr>
          <p:cNvPr id="12" name="Rectangle 11"/>
          <p:cNvSpPr/>
          <p:nvPr/>
        </p:nvSpPr>
        <p:spPr>
          <a:xfrm>
            <a:off x="548640" y="3383280"/>
            <a:ext cx="11064240" cy="173736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493008"/>
            <a:ext cx="10735056" cy="1517904"/>
          </a:xfrm>
          <a:prstGeom prst="rect">
            <a:avLst/>
          </a:prstGeom>
          <a:noFill/>
        </p:spPr>
        <p:txBody>
          <a:bodyPr wrap="square" lIns="0" rIns="0" tIns="0" bIns="0" anchor="t">
            <a:spAutoFit/>
          </a:bodyPr>
          <a:lstStyle/>
          <a:p>
            <a:r>
              <a:rPr sz="1050" b="0">
                <a:solidFill>
                  <a:srgbClr val="CADCFC"/>
                </a:solidFill>
                <a:latin typeface="Courier New"/>
              </a:rPr>
              <a:t>document_name: "Infosys_02072025225219_SEfiling_AGMtranscript_2025.md"</a:t>
            </a:r>
          </a:p>
          <a:p>
            <a:r>
              <a:rPr sz="1050" b="0">
                <a:solidFill>
                  <a:srgbClr val="CADCFC"/>
                </a:solidFill>
                <a:latin typeface="Courier New"/>
              </a:rPr>
              <a:t>group_id: "..._group_006"</a:t>
            </a:r>
          </a:p>
          <a:p>
            <a:r>
              <a:rPr sz="1050" b="0">
                <a:solidFill>
                  <a:srgbClr val="CADCFC"/>
                </a:solidFill>
                <a:latin typeface="Courier New"/>
              </a:rPr>
              <a:t>source_section_count: 2</a:t>
            </a:r>
          </a:p>
          <a:p>
            <a:r>
              <a:rPr sz="1050" b="0">
                <a:solidFill>
                  <a:srgbClr val="CADCFC"/>
                </a:solidFill>
                <a:latin typeface="Courier New"/>
              </a:rPr>
              <a:t>page_start: 52          page_end: 60          estimated_tokens: 3975</a:t>
            </a:r>
          </a:p>
          <a:p>
            <a:r>
              <a:rPr sz="1050" b="0">
                <a:solidFill>
                  <a:srgbClr val="CADCFC"/>
                </a:solidFill>
                <a:latin typeface="Courier New"/>
              </a:rPr>
              <a:t>source_section_ids: [..._011, ..._012]</a:t>
            </a:r>
          </a:p>
        </p:txBody>
      </p:sp>
      <p:sp>
        <p:nvSpPr>
          <p:cNvPr id="14" name="TextBox 13"/>
          <p:cNvSpPr txBox="1"/>
          <p:nvPr/>
        </p:nvSpPr>
        <p:spPr>
          <a:xfrm>
            <a:off x="548640" y="5303520"/>
            <a:ext cx="11064240" cy="1005840"/>
          </a:xfrm>
          <a:prstGeom prst="rect">
            <a:avLst/>
          </a:prstGeom>
          <a:noFill/>
        </p:spPr>
        <p:txBody>
          <a:bodyPr wrap="square" lIns="0" rIns="0" tIns="0" bIns="0" anchor="t">
            <a:spAutoFit/>
          </a:bodyPr>
          <a:lstStyle/>
          <a:p>
            <a:pPr>
              <a:lnSpc>
                <a:spcPct val="125000"/>
              </a:lnSpc>
            </a:pPr>
            <a:r>
              <a:rPr sz="1200" b="0">
                <a:solidFill>
                  <a:srgbClr val="1B2140"/>
                </a:solidFill>
                <a:latin typeface="Calibri"/>
              </a:rPr>
              <a:t>This produced </a:t>
            </a:r>
            <a:r>
              <a:rPr sz="1200" b="1">
                <a:solidFill>
                  <a:srgbClr val="1E2761"/>
                </a:solidFill>
                <a:latin typeface="Calibri"/>
              </a:rPr>
              <a:t>749 grouped section files</a:t>
            </a:r>
            <a:r>
              <a:rPr sz="1200" b="0">
                <a:solidFill>
                  <a:srgbClr val="1B2140"/>
                </a:solidFill>
                <a:latin typeface="Calibri"/>
              </a:rPr>
              <a:t> across the 28 long documents. Each group is cleaned with the dedicated section prompt (KE-section-prompt-v1.md), which preserves the sectioner's metadata block and appends a second, section-specific summary block — so provenance and semantic summary both travel with the chunk.</a:t>
            </a:r>
          </a:p>
        </p:txBody>
      </p:sp>
      <p:sp>
        <p:nvSpPr>
          <p:cNvPr id="15" name="TextBox 14"/>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16" name="TextBox 15"/>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2 · PREPROCESSING PIPELINE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One Chunk per Cleaned Markdown File</a:t>
            </a:r>
          </a:p>
        </p:txBody>
      </p:sp>
      <p:sp>
        <p:nvSpPr>
          <p:cNvPr id="4" name="TextBox 3"/>
          <p:cNvSpPr txBox="1"/>
          <p:nvPr/>
        </p:nvSpPr>
        <p:spPr>
          <a:xfrm>
            <a:off x="548640" y="1417320"/>
            <a:ext cx="11064240" cy="457200"/>
          </a:xfrm>
          <a:prstGeom prst="rect">
            <a:avLst/>
          </a:prstGeom>
          <a:noFill/>
        </p:spPr>
        <p:txBody>
          <a:bodyPr wrap="square" lIns="0" rIns="0" tIns="0" bIns="0" anchor="t">
            <a:spAutoFit/>
          </a:bodyPr>
          <a:lstStyle/>
          <a:p>
            <a:pPr>
              <a:lnSpc>
                <a:spcPct val="115000"/>
              </a:lnSpc>
            </a:pPr>
            <a:r>
              <a:rPr sz="1150" b="0">
                <a:solidFill>
                  <a:srgbClr val="5B6B94"/>
                </a:solidFill>
                <a:latin typeface="Calibri"/>
              </a:rPr>
              <a:t>A hierarchical, structure-aware strategy — not blind fixed-size chunking. The sectioning step already performs the natural split for long documents, so no further arbitrary token-window slicing is layered on top.</a:t>
            </a:r>
          </a:p>
        </p:txBody>
      </p:sp>
      <p:sp>
        <p:nvSpPr>
          <p:cNvPr id="5" name="Rectangle 4"/>
          <p:cNvSpPr/>
          <p:nvPr/>
        </p:nvSpPr>
        <p:spPr>
          <a:xfrm>
            <a:off x="499644"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64236"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4236"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8k</a:t>
            </a:r>
          </a:p>
        </p:txBody>
      </p:sp>
      <p:sp>
        <p:nvSpPr>
          <p:cNvPr id="8" name="TextBox 7"/>
          <p:cNvSpPr txBox="1"/>
          <p:nvPr/>
        </p:nvSpPr>
        <p:spPr>
          <a:xfrm>
            <a:off x="664236" y="2843784"/>
            <a:ext cx="3282696" cy="320040"/>
          </a:xfrm>
          <a:prstGeom prst="rect">
            <a:avLst/>
          </a:prstGeom>
          <a:noFill/>
        </p:spPr>
        <p:txBody>
          <a:bodyPr wrap="square" lIns="0" rIns="0" tIns="0" bIns="0" anchor="t">
            <a:spAutoFit/>
          </a:bodyPr>
          <a:lstStyle/>
          <a:p>
            <a:r>
              <a:rPr sz="1500" b="1">
                <a:solidFill>
                  <a:srgbClr val="1E2761"/>
                </a:solidFill>
                <a:latin typeface="Cambria"/>
              </a:rPr>
              <a:t>Generous Context</a:t>
            </a:r>
          </a:p>
        </p:txBody>
      </p:sp>
      <p:sp>
        <p:nvSpPr>
          <p:cNvPr id="9" name="TextBox 8"/>
          <p:cNvSpPr txBox="1"/>
          <p:nvPr/>
        </p:nvSpPr>
        <p:spPr>
          <a:xfrm>
            <a:off x="664236"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text-embedding-3-small supports up to 8191 tokens — comfortably larger than any cleaned document or section group, so nothing needs splitting for size.</a:t>
            </a:r>
          </a:p>
        </p:txBody>
      </p:sp>
      <p:sp>
        <p:nvSpPr>
          <p:cNvPr id="10" name="Rectangle 9"/>
          <p:cNvSpPr/>
          <p:nvPr/>
        </p:nvSpPr>
        <p:spPr>
          <a:xfrm>
            <a:off x="4274820"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39412"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9412"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a:t>
            </a:r>
          </a:p>
        </p:txBody>
      </p:sp>
      <p:sp>
        <p:nvSpPr>
          <p:cNvPr id="13" name="TextBox 12"/>
          <p:cNvSpPr txBox="1"/>
          <p:nvPr/>
        </p:nvSpPr>
        <p:spPr>
          <a:xfrm>
            <a:off x="4439412" y="2843784"/>
            <a:ext cx="3282696" cy="320040"/>
          </a:xfrm>
          <a:prstGeom prst="rect">
            <a:avLst/>
          </a:prstGeom>
          <a:noFill/>
        </p:spPr>
        <p:txBody>
          <a:bodyPr wrap="square" lIns="0" rIns="0" tIns="0" bIns="0" anchor="t">
            <a:spAutoFit/>
          </a:bodyPr>
          <a:lstStyle/>
          <a:p>
            <a:r>
              <a:rPr sz="1500" b="1">
                <a:solidFill>
                  <a:srgbClr val="1E2761"/>
                </a:solidFill>
                <a:latin typeface="Cambria"/>
              </a:rPr>
              <a:t>Semantic Coherence</a:t>
            </a:r>
          </a:p>
        </p:txBody>
      </p:sp>
      <p:sp>
        <p:nvSpPr>
          <p:cNvPr id="14" name="TextBox 13"/>
          <p:cNvSpPr txBox="1"/>
          <p:nvPr/>
        </p:nvSpPr>
        <p:spPr>
          <a:xfrm>
            <a:off x="4439412"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Each chunk is already one coherent disclosure unit; the generation model always sees a complete, self-contained piece of context.</a:t>
            </a:r>
          </a:p>
        </p:txBody>
      </p:sp>
      <p:sp>
        <p:nvSpPr>
          <p:cNvPr id="15" name="Rectangle 14"/>
          <p:cNvSpPr/>
          <p:nvPr/>
        </p:nvSpPr>
        <p:spPr>
          <a:xfrm>
            <a:off x="8049996" y="2057400"/>
            <a:ext cx="3611880" cy="237744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14588" y="2203704"/>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4588" y="2203704"/>
            <a:ext cx="548640" cy="548640"/>
          </a:xfrm>
          <a:prstGeom prst="rect">
            <a:avLst/>
          </a:prstGeom>
          <a:noFill/>
        </p:spPr>
        <p:txBody>
          <a:bodyPr wrap="square" lIns="0" rIns="0" tIns="0" bIns="0" anchor="ctr">
            <a:spAutoFit/>
          </a:bodyPr>
          <a:lstStyle/>
          <a:p>
            <a:pPr algn="ctr"/>
            <a:r>
              <a:rPr sz="2000" b="1">
                <a:solidFill>
                  <a:srgbClr val="E8B84B"/>
                </a:solidFill>
                <a:latin typeface="Cambria"/>
              </a:rPr>
              <a:t>⌗</a:t>
            </a:r>
          </a:p>
        </p:txBody>
      </p:sp>
      <p:sp>
        <p:nvSpPr>
          <p:cNvPr id="18" name="TextBox 17"/>
          <p:cNvSpPr txBox="1"/>
          <p:nvPr/>
        </p:nvSpPr>
        <p:spPr>
          <a:xfrm>
            <a:off x="8214588" y="2843784"/>
            <a:ext cx="3282696" cy="320040"/>
          </a:xfrm>
          <a:prstGeom prst="rect">
            <a:avLst/>
          </a:prstGeom>
          <a:noFill/>
        </p:spPr>
        <p:txBody>
          <a:bodyPr wrap="square" lIns="0" rIns="0" tIns="0" bIns="0" anchor="t">
            <a:spAutoFit/>
          </a:bodyPr>
          <a:lstStyle/>
          <a:p>
            <a:r>
              <a:rPr sz="1500" b="1">
                <a:solidFill>
                  <a:srgbClr val="1E2761"/>
                </a:solidFill>
                <a:latin typeface="Cambria"/>
              </a:rPr>
              <a:t>Metadata Travels With It</a:t>
            </a:r>
          </a:p>
        </p:txBody>
      </p:sp>
      <p:sp>
        <p:nvSpPr>
          <p:cNvPr id="19" name="TextBox 18"/>
          <p:cNvSpPr txBox="1"/>
          <p:nvPr/>
        </p:nvSpPr>
        <p:spPr>
          <a:xfrm>
            <a:off x="8214588" y="3169920"/>
            <a:ext cx="3282696" cy="274320"/>
          </a:xfrm>
          <a:prstGeom prst="rect">
            <a:avLst/>
          </a:prstGeom>
          <a:noFill/>
        </p:spPr>
        <p:txBody>
          <a:bodyPr wrap="square" lIns="0" rIns="0" tIns="0" bIns="0" anchor="t">
            <a:spAutoFit/>
          </a:bodyPr>
          <a:lstStyle/>
          <a:p>
            <a:pPr>
              <a:lnSpc>
                <a:spcPct val="105000"/>
              </a:lnSpc>
            </a:pPr>
            <a:r>
              <a:rPr sz="1050" b="0">
                <a:solidFill>
                  <a:srgbClr val="5B6B94"/>
                </a:solidFill>
                <a:latin typeface="Calibri"/>
              </a:rPr>
              <a:t>Provenance and generated summary (title, description, topics, sample queries) live in each chunk's own front matter — no separate reattachment step.</a:t>
            </a:r>
          </a:p>
        </p:txBody>
      </p:sp>
      <p:sp>
        <p:nvSpPr>
          <p:cNvPr id="20" name="TextBox 19"/>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1" name="TextBox 20"/>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3 · RAG SYSTEM ARCHITECTURE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End-to-End Data Flow</a:t>
            </a:r>
          </a:p>
        </p:txBody>
      </p:sp>
      <p:pic>
        <p:nvPicPr>
          <p:cNvPr id="4" name="Picture 3" descr="DSAI Lab Project Pipeline.png"/>
          <p:cNvPicPr>
            <a:picLocks noChangeAspect="1"/>
          </p:cNvPicPr>
          <p:nvPr/>
        </p:nvPicPr>
        <p:blipFill>
          <a:blip r:embed="rId2"/>
          <a:stretch>
            <a:fillRect/>
          </a:stretch>
        </p:blipFill>
        <p:spPr>
          <a:xfrm>
            <a:off x="3868875" y="1462560"/>
            <a:ext cx="4423770" cy="4200000"/>
          </a:xfrm>
          <a:prstGeom prst="rect">
            <a:avLst/>
          </a:prstGeom>
        </p:spPr>
      </p:pic>
      <p:sp>
        <p:nvSpPr>
          <p:cNvPr id="5" name="TextBox 4"/>
          <p:cNvSpPr txBox="1"/>
          <p:nvPr/>
        </p:nvSpPr>
        <p:spPr>
          <a:xfrm>
            <a:off x="548640" y="5808864"/>
            <a:ext cx="11064240" cy="320040"/>
          </a:xfrm>
          <a:prstGeom prst="rect">
            <a:avLst/>
          </a:prstGeom>
          <a:noFill/>
        </p:spPr>
        <p:txBody>
          <a:bodyPr wrap="square" lIns="0" rIns="0" tIns="0" bIns="0" anchor="t">
            <a:spAutoFit/>
          </a:bodyPr>
          <a:lstStyle/>
          <a:p>
            <a:pPr algn="ctr"/>
            <a:r>
              <a:rPr sz="1050" b="0">
                <a:solidFill>
                  <a:srgbClr val="5B6B94"/>
                </a:solidFill>
                <a:latin typeface="Calibri"/>
              </a:rPr>
              <a:t>Figure 1. Offline ingestion (top/left, run once per document) meets the online query path (bottom) at the vector database.</a:t>
            </a:r>
          </a:p>
        </p:txBody>
      </p:sp>
      <p:sp>
        <p:nvSpPr>
          <p:cNvPr id="6" name="TextBox 5"/>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7" name="TextBox 6"/>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3 · RAG SYSTEM ARCHITECTURE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Offline Ingestion Path — Run Once per Document</a:t>
            </a:r>
          </a:p>
        </p:txBody>
      </p:sp>
      <p:sp>
        <p:nvSpPr>
          <p:cNvPr id="4" name="TextBox 3"/>
          <p:cNvSpPr txBox="1"/>
          <p:nvPr/>
        </p:nvSpPr>
        <p:spPr>
          <a:xfrm>
            <a:off x="685800" y="1691640"/>
            <a:ext cx="731520" cy="256032"/>
          </a:xfrm>
          <a:prstGeom prst="rect">
            <a:avLst/>
          </a:prstGeom>
          <a:noFill/>
        </p:spPr>
        <p:txBody>
          <a:bodyPr wrap="square" lIns="0" rIns="0" tIns="0" bIns="0" anchor="t">
            <a:spAutoFit/>
          </a:bodyPr>
          <a:lstStyle/>
          <a:p>
            <a:r>
              <a:rPr sz="1000" b="1">
                <a:solidFill>
                  <a:srgbClr val="5B6B94"/>
                </a:solidFill>
                <a:latin typeface="Calibri"/>
              </a:rPr>
              <a:t>#</a:t>
            </a:r>
          </a:p>
        </p:txBody>
      </p:sp>
      <p:sp>
        <p:nvSpPr>
          <p:cNvPr id="5" name="TextBox 4"/>
          <p:cNvSpPr txBox="1"/>
          <p:nvPr/>
        </p:nvSpPr>
        <p:spPr>
          <a:xfrm>
            <a:off x="1417320" y="1691640"/>
            <a:ext cx="5486400" cy="256032"/>
          </a:xfrm>
          <a:prstGeom prst="rect">
            <a:avLst/>
          </a:prstGeom>
          <a:noFill/>
        </p:spPr>
        <p:txBody>
          <a:bodyPr wrap="square" lIns="0" rIns="0" tIns="0" bIns="0" anchor="t">
            <a:spAutoFit/>
          </a:bodyPr>
          <a:lstStyle/>
          <a:p>
            <a:r>
              <a:rPr sz="1000" b="1">
                <a:solidFill>
                  <a:srgbClr val="5B6B94"/>
                </a:solidFill>
                <a:latin typeface="Calibri"/>
              </a:rPr>
              <a:t>COMPONENT</a:t>
            </a:r>
          </a:p>
        </p:txBody>
      </p:sp>
      <p:sp>
        <p:nvSpPr>
          <p:cNvPr id="6" name="TextBox 5"/>
          <p:cNvSpPr txBox="1"/>
          <p:nvPr/>
        </p:nvSpPr>
        <p:spPr>
          <a:xfrm>
            <a:off x="6903720" y="1691640"/>
            <a:ext cx="4846320" cy="256032"/>
          </a:xfrm>
          <a:prstGeom prst="rect">
            <a:avLst/>
          </a:prstGeom>
          <a:noFill/>
        </p:spPr>
        <p:txBody>
          <a:bodyPr wrap="square" lIns="0" rIns="0" tIns="0" bIns="0" anchor="t">
            <a:spAutoFit/>
          </a:bodyPr>
          <a:lstStyle/>
          <a:p>
            <a:r>
              <a:rPr sz="1000" b="1">
                <a:solidFill>
                  <a:srgbClr val="5B6B94"/>
                </a:solidFill>
                <a:latin typeface="Calibri"/>
              </a:rPr>
              <a:t>ROLE</a:t>
            </a:r>
          </a:p>
        </p:txBody>
      </p:sp>
      <p:sp>
        <p:nvSpPr>
          <p:cNvPr id="7" name="Rectangle 6"/>
          <p:cNvSpPr/>
          <p:nvPr/>
        </p:nvSpPr>
        <p:spPr>
          <a:xfrm>
            <a:off x="548640" y="202082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9397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9397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1</a:t>
            </a:r>
          </a:p>
        </p:txBody>
      </p:sp>
      <p:sp>
        <p:nvSpPr>
          <p:cNvPr id="10" name="TextBox 9"/>
          <p:cNvSpPr txBox="1"/>
          <p:nvPr/>
        </p:nvSpPr>
        <p:spPr>
          <a:xfrm>
            <a:off x="1417320" y="209397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NSE / IR / Yahoo Finance / Trendlyne PDFs</a:t>
            </a:r>
          </a:p>
        </p:txBody>
      </p:sp>
      <p:sp>
        <p:nvSpPr>
          <p:cNvPr id="11" name="TextBox 10"/>
          <p:cNvSpPr txBox="1"/>
          <p:nvPr/>
        </p:nvSpPr>
        <p:spPr>
          <a:xfrm>
            <a:off x="6903720" y="209397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Raw source documents</a:t>
            </a:r>
          </a:p>
        </p:txBody>
      </p:sp>
      <p:sp>
        <p:nvSpPr>
          <p:cNvPr id="12" name="TextBox 11"/>
          <p:cNvSpPr txBox="1"/>
          <p:nvPr/>
        </p:nvSpPr>
        <p:spPr>
          <a:xfrm>
            <a:off x="685800" y="282549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2</a:t>
            </a:r>
          </a:p>
        </p:txBody>
      </p:sp>
      <p:sp>
        <p:nvSpPr>
          <p:cNvPr id="13" name="TextBox 12"/>
          <p:cNvSpPr txBox="1"/>
          <p:nvPr/>
        </p:nvSpPr>
        <p:spPr>
          <a:xfrm>
            <a:off x="1417320" y="282549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Docling conversion</a:t>
            </a:r>
          </a:p>
        </p:txBody>
      </p:sp>
      <p:sp>
        <p:nvSpPr>
          <p:cNvPr id="14" name="TextBox 13"/>
          <p:cNvSpPr txBox="1"/>
          <p:nvPr/>
        </p:nvSpPr>
        <p:spPr>
          <a:xfrm>
            <a:off x="6903720" y="282549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PDF → Markdown</a:t>
            </a:r>
          </a:p>
        </p:txBody>
      </p:sp>
      <p:sp>
        <p:nvSpPr>
          <p:cNvPr id="15" name="Rectangle 14"/>
          <p:cNvSpPr/>
          <p:nvPr/>
        </p:nvSpPr>
        <p:spPr>
          <a:xfrm>
            <a:off x="548640" y="355701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5701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3</a:t>
            </a:r>
          </a:p>
        </p:txBody>
      </p:sp>
      <p:sp>
        <p:nvSpPr>
          <p:cNvPr id="17" name="TextBox 16"/>
          <p:cNvSpPr txBox="1"/>
          <p:nvPr/>
        </p:nvSpPr>
        <p:spPr>
          <a:xfrm>
            <a:off x="1417320" y="355701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Sectioning (&gt; 10-page NSE docs only)</a:t>
            </a:r>
          </a:p>
        </p:txBody>
      </p:sp>
      <p:sp>
        <p:nvSpPr>
          <p:cNvPr id="18" name="TextBox 17"/>
          <p:cNvSpPr txBox="1"/>
          <p:nvPr/>
        </p:nvSpPr>
        <p:spPr>
          <a:xfrm>
            <a:off x="6903720" y="355701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Splits long Markdown into page-bounded groups</a:t>
            </a:r>
          </a:p>
        </p:txBody>
      </p:sp>
      <p:sp>
        <p:nvSpPr>
          <p:cNvPr id="19" name="TextBox 18"/>
          <p:cNvSpPr txBox="1"/>
          <p:nvPr/>
        </p:nvSpPr>
        <p:spPr>
          <a:xfrm>
            <a:off x="685800" y="428853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4</a:t>
            </a:r>
          </a:p>
        </p:txBody>
      </p:sp>
      <p:sp>
        <p:nvSpPr>
          <p:cNvPr id="20" name="TextBox 19"/>
          <p:cNvSpPr txBox="1"/>
          <p:nvPr/>
        </p:nvSpPr>
        <p:spPr>
          <a:xfrm>
            <a:off x="1417320" y="428853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Knowledge extraction (source-specific prompts)</a:t>
            </a:r>
          </a:p>
        </p:txBody>
      </p:sp>
      <p:sp>
        <p:nvSpPr>
          <p:cNvPr id="21" name="TextBox 20"/>
          <p:cNvSpPr txBox="1"/>
          <p:nvPr/>
        </p:nvSpPr>
        <p:spPr>
          <a:xfrm>
            <a:off x="6903720" y="428853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Noisy Markdown → clean chunk + YAML front matter</a:t>
            </a:r>
          </a:p>
        </p:txBody>
      </p:sp>
      <p:sp>
        <p:nvSpPr>
          <p:cNvPr id="22" name="Rectangle 21"/>
          <p:cNvSpPr/>
          <p:nvPr/>
        </p:nvSpPr>
        <p:spPr>
          <a:xfrm>
            <a:off x="548640" y="502005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2005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5</a:t>
            </a:r>
          </a:p>
        </p:txBody>
      </p:sp>
      <p:sp>
        <p:nvSpPr>
          <p:cNvPr id="24" name="TextBox 23"/>
          <p:cNvSpPr txBox="1"/>
          <p:nvPr/>
        </p:nvSpPr>
        <p:spPr>
          <a:xfrm>
            <a:off x="1417320" y="502005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Vector embedding (text-embedding-3-small)</a:t>
            </a:r>
          </a:p>
        </p:txBody>
      </p:sp>
      <p:sp>
        <p:nvSpPr>
          <p:cNvPr id="25" name="TextBox 24"/>
          <p:cNvSpPr txBox="1"/>
          <p:nvPr/>
        </p:nvSpPr>
        <p:spPr>
          <a:xfrm>
            <a:off x="6903720" y="502005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Each clean chunk → one 1536-dim vector</a:t>
            </a:r>
          </a:p>
        </p:txBody>
      </p:sp>
      <p:sp>
        <p:nvSpPr>
          <p:cNvPr id="26" name="TextBox 25"/>
          <p:cNvSpPr txBox="1"/>
          <p:nvPr/>
        </p:nvSpPr>
        <p:spPr>
          <a:xfrm>
            <a:off x="685800" y="575157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6</a:t>
            </a:r>
          </a:p>
        </p:txBody>
      </p:sp>
      <p:sp>
        <p:nvSpPr>
          <p:cNvPr id="27" name="TextBox 26"/>
          <p:cNvSpPr txBox="1"/>
          <p:nvPr/>
        </p:nvSpPr>
        <p:spPr>
          <a:xfrm>
            <a:off x="1417320" y="575157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ChromaDB</a:t>
            </a:r>
          </a:p>
        </p:txBody>
      </p:sp>
      <p:sp>
        <p:nvSpPr>
          <p:cNvPr id="28" name="TextBox 27"/>
          <p:cNvSpPr txBox="1"/>
          <p:nvPr/>
        </p:nvSpPr>
        <p:spPr>
          <a:xfrm>
            <a:off x="6903720" y="575157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Persistent store for chunk text, vector, and metadata</a:t>
            </a:r>
          </a:p>
        </p:txBody>
      </p:sp>
      <p:sp>
        <p:nvSpPr>
          <p:cNvPr id="29" name="TextBox 28"/>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30" name="TextBox 29"/>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3 · RAG SYSTEM ARCHITECTURE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Online Query Path — Run Once per Question</a:t>
            </a:r>
          </a:p>
        </p:txBody>
      </p:sp>
      <p:sp>
        <p:nvSpPr>
          <p:cNvPr id="4" name="TextBox 3"/>
          <p:cNvSpPr txBox="1"/>
          <p:nvPr/>
        </p:nvSpPr>
        <p:spPr>
          <a:xfrm>
            <a:off x="685800" y="1691640"/>
            <a:ext cx="731520" cy="256032"/>
          </a:xfrm>
          <a:prstGeom prst="rect">
            <a:avLst/>
          </a:prstGeom>
          <a:noFill/>
        </p:spPr>
        <p:txBody>
          <a:bodyPr wrap="square" lIns="0" rIns="0" tIns="0" bIns="0" anchor="t">
            <a:spAutoFit/>
          </a:bodyPr>
          <a:lstStyle/>
          <a:p>
            <a:r>
              <a:rPr sz="1000" b="1">
                <a:solidFill>
                  <a:srgbClr val="5B6B94"/>
                </a:solidFill>
                <a:latin typeface="Calibri"/>
              </a:rPr>
              <a:t>#</a:t>
            </a:r>
          </a:p>
        </p:txBody>
      </p:sp>
      <p:sp>
        <p:nvSpPr>
          <p:cNvPr id="5" name="TextBox 4"/>
          <p:cNvSpPr txBox="1"/>
          <p:nvPr/>
        </p:nvSpPr>
        <p:spPr>
          <a:xfrm>
            <a:off x="1417320" y="1691640"/>
            <a:ext cx="5486400" cy="256032"/>
          </a:xfrm>
          <a:prstGeom prst="rect">
            <a:avLst/>
          </a:prstGeom>
          <a:noFill/>
        </p:spPr>
        <p:txBody>
          <a:bodyPr wrap="square" lIns="0" rIns="0" tIns="0" bIns="0" anchor="t">
            <a:spAutoFit/>
          </a:bodyPr>
          <a:lstStyle/>
          <a:p>
            <a:r>
              <a:rPr sz="1000" b="1">
                <a:solidFill>
                  <a:srgbClr val="5B6B94"/>
                </a:solidFill>
                <a:latin typeface="Calibri"/>
              </a:rPr>
              <a:t>COMPONENT</a:t>
            </a:r>
          </a:p>
        </p:txBody>
      </p:sp>
      <p:sp>
        <p:nvSpPr>
          <p:cNvPr id="6" name="TextBox 5"/>
          <p:cNvSpPr txBox="1"/>
          <p:nvPr/>
        </p:nvSpPr>
        <p:spPr>
          <a:xfrm>
            <a:off x="6903720" y="1691640"/>
            <a:ext cx="4846320" cy="256032"/>
          </a:xfrm>
          <a:prstGeom prst="rect">
            <a:avLst/>
          </a:prstGeom>
          <a:noFill/>
        </p:spPr>
        <p:txBody>
          <a:bodyPr wrap="square" lIns="0" rIns="0" tIns="0" bIns="0" anchor="t">
            <a:spAutoFit/>
          </a:bodyPr>
          <a:lstStyle/>
          <a:p>
            <a:r>
              <a:rPr sz="1000" b="1">
                <a:solidFill>
                  <a:srgbClr val="5B6B94"/>
                </a:solidFill>
                <a:latin typeface="Calibri"/>
              </a:rPr>
              <a:t>ROLE</a:t>
            </a:r>
          </a:p>
        </p:txBody>
      </p:sp>
      <p:sp>
        <p:nvSpPr>
          <p:cNvPr id="7" name="Rectangle 6"/>
          <p:cNvSpPr/>
          <p:nvPr/>
        </p:nvSpPr>
        <p:spPr>
          <a:xfrm>
            <a:off x="548640" y="202082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9397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9397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7</a:t>
            </a:r>
          </a:p>
        </p:txBody>
      </p:sp>
      <p:sp>
        <p:nvSpPr>
          <p:cNvPr id="10" name="TextBox 9"/>
          <p:cNvSpPr txBox="1"/>
          <p:nvPr/>
        </p:nvSpPr>
        <p:spPr>
          <a:xfrm>
            <a:off x="1417320" y="209397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Vector embedding of the user query (same model)</a:t>
            </a:r>
          </a:p>
        </p:txBody>
      </p:sp>
      <p:sp>
        <p:nvSpPr>
          <p:cNvPr id="11" name="TextBox 10"/>
          <p:cNvSpPr txBox="1"/>
          <p:nvPr/>
        </p:nvSpPr>
        <p:spPr>
          <a:xfrm>
            <a:off x="6903720" y="209397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Query text → vector in the same 1536-dim space</a:t>
            </a:r>
          </a:p>
        </p:txBody>
      </p:sp>
      <p:sp>
        <p:nvSpPr>
          <p:cNvPr id="12" name="TextBox 11"/>
          <p:cNvSpPr txBox="1"/>
          <p:nvPr/>
        </p:nvSpPr>
        <p:spPr>
          <a:xfrm>
            <a:off x="685800" y="282549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8</a:t>
            </a:r>
          </a:p>
        </p:txBody>
      </p:sp>
      <p:sp>
        <p:nvSpPr>
          <p:cNvPr id="13" name="TextBox 12"/>
          <p:cNvSpPr txBox="1"/>
          <p:nvPr/>
        </p:nvSpPr>
        <p:spPr>
          <a:xfrm>
            <a:off x="1417320" y="282549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HNSW semantic search</a:t>
            </a:r>
          </a:p>
        </p:txBody>
      </p:sp>
      <p:sp>
        <p:nvSpPr>
          <p:cNvPr id="14" name="TextBox 13"/>
          <p:cNvSpPr txBox="1"/>
          <p:nvPr/>
        </p:nvSpPr>
        <p:spPr>
          <a:xfrm>
            <a:off x="6903720" y="282549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Finds nearest chunk vectors to the query vector in ChromaDB</a:t>
            </a:r>
          </a:p>
        </p:txBody>
      </p:sp>
      <p:sp>
        <p:nvSpPr>
          <p:cNvPr id="15" name="Rectangle 14"/>
          <p:cNvSpPr/>
          <p:nvPr/>
        </p:nvSpPr>
        <p:spPr>
          <a:xfrm>
            <a:off x="548640" y="355701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5701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9</a:t>
            </a:r>
          </a:p>
        </p:txBody>
      </p:sp>
      <p:sp>
        <p:nvSpPr>
          <p:cNvPr id="17" name="TextBox 16"/>
          <p:cNvSpPr txBox="1"/>
          <p:nvPr/>
        </p:nvSpPr>
        <p:spPr>
          <a:xfrm>
            <a:off x="1417320" y="355701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Top-3 chunks</a:t>
            </a:r>
          </a:p>
        </p:txBody>
      </p:sp>
      <p:sp>
        <p:nvSpPr>
          <p:cNvPr id="18" name="TextBox 17"/>
          <p:cNvSpPr txBox="1"/>
          <p:nvPr/>
        </p:nvSpPr>
        <p:spPr>
          <a:xfrm>
            <a:off x="6903720" y="355701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Nearest three chunks passed forward as retrieved context</a:t>
            </a:r>
          </a:p>
        </p:txBody>
      </p:sp>
      <p:sp>
        <p:nvSpPr>
          <p:cNvPr id="19" name="TextBox 18"/>
          <p:cNvSpPr txBox="1"/>
          <p:nvPr/>
        </p:nvSpPr>
        <p:spPr>
          <a:xfrm>
            <a:off x="685800" y="428853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10</a:t>
            </a:r>
          </a:p>
        </p:txBody>
      </p:sp>
      <p:sp>
        <p:nvSpPr>
          <p:cNvPr id="20" name="TextBox 19"/>
          <p:cNvSpPr txBox="1"/>
          <p:nvPr/>
        </p:nvSpPr>
        <p:spPr>
          <a:xfrm>
            <a:off x="1417320" y="428853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LLM (gpt-4o-mini)</a:t>
            </a:r>
          </a:p>
        </p:txBody>
      </p:sp>
      <p:sp>
        <p:nvSpPr>
          <p:cNvPr id="21" name="TextBox 20"/>
          <p:cNvSpPr txBox="1"/>
          <p:nvPr/>
        </p:nvSpPr>
        <p:spPr>
          <a:xfrm>
            <a:off x="6903720" y="428853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Generates the final answer, grounded only in retrieved chunks</a:t>
            </a:r>
          </a:p>
        </p:txBody>
      </p:sp>
      <p:sp>
        <p:nvSpPr>
          <p:cNvPr id="22" name="Rectangle 21"/>
          <p:cNvSpPr/>
          <p:nvPr/>
        </p:nvSpPr>
        <p:spPr>
          <a:xfrm>
            <a:off x="548640" y="5020056"/>
            <a:ext cx="11064240" cy="73152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020056"/>
            <a:ext cx="640080" cy="73152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11</a:t>
            </a:r>
          </a:p>
        </p:txBody>
      </p:sp>
      <p:sp>
        <p:nvSpPr>
          <p:cNvPr id="24" name="TextBox 23"/>
          <p:cNvSpPr txBox="1"/>
          <p:nvPr/>
        </p:nvSpPr>
        <p:spPr>
          <a:xfrm>
            <a:off x="1417320" y="5020056"/>
            <a:ext cx="539496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Answer to user query</a:t>
            </a:r>
          </a:p>
        </p:txBody>
      </p:sp>
      <p:sp>
        <p:nvSpPr>
          <p:cNvPr id="25" name="TextBox 24"/>
          <p:cNvSpPr txBox="1"/>
          <p:nvPr/>
        </p:nvSpPr>
        <p:spPr>
          <a:xfrm>
            <a:off x="6903720" y="5020056"/>
            <a:ext cx="4754880" cy="73152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Returned to the user</a:t>
            </a:r>
          </a:p>
        </p:txBody>
      </p:sp>
      <p:sp>
        <p:nvSpPr>
          <p:cNvPr id="26" name="TextBox 25"/>
          <p:cNvSpPr txBox="1"/>
          <p:nvPr/>
        </p:nvSpPr>
        <p:spPr>
          <a:xfrm>
            <a:off x="548640" y="5852160"/>
            <a:ext cx="11064240" cy="548640"/>
          </a:xfrm>
          <a:prstGeom prst="rect">
            <a:avLst/>
          </a:prstGeom>
          <a:noFill/>
        </p:spPr>
        <p:txBody>
          <a:bodyPr wrap="square" lIns="0" rIns="0" tIns="0" bIns="0" anchor="t">
            <a:spAutoFit/>
          </a:bodyPr>
          <a:lstStyle/>
          <a:p>
            <a:pPr>
              <a:lnSpc>
                <a:spcPct val="115000"/>
              </a:lnSpc>
            </a:pPr>
            <a:r>
              <a:rPr sz="1100" b="0">
                <a:solidFill>
                  <a:srgbClr val="5B6B94"/>
                </a:solidFill>
                <a:latin typeface="Calibri"/>
              </a:rPr>
              <a:t>The document embedding (stage 5) and query embedding (stage 7) share the same model and 1536-dimension space — that identity is what makes HNSW nearest-neighbor search meaningful.</a:t>
            </a:r>
          </a:p>
        </p:txBody>
      </p:sp>
      <p:sp>
        <p:nvSpPr>
          <p:cNvPr id="27" name="TextBox 26"/>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8" name="TextBox 27"/>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4 · MATCHING DATA TO MODEL INPUT</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Embedding Model Input &amp; Vector Store Schema</a:t>
            </a:r>
          </a:p>
        </p:txBody>
      </p:sp>
      <p:sp>
        <p:nvSpPr>
          <p:cNvPr id="4" name="TextBox 3"/>
          <p:cNvSpPr txBox="1"/>
          <p:nvPr/>
        </p:nvSpPr>
        <p:spPr>
          <a:xfrm>
            <a:off x="548640" y="1417320"/>
            <a:ext cx="5400000" cy="320040"/>
          </a:xfrm>
          <a:prstGeom prst="rect">
            <a:avLst/>
          </a:prstGeom>
          <a:noFill/>
        </p:spPr>
        <p:txBody>
          <a:bodyPr wrap="square" lIns="0" rIns="0" tIns="0" bIns="0" anchor="t">
            <a:spAutoFit/>
          </a:bodyPr>
          <a:lstStyle/>
          <a:p>
            <a:r>
              <a:rPr sz="1400" b="1">
                <a:solidFill>
                  <a:srgbClr val="1E2761"/>
                </a:solidFill>
                <a:latin typeface="Cambria"/>
              </a:rPr>
              <a:t>4.1 Embedding Model Input</a:t>
            </a:r>
          </a:p>
        </p:txBody>
      </p:sp>
      <p:sp>
        <p:nvSpPr>
          <p:cNvPr id="5" name="Rectangle 4"/>
          <p:cNvSpPr/>
          <p:nvPr/>
        </p:nvSpPr>
        <p:spPr>
          <a:xfrm>
            <a:off x="548640" y="1783080"/>
            <a:ext cx="5400000" cy="173736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892808"/>
            <a:ext cx="5070816" cy="1517904"/>
          </a:xfrm>
          <a:prstGeom prst="rect">
            <a:avLst/>
          </a:prstGeom>
          <a:noFill/>
        </p:spPr>
        <p:txBody>
          <a:bodyPr wrap="square" lIns="0" rIns="0" tIns="0" bIns="0" anchor="t">
            <a:spAutoFit/>
          </a:bodyPr>
          <a:lstStyle/>
          <a:p>
            <a:r>
              <a:rPr sz="1050" b="0">
                <a:solidFill>
                  <a:srgbClr val="CADCFC"/>
                </a:solidFill>
                <a:latin typeface="Courier New"/>
              </a:rPr>
              <a:t>with open(file, "r", encoding="utf-8") as f:</a:t>
            </a:r>
          </a:p>
          <a:p>
            <a:r>
              <a:rPr sz="1050" b="0">
                <a:solidFill>
                  <a:srgbClr val="CADCFC"/>
                </a:solidFill>
                <a:latin typeface="Courier New"/>
              </a:rPr>
              <a:t>    text = f.read()</a:t>
            </a:r>
          </a:p>
          <a:p>
            <a:r>
              <a:rPr sz="1050" b="0">
                <a:solidFill>
                  <a:srgbClr val="CADCFC"/>
                </a:solidFill>
                <a:latin typeface="Courier New"/>
              </a:rPr>
              <a:t/>
            </a:r>
          </a:p>
          <a:p>
            <a:r>
              <a:rPr sz="1050" b="0">
                <a:solidFill>
                  <a:srgbClr val="CADCFC"/>
                </a:solidFill>
                <a:latin typeface="Courier New"/>
              </a:rPr>
              <a:t>embedding = get_embedding(text)</a:t>
            </a:r>
          </a:p>
          <a:p>
            <a:r>
              <a:rPr sz="1050" b="0">
                <a:solidFill>
                  <a:srgbClr val="CADCFC"/>
                </a:solidFill>
                <a:latin typeface="Courier New"/>
              </a:rPr>
              <a:t># client.embeddings.create(model="text-embedding-3-small", input=text)</a:t>
            </a:r>
          </a:p>
        </p:txBody>
      </p:sp>
      <p:sp>
        <p:nvSpPr>
          <p:cNvPr id="7" name="TextBox 6"/>
          <p:cNvSpPr txBox="1"/>
          <p:nvPr/>
        </p:nvSpPr>
        <p:spPr>
          <a:xfrm>
            <a:off x="548640" y="3703320"/>
            <a:ext cx="5400000" cy="1828800"/>
          </a:xfrm>
          <a:prstGeom prst="rect">
            <a:avLst/>
          </a:prstGeom>
          <a:noFill/>
        </p:spPr>
        <p:txBody>
          <a:bodyPr wrap="square" lIns="0" rIns="0" tIns="0" bIns="0" anchor="t">
            <a:spAutoFit/>
          </a:bodyPr>
          <a:lstStyle/>
          <a:p>
            <a:pPr>
              <a:lnSpc>
                <a:spcPct val="120000"/>
              </a:lnSpc>
            </a:pPr>
            <a:r>
              <a:rPr sz="1100" b="0">
                <a:solidFill>
                  <a:srgbClr val="1B2140"/>
                </a:solidFill>
                <a:latin typeface="Calibri"/>
              </a:rPr>
              <a:t>The entire cleaned Markdown file — YAML front matter and body together — is embedded as one input string. No chunk approaches the 8191-token ceiling, so nothing is truncated.</a:t>
            </a:r>
          </a:p>
        </p:txBody>
      </p:sp>
      <p:sp>
        <p:nvSpPr>
          <p:cNvPr id="8" name="TextBox 7"/>
          <p:cNvSpPr txBox="1"/>
          <p:nvPr/>
        </p:nvSpPr>
        <p:spPr>
          <a:xfrm>
            <a:off x="6172200" y="1417320"/>
            <a:ext cx="5440440" cy="320040"/>
          </a:xfrm>
          <a:prstGeom prst="rect">
            <a:avLst/>
          </a:prstGeom>
          <a:noFill/>
        </p:spPr>
        <p:txBody>
          <a:bodyPr wrap="square" lIns="0" rIns="0" tIns="0" bIns="0" anchor="t">
            <a:spAutoFit/>
          </a:bodyPr>
          <a:lstStyle/>
          <a:p>
            <a:r>
              <a:rPr sz="1400" b="1">
                <a:solidFill>
                  <a:srgbClr val="1E2761"/>
                </a:solidFill>
                <a:latin typeface="Cambria"/>
              </a:rPr>
              <a:t>4.2 Vector Store Schema (finance_documents)</a:t>
            </a:r>
          </a:p>
        </p:txBody>
      </p:sp>
      <p:sp>
        <p:nvSpPr>
          <p:cNvPr id="9" name="Rectangle 8"/>
          <p:cNvSpPr/>
          <p:nvPr/>
        </p:nvSpPr>
        <p:spPr>
          <a:xfrm>
            <a:off x="6172200" y="1965960"/>
            <a:ext cx="544044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2057400"/>
            <a:ext cx="5166120" cy="274320"/>
          </a:xfrm>
          <a:prstGeom prst="rect">
            <a:avLst/>
          </a:prstGeom>
          <a:noFill/>
        </p:spPr>
        <p:txBody>
          <a:bodyPr wrap="square" lIns="0" rIns="0" tIns="0" bIns="0" anchor="t">
            <a:spAutoFit/>
          </a:bodyPr>
          <a:lstStyle/>
          <a:p>
            <a:r>
              <a:rPr sz="1200" b="1">
                <a:solidFill>
                  <a:srgbClr val="1E2761"/>
                </a:solidFill>
                <a:latin typeface="Courier New"/>
              </a:rPr>
              <a:t>ids</a:t>
            </a:r>
          </a:p>
        </p:txBody>
      </p:sp>
      <p:sp>
        <p:nvSpPr>
          <p:cNvPr id="11" name="TextBox 10"/>
          <p:cNvSpPr txBox="1"/>
          <p:nvPr/>
        </p:nvSpPr>
        <p:spPr>
          <a:xfrm>
            <a:off x="6309360" y="2377440"/>
            <a:ext cx="5166120" cy="548640"/>
          </a:xfrm>
          <a:prstGeom prst="rect">
            <a:avLst/>
          </a:prstGeom>
          <a:noFill/>
        </p:spPr>
        <p:txBody>
          <a:bodyPr wrap="square" lIns="0" rIns="0" tIns="0" bIns="0" anchor="t">
            <a:spAutoFit/>
          </a:bodyPr>
          <a:lstStyle/>
          <a:p>
            <a:pPr>
              <a:lnSpc>
                <a:spcPct val="110000"/>
              </a:lnSpc>
            </a:pPr>
            <a:r>
              <a:rPr sz="1050" b="0">
                <a:solidFill>
                  <a:srgbClr val="5B6B94"/>
                </a:solidFill>
                <a:latin typeface="Calibri"/>
              </a:rPr>
              <a:t>Chunk's relative file path</a:t>
            </a:r>
          </a:p>
        </p:txBody>
      </p:sp>
      <p:sp>
        <p:nvSpPr>
          <p:cNvPr id="12" name="Rectangle 11"/>
          <p:cNvSpPr/>
          <p:nvPr/>
        </p:nvSpPr>
        <p:spPr>
          <a:xfrm>
            <a:off x="6172200" y="3200400"/>
            <a:ext cx="544044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291840"/>
            <a:ext cx="5166120" cy="274320"/>
          </a:xfrm>
          <a:prstGeom prst="rect">
            <a:avLst/>
          </a:prstGeom>
          <a:noFill/>
        </p:spPr>
        <p:txBody>
          <a:bodyPr wrap="square" lIns="0" rIns="0" tIns="0" bIns="0" anchor="t">
            <a:spAutoFit/>
          </a:bodyPr>
          <a:lstStyle/>
          <a:p>
            <a:r>
              <a:rPr sz="1200" b="1">
                <a:solidFill>
                  <a:srgbClr val="1E2761"/>
                </a:solidFill>
                <a:latin typeface="Courier New"/>
              </a:rPr>
              <a:t>documents</a:t>
            </a:r>
          </a:p>
        </p:txBody>
      </p:sp>
      <p:sp>
        <p:nvSpPr>
          <p:cNvPr id="14" name="TextBox 13"/>
          <p:cNvSpPr txBox="1"/>
          <p:nvPr/>
        </p:nvSpPr>
        <p:spPr>
          <a:xfrm>
            <a:off x="6309360" y="3611880"/>
            <a:ext cx="5166120" cy="548640"/>
          </a:xfrm>
          <a:prstGeom prst="rect">
            <a:avLst/>
          </a:prstGeom>
          <a:noFill/>
        </p:spPr>
        <p:txBody>
          <a:bodyPr wrap="square" lIns="0" rIns="0" tIns="0" bIns="0" anchor="t">
            <a:spAutoFit/>
          </a:bodyPr>
          <a:lstStyle/>
          <a:p>
            <a:pPr>
              <a:lnSpc>
                <a:spcPct val="110000"/>
              </a:lnSpc>
            </a:pPr>
            <a:r>
              <a:rPr sz="1050" b="0">
                <a:solidFill>
                  <a:srgbClr val="5B6B94"/>
                </a:solidFill>
                <a:latin typeface="Calibri"/>
              </a:rPr>
              <a:t>Full chunk text (front matter + body)</a:t>
            </a:r>
          </a:p>
        </p:txBody>
      </p:sp>
      <p:sp>
        <p:nvSpPr>
          <p:cNvPr id="15" name="Rectangle 14"/>
          <p:cNvSpPr/>
          <p:nvPr/>
        </p:nvSpPr>
        <p:spPr>
          <a:xfrm>
            <a:off x="6172200" y="4434840"/>
            <a:ext cx="544044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526280"/>
            <a:ext cx="5166120" cy="274320"/>
          </a:xfrm>
          <a:prstGeom prst="rect">
            <a:avLst/>
          </a:prstGeom>
          <a:noFill/>
        </p:spPr>
        <p:txBody>
          <a:bodyPr wrap="square" lIns="0" rIns="0" tIns="0" bIns="0" anchor="t">
            <a:spAutoFit/>
          </a:bodyPr>
          <a:lstStyle/>
          <a:p>
            <a:r>
              <a:rPr sz="1200" b="1">
                <a:solidFill>
                  <a:srgbClr val="1E2761"/>
                </a:solidFill>
                <a:latin typeface="Courier New"/>
              </a:rPr>
              <a:t>embeddings</a:t>
            </a:r>
          </a:p>
        </p:txBody>
      </p:sp>
      <p:sp>
        <p:nvSpPr>
          <p:cNvPr id="17" name="TextBox 16"/>
          <p:cNvSpPr txBox="1"/>
          <p:nvPr/>
        </p:nvSpPr>
        <p:spPr>
          <a:xfrm>
            <a:off x="6309360" y="4846320"/>
            <a:ext cx="5166120" cy="548640"/>
          </a:xfrm>
          <a:prstGeom prst="rect">
            <a:avLst/>
          </a:prstGeom>
          <a:noFill/>
        </p:spPr>
        <p:txBody>
          <a:bodyPr wrap="square" lIns="0" rIns="0" tIns="0" bIns="0" anchor="t">
            <a:spAutoFit/>
          </a:bodyPr>
          <a:lstStyle/>
          <a:p>
            <a:pPr>
              <a:lnSpc>
                <a:spcPct val="110000"/>
              </a:lnSpc>
            </a:pPr>
            <a:r>
              <a:rPr sz="1050" b="0">
                <a:solidFill>
                  <a:srgbClr val="5B6B94"/>
                </a:solidFill>
                <a:latin typeface="Calibri"/>
              </a:rPr>
              <a:t>1536-dim vector from text-embedding-3-small</a:t>
            </a:r>
          </a:p>
        </p:txBody>
      </p:sp>
      <p:sp>
        <p:nvSpPr>
          <p:cNvPr id="18" name="Rectangle 17"/>
          <p:cNvSpPr/>
          <p:nvPr/>
        </p:nvSpPr>
        <p:spPr>
          <a:xfrm>
            <a:off x="6172200" y="5669280"/>
            <a:ext cx="5440440" cy="10972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5760720"/>
            <a:ext cx="5166120" cy="274320"/>
          </a:xfrm>
          <a:prstGeom prst="rect">
            <a:avLst/>
          </a:prstGeom>
          <a:noFill/>
        </p:spPr>
        <p:txBody>
          <a:bodyPr wrap="square" lIns="0" rIns="0" tIns="0" bIns="0" anchor="t">
            <a:spAutoFit/>
          </a:bodyPr>
          <a:lstStyle/>
          <a:p>
            <a:r>
              <a:rPr sz="1200" b="1">
                <a:solidFill>
                  <a:srgbClr val="1E2761"/>
                </a:solidFill>
                <a:latin typeface="Courier New"/>
              </a:rPr>
              <a:t>metadatas</a:t>
            </a:r>
          </a:p>
        </p:txBody>
      </p:sp>
      <p:sp>
        <p:nvSpPr>
          <p:cNvPr id="20" name="TextBox 19"/>
          <p:cNvSpPr txBox="1"/>
          <p:nvPr/>
        </p:nvSpPr>
        <p:spPr>
          <a:xfrm>
            <a:off x="6309360" y="6080760"/>
            <a:ext cx="5166120" cy="548640"/>
          </a:xfrm>
          <a:prstGeom prst="rect">
            <a:avLst/>
          </a:prstGeom>
          <a:noFill/>
        </p:spPr>
        <p:txBody>
          <a:bodyPr wrap="square" lIns="0" rIns="0" tIns="0" bIns="0" anchor="t">
            <a:spAutoFit/>
          </a:bodyPr>
          <a:lstStyle/>
          <a:p>
            <a:pPr>
              <a:lnSpc>
                <a:spcPct val="110000"/>
              </a:lnSpc>
            </a:pPr>
            <a:r>
              <a:rPr sz="1050" b="0">
                <a:solidFill>
                  <a:srgbClr val="5B6B94"/>
                </a:solidFill>
                <a:latin typeface="Calibri"/>
              </a:rPr>
              <a:t>{filename, filepath, company}</a:t>
            </a:r>
          </a:p>
        </p:txBody>
      </p:sp>
      <p:sp>
        <p:nvSpPr>
          <p:cNvPr id="21" name="TextBox 20"/>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2" name="TextBox 21"/>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4 · MATCHING DATA TO MODEL INPUT</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Query-Time Retrieval &amp; Generation Input</a:t>
            </a:r>
          </a:p>
        </p:txBody>
      </p:sp>
      <p:sp>
        <p:nvSpPr>
          <p:cNvPr id="4" name="TextBox 3"/>
          <p:cNvSpPr txBox="1"/>
          <p:nvPr/>
        </p:nvSpPr>
        <p:spPr>
          <a:xfrm>
            <a:off x="548640" y="1417320"/>
            <a:ext cx="11064240" cy="548640"/>
          </a:xfrm>
          <a:prstGeom prst="rect">
            <a:avLst/>
          </a:prstGeom>
          <a:noFill/>
        </p:spPr>
        <p:txBody>
          <a:bodyPr wrap="square" lIns="0" rIns="0" tIns="0" bIns="0" anchor="t">
            <a:spAutoFit/>
          </a:bodyPr>
          <a:lstStyle/>
          <a:p>
            <a:pPr>
              <a:lnSpc>
                <a:spcPct val="125000"/>
              </a:lnSpc>
            </a:pPr>
            <a:r>
              <a:rPr sz="1250" b="1">
                <a:solidFill>
                  <a:srgbClr val="1E2761"/>
                </a:solidFill>
                <a:latin typeface="Calibri"/>
              </a:rPr>
              <a:t>4.3 Query-Time Input. </a:t>
            </a:r>
            <a:r>
              <a:rPr sz="1200" b="0">
                <a:solidFill>
                  <a:srgbClr val="1B2140"/>
                </a:solidFill>
                <a:latin typeface="Calibri"/>
              </a:rPr>
              <a:t>A user question is embedded with the identical model and passed to collection.query() with n_results=3. Chroma's HNSW index returns the three closest chunks with their metadata and distances.</a:t>
            </a:r>
          </a:p>
        </p:txBody>
      </p:sp>
      <p:sp>
        <p:nvSpPr>
          <p:cNvPr id="5" name="TextBox 4"/>
          <p:cNvSpPr txBox="1"/>
          <p:nvPr/>
        </p:nvSpPr>
        <p:spPr>
          <a:xfrm>
            <a:off x="548640" y="2286000"/>
            <a:ext cx="11064240" cy="320040"/>
          </a:xfrm>
          <a:prstGeom prst="rect">
            <a:avLst/>
          </a:prstGeom>
          <a:noFill/>
        </p:spPr>
        <p:txBody>
          <a:bodyPr wrap="square" lIns="0" rIns="0" tIns="0" bIns="0" anchor="t">
            <a:spAutoFit/>
          </a:bodyPr>
          <a:lstStyle/>
          <a:p>
            <a:r>
              <a:rPr sz="1400" b="1">
                <a:solidFill>
                  <a:srgbClr val="1E2761"/>
                </a:solidFill>
                <a:latin typeface="Cambria"/>
              </a:rPr>
              <a:t>4.4 Generation Model Input</a:t>
            </a:r>
          </a:p>
        </p:txBody>
      </p:sp>
      <p:sp>
        <p:nvSpPr>
          <p:cNvPr id="6" name="Rectangle 5"/>
          <p:cNvSpPr/>
          <p:nvPr/>
        </p:nvSpPr>
        <p:spPr>
          <a:xfrm>
            <a:off x="548640" y="2651760"/>
            <a:ext cx="11064240" cy="237744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761488"/>
            <a:ext cx="10735056" cy="2157984"/>
          </a:xfrm>
          <a:prstGeom prst="rect">
            <a:avLst/>
          </a:prstGeom>
          <a:noFill/>
        </p:spPr>
        <p:txBody>
          <a:bodyPr wrap="square" lIns="0" rIns="0" tIns="0" bIns="0" anchor="t">
            <a:spAutoFit/>
          </a:bodyPr>
          <a:lstStyle/>
          <a:p>
            <a:r>
              <a:rPr sz="1050" b="0">
                <a:solidFill>
                  <a:srgbClr val="CADCFC"/>
                </a:solidFill>
                <a:latin typeface="Courier New"/>
              </a:rPr>
              <a:t>CONTEXT</a:t>
            </a:r>
          </a:p>
          <a:p>
            <a:r>
              <a:rPr sz="1050" b="0">
                <a:solidFill>
                  <a:srgbClr val="CADCFC"/>
                </a:solidFill>
                <a:latin typeface="Courier New"/>
              </a:rPr>
              <a:t>==============================</a:t>
            </a:r>
          </a:p>
          <a:p>
            <a:r>
              <a:rPr sz="1050" b="0">
                <a:solidFill>
                  <a:srgbClr val="CADCFC"/>
                </a:solidFill>
                <a:latin typeface="Courier New"/>
              </a:rPr>
              <a:t>FILE : &lt;chunk-1 filename&gt;</a:t>
            </a:r>
          </a:p>
          <a:p>
            <a:r>
              <a:rPr sz="1050" b="0">
                <a:solidFill>
                  <a:srgbClr val="CADCFC"/>
                </a:solidFill>
                <a:latin typeface="Courier New"/>
              </a:rPr>
              <a:t>==============================</a:t>
            </a:r>
          </a:p>
          <a:p>
            <a:r>
              <a:rPr sz="1050" b="0">
                <a:solidFill>
                  <a:srgbClr val="CADCFC"/>
                </a:solidFill>
                <a:latin typeface="Courier New"/>
              </a:rPr>
              <a:t>&lt;chunk-1 text&gt;</a:t>
            </a:r>
          </a:p>
          <a:p>
            <a:r>
              <a:rPr sz="1050" b="0">
                <a:solidFill>
                  <a:srgbClr val="CADCFC"/>
                </a:solidFill>
                <a:latin typeface="Courier New"/>
              </a:rPr>
              <a:t>... (chunk 2, chunk 3) ...</a:t>
            </a:r>
          </a:p>
          <a:p>
            <a:r>
              <a:rPr sz="1050" b="0">
                <a:solidFill>
                  <a:srgbClr val="CADCFC"/>
                </a:solidFill>
                <a:latin typeface="Courier New"/>
              </a:rPr>
              <a:t/>
            </a:r>
          </a:p>
          <a:p>
            <a:r>
              <a:rPr sz="1050" b="0">
                <a:solidFill>
                  <a:srgbClr val="CADCFC"/>
                </a:solidFill>
                <a:latin typeface="Courier New"/>
              </a:rPr>
              <a:t>QUESTION</a:t>
            </a:r>
          </a:p>
          <a:p>
            <a:r>
              <a:rPr sz="1050" b="0">
                <a:solidFill>
                  <a:srgbClr val="CADCFC"/>
                </a:solidFill>
                <a:latin typeface="Courier New"/>
              </a:rPr>
              <a:t>&lt;user question&gt;</a:t>
            </a:r>
          </a:p>
        </p:txBody>
      </p:sp>
      <p:sp>
        <p:nvSpPr>
          <p:cNvPr id="8" name="TextBox 7"/>
          <p:cNvSpPr txBox="1"/>
          <p:nvPr/>
        </p:nvSpPr>
        <p:spPr>
          <a:xfrm>
            <a:off x="548640" y="5257800"/>
            <a:ext cx="11064240" cy="1005840"/>
          </a:xfrm>
          <a:prstGeom prst="rect">
            <a:avLst/>
          </a:prstGeom>
          <a:noFill/>
        </p:spPr>
        <p:txBody>
          <a:bodyPr wrap="square" lIns="0" rIns="0" tIns="0" bIns="0" anchor="t">
            <a:spAutoFit/>
          </a:bodyPr>
          <a:lstStyle/>
          <a:p>
            <a:pPr>
              <a:lnSpc>
                <a:spcPct val="125000"/>
              </a:lnSpc>
            </a:pPr>
            <a:r>
              <a:rPr sz="1150" b="0">
                <a:solidFill>
                  <a:srgbClr val="1B2140"/>
                </a:solidFill>
                <a:latin typeface="Calibri"/>
              </a:rPr>
              <a:t>The three retrieved chunks are concatenated into one context block, each wrapped with a FILE: header for provenance, and sent as a single user message to </a:t>
            </a:r>
            <a:r>
              <a:rPr sz="1150" b="1">
                <a:solidFill>
                  <a:srgbClr val="1E2761"/>
                </a:solidFill>
                <a:latin typeface="Calibri"/>
              </a:rPr>
              <a:t>gpt-4o-mini</a:t>
            </a:r>
            <a:r>
              <a:rPr sz="1150" b="0">
                <a:solidFill>
                  <a:srgbClr val="1B2140"/>
                </a:solidFill>
                <a:latin typeface="Calibri"/>
              </a:rPr>
              <a:t> via the Chat Completions API — with an explicit instruction to answer only from the supplied context or state that the information was not found.</a:t>
            </a:r>
          </a:p>
        </p:txBody>
      </p:sp>
      <p:sp>
        <p:nvSpPr>
          <p:cNvPr id="9" name="TextBox 8"/>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10" name="TextBox 9"/>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5 · WHY THIS ARCHITECTURE</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Five Decisions, Five Alternatives Considered</a:t>
            </a:r>
          </a:p>
        </p:txBody>
      </p:sp>
      <p:sp>
        <p:nvSpPr>
          <p:cNvPr id="4" name="TextBox 3"/>
          <p:cNvSpPr txBox="1"/>
          <p:nvPr/>
        </p:nvSpPr>
        <p:spPr>
          <a:xfrm>
            <a:off x="685800" y="1691640"/>
            <a:ext cx="2743200" cy="256032"/>
          </a:xfrm>
          <a:prstGeom prst="rect">
            <a:avLst/>
          </a:prstGeom>
          <a:noFill/>
        </p:spPr>
        <p:txBody>
          <a:bodyPr wrap="square" lIns="0" rIns="0" tIns="0" bIns="0" anchor="t">
            <a:spAutoFit/>
          </a:bodyPr>
          <a:lstStyle/>
          <a:p>
            <a:r>
              <a:rPr sz="1000" b="1">
                <a:solidFill>
                  <a:srgbClr val="5B6B94"/>
                </a:solidFill>
                <a:latin typeface="Calibri"/>
              </a:rPr>
              <a:t>DECISION</a:t>
            </a:r>
          </a:p>
        </p:txBody>
      </p:sp>
      <p:sp>
        <p:nvSpPr>
          <p:cNvPr id="5" name="TextBox 4"/>
          <p:cNvSpPr txBox="1"/>
          <p:nvPr/>
        </p:nvSpPr>
        <p:spPr>
          <a:xfrm>
            <a:off x="3429000" y="1691640"/>
            <a:ext cx="2926080" cy="256032"/>
          </a:xfrm>
          <a:prstGeom prst="rect">
            <a:avLst/>
          </a:prstGeom>
          <a:noFill/>
        </p:spPr>
        <p:txBody>
          <a:bodyPr wrap="square" lIns="0" rIns="0" tIns="0" bIns="0" anchor="t">
            <a:spAutoFit/>
          </a:bodyPr>
          <a:lstStyle/>
          <a:p>
            <a:r>
              <a:rPr sz="1000" b="1">
                <a:solidFill>
                  <a:srgbClr val="5B6B94"/>
                </a:solidFill>
                <a:latin typeface="Calibri"/>
              </a:rPr>
              <a:t>ALTERNATIVE CONSIDERED</a:t>
            </a:r>
          </a:p>
        </p:txBody>
      </p:sp>
      <p:sp>
        <p:nvSpPr>
          <p:cNvPr id="6" name="TextBox 5"/>
          <p:cNvSpPr txBox="1"/>
          <p:nvPr/>
        </p:nvSpPr>
        <p:spPr>
          <a:xfrm>
            <a:off x="6355080" y="1691640"/>
            <a:ext cx="5394960" cy="256032"/>
          </a:xfrm>
          <a:prstGeom prst="rect">
            <a:avLst/>
          </a:prstGeom>
          <a:noFill/>
        </p:spPr>
        <p:txBody>
          <a:bodyPr wrap="square" lIns="0" rIns="0" tIns="0" bIns="0" anchor="t">
            <a:spAutoFit/>
          </a:bodyPr>
          <a:lstStyle/>
          <a:p>
            <a:r>
              <a:rPr sz="1000" b="1">
                <a:solidFill>
                  <a:srgbClr val="5B6B94"/>
                </a:solidFill>
                <a:latin typeface="Calibri"/>
              </a:rPr>
              <a:t>WHY THIS CHOICE</a:t>
            </a:r>
          </a:p>
        </p:txBody>
      </p:sp>
      <p:sp>
        <p:nvSpPr>
          <p:cNvPr id="7" name="Rectangle 6"/>
          <p:cNvSpPr/>
          <p:nvPr/>
        </p:nvSpPr>
        <p:spPr>
          <a:xfrm>
            <a:off x="548640" y="202082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93976"/>
            <a:ext cx="11064240" cy="82296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93976"/>
            <a:ext cx="2651760" cy="82296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RAG, not fine-tuning</a:t>
            </a:r>
          </a:p>
        </p:txBody>
      </p:sp>
      <p:sp>
        <p:nvSpPr>
          <p:cNvPr id="10" name="TextBox 9"/>
          <p:cNvSpPr txBox="1"/>
          <p:nvPr/>
        </p:nvSpPr>
        <p:spPr>
          <a:xfrm>
            <a:off x="3429000" y="2093976"/>
            <a:ext cx="283464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Prompted-only LLM / fine-tuned model</a:t>
            </a:r>
          </a:p>
        </p:txBody>
      </p:sp>
      <p:sp>
        <p:nvSpPr>
          <p:cNvPr id="11" name="TextBox 10"/>
          <p:cNvSpPr txBox="1"/>
          <p:nvPr/>
        </p:nvSpPr>
        <p:spPr>
          <a:xfrm>
            <a:off x="6355080" y="2093976"/>
            <a:ext cx="530352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Keeps facts current per filing cycle without retraining as disclosures arrive</a:t>
            </a:r>
          </a:p>
        </p:txBody>
      </p:sp>
      <p:sp>
        <p:nvSpPr>
          <p:cNvPr id="12" name="TextBox 11"/>
          <p:cNvSpPr txBox="1"/>
          <p:nvPr/>
        </p:nvSpPr>
        <p:spPr>
          <a:xfrm>
            <a:off x="685800" y="2916936"/>
            <a:ext cx="2651760" cy="82296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Whole-chunk retrieval</a:t>
            </a:r>
          </a:p>
        </p:txBody>
      </p:sp>
      <p:sp>
        <p:nvSpPr>
          <p:cNvPr id="13" name="TextBox 12"/>
          <p:cNvSpPr txBox="1"/>
          <p:nvPr/>
        </p:nvSpPr>
        <p:spPr>
          <a:xfrm>
            <a:off x="3429000" y="2916936"/>
            <a:ext cx="283464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Fixed-size / sliding-window chunking</a:t>
            </a:r>
          </a:p>
        </p:txBody>
      </p:sp>
      <p:sp>
        <p:nvSpPr>
          <p:cNvPr id="14" name="TextBox 13"/>
          <p:cNvSpPr txBox="1"/>
          <p:nvPr/>
        </p:nvSpPr>
        <p:spPr>
          <a:xfrm>
            <a:off x="6355080" y="2916936"/>
            <a:ext cx="530352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Embedding context is generous; fixed windows risk severing a number from its qualifier</a:t>
            </a:r>
          </a:p>
        </p:txBody>
      </p:sp>
      <p:sp>
        <p:nvSpPr>
          <p:cNvPr id="15" name="Rectangle 14"/>
          <p:cNvSpPr/>
          <p:nvPr/>
        </p:nvSpPr>
        <p:spPr>
          <a:xfrm>
            <a:off x="548640" y="3739896"/>
            <a:ext cx="11064240" cy="82296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2651760" cy="82296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text-embedding-3-small</a:t>
            </a:r>
          </a:p>
        </p:txBody>
      </p:sp>
      <p:sp>
        <p:nvSpPr>
          <p:cNvPr id="17" name="TextBox 16"/>
          <p:cNvSpPr txBox="1"/>
          <p:nvPr/>
        </p:nvSpPr>
        <p:spPr>
          <a:xfrm>
            <a:off x="3429000" y="3739896"/>
            <a:ext cx="283464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text-embedding-3-large</a:t>
            </a:r>
          </a:p>
        </p:txBody>
      </p:sp>
      <p:sp>
        <p:nvSpPr>
          <p:cNvPr id="18" name="TextBox 17"/>
          <p:cNvSpPr txBox="1"/>
          <p:nvPr/>
        </p:nvSpPr>
        <p:spPr>
          <a:xfrm>
            <a:off x="6355080" y="3739896"/>
            <a:ext cx="530352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Right balance for a low-hundreds-of-documents corpus — cheaper, faster, ceiling never hit</a:t>
            </a:r>
          </a:p>
        </p:txBody>
      </p:sp>
      <p:sp>
        <p:nvSpPr>
          <p:cNvPr id="19" name="TextBox 18"/>
          <p:cNvSpPr txBox="1"/>
          <p:nvPr/>
        </p:nvSpPr>
        <p:spPr>
          <a:xfrm>
            <a:off x="685800" y="4562856"/>
            <a:ext cx="2651760" cy="82296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ChromaDB + HNSW</a:t>
            </a:r>
          </a:p>
        </p:txBody>
      </p:sp>
      <p:sp>
        <p:nvSpPr>
          <p:cNvPr id="20" name="TextBox 19"/>
          <p:cNvSpPr txBox="1"/>
          <p:nvPr/>
        </p:nvSpPr>
        <p:spPr>
          <a:xfrm>
            <a:off x="3429000" y="4562856"/>
            <a:ext cx="283464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Hosted / server-based vector DB</a:t>
            </a:r>
          </a:p>
        </p:txBody>
      </p:sp>
      <p:sp>
        <p:nvSpPr>
          <p:cNvPr id="21" name="TextBox 20"/>
          <p:cNvSpPr txBox="1"/>
          <p:nvPr/>
        </p:nvSpPr>
        <p:spPr>
          <a:xfrm>
            <a:off x="6355080" y="4562856"/>
            <a:ext cx="530352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Lightweight, embeddable, no separate server — fits the Streamlit demo scope</a:t>
            </a:r>
          </a:p>
        </p:txBody>
      </p:sp>
      <p:sp>
        <p:nvSpPr>
          <p:cNvPr id="22" name="Rectangle 21"/>
          <p:cNvSpPr/>
          <p:nvPr/>
        </p:nvSpPr>
        <p:spPr>
          <a:xfrm>
            <a:off x="548640" y="5385816"/>
            <a:ext cx="11064240" cy="82296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85816"/>
            <a:ext cx="2651760" cy="82296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gpt-4o-mini generation</a:t>
            </a:r>
          </a:p>
        </p:txBody>
      </p:sp>
      <p:sp>
        <p:nvSpPr>
          <p:cNvPr id="24" name="TextBox 23"/>
          <p:cNvSpPr txBox="1"/>
          <p:nvPr/>
        </p:nvSpPr>
        <p:spPr>
          <a:xfrm>
            <a:off x="3429000" y="5385816"/>
            <a:ext cx="283464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Larger model (gpt-4o)</a:t>
            </a:r>
          </a:p>
        </p:txBody>
      </p:sp>
      <p:sp>
        <p:nvSpPr>
          <p:cNvPr id="25" name="TextBox 24"/>
          <p:cNvSpPr txBox="1"/>
          <p:nvPr/>
        </p:nvSpPr>
        <p:spPr>
          <a:xfrm>
            <a:off x="6355080" y="5385816"/>
            <a:ext cx="5303520" cy="82296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Inexpensive per-query, ample context for 3 chunks, follows grounding instructions reliably</a:t>
            </a:r>
          </a:p>
        </p:txBody>
      </p:sp>
      <p:sp>
        <p:nvSpPr>
          <p:cNvPr id="26" name="TextBox 25"/>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27" name="TextBox 26"/>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Oval 1"/>
          <p:cNvSpPr/>
          <p:nvPr/>
        </p:nvSpPr>
        <p:spPr>
          <a:xfrm>
            <a:off x="-1371600" y="4389120"/>
            <a:ext cx="4572000" cy="4572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365760"/>
          </a:xfrm>
          <a:prstGeom prst="rect">
            <a:avLst/>
          </a:prstGeom>
          <a:noFill/>
        </p:spPr>
        <p:txBody>
          <a:bodyPr wrap="square" lIns="0" rIns="0" tIns="0" bIns="0" anchor="t">
            <a:spAutoFit/>
          </a:bodyPr>
          <a:lstStyle/>
          <a:p>
            <a:r>
              <a:rPr sz="1300" b="1">
                <a:solidFill>
                  <a:srgbClr val="E8B84B"/>
                </a:solidFill>
                <a:latin typeface="Calibri"/>
              </a:rPr>
              <a:t>SECTION 5 · KNOWN LIMITATIONS</a:t>
            </a:r>
          </a:p>
        </p:txBody>
      </p:sp>
      <p:sp>
        <p:nvSpPr>
          <p:cNvPr id="4" name="TextBox 3"/>
          <p:cNvSpPr txBox="1"/>
          <p:nvPr/>
        </p:nvSpPr>
        <p:spPr>
          <a:xfrm>
            <a:off x="640080" y="868680"/>
            <a:ext cx="9601200" cy="1188720"/>
          </a:xfrm>
          <a:prstGeom prst="rect">
            <a:avLst/>
          </a:prstGeom>
          <a:noFill/>
        </p:spPr>
        <p:txBody>
          <a:bodyPr wrap="square" lIns="0" rIns="0" tIns="0" bIns="0" anchor="t">
            <a:spAutoFit/>
          </a:bodyPr>
          <a:lstStyle/>
          <a:p>
            <a:r>
              <a:rPr sz="3000" b="1">
                <a:solidFill>
                  <a:srgbClr val="FFFFFF"/>
                </a:solidFill>
                <a:latin typeface="Cambria"/>
              </a:rPr>
              <a:t>Stated Plainly, Not Glossed Over</a:t>
            </a:r>
          </a:p>
        </p:txBody>
      </p:sp>
      <p:sp>
        <p:nvSpPr>
          <p:cNvPr id="5" name="Oval 4"/>
          <p:cNvSpPr/>
          <p:nvPr/>
        </p:nvSpPr>
        <p:spPr>
          <a:xfrm>
            <a:off x="640080" y="2606040"/>
            <a:ext cx="109728" cy="109728"/>
          </a:xfrm>
          <a:prstGeom prst="ellipse">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87168"/>
            <a:ext cx="9966960" cy="411480"/>
          </a:xfrm>
          <a:prstGeom prst="rect">
            <a:avLst/>
          </a:prstGeom>
          <a:noFill/>
        </p:spPr>
        <p:txBody>
          <a:bodyPr wrap="square" lIns="0" rIns="0" tIns="0" bIns="0" anchor="ctr">
            <a:spAutoFit/>
          </a:bodyPr>
          <a:lstStyle/>
          <a:p>
            <a:r>
              <a:rPr sz="1300" b="0">
                <a:solidFill>
                  <a:srgbClr val="FFFFFF"/>
                </a:solidFill>
                <a:latin typeface="Calibri"/>
              </a:rPr>
              <a:t>Retrieval is fixed at the top-3 nearest chunks with no re-ranking or query decomposition — a question needing evidence from 4+ filings will not see all of it.</a:t>
            </a:r>
          </a:p>
        </p:txBody>
      </p:sp>
      <p:sp>
        <p:nvSpPr>
          <p:cNvPr id="7" name="Oval 6"/>
          <p:cNvSpPr/>
          <p:nvPr/>
        </p:nvSpPr>
        <p:spPr>
          <a:xfrm>
            <a:off x="640080" y="3337560"/>
            <a:ext cx="109728" cy="109728"/>
          </a:xfrm>
          <a:prstGeom prst="ellipse">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18688"/>
            <a:ext cx="9966960" cy="411480"/>
          </a:xfrm>
          <a:prstGeom prst="rect">
            <a:avLst/>
          </a:prstGeom>
          <a:noFill/>
        </p:spPr>
        <p:txBody>
          <a:bodyPr wrap="square" lIns="0" rIns="0" tIns="0" bIns="0" anchor="ctr">
            <a:spAutoFit/>
          </a:bodyPr>
          <a:lstStyle/>
          <a:p>
            <a:r>
              <a:rPr sz="1300" b="0">
                <a:solidFill>
                  <a:srgbClr val="FFFFFF"/>
                </a:solidFill>
                <a:latin typeface="Calibri"/>
              </a:rPr>
              <a:t>No metadata filtering at query time (date, document type) — retrieval relies entirely on embedding similarity even when a query implies a specific period or source.</a:t>
            </a:r>
          </a:p>
        </p:txBody>
      </p:sp>
      <p:sp>
        <p:nvSpPr>
          <p:cNvPr id="9" name="Oval 8"/>
          <p:cNvSpPr/>
          <p:nvPr/>
        </p:nvSpPr>
        <p:spPr>
          <a:xfrm>
            <a:off x="640080" y="4069080"/>
            <a:ext cx="109728" cy="109728"/>
          </a:xfrm>
          <a:prstGeom prst="ellipse">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50208"/>
            <a:ext cx="9966960" cy="411480"/>
          </a:xfrm>
          <a:prstGeom prst="rect">
            <a:avLst/>
          </a:prstGeom>
          <a:noFill/>
        </p:spPr>
        <p:txBody>
          <a:bodyPr wrap="square" lIns="0" rIns="0" tIns="0" bIns="0" anchor="ctr">
            <a:spAutoFit/>
          </a:bodyPr>
          <a:lstStyle/>
          <a:p>
            <a:r>
              <a:rPr sz="1300" b="0">
                <a:solidFill>
                  <a:srgbClr val="FFFFFF"/>
                </a:solidFill>
                <a:latin typeface="Calibri"/>
              </a:rPr>
              <a:t>Section-level extraction for the 28 long NSE documents has not run at full scale — those 749 section groups are not yet part of the searchable corpus.</a:t>
            </a:r>
          </a:p>
        </p:txBody>
      </p:sp>
      <p:sp>
        <p:nvSpPr>
          <p:cNvPr id="11" name="TextBox 10"/>
          <p:cNvSpPr txBox="1"/>
          <p:nvPr/>
        </p:nvSpPr>
        <p:spPr>
          <a:xfrm>
            <a:off x="640080" y="4938648"/>
            <a:ext cx="10241280" cy="548640"/>
          </a:xfrm>
          <a:prstGeom prst="rect">
            <a:avLst/>
          </a:prstGeom>
          <a:noFill/>
        </p:spPr>
        <p:txBody>
          <a:bodyPr wrap="square" lIns="0" rIns="0" tIns="0" bIns="0" anchor="t">
            <a:spAutoFit/>
          </a:bodyPr>
          <a:lstStyle/>
          <a:p>
            <a:pPr>
              <a:lnSpc>
                <a:spcPct val="120000"/>
              </a:lnSpc>
            </a:pPr>
            <a:r>
              <a:rPr sz="1150" b="0">
                <a:solidFill>
                  <a:srgbClr val="CADCFC"/>
                </a:solidFill>
                <a:latin typeface="Calibri"/>
              </a:rPr>
              <a:t>The corpus currently indexed for retrieval is the 109 whole-document NSE filings plus IR, Yahoo Finance, and Trendlyne material (and, for §6, the 10-document demo subset).</a:t>
            </a:r>
          </a:p>
        </p:txBody>
      </p:sp>
      <p:sp>
        <p:nvSpPr>
          <p:cNvPr id="12" name="TextBox 11"/>
          <p:cNvSpPr txBox="1"/>
          <p:nvPr/>
        </p:nvSpPr>
        <p:spPr>
          <a:xfrm>
            <a:off x="640080" y="6400800"/>
            <a:ext cx="9144000" cy="320040"/>
          </a:xfrm>
          <a:prstGeom prst="rect">
            <a:avLst/>
          </a:prstGeom>
          <a:noFill/>
        </p:spPr>
        <p:txBody>
          <a:bodyPr wrap="square" lIns="0" rIns="0" tIns="0" bIns="0" anchor="t">
            <a:spAutoFit/>
          </a:bodyPr>
          <a:lstStyle/>
          <a:p>
            <a:r>
              <a:rPr sz="1050" b="0">
                <a:solidFill>
                  <a:srgbClr val="5B6B94"/>
                </a:solidFill>
                <a:latin typeface="Calibri"/>
              </a:rPr>
              <a:t>Team 06  ·  FinQuery  ·  Data Science and AI Lab, T2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6 · SMALL-SCALE END-TO-END VERIFICATION</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Ten Filings, Carried Through the Full Pipeline</a:t>
            </a:r>
          </a:p>
        </p:txBody>
      </p:sp>
      <p:sp>
        <p:nvSpPr>
          <p:cNvPr id="4" name="TextBox 3"/>
          <p:cNvSpPr txBox="1"/>
          <p:nvPr/>
        </p:nvSpPr>
        <p:spPr>
          <a:xfrm>
            <a:off x="548640" y="1417320"/>
            <a:ext cx="11064240" cy="457200"/>
          </a:xfrm>
          <a:prstGeom prst="rect">
            <a:avLst/>
          </a:prstGeom>
          <a:noFill/>
        </p:spPr>
        <p:txBody>
          <a:bodyPr wrap="square" lIns="0" rIns="0" tIns="0" bIns="0" anchor="t">
            <a:spAutoFit/>
          </a:bodyPr>
          <a:lstStyle/>
          <a:p>
            <a:pPr>
              <a:lnSpc>
                <a:spcPct val="115000"/>
              </a:lnSpc>
            </a:pPr>
            <a:r>
              <a:rPr sz="1100" b="0">
                <a:solidFill>
                  <a:srgbClr val="5B6B94"/>
                </a:solidFill>
                <a:latin typeface="Calibri"/>
              </a:rPr>
              <a:t>Ten NSE announcements spanning several disclosure types (CSR press releases, an acquisition, a joint-venture outcome, ESOP/postal-ballot filings, an AI-day filing) confirm every stage interoperates — not just that each script runs in isolation.</a:t>
            </a:r>
          </a:p>
        </p:txBody>
      </p:sp>
      <p:sp>
        <p:nvSpPr>
          <p:cNvPr id="5" name="TextBox 4"/>
          <p:cNvSpPr txBox="1"/>
          <p:nvPr/>
        </p:nvSpPr>
        <p:spPr>
          <a:xfrm>
            <a:off x="685800" y="2103120"/>
            <a:ext cx="2377440" cy="256032"/>
          </a:xfrm>
          <a:prstGeom prst="rect">
            <a:avLst/>
          </a:prstGeom>
          <a:noFill/>
        </p:spPr>
        <p:txBody>
          <a:bodyPr wrap="square" lIns="0" rIns="0" tIns="0" bIns="0" anchor="t">
            <a:spAutoFit/>
          </a:bodyPr>
          <a:lstStyle/>
          <a:p>
            <a:r>
              <a:rPr sz="1000" b="1">
                <a:solidFill>
                  <a:srgbClr val="5B6B94"/>
                </a:solidFill>
                <a:latin typeface="Calibri"/>
              </a:rPr>
              <a:t>STAGE</a:t>
            </a:r>
          </a:p>
        </p:txBody>
      </p:sp>
      <p:sp>
        <p:nvSpPr>
          <p:cNvPr id="6" name="TextBox 5"/>
          <p:cNvSpPr txBox="1"/>
          <p:nvPr/>
        </p:nvSpPr>
        <p:spPr>
          <a:xfrm>
            <a:off x="3063240" y="2103120"/>
            <a:ext cx="3474720" cy="256032"/>
          </a:xfrm>
          <a:prstGeom prst="rect">
            <a:avLst/>
          </a:prstGeom>
          <a:noFill/>
        </p:spPr>
        <p:txBody>
          <a:bodyPr wrap="square" lIns="0" rIns="0" tIns="0" bIns="0" anchor="t">
            <a:spAutoFit/>
          </a:bodyPr>
          <a:lstStyle/>
          <a:p>
            <a:r>
              <a:rPr sz="1000" b="1">
                <a:solidFill>
                  <a:srgbClr val="5B6B94"/>
                </a:solidFill>
                <a:latin typeface="Calibri"/>
              </a:rPr>
              <a:t>EXECUTED BY</a:t>
            </a:r>
          </a:p>
        </p:txBody>
      </p:sp>
      <p:sp>
        <p:nvSpPr>
          <p:cNvPr id="7" name="TextBox 6"/>
          <p:cNvSpPr txBox="1"/>
          <p:nvPr/>
        </p:nvSpPr>
        <p:spPr>
          <a:xfrm>
            <a:off x="6537960" y="2103120"/>
            <a:ext cx="5212080" cy="256032"/>
          </a:xfrm>
          <a:prstGeom prst="rect">
            <a:avLst/>
          </a:prstGeom>
          <a:noFill/>
        </p:spPr>
        <p:txBody>
          <a:bodyPr wrap="square" lIns="0" rIns="0" tIns="0" bIns="0" anchor="t">
            <a:spAutoFit/>
          </a:bodyPr>
          <a:lstStyle/>
          <a:p>
            <a:r>
              <a:rPr sz="1000" b="1">
                <a:solidFill>
                  <a:srgbClr val="5B6B94"/>
                </a:solidFill>
                <a:latin typeface="Calibri"/>
              </a:rPr>
              <a:t>VERIFIED OUTCOME</a:t>
            </a:r>
          </a:p>
        </p:txBody>
      </p:sp>
      <p:sp>
        <p:nvSpPr>
          <p:cNvPr id="8" name="Rectangle 7"/>
          <p:cNvSpPr/>
          <p:nvPr/>
        </p:nvSpPr>
        <p:spPr>
          <a:xfrm>
            <a:off x="548640" y="2432304"/>
            <a:ext cx="11064240" cy="0"/>
          </a:xfrm>
          <a:prstGeom prst="rect">
            <a:avLst/>
          </a:prstGeom>
          <a:noFill/>
          <a:ln w="12700">
            <a:solidFill>
              <a:srgbClr val="EEF3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05456"/>
            <a:ext cx="11064240" cy="6400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0545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Conversion + cleaning</a:t>
            </a:r>
          </a:p>
        </p:txBody>
      </p:sp>
      <p:sp>
        <p:nvSpPr>
          <p:cNvPr id="11" name="TextBox 10"/>
          <p:cNvSpPr txBox="1"/>
          <p:nvPr/>
        </p:nvSpPr>
        <p:spPr>
          <a:xfrm>
            <a:off x="3063240" y="250545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run-whole-doc-prompt-on-demo-bot.py</a:t>
            </a:r>
          </a:p>
        </p:txBody>
      </p:sp>
      <p:sp>
        <p:nvSpPr>
          <p:cNvPr id="12" name="TextBox 11"/>
          <p:cNvSpPr txBox="1"/>
          <p:nvPr/>
        </p:nvSpPr>
        <p:spPr>
          <a:xfrm>
            <a:off x="6537960" y="250545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10/10 cleaned Markdown files, valid front matter</a:t>
            </a:r>
          </a:p>
        </p:txBody>
      </p:sp>
      <p:sp>
        <p:nvSpPr>
          <p:cNvPr id="13" name="TextBox 12"/>
          <p:cNvSpPr txBox="1"/>
          <p:nvPr/>
        </p:nvSpPr>
        <p:spPr>
          <a:xfrm>
            <a:off x="685800" y="314553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Chunk definition</a:t>
            </a:r>
          </a:p>
        </p:txBody>
      </p:sp>
      <p:sp>
        <p:nvSpPr>
          <p:cNvPr id="14" name="TextBox 13"/>
          <p:cNvSpPr txBox="1"/>
          <p:nvPr/>
        </p:nvSpPr>
        <p:spPr>
          <a:xfrm>
            <a:off x="3063240" y="314553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§2.6 policy</a:t>
            </a:r>
          </a:p>
        </p:txBody>
      </p:sp>
      <p:sp>
        <p:nvSpPr>
          <p:cNvPr id="15" name="TextBox 14"/>
          <p:cNvSpPr txBox="1"/>
          <p:nvPr/>
        </p:nvSpPr>
        <p:spPr>
          <a:xfrm>
            <a:off x="6537960" y="314553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Each of 10 cleaned files = exactly one chunk</a:t>
            </a:r>
          </a:p>
        </p:txBody>
      </p:sp>
      <p:sp>
        <p:nvSpPr>
          <p:cNvPr id="16" name="Rectangle 15"/>
          <p:cNvSpPr/>
          <p:nvPr/>
        </p:nvSpPr>
        <p:spPr>
          <a:xfrm>
            <a:off x="548640" y="3785616"/>
            <a:ext cx="11064240" cy="6400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8561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Embedding generation</a:t>
            </a:r>
          </a:p>
        </p:txBody>
      </p:sp>
      <p:sp>
        <p:nvSpPr>
          <p:cNvPr id="18" name="TextBox 17"/>
          <p:cNvSpPr txBox="1"/>
          <p:nvPr/>
        </p:nvSpPr>
        <p:spPr>
          <a:xfrm>
            <a:off x="3063240" y="378561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index_documents.py</a:t>
            </a:r>
          </a:p>
        </p:txBody>
      </p:sp>
      <p:sp>
        <p:nvSpPr>
          <p:cNvPr id="19" name="TextBox 18"/>
          <p:cNvSpPr txBox="1"/>
          <p:nvPr/>
        </p:nvSpPr>
        <p:spPr>
          <a:xfrm>
            <a:off x="6537960" y="378561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All 10 chunks embedded, written to persistent Chroma store</a:t>
            </a:r>
          </a:p>
        </p:txBody>
      </p:sp>
      <p:sp>
        <p:nvSpPr>
          <p:cNvPr id="20" name="TextBox 19"/>
          <p:cNvSpPr txBox="1"/>
          <p:nvPr/>
        </p:nvSpPr>
        <p:spPr>
          <a:xfrm>
            <a:off x="685800" y="442569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Storage</a:t>
            </a:r>
          </a:p>
        </p:txBody>
      </p:sp>
      <p:sp>
        <p:nvSpPr>
          <p:cNvPr id="21" name="TextBox 20"/>
          <p:cNvSpPr txBox="1"/>
          <p:nvPr/>
        </p:nvSpPr>
        <p:spPr>
          <a:xfrm>
            <a:off x="3063240" y="442569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ChromaDB `finance_documents`</a:t>
            </a:r>
          </a:p>
        </p:txBody>
      </p:sp>
      <p:sp>
        <p:nvSpPr>
          <p:cNvPr id="22" name="TextBox 21"/>
          <p:cNvSpPr txBox="1"/>
          <p:nvPr/>
        </p:nvSpPr>
        <p:spPr>
          <a:xfrm>
            <a:off x="6537960" y="442569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One vector + document + metadata record per chunk</a:t>
            </a:r>
          </a:p>
        </p:txBody>
      </p:sp>
      <p:sp>
        <p:nvSpPr>
          <p:cNvPr id="23" name="Rectangle 22"/>
          <p:cNvSpPr/>
          <p:nvPr/>
        </p:nvSpPr>
        <p:spPr>
          <a:xfrm>
            <a:off x="548640" y="5065776"/>
            <a:ext cx="11064240" cy="6400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06577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Retrieval</a:t>
            </a:r>
          </a:p>
        </p:txBody>
      </p:sp>
      <p:sp>
        <p:nvSpPr>
          <p:cNvPr id="25" name="TextBox 24"/>
          <p:cNvSpPr txBox="1"/>
          <p:nvPr/>
        </p:nvSpPr>
        <p:spPr>
          <a:xfrm>
            <a:off x="3063240" y="506577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search.py / retriever.py</a:t>
            </a:r>
          </a:p>
        </p:txBody>
      </p:sp>
      <p:sp>
        <p:nvSpPr>
          <p:cNvPr id="26" name="TextBox 25"/>
          <p:cNvSpPr txBox="1"/>
          <p:nvPr/>
        </p:nvSpPr>
        <p:spPr>
          <a:xfrm>
            <a:off x="6537960" y="506577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Query correctly returns 3 nearest of 10 chunks via HNSW</a:t>
            </a:r>
          </a:p>
        </p:txBody>
      </p:sp>
      <p:sp>
        <p:nvSpPr>
          <p:cNvPr id="27" name="TextBox 26"/>
          <p:cNvSpPr txBox="1"/>
          <p:nvPr/>
        </p:nvSpPr>
        <p:spPr>
          <a:xfrm>
            <a:off x="685800" y="5705856"/>
            <a:ext cx="2286000" cy="640080"/>
          </a:xfrm>
          <a:prstGeom prst="rect">
            <a:avLst/>
          </a:prstGeom>
          <a:noFill/>
        </p:spPr>
        <p:txBody>
          <a:bodyPr wrap="square" lIns="0" rIns="0" tIns="0" bIns="0" anchor="ctr">
            <a:spAutoFit/>
          </a:bodyPr>
          <a:lstStyle/>
          <a:p>
            <a:pPr>
              <a:lnSpc>
                <a:spcPct val="100000"/>
              </a:lnSpc>
            </a:pPr>
            <a:r>
              <a:rPr sz="1050" b="1">
                <a:solidFill>
                  <a:srgbClr val="1B2140"/>
                </a:solidFill>
                <a:latin typeface="Calibri"/>
              </a:rPr>
              <a:t>Generation</a:t>
            </a:r>
          </a:p>
        </p:txBody>
      </p:sp>
      <p:sp>
        <p:nvSpPr>
          <p:cNvPr id="28" name="TextBox 27"/>
          <p:cNvSpPr txBox="1"/>
          <p:nvPr/>
        </p:nvSpPr>
        <p:spPr>
          <a:xfrm>
            <a:off x="3063240" y="5705856"/>
            <a:ext cx="3383280" cy="640080"/>
          </a:xfrm>
          <a:prstGeom prst="rect">
            <a:avLst/>
          </a:prstGeom>
          <a:noFill/>
        </p:spPr>
        <p:txBody>
          <a:bodyPr wrap="square" lIns="0" rIns="0" tIns="0" bIns="0" anchor="ctr">
            <a:spAutoFit/>
          </a:bodyPr>
          <a:lstStyle/>
          <a:p>
            <a:pPr>
              <a:lnSpc>
                <a:spcPct val="100000"/>
              </a:lnSpc>
            </a:pPr>
            <a:r>
              <a:rPr sz="950" b="0">
                <a:solidFill>
                  <a:srgbClr val="1E2761"/>
                </a:solidFill>
                <a:latin typeface="Courier New"/>
              </a:rPr>
              <a:t>retriever.py → gpt-4o-mini</a:t>
            </a:r>
          </a:p>
        </p:txBody>
      </p:sp>
      <p:sp>
        <p:nvSpPr>
          <p:cNvPr id="29" name="TextBox 28"/>
          <p:cNvSpPr txBox="1"/>
          <p:nvPr/>
        </p:nvSpPr>
        <p:spPr>
          <a:xfrm>
            <a:off x="6537960" y="5705856"/>
            <a:ext cx="5120640" cy="640080"/>
          </a:xfrm>
          <a:prstGeom prst="rect">
            <a:avLst/>
          </a:prstGeom>
          <a:noFill/>
        </p:spPr>
        <p:txBody>
          <a:bodyPr wrap="square" lIns="0" rIns="0" tIns="0" bIns="0" anchor="ctr">
            <a:spAutoFit/>
          </a:bodyPr>
          <a:lstStyle/>
          <a:p>
            <a:pPr>
              <a:lnSpc>
                <a:spcPct val="100000"/>
              </a:lnSpc>
            </a:pPr>
            <a:r>
              <a:rPr sz="1050" b="0">
                <a:solidFill>
                  <a:srgbClr val="5B6B94"/>
                </a:solidFill>
                <a:latin typeface="Calibri"/>
              </a:rPr>
              <a:t>Answer grounded in the 3 retrieved chunks</a:t>
            </a:r>
          </a:p>
        </p:txBody>
      </p:sp>
      <p:sp>
        <p:nvSpPr>
          <p:cNvPr id="30" name="TextBox 29"/>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31" name="TextBox 30"/>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6 · SMALL-SCALE END-TO-END VERIFICATION</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Example Query — Embedding &amp; Top-3 Retrieval</a:t>
            </a:r>
          </a:p>
        </p:txBody>
      </p:sp>
      <p:sp>
        <p:nvSpPr>
          <p:cNvPr id="4" name="Rectangle 3"/>
          <p:cNvSpPr/>
          <p:nvPr/>
        </p:nvSpPr>
        <p:spPr>
          <a:xfrm>
            <a:off x="548640" y="1417320"/>
            <a:ext cx="11064240" cy="5486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1417320"/>
            <a:ext cx="10625328" cy="548640"/>
          </a:xfrm>
          <a:prstGeom prst="rect">
            <a:avLst/>
          </a:prstGeom>
          <a:noFill/>
        </p:spPr>
        <p:txBody>
          <a:bodyPr wrap="square" lIns="0" rIns="0" tIns="0" bIns="0" anchor="ctr">
            <a:spAutoFit/>
          </a:bodyPr>
          <a:lstStyle/>
          <a:p>
            <a:r>
              <a:rPr sz="1100" b="1">
                <a:solidFill>
                  <a:srgbClr val="E8B84B"/>
                </a:solidFill>
                <a:latin typeface="Calibri"/>
              </a:rPr>
              <a:t>QUERY  </a:t>
            </a:r>
            <a:r>
              <a:rPr sz="1400" b="1">
                <a:solidFill>
                  <a:srgbClr val="FFFFFF"/>
                </a:solidFill>
                <a:latin typeface="Cambria"/>
              </a:rPr>
              <a:t>"What did Infosys announce about its collaboration with OpenAI?"</a:t>
            </a:r>
          </a:p>
        </p:txBody>
      </p:sp>
      <p:pic>
        <p:nvPicPr>
          <p:cNvPr id="6" name="Picture 5" descr="1.jpeg"/>
          <p:cNvPicPr>
            <a:picLocks noChangeAspect="1"/>
          </p:cNvPicPr>
          <p:nvPr/>
        </p:nvPicPr>
        <p:blipFill>
          <a:blip r:embed="rId2"/>
          <a:stretch>
            <a:fillRect/>
          </a:stretch>
        </p:blipFill>
        <p:spPr>
          <a:xfrm>
            <a:off x="548640" y="2541627"/>
            <a:ext cx="5394960" cy="2689145"/>
          </a:xfrm>
          <a:prstGeom prst="rect">
            <a:avLst/>
          </a:prstGeom>
        </p:spPr>
      </p:pic>
      <p:pic>
        <p:nvPicPr>
          <p:cNvPr id="7" name="Picture 6" descr="2.jpeg"/>
          <p:cNvPicPr>
            <a:picLocks noChangeAspect="1"/>
          </p:cNvPicPr>
          <p:nvPr/>
        </p:nvPicPr>
        <p:blipFill>
          <a:blip r:embed="rId3"/>
          <a:stretch>
            <a:fillRect/>
          </a:stretch>
        </p:blipFill>
        <p:spPr>
          <a:xfrm>
            <a:off x="6217920" y="2290191"/>
            <a:ext cx="5394960" cy="3192018"/>
          </a:xfrm>
          <a:prstGeom prst="rect">
            <a:avLst/>
          </a:prstGeom>
        </p:spPr>
      </p:pic>
      <p:sp>
        <p:nvSpPr>
          <p:cNvPr id="8" name="TextBox 7"/>
          <p:cNvSpPr txBox="1"/>
          <p:nvPr/>
        </p:nvSpPr>
        <p:spPr>
          <a:xfrm>
            <a:off x="548640" y="5669280"/>
            <a:ext cx="5394960" cy="731520"/>
          </a:xfrm>
          <a:prstGeom prst="rect">
            <a:avLst/>
          </a:prstGeom>
          <a:noFill/>
        </p:spPr>
        <p:txBody>
          <a:bodyPr wrap="square" lIns="0" rIns="0" tIns="0" bIns="0" anchor="t">
            <a:spAutoFit/>
          </a:bodyPr>
          <a:lstStyle/>
          <a:p>
            <a:pPr algn="ctr"/>
            <a:r>
              <a:rPr sz="1000" b="0">
                <a:solidFill>
                  <a:srgbClr val="5B6B94"/>
                </a:solidFill>
                <a:latin typeface="Calibri"/>
              </a:rPr>
              <a:t>Rank #1: Infosys_22042026160213_PR_April222026_signed.md (distance 0.472)</a:t>
            </a:r>
          </a:p>
        </p:txBody>
      </p:sp>
      <p:sp>
        <p:nvSpPr>
          <p:cNvPr id="9" name="TextBox 8"/>
          <p:cNvSpPr txBox="1"/>
          <p:nvPr/>
        </p:nvSpPr>
        <p:spPr>
          <a:xfrm>
            <a:off x="6217920" y="5669280"/>
            <a:ext cx="5394960" cy="731520"/>
          </a:xfrm>
          <a:prstGeom prst="rect">
            <a:avLst/>
          </a:prstGeom>
          <a:noFill/>
        </p:spPr>
        <p:txBody>
          <a:bodyPr wrap="square" lIns="0" rIns="0" tIns="0" bIns="0" anchor="t">
            <a:spAutoFit/>
          </a:bodyPr>
          <a:lstStyle/>
          <a:p>
            <a:pPr algn="ctr"/>
            <a:r>
              <a:rPr sz="1000" b="0">
                <a:solidFill>
                  <a:srgbClr val="5B6B94"/>
                </a:solidFill>
                <a:latin typeface="Calibri"/>
              </a:rPr>
              <a:t>Rank #2 / #3: distances 0.924 and 0.955 — complete the top-3 context set</a:t>
            </a:r>
          </a:p>
        </p:txBody>
      </p:sp>
      <p:sp>
        <p:nvSpPr>
          <p:cNvPr id="10" name="TextBox 9"/>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11" name="TextBox 10"/>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320040"/>
          </a:xfrm>
          <a:prstGeom prst="rect">
            <a:avLst/>
          </a:prstGeom>
          <a:noFill/>
        </p:spPr>
        <p:txBody>
          <a:bodyPr wrap="square" lIns="0" rIns="0" tIns="0" bIns="0" anchor="t">
            <a:spAutoFit/>
          </a:bodyPr>
          <a:lstStyle/>
          <a:p>
            <a:r>
              <a:rPr sz="1300" b="1">
                <a:solidFill>
                  <a:srgbClr val="1E2761"/>
                </a:solidFill>
                <a:latin typeface="Calibri"/>
              </a:rPr>
              <a:t>SECTION 6 · SMALL-SCALE END-TO-END VERIFICATION</a:t>
            </a:r>
          </a:p>
        </p:txBody>
      </p:sp>
      <p:sp>
        <p:nvSpPr>
          <p:cNvPr id="3" name="TextBox 2"/>
          <p:cNvSpPr txBox="1"/>
          <p:nvPr/>
        </p:nvSpPr>
        <p:spPr>
          <a:xfrm>
            <a:off x="548640" y="621792"/>
            <a:ext cx="11064240" cy="640080"/>
          </a:xfrm>
          <a:prstGeom prst="rect">
            <a:avLst/>
          </a:prstGeom>
          <a:noFill/>
        </p:spPr>
        <p:txBody>
          <a:bodyPr wrap="square" lIns="0" rIns="0" tIns="0" bIns="0" anchor="t">
            <a:spAutoFit/>
          </a:bodyPr>
          <a:lstStyle/>
          <a:p>
            <a:r>
              <a:rPr sz="3000" b="1">
                <a:solidFill>
                  <a:srgbClr val="1B2140"/>
                </a:solidFill>
                <a:latin typeface="Cambria"/>
              </a:rPr>
              <a:t>Generated Answer, Grounded in Retrieved Context</a:t>
            </a:r>
          </a:p>
        </p:txBody>
      </p:sp>
      <p:pic>
        <p:nvPicPr>
          <p:cNvPr id="4" name="Picture 3" descr="3.jpeg"/>
          <p:cNvPicPr>
            <a:picLocks noChangeAspect="1"/>
          </p:cNvPicPr>
          <p:nvPr/>
        </p:nvPicPr>
        <p:blipFill>
          <a:blip r:embed="rId2"/>
          <a:stretch>
            <a:fillRect/>
          </a:stretch>
        </p:blipFill>
        <p:spPr>
          <a:xfrm>
            <a:off x="2189906" y="1508760"/>
            <a:ext cx="7781708" cy="1005840"/>
          </a:xfrm>
          <a:prstGeom prst="rect">
            <a:avLst/>
          </a:prstGeom>
        </p:spPr>
      </p:pic>
      <p:sp>
        <p:nvSpPr>
          <p:cNvPr id="5" name="Rectangle 4"/>
          <p:cNvSpPr/>
          <p:nvPr/>
        </p:nvSpPr>
        <p:spPr>
          <a:xfrm>
            <a:off x="548640" y="2743200"/>
            <a:ext cx="11064240" cy="2011680"/>
          </a:xfrm>
          <a:prstGeom prst="rect">
            <a:avLst/>
          </a:prstGeom>
          <a:solidFill>
            <a:srgbClr val="EE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10515600" cy="1645920"/>
          </a:xfrm>
          <a:prstGeom prst="rect">
            <a:avLst/>
          </a:prstGeom>
          <a:noFill/>
        </p:spPr>
        <p:txBody>
          <a:bodyPr wrap="square" lIns="0" rIns="0" tIns="0" bIns="0" anchor="t">
            <a:spAutoFit/>
          </a:bodyPr>
          <a:lstStyle/>
          <a:p>
            <a:pPr>
              <a:lnSpc>
                <a:spcPct val="130000"/>
              </a:lnSpc>
            </a:pPr>
            <a:r>
              <a:rPr sz="1300" b="0">
                <a:solidFill>
                  <a:srgbClr val="1B2140"/>
                </a:solidFill>
                <a:latin typeface="Calibri"/>
              </a:rPr>
              <a:t>“Infosys announced a strategic collaboration with OpenAI to help enterprises transform software development and modernization using OpenAI's frontier AI models and products like Codex. This collaboration will combine OpenAI's technology with Infosys Topaz Fabric to facilitate practical, responsible deployment and measurable business outcomes — focused on software engineering, legacy modernization, DevOps automation, and e-commerce.”</a:t>
            </a:r>
          </a:p>
        </p:txBody>
      </p:sp>
      <p:sp>
        <p:nvSpPr>
          <p:cNvPr id="7" name="TextBox 6"/>
          <p:cNvSpPr txBox="1"/>
          <p:nvPr/>
        </p:nvSpPr>
        <p:spPr>
          <a:xfrm>
            <a:off x="548640" y="4938648"/>
            <a:ext cx="11064240" cy="914400"/>
          </a:xfrm>
          <a:prstGeom prst="rect">
            <a:avLst/>
          </a:prstGeom>
          <a:noFill/>
        </p:spPr>
        <p:txBody>
          <a:bodyPr wrap="square" lIns="0" rIns="0" tIns="0" bIns="0" anchor="t">
            <a:spAutoFit/>
          </a:bodyPr>
          <a:lstStyle/>
          <a:p>
            <a:pPr>
              <a:lnSpc>
                <a:spcPct val="125000"/>
              </a:lnSpc>
            </a:pPr>
            <a:r>
              <a:rPr sz="1150" b="0">
                <a:solidFill>
                  <a:srgbClr val="5B6B94"/>
                </a:solidFill>
                <a:latin typeface="Calibri"/>
              </a:rPr>
              <a:t>This run demonstrates the full chain end to end: a natural-language question is embedded, matched via HNSW search, and answered using only the text of the retrieved chunks — with the correct top-ranked chunk surfaced first by similarity distance, exactly as the architecture in §3 and §4 specifies.</a:t>
            </a:r>
          </a:p>
        </p:txBody>
      </p:sp>
      <p:sp>
        <p:nvSpPr>
          <p:cNvPr id="8" name="TextBox 7"/>
          <p:cNvSpPr txBox="1"/>
          <p:nvPr/>
        </p:nvSpPr>
        <p:spPr>
          <a:xfrm>
            <a:off x="457200" y="6528816"/>
            <a:ext cx="7315200" cy="274320"/>
          </a:xfrm>
          <a:prstGeom prst="rect">
            <a:avLst/>
          </a:prstGeom>
          <a:noFill/>
        </p:spPr>
        <p:txBody>
          <a:bodyPr wrap="square" lIns="0" rIns="0" tIns="0" bIns="0" anchor="t">
            <a:spAutoFit/>
          </a:bodyPr>
          <a:lstStyle/>
          <a:p>
            <a:r>
              <a:rPr sz="900" b="0">
                <a:solidFill>
                  <a:srgbClr val="5B6B94"/>
                </a:solidFill>
                <a:latin typeface="Calibri"/>
              </a:rPr>
              <a:t>FinQuery — Milestone 3</a:t>
            </a:r>
          </a:p>
        </p:txBody>
      </p:sp>
      <p:sp>
        <p:nvSpPr>
          <p:cNvPr id="9" name="TextBox 8"/>
          <p:cNvSpPr txBox="1"/>
          <p:nvPr/>
        </p:nvSpPr>
        <p:spPr>
          <a:xfrm>
            <a:off x="11430000" y="6528816"/>
            <a:ext cx="365760" cy="274320"/>
          </a:xfrm>
          <a:prstGeom prst="rect">
            <a:avLst/>
          </a:prstGeom>
          <a:noFill/>
        </p:spPr>
        <p:txBody>
          <a:bodyPr wrap="square" lIns="0" rIns="0" tIns="0" bIns="0" anchor="t">
            <a:spAutoFit/>
          </a:bodyPr>
          <a:lstStyle/>
          <a:p>
            <a:pPr algn="r"/>
            <a:r>
              <a:rPr sz="900" b="0">
                <a:solidFill>
                  <a:srgbClr val="5B6B94"/>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