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3+AaoeYKtqwtgs7U5y+KcNcqT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013221-C306-4BA2-8617-95C4D1E5531B}">
  <a:tblStyle styleId="{23013221-C306-4BA2-8617-95C4D1E553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0d1c9308a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0d1c9308a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screener.i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CADCFC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11634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SCIENCE &amp; AI LAB   |   MILESTONE 1   |   T2 –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74" y="1874525"/>
            <a:ext cx="10983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b="1" lang="en-US" sz="30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FinQuery: An AI-powered, stock-specific, Public Update Analyzer (PUA) for Indian Capital Markets</a:t>
            </a:r>
            <a:endParaRPr b="1" sz="3000">
              <a:solidFill>
                <a:srgbClr val="FFFF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20040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Retrieval-Augmented Generation system for multi-document financial reasoning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498848"/>
            <a:ext cx="6400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Akbar Ali — 23f1002997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Gurram Sai Sri Ram Hruthik — 22f3001648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NandanReddy Parnapalli — 22f3002857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 Gattani — 21f3002082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Shubhashish Biswas — 21f1001460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336" y="-276619"/>
            <a:ext cx="2712720" cy="271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128023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i="0" sz="18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Company announcements, disclosures and news/media updates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 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ublic &amp; f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ree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but 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ot 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</a:t>
            </a:r>
            <a:r>
              <a:rPr b="1" i="0" lang="en-US" sz="2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asy to </a:t>
            </a:r>
            <a:r>
              <a:rPr b="1" lang="en-US" sz="2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analyse quickly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600200"/>
            <a:ext cx="5760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Indian listed companies publish annual reports, quarterly results, filings, and investor presentations through NSE, BSE, and investor relations portals. They also hav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 media announcements and news 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updates. </a:t>
            </a:r>
            <a:r>
              <a:rPr b="0" i="0" lang="en-US" sz="145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These documents hold rich signal on performance, strategy, risk, and governance — but are long, technical, and scattered across reporting periods.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3566160"/>
            <a:ext cx="5760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Existing platforms are repositories, not reasoning tools — investors still read manually, report by report, to track how strategy or risk has evolved. 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They attempt to use free LLMs to unify content from all the credible sources, but it has limited context and prompt-design / refinement is still manual i.e. time consuming. </a:t>
            </a:r>
            <a:endParaRPr sz="1450">
              <a:solidFill>
                <a:srgbClr val="4450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720840" y="1600200"/>
            <a:ext cx="4892040" cy="3977640"/>
          </a:xfrm>
          <a:prstGeom prst="roundRect">
            <a:avLst>
              <a:gd fmla="val 2299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040880" y="185623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SOURCE DOCUMENT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file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23774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7470648" y="23408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Annual &amp; 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Quarterly </a:t>
            </a: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 Reports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file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29992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470648" y="296265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News Aggregators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file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36210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7470648" y="358444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Investor Presentations / Broke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 Reports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file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4242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7470648" y="42062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Exchange Filings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file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48646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470648" y="482803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SEBI Circulars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From Scattered Filings to Grounded Answers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fmla="val 4706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14400" y="1783080"/>
            <a:ext cx="10332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ookman Old Style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Retail investors cannot easily answer questions that span several annual reports, or track how strategy, risk, and management commentary evolve over time — because current platforms support keyword lookup, not semantic reasoning.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PROPOSED DIRECTION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3886200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Build a Retrieval-Augmented Generation (RAG) system that retrieves relevant passages across multiple Infosys financial disclosures and generates evidence-grounded answers to user queries 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that demand a high contextual interpretation, without 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slowing</a:t>
            </a:r>
            <a:r>
              <a:rPr lang="en-US" sz="1450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 the user down</a:t>
            </a:r>
            <a:r>
              <a:rPr b="0" i="0" lang="en-US" sz="145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92240" y="3520440"/>
            <a:ext cx="5120640" cy="2331720"/>
          </a:xfrm>
          <a:prstGeom prst="roundRect">
            <a:avLst>
              <a:gd fmla="val 3922" name="adj"/>
            </a:avLst>
          </a:prstGeom>
          <a:solidFill>
            <a:srgbClr val="EEF3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flask_white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37764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6748272" y="3758184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flask_white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38221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7315200" y="37947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766573" y="4298020"/>
            <a:ext cx="4572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Does a domain-specific RAG pipeline improve understanding of Infosys 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disclosures, announcements and news</a:t>
            </a: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 — through grounded QA and cross-document reasoning — versus conventional keyword-based search?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SCOPE &amp; BOUNDARIES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This Project Covers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1645920"/>
            <a:ext cx="5486400" cy="3977640"/>
          </a:xfrm>
          <a:prstGeom prst="roundRect">
            <a:avLst>
              <a:gd fmla="val 2299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1E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check_white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9659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371600" y="19202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14400" y="2514600"/>
            <a:ext cx="475488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Analysis of (only) Infosys as the chosen public 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 scrip / stock</a:t>
            </a:r>
            <a:endParaRPr sz="1350">
              <a:solidFill>
                <a:srgbClr val="141B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Use of only public, non-paid / freely available data 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released</a:t>
            </a:r>
            <a:r>
              <a:rPr lang="en-US" sz="13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 within the last 12 months.  </a:t>
            </a:r>
            <a:endParaRPr sz="1350">
              <a:solidFill>
                <a:srgbClr val="141B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Semantic document retrieval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RAG-based QA and summarization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Streamlit demonstration interface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309360" y="1645920"/>
            <a:ext cx="5303520" cy="3977640"/>
          </a:xfrm>
          <a:prstGeom prst="roundRect">
            <a:avLst>
              <a:gd fmla="val 2299" name="adj"/>
            </a:avLst>
          </a:prstGeom>
          <a:solidFill>
            <a:srgbClr val="FB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583680" y="1901952"/>
            <a:ext cx="420624" cy="420624"/>
          </a:xfrm>
          <a:prstGeom prst="ellipse">
            <a:avLst/>
          </a:prstGeom>
          <a:solidFill>
            <a:srgbClr val="B455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warn_white.png"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19659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7132320" y="1920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5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551D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675120" y="25146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Multiple companies / market-wide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Stock price prediction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Investment recommendations or portfolio management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675120" y="45262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Stakeholders: retail investors, students, academic researchers, financial analysts, and RAG-systems developers.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0d1c9308a_0_8"/>
          <p:cNvSpPr/>
          <p:nvPr/>
        </p:nvSpPr>
        <p:spPr>
          <a:xfrm>
            <a:off x="548640" y="38404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0d1c9308a_0_8"/>
          <p:cNvSpPr/>
          <p:nvPr/>
        </p:nvSpPr>
        <p:spPr>
          <a:xfrm>
            <a:off x="548640" y="658368"/>
            <a:ext cx="1051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Who This System Is Built For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0d1c9308a_0_8"/>
          <p:cNvSpPr/>
          <p:nvPr/>
        </p:nvSpPr>
        <p:spPr>
          <a:xfrm>
            <a:off x="548640" y="1691640"/>
            <a:ext cx="11064300" cy="685800"/>
          </a:xfrm>
          <a:prstGeom prst="roundRect">
            <a:avLst>
              <a:gd fmla="val 9333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0d1c9308a_0_8"/>
          <p:cNvSpPr/>
          <p:nvPr/>
        </p:nvSpPr>
        <p:spPr>
          <a:xfrm>
            <a:off x="749808" y="1847088"/>
            <a:ext cx="365700" cy="365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_users_white.png" id="96" name="Google Shape;96;g3f0d1c9308a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9202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0d1c9308a_0_8"/>
          <p:cNvSpPr/>
          <p:nvPr/>
        </p:nvSpPr>
        <p:spPr>
          <a:xfrm>
            <a:off x="1325880" y="1691640"/>
            <a:ext cx="30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Retail Investors (Sma</a:t>
            </a:r>
            <a:r>
              <a:rPr b="1" lang="en-US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ll &amp; Medium)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0d1c9308a_0_8"/>
          <p:cNvSpPr/>
          <p:nvPr/>
        </p:nvSpPr>
        <p:spPr>
          <a:xfrm>
            <a:off x="4480560" y="169164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Quicker understanding of company disclosures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0d1c9308a_0_8"/>
          <p:cNvSpPr/>
          <p:nvPr/>
        </p:nvSpPr>
        <p:spPr>
          <a:xfrm>
            <a:off x="548640" y="2487168"/>
            <a:ext cx="1106430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0d1c9308a_0_8"/>
          <p:cNvSpPr/>
          <p:nvPr/>
        </p:nvSpPr>
        <p:spPr>
          <a:xfrm>
            <a:off x="749808" y="2642616"/>
            <a:ext cx="365700" cy="365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_grad_white.png" id="101" name="Google Shape;101;g3f0d1c9308a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7157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f0d1c9308a_0_8"/>
          <p:cNvSpPr/>
          <p:nvPr/>
        </p:nvSpPr>
        <p:spPr>
          <a:xfrm>
            <a:off x="1325880" y="2487168"/>
            <a:ext cx="30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0d1c9308a_0_8"/>
          <p:cNvSpPr/>
          <p:nvPr/>
        </p:nvSpPr>
        <p:spPr>
          <a:xfrm>
            <a:off x="4480560" y="2487168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Learning financial statement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0d1c9308a_0_8"/>
          <p:cNvSpPr/>
          <p:nvPr/>
        </p:nvSpPr>
        <p:spPr>
          <a:xfrm>
            <a:off x="548640" y="3282699"/>
            <a:ext cx="1106430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0d1c9308a_0_8"/>
          <p:cNvSpPr/>
          <p:nvPr/>
        </p:nvSpPr>
        <p:spPr>
          <a:xfrm>
            <a:off x="749808" y="3438147"/>
            <a:ext cx="365700" cy="365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_balance_white.png" id="106" name="Google Shape;106;g3f0d1c9308a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51129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f0d1c9308a_0_8"/>
          <p:cNvSpPr/>
          <p:nvPr/>
        </p:nvSpPr>
        <p:spPr>
          <a:xfrm>
            <a:off x="1325880" y="3282699"/>
            <a:ext cx="30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Financial Analysts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0d1c9308a_0_8"/>
          <p:cNvSpPr/>
          <p:nvPr/>
        </p:nvSpPr>
        <p:spPr>
          <a:xfrm>
            <a:off x="4480560" y="3282699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Efficient retrieval from historical reports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0d1c9308a_0_8"/>
          <p:cNvSpPr/>
          <p:nvPr/>
        </p:nvSpPr>
        <p:spPr>
          <a:xfrm>
            <a:off x="548640" y="574243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0d1c9308a_0_8"/>
          <p:cNvSpPr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0d1c9308a_0_8"/>
          <p:cNvSpPr/>
          <p:nvPr/>
        </p:nvSpPr>
        <p:spPr>
          <a:xfrm>
            <a:off x="11277295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Primary &amp; Secondary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196596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db_white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22219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749808" y="262432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Document pipeline for Infosys disclosures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343400" y="196596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544568" y="21671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search_white.png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9432" y="22219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4544568" y="262432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Semantic retrieval via vector 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138160" y="196596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339328" y="21671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robot_white.png"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192" y="22219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8339328" y="262432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RAG pipeline for QA &amp; summarization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338328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layers_white.png" id="134" name="Google Shape;1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639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749808" y="404164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Multi-document queries across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343400" y="338328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544568" y="3584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balance_white.png"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99432" y="3639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4544568" y="404164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Evaluate retrieval, faithfulness,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138160" y="3383280"/>
            <a:ext cx="3566160" cy="1234440"/>
          </a:xfrm>
          <a:prstGeom prst="roundRect">
            <a:avLst>
              <a:gd fmla="val 59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339328" y="3584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chart_white.png" id="142" name="Google Shape;14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4192" y="3639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339328" y="4041648"/>
            <a:ext cx="3163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Deploy a working Streamlit web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fmla="val 7273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22960" y="546811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real-time news for context  •  Explore domain-specific fine-tuning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Where Existing Solutions Fall Short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chart_white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1417320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Trading Platforms</a:t>
            </a:r>
            <a:br>
              <a:rPr b="1" lang="en-US" sz="16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-US" sz="11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(Zerodha, Groww, Dhan)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22960" y="2660923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Well-organized filings, integrated trading platform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22960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5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51D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22960" y="420624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No semantic search or cross-report reasoning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315968" y="1691640"/>
            <a:ext cx="3566160" cy="393192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572000" y="19476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db_white.png"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5184648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Screeners</a:t>
            </a:r>
            <a:endParaRPr b="1" i="0" sz="1600" u="none" cap="none" strike="noStrike">
              <a:solidFill>
                <a:srgbClr val="141B4D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600"/>
              <a:buFont typeface="Bookman Old Style"/>
              <a:buNone/>
            </a:pPr>
            <a:r>
              <a:rPr b="1" lang="en-US" sz="11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(Screener, </a:t>
            </a:r>
            <a:r>
              <a:rPr b="1" lang="en-US" sz="11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Trendlyne, Tickertape)</a:t>
            </a:r>
            <a:endParaRPr b="1" sz="1600">
              <a:solidFill>
                <a:srgbClr val="141B4D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90288" y="2651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90288" y="292608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Comprehensive ratios &amp; historical financials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90288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5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51D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90288" y="420624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Keyword-based exploration only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083296" y="1691640"/>
            <a:ext cx="3566160" cy="393192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339328" y="19476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robot_white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768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8951976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Commercial LLMs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357616" y="2651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357616" y="292608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Strong summarization, conversational UX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357616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5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51D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357616" y="420624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No persistent, company-specific knowledge base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Academic literature confirms RAG improves factual grounding, and embedding models (BGE, E5) outperform keyword search — but little work targets Indian corporate disclosures.                                                                                                                                                                                                          </a:t>
            </a:r>
            <a:r>
              <a:rPr i="1" lang="en-US" sz="125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i="1" sz="125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b="0" i="1" lang="en-US" sz="12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Reference: https://arxiv.org/abs/2412.20138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GAP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Positioning the Proposed Approach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7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{23013221-C306-4BA2-8617-95C4D1E5531B}</a:tableStyleId>
              </a:tblPr>
              <a:tblGrid>
                <a:gridCol w="2011675"/>
                <a:gridCol w="2834650"/>
                <a:gridCol w="2834650"/>
                <a:gridCol w="3383275"/>
              </a:tblGrid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Approach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4D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Trading Platform</a:t>
                      </a:r>
                      <a:r>
                        <a:rPr b="1" lang="en-US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u="none" cap="none" strike="noStrike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(Zerodha, Groww, Dhan)</a:t>
                      </a:r>
                      <a:endParaRPr i="1" sz="1200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Filings &amp; announcements provided as free Value Added Service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semantic / multi-doc reasoning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8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Evidence-grounded QA over multiple reports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Screeners </a:t>
                      </a:r>
                      <a:br>
                        <a:rPr b="1" lang="en-US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i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(e.g. </a:t>
                      </a:r>
                      <a:r>
                        <a:rPr i="1" lang="en-US" sz="1200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Screener.in</a:t>
                      </a:r>
                      <a:r>
                        <a:rPr i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i="1" lang="en-US" sz="12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Tickertape, Trendlyne</a:t>
                      </a:r>
                      <a:r>
                        <a:rPr i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i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Ratios &amp; historical statements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Keyword-based exploration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8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retrieval via vector embeddings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LLMs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Summarization &amp; conversation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persistence &amp; grounding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8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Dedicated RAG over curated Infosys corpus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Traditional Search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keyword matching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06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u="none" cap="none" strike="noStrike">
                          <a:solidFill>
                            <a:srgbClr val="4450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semantic understanding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1E8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Context-aware, embedding-based retrieval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7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Gap: no existing platform combines cross-document reasoning, longitudinal strategy tracking, and evidence-linked answers over Indian financial disclosures.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Evaluation Metrics</a:t>
            </a:r>
            <a:r>
              <a:rPr b="1" i="0" lang="en-US" sz="3000" u="none" cap="none" strike="noStrike">
                <a:solidFill>
                  <a:srgbClr val="141B4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Across the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fmla="val 9333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49808" y="184708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search_white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9202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325880" y="16916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480560" y="169164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Precision@k, Recall@k*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48640" y="2487168"/>
            <a:ext cx="1106424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49808" y="264261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file_white.png" id="208" name="Google Shape;2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7157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1325880" y="2487168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480560" y="2487168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ROUGE, BERTScore*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3282696"/>
            <a:ext cx="11064240" cy="685800"/>
          </a:xfrm>
          <a:prstGeom prst="roundRect">
            <a:avLst>
              <a:gd fmla="val 9333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49808" y="343814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comments_white.png" id="213" name="Google Shape;2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5112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325880" y="3282696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Question Answering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480560" y="3282696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Relevance &amp; Completeness (manual + LLM)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48640" y="4078224"/>
            <a:ext cx="1106424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DC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49808" y="4233672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balance_white.png" id="218" name="Google Shape;21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43068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1325880" y="4078224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480560" y="407822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Hallucination Rate, Source Attribution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48640" y="4873752"/>
            <a:ext cx="11064240" cy="685800"/>
          </a:xfrm>
          <a:prstGeom prst="roundRect">
            <a:avLst>
              <a:gd fmla="val 9333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49808" y="50292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chart_white.png" id="223" name="Google Shape;22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" y="51023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1325880" y="4873752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System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480560" y="48737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06B"/>
                </a:solidFill>
                <a:latin typeface="Calibri"/>
                <a:ea typeface="Calibri"/>
                <a:cs typeface="Calibri"/>
                <a:sym typeface="Calibri"/>
              </a:rPr>
              <a:t>Retrieval Latency, Response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48640" y="574243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i="1" lang="en-US" sz="115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Tentative. </a:t>
            </a:r>
            <a:r>
              <a:rPr b="0" i="1" lang="en-US" sz="11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Baseline comparison: keyword-based document search.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MILESTONE 1  — 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40080" y="12344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Grounded Answers, Not Just More Search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CADCFC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188720" y="24140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retrieval over a curated Infosys disclosure corpus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CADCFC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188720" y="30998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pipeline for cross-document QA and summarization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CADCFC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188720" y="37856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Evaluated on retrieval quality, faithfulness, and latency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ADCFC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1188720" y="44714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Deployed via a Streamlit app for retail investors &amp; researchers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40080" y="5760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Bookman Old Style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Team 06  •  DSAI Lab  •  T2-2026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2026-07-02T17:01:57Z</dcterms:created>
  <dc:creator>Team 06</dc:creator>
</cp:coreProperties>
</file>